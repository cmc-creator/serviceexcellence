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34"/>
    <p:restoredTop sz="94658"/>
  </p:normalViewPr>
  <p:slideViewPr>
    <p:cSldViewPr>
      <p:cViewPr varScale="1">
        <p:scale>
          <a:sx n="106" d="100"/>
          <a:sy n="106" d="100"/>
        </p:scale>
        <p:origin x="1976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AC9E24-5909-A547-A200-47218030653E}" type="datetimeFigureOut">
              <a:rPr lang="en-US" smtClean="0"/>
              <a:t>2/19/26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B96FDE-23A2-B745-BA93-7CD602059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314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B96FDE-23A2-B745-BA93-7CD60205947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4960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Intreo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B96FDE-23A2-B745-BA93-7CD60205947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6179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B96FDE-23A2-B745-BA93-7CD60205947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7599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B96FDE-23A2-B745-BA93-7CD60205947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1611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B96FDE-23A2-B745-BA93-7CD60205947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4717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B96FDE-23A2-B745-BA93-7CD60205947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8251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B96FDE-23A2-B745-BA93-7CD60205947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065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B96FDE-23A2-B745-BA93-7CD60205947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914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0" b="1" i="0">
                <a:solidFill>
                  <a:srgbClr val="00ACA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1" i="0">
                <a:solidFill>
                  <a:srgbClr val="008DC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0" b="1" i="0">
                <a:solidFill>
                  <a:srgbClr val="00ACA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rgbClr val="008DC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0" b="1" i="0">
                <a:solidFill>
                  <a:srgbClr val="00ACA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69900" y="1809428"/>
            <a:ext cx="3736975" cy="4155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0" i="0">
                <a:solidFill>
                  <a:schemeClr val="bg1"/>
                </a:solidFill>
                <a:latin typeface="Avenir Book"/>
                <a:cs typeface="Avenir Boo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2/19/26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0" b="1" i="0">
                <a:solidFill>
                  <a:srgbClr val="00ACA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2/19/26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339585" y="166471"/>
            <a:ext cx="3490595" cy="7065645"/>
          </a:xfrm>
          <a:custGeom>
            <a:avLst/>
            <a:gdLst/>
            <a:ahLst/>
            <a:cxnLst/>
            <a:rect l="l" t="t" r="r" b="b"/>
            <a:pathLst>
              <a:path w="3490595" h="7065645">
                <a:moveTo>
                  <a:pt x="3490214" y="0"/>
                </a:moveTo>
                <a:lnTo>
                  <a:pt x="0" y="0"/>
                </a:lnTo>
                <a:lnTo>
                  <a:pt x="0" y="7065098"/>
                </a:lnTo>
                <a:lnTo>
                  <a:pt x="3490214" y="7065098"/>
                </a:lnTo>
                <a:lnTo>
                  <a:pt x="3490214" y="0"/>
                </a:lnTo>
                <a:close/>
              </a:path>
            </a:pathLst>
          </a:custGeom>
          <a:solidFill>
            <a:srgbClr val="008D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553174" y="5276163"/>
            <a:ext cx="3239770" cy="1973580"/>
          </a:xfrm>
          <a:custGeom>
            <a:avLst/>
            <a:gdLst/>
            <a:ahLst/>
            <a:cxnLst/>
            <a:rect l="l" t="t" r="r" b="b"/>
            <a:pathLst>
              <a:path w="3239770" h="1973579">
                <a:moveTo>
                  <a:pt x="789203" y="264795"/>
                </a:moveTo>
                <a:lnTo>
                  <a:pt x="782764" y="217220"/>
                </a:lnTo>
                <a:lnTo>
                  <a:pt x="764590" y="174485"/>
                </a:lnTo>
                <a:lnTo>
                  <a:pt x="736409" y="138264"/>
                </a:lnTo>
                <a:lnTo>
                  <a:pt x="699935" y="110286"/>
                </a:lnTo>
                <a:lnTo>
                  <a:pt x="656882" y="92252"/>
                </a:lnTo>
                <a:lnTo>
                  <a:pt x="608965" y="85864"/>
                </a:lnTo>
                <a:lnTo>
                  <a:pt x="561047" y="92252"/>
                </a:lnTo>
                <a:lnTo>
                  <a:pt x="517994" y="110286"/>
                </a:lnTo>
                <a:lnTo>
                  <a:pt x="481507" y="138264"/>
                </a:lnTo>
                <a:lnTo>
                  <a:pt x="453326" y="174485"/>
                </a:lnTo>
                <a:lnTo>
                  <a:pt x="435152" y="217220"/>
                </a:lnTo>
                <a:lnTo>
                  <a:pt x="428713" y="264795"/>
                </a:lnTo>
                <a:lnTo>
                  <a:pt x="435152" y="312356"/>
                </a:lnTo>
                <a:lnTo>
                  <a:pt x="453326" y="355104"/>
                </a:lnTo>
                <a:lnTo>
                  <a:pt x="481507" y="391312"/>
                </a:lnTo>
                <a:lnTo>
                  <a:pt x="517994" y="419290"/>
                </a:lnTo>
                <a:lnTo>
                  <a:pt x="561047" y="437324"/>
                </a:lnTo>
                <a:lnTo>
                  <a:pt x="608965" y="443725"/>
                </a:lnTo>
                <a:lnTo>
                  <a:pt x="656882" y="437324"/>
                </a:lnTo>
                <a:lnTo>
                  <a:pt x="699935" y="419290"/>
                </a:lnTo>
                <a:lnTo>
                  <a:pt x="736409" y="391312"/>
                </a:lnTo>
                <a:lnTo>
                  <a:pt x="764590" y="355104"/>
                </a:lnTo>
                <a:lnTo>
                  <a:pt x="782764" y="312356"/>
                </a:lnTo>
                <a:lnTo>
                  <a:pt x="789203" y="264795"/>
                </a:lnTo>
                <a:close/>
              </a:path>
              <a:path w="3239770" h="1973579">
                <a:moveTo>
                  <a:pt x="1606232" y="1499565"/>
                </a:moveTo>
                <a:lnTo>
                  <a:pt x="1561490" y="1498053"/>
                </a:lnTo>
                <a:lnTo>
                  <a:pt x="1519847" y="1494840"/>
                </a:lnTo>
                <a:lnTo>
                  <a:pt x="1481353" y="1490230"/>
                </a:lnTo>
                <a:lnTo>
                  <a:pt x="1446022" y="1484477"/>
                </a:lnTo>
                <a:lnTo>
                  <a:pt x="1446022" y="1893570"/>
                </a:lnTo>
                <a:lnTo>
                  <a:pt x="1452308" y="1924519"/>
                </a:lnTo>
                <a:lnTo>
                  <a:pt x="1469478" y="1949805"/>
                </a:lnTo>
                <a:lnTo>
                  <a:pt x="1494942" y="1966836"/>
                </a:lnTo>
                <a:lnTo>
                  <a:pt x="1526120" y="1973084"/>
                </a:lnTo>
                <a:lnTo>
                  <a:pt x="1557299" y="1966836"/>
                </a:lnTo>
                <a:lnTo>
                  <a:pt x="1582762" y="1949805"/>
                </a:lnTo>
                <a:lnTo>
                  <a:pt x="1599933" y="1924519"/>
                </a:lnTo>
                <a:lnTo>
                  <a:pt x="1606232" y="1893570"/>
                </a:lnTo>
                <a:lnTo>
                  <a:pt x="1606232" y="1499565"/>
                </a:lnTo>
                <a:close/>
              </a:path>
              <a:path w="3239770" h="1973579">
                <a:moveTo>
                  <a:pt x="1700771" y="553148"/>
                </a:moveTo>
                <a:lnTo>
                  <a:pt x="1682788" y="551078"/>
                </a:lnTo>
                <a:lnTo>
                  <a:pt x="1663280" y="549465"/>
                </a:lnTo>
                <a:lnTo>
                  <a:pt x="1642211" y="548424"/>
                </a:lnTo>
                <a:lnTo>
                  <a:pt x="1619580" y="548043"/>
                </a:lnTo>
                <a:lnTo>
                  <a:pt x="1596936" y="548424"/>
                </a:lnTo>
                <a:lnTo>
                  <a:pt x="1575866" y="549465"/>
                </a:lnTo>
                <a:lnTo>
                  <a:pt x="1556359" y="551078"/>
                </a:lnTo>
                <a:lnTo>
                  <a:pt x="1538376" y="553148"/>
                </a:lnTo>
                <a:lnTo>
                  <a:pt x="1542478" y="644626"/>
                </a:lnTo>
                <a:lnTo>
                  <a:pt x="1616443" y="892403"/>
                </a:lnTo>
                <a:lnTo>
                  <a:pt x="1617980" y="897686"/>
                </a:lnTo>
                <a:lnTo>
                  <a:pt x="1619580" y="904481"/>
                </a:lnTo>
                <a:lnTo>
                  <a:pt x="1621167" y="897686"/>
                </a:lnTo>
                <a:lnTo>
                  <a:pt x="1622704" y="892403"/>
                </a:lnTo>
                <a:lnTo>
                  <a:pt x="1696681" y="644626"/>
                </a:lnTo>
                <a:lnTo>
                  <a:pt x="1700771" y="553148"/>
                </a:lnTo>
                <a:close/>
              </a:path>
              <a:path w="3239770" h="1973579">
                <a:moveTo>
                  <a:pt x="1791677" y="326491"/>
                </a:moveTo>
                <a:lnTo>
                  <a:pt x="1784096" y="282816"/>
                </a:lnTo>
                <a:lnTo>
                  <a:pt x="1765769" y="243052"/>
                </a:lnTo>
                <a:lnTo>
                  <a:pt x="1737944" y="209181"/>
                </a:lnTo>
                <a:lnTo>
                  <a:pt x="1701825" y="183134"/>
                </a:lnTo>
                <a:lnTo>
                  <a:pt x="1658645" y="166878"/>
                </a:lnTo>
                <a:lnTo>
                  <a:pt x="1612658" y="162521"/>
                </a:lnTo>
                <a:lnTo>
                  <a:pt x="1568665" y="170053"/>
                </a:lnTo>
                <a:lnTo>
                  <a:pt x="1528622" y="188239"/>
                </a:lnTo>
                <a:lnTo>
                  <a:pt x="1494497" y="215874"/>
                </a:lnTo>
                <a:lnTo>
                  <a:pt x="1468259" y="251726"/>
                </a:lnTo>
                <a:lnTo>
                  <a:pt x="1451876" y="294601"/>
                </a:lnTo>
                <a:lnTo>
                  <a:pt x="1447482" y="340245"/>
                </a:lnTo>
                <a:lnTo>
                  <a:pt x="1455064" y="383921"/>
                </a:lnTo>
                <a:lnTo>
                  <a:pt x="1473390" y="423684"/>
                </a:lnTo>
                <a:lnTo>
                  <a:pt x="1501216" y="457555"/>
                </a:lnTo>
                <a:lnTo>
                  <a:pt x="1537347" y="483603"/>
                </a:lnTo>
                <a:lnTo>
                  <a:pt x="1580527" y="499859"/>
                </a:lnTo>
                <a:lnTo>
                  <a:pt x="1626514" y="504215"/>
                </a:lnTo>
                <a:lnTo>
                  <a:pt x="1670519" y="496684"/>
                </a:lnTo>
                <a:lnTo>
                  <a:pt x="1710563" y="478497"/>
                </a:lnTo>
                <a:lnTo>
                  <a:pt x="1744687" y="450875"/>
                </a:lnTo>
                <a:lnTo>
                  <a:pt x="1770913" y="415010"/>
                </a:lnTo>
                <a:lnTo>
                  <a:pt x="1787283" y="372135"/>
                </a:lnTo>
                <a:lnTo>
                  <a:pt x="1791677" y="326491"/>
                </a:lnTo>
                <a:close/>
              </a:path>
              <a:path w="3239770" h="1973579">
                <a:moveTo>
                  <a:pt x="1793151" y="1484477"/>
                </a:moveTo>
                <a:lnTo>
                  <a:pt x="1757807" y="1490230"/>
                </a:lnTo>
                <a:lnTo>
                  <a:pt x="1719313" y="1494840"/>
                </a:lnTo>
                <a:lnTo>
                  <a:pt x="1677682" y="1498053"/>
                </a:lnTo>
                <a:lnTo>
                  <a:pt x="1632927" y="1499565"/>
                </a:lnTo>
                <a:lnTo>
                  <a:pt x="1632927" y="1893570"/>
                </a:lnTo>
                <a:lnTo>
                  <a:pt x="1639227" y="1924519"/>
                </a:lnTo>
                <a:lnTo>
                  <a:pt x="1656384" y="1949805"/>
                </a:lnTo>
                <a:lnTo>
                  <a:pt x="1681848" y="1966836"/>
                </a:lnTo>
                <a:lnTo>
                  <a:pt x="1713039" y="1973084"/>
                </a:lnTo>
                <a:lnTo>
                  <a:pt x="1744205" y="1966836"/>
                </a:lnTo>
                <a:lnTo>
                  <a:pt x="1769681" y="1949805"/>
                </a:lnTo>
                <a:lnTo>
                  <a:pt x="1786851" y="1924519"/>
                </a:lnTo>
                <a:lnTo>
                  <a:pt x="1793151" y="1893570"/>
                </a:lnTo>
                <a:lnTo>
                  <a:pt x="1793151" y="1484477"/>
                </a:lnTo>
                <a:close/>
              </a:path>
              <a:path w="3239770" h="1973579">
                <a:moveTo>
                  <a:pt x="2810446" y="264795"/>
                </a:moveTo>
                <a:lnTo>
                  <a:pt x="2804007" y="217220"/>
                </a:lnTo>
                <a:lnTo>
                  <a:pt x="2785834" y="174485"/>
                </a:lnTo>
                <a:lnTo>
                  <a:pt x="2757652" y="138264"/>
                </a:lnTo>
                <a:lnTo>
                  <a:pt x="2721178" y="110286"/>
                </a:lnTo>
                <a:lnTo>
                  <a:pt x="2678125" y="92252"/>
                </a:lnTo>
                <a:lnTo>
                  <a:pt x="2630208" y="85864"/>
                </a:lnTo>
                <a:lnTo>
                  <a:pt x="2582291" y="92252"/>
                </a:lnTo>
                <a:lnTo>
                  <a:pt x="2539238" y="110286"/>
                </a:lnTo>
                <a:lnTo>
                  <a:pt x="2502751" y="138264"/>
                </a:lnTo>
                <a:lnTo>
                  <a:pt x="2474569" y="174485"/>
                </a:lnTo>
                <a:lnTo>
                  <a:pt x="2456396" y="217220"/>
                </a:lnTo>
                <a:lnTo>
                  <a:pt x="2449957" y="264795"/>
                </a:lnTo>
                <a:lnTo>
                  <a:pt x="2456396" y="312356"/>
                </a:lnTo>
                <a:lnTo>
                  <a:pt x="2474569" y="355104"/>
                </a:lnTo>
                <a:lnTo>
                  <a:pt x="2502751" y="391312"/>
                </a:lnTo>
                <a:lnTo>
                  <a:pt x="2539238" y="419290"/>
                </a:lnTo>
                <a:lnTo>
                  <a:pt x="2582291" y="437324"/>
                </a:lnTo>
                <a:lnTo>
                  <a:pt x="2630208" y="443725"/>
                </a:lnTo>
                <a:lnTo>
                  <a:pt x="2678125" y="437324"/>
                </a:lnTo>
                <a:lnTo>
                  <a:pt x="2721178" y="419290"/>
                </a:lnTo>
                <a:lnTo>
                  <a:pt x="2757652" y="391312"/>
                </a:lnTo>
                <a:lnTo>
                  <a:pt x="2785834" y="355104"/>
                </a:lnTo>
                <a:lnTo>
                  <a:pt x="2804007" y="312356"/>
                </a:lnTo>
                <a:lnTo>
                  <a:pt x="2810446" y="264795"/>
                </a:lnTo>
                <a:close/>
              </a:path>
              <a:path w="3239770" h="1973579">
                <a:moveTo>
                  <a:pt x="3239160" y="63500"/>
                </a:moveTo>
                <a:lnTo>
                  <a:pt x="3238068" y="38100"/>
                </a:lnTo>
                <a:lnTo>
                  <a:pt x="3227667" y="25400"/>
                </a:lnTo>
                <a:lnTo>
                  <a:pt x="3209683" y="0"/>
                </a:lnTo>
                <a:lnTo>
                  <a:pt x="3138144" y="0"/>
                </a:lnTo>
                <a:lnTo>
                  <a:pt x="3121418" y="25400"/>
                </a:lnTo>
                <a:lnTo>
                  <a:pt x="3112566" y="50800"/>
                </a:lnTo>
                <a:lnTo>
                  <a:pt x="3099879" y="114300"/>
                </a:lnTo>
                <a:lnTo>
                  <a:pt x="3083649" y="165100"/>
                </a:lnTo>
                <a:lnTo>
                  <a:pt x="3064395" y="215900"/>
                </a:lnTo>
                <a:lnTo>
                  <a:pt x="3042666" y="266700"/>
                </a:lnTo>
                <a:lnTo>
                  <a:pt x="3018967" y="304800"/>
                </a:lnTo>
                <a:lnTo>
                  <a:pt x="2993847" y="330200"/>
                </a:lnTo>
                <a:lnTo>
                  <a:pt x="2967825" y="368300"/>
                </a:lnTo>
                <a:lnTo>
                  <a:pt x="2941421" y="393700"/>
                </a:lnTo>
                <a:lnTo>
                  <a:pt x="2915196" y="406400"/>
                </a:lnTo>
                <a:lnTo>
                  <a:pt x="2886354" y="431800"/>
                </a:lnTo>
                <a:lnTo>
                  <a:pt x="2859036" y="444500"/>
                </a:lnTo>
                <a:lnTo>
                  <a:pt x="2834017" y="457200"/>
                </a:lnTo>
                <a:lnTo>
                  <a:pt x="2812084" y="469900"/>
                </a:lnTo>
                <a:lnTo>
                  <a:pt x="2802547" y="469900"/>
                </a:lnTo>
                <a:lnTo>
                  <a:pt x="2794101" y="482600"/>
                </a:lnTo>
                <a:lnTo>
                  <a:pt x="2706306" y="482600"/>
                </a:lnTo>
                <a:lnTo>
                  <a:pt x="2706306" y="965200"/>
                </a:lnTo>
                <a:lnTo>
                  <a:pt x="2630208" y="1066800"/>
                </a:lnTo>
                <a:lnTo>
                  <a:pt x="2554097" y="965200"/>
                </a:lnTo>
                <a:lnTo>
                  <a:pt x="2597924" y="647700"/>
                </a:lnTo>
                <a:lnTo>
                  <a:pt x="2662440" y="647700"/>
                </a:lnTo>
                <a:lnTo>
                  <a:pt x="2706306" y="965200"/>
                </a:lnTo>
                <a:lnTo>
                  <a:pt x="2706306" y="482600"/>
                </a:lnTo>
                <a:lnTo>
                  <a:pt x="2675852" y="482600"/>
                </a:lnTo>
                <a:lnTo>
                  <a:pt x="2675852" y="609600"/>
                </a:lnTo>
                <a:lnTo>
                  <a:pt x="2673540" y="609600"/>
                </a:lnTo>
                <a:lnTo>
                  <a:pt x="2663647" y="622300"/>
                </a:lnTo>
                <a:lnTo>
                  <a:pt x="2596743" y="622300"/>
                </a:lnTo>
                <a:lnTo>
                  <a:pt x="2586863" y="609600"/>
                </a:lnTo>
                <a:lnTo>
                  <a:pt x="2584539" y="609600"/>
                </a:lnTo>
                <a:lnTo>
                  <a:pt x="2599753" y="546100"/>
                </a:lnTo>
                <a:lnTo>
                  <a:pt x="2660637" y="546100"/>
                </a:lnTo>
                <a:lnTo>
                  <a:pt x="2675852" y="609600"/>
                </a:lnTo>
                <a:lnTo>
                  <a:pt x="2675852" y="482600"/>
                </a:lnTo>
                <a:lnTo>
                  <a:pt x="2482659" y="482600"/>
                </a:lnTo>
                <a:lnTo>
                  <a:pt x="2461247" y="469900"/>
                </a:lnTo>
                <a:lnTo>
                  <a:pt x="2427516" y="457200"/>
                </a:lnTo>
                <a:lnTo>
                  <a:pt x="2385149" y="444500"/>
                </a:lnTo>
                <a:lnTo>
                  <a:pt x="2337841" y="406400"/>
                </a:lnTo>
                <a:lnTo>
                  <a:pt x="2280501" y="355600"/>
                </a:lnTo>
                <a:lnTo>
                  <a:pt x="2252561" y="317500"/>
                </a:lnTo>
                <a:lnTo>
                  <a:pt x="2226043" y="279400"/>
                </a:lnTo>
                <a:lnTo>
                  <a:pt x="2201621" y="228600"/>
                </a:lnTo>
                <a:lnTo>
                  <a:pt x="2179993" y="177800"/>
                </a:lnTo>
                <a:lnTo>
                  <a:pt x="2161832" y="114300"/>
                </a:lnTo>
                <a:lnTo>
                  <a:pt x="2147836" y="50800"/>
                </a:lnTo>
                <a:lnTo>
                  <a:pt x="2138972" y="25400"/>
                </a:lnTo>
                <a:lnTo>
                  <a:pt x="2122246" y="0"/>
                </a:lnTo>
                <a:lnTo>
                  <a:pt x="2050694" y="0"/>
                </a:lnTo>
                <a:lnTo>
                  <a:pt x="2032711" y="25400"/>
                </a:lnTo>
                <a:lnTo>
                  <a:pt x="2022322" y="38100"/>
                </a:lnTo>
                <a:lnTo>
                  <a:pt x="2021230" y="63500"/>
                </a:lnTo>
                <a:lnTo>
                  <a:pt x="2024837" y="88900"/>
                </a:lnTo>
                <a:lnTo>
                  <a:pt x="2028863" y="114300"/>
                </a:lnTo>
                <a:lnTo>
                  <a:pt x="2033308" y="127000"/>
                </a:lnTo>
                <a:lnTo>
                  <a:pt x="2038121" y="152400"/>
                </a:lnTo>
                <a:lnTo>
                  <a:pt x="2026742" y="203200"/>
                </a:lnTo>
                <a:lnTo>
                  <a:pt x="2009254" y="266700"/>
                </a:lnTo>
                <a:lnTo>
                  <a:pt x="1986711" y="304800"/>
                </a:lnTo>
                <a:lnTo>
                  <a:pt x="1960168" y="355600"/>
                </a:lnTo>
                <a:lnTo>
                  <a:pt x="1930679" y="393700"/>
                </a:lnTo>
                <a:lnTo>
                  <a:pt x="1899272" y="431800"/>
                </a:lnTo>
                <a:lnTo>
                  <a:pt x="1867027" y="457200"/>
                </a:lnTo>
                <a:lnTo>
                  <a:pt x="1838642" y="482600"/>
                </a:lnTo>
                <a:lnTo>
                  <a:pt x="1811413" y="508000"/>
                </a:lnTo>
                <a:lnTo>
                  <a:pt x="1786178" y="520700"/>
                </a:lnTo>
                <a:lnTo>
                  <a:pt x="1763814" y="533400"/>
                </a:lnTo>
                <a:lnTo>
                  <a:pt x="1755775" y="533400"/>
                </a:lnTo>
                <a:lnTo>
                  <a:pt x="1748421" y="546100"/>
                </a:lnTo>
                <a:lnTo>
                  <a:pt x="1735963" y="546100"/>
                </a:lnTo>
                <a:lnTo>
                  <a:pt x="1767039" y="571500"/>
                </a:lnTo>
                <a:lnTo>
                  <a:pt x="1779790" y="635000"/>
                </a:lnTo>
                <a:lnTo>
                  <a:pt x="1734553" y="647700"/>
                </a:lnTo>
                <a:lnTo>
                  <a:pt x="1763433" y="698500"/>
                </a:lnTo>
                <a:lnTo>
                  <a:pt x="1703527" y="800100"/>
                </a:lnTo>
                <a:lnTo>
                  <a:pt x="1669846" y="863600"/>
                </a:lnTo>
                <a:lnTo>
                  <a:pt x="1650034" y="889000"/>
                </a:lnTo>
                <a:lnTo>
                  <a:pt x="1631746" y="914400"/>
                </a:lnTo>
                <a:lnTo>
                  <a:pt x="1627593" y="927100"/>
                </a:lnTo>
                <a:lnTo>
                  <a:pt x="1611553" y="927100"/>
                </a:lnTo>
                <a:lnTo>
                  <a:pt x="1607400" y="914400"/>
                </a:lnTo>
                <a:lnTo>
                  <a:pt x="1574660" y="863600"/>
                </a:lnTo>
                <a:lnTo>
                  <a:pt x="1530743" y="787400"/>
                </a:lnTo>
                <a:lnTo>
                  <a:pt x="1492237" y="723900"/>
                </a:lnTo>
                <a:lnTo>
                  <a:pt x="1475714" y="698500"/>
                </a:lnTo>
                <a:lnTo>
                  <a:pt x="1504594" y="647700"/>
                </a:lnTo>
                <a:lnTo>
                  <a:pt x="1459357" y="635000"/>
                </a:lnTo>
                <a:lnTo>
                  <a:pt x="1472120" y="571500"/>
                </a:lnTo>
                <a:lnTo>
                  <a:pt x="1503184" y="546100"/>
                </a:lnTo>
                <a:lnTo>
                  <a:pt x="1478407" y="533400"/>
                </a:lnTo>
                <a:lnTo>
                  <a:pt x="1445285" y="508000"/>
                </a:lnTo>
                <a:lnTo>
                  <a:pt x="1406575" y="482600"/>
                </a:lnTo>
                <a:lnTo>
                  <a:pt x="1364983" y="457200"/>
                </a:lnTo>
                <a:lnTo>
                  <a:pt x="1333817" y="419100"/>
                </a:lnTo>
                <a:lnTo>
                  <a:pt x="1303642" y="393700"/>
                </a:lnTo>
                <a:lnTo>
                  <a:pt x="1275422" y="355600"/>
                </a:lnTo>
                <a:lnTo>
                  <a:pt x="1256423" y="317500"/>
                </a:lnTo>
                <a:lnTo>
                  <a:pt x="1228623" y="254000"/>
                </a:lnTo>
                <a:lnTo>
                  <a:pt x="1211948" y="203200"/>
                </a:lnTo>
                <a:lnTo>
                  <a:pt x="1201026" y="152400"/>
                </a:lnTo>
                <a:lnTo>
                  <a:pt x="1205852" y="127000"/>
                </a:lnTo>
                <a:lnTo>
                  <a:pt x="1210284" y="114300"/>
                </a:lnTo>
                <a:lnTo>
                  <a:pt x="1214323" y="88900"/>
                </a:lnTo>
                <a:lnTo>
                  <a:pt x="1217930" y="63500"/>
                </a:lnTo>
                <a:lnTo>
                  <a:pt x="1216837" y="38100"/>
                </a:lnTo>
                <a:lnTo>
                  <a:pt x="1206436" y="25400"/>
                </a:lnTo>
                <a:lnTo>
                  <a:pt x="1188440" y="0"/>
                </a:lnTo>
                <a:lnTo>
                  <a:pt x="1116901" y="0"/>
                </a:lnTo>
                <a:lnTo>
                  <a:pt x="1100175" y="25400"/>
                </a:lnTo>
                <a:lnTo>
                  <a:pt x="1091311" y="50800"/>
                </a:lnTo>
                <a:lnTo>
                  <a:pt x="1078636" y="114300"/>
                </a:lnTo>
                <a:lnTo>
                  <a:pt x="1062405" y="165100"/>
                </a:lnTo>
                <a:lnTo>
                  <a:pt x="1043152" y="215900"/>
                </a:lnTo>
                <a:lnTo>
                  <a:pt x="1021422" y="266700"/>
                </a:lnTo>
                <a:lnTo>
                  <a:pt x="997724" y="304800"/>
                </a:lnTo>
                <a:lnTo>
                  <a:pt x="972604" y="330200"/>
                </a:lnTo>
                <a:lnTo>
                  <a:pt x="946581" y="368300"/>
                </a:lnTo>
                <a:lnTo>
                  <a:pt x="920191" y="393700"/>
                </a:lnTo>
                <a:lnTo>
                  <a:pt x="893965" y="406400"/>
                </a:lnTo>
                <a:lnTo>
                  <a:pt x="865124" y="431800"/>
                </a:lnTo>
                <a:lnTo>
                  <a:pt x="837793" y="444500"/>
                </a:lnTo>
                <a:lnTo>
                  <a:pt x="812774" y="457200"/>
                </a:lnTo>
                <a:lnTo>
                  <a:pt x="790854" y="469900"/>
                </a:lnTo>
                <a:lnTo>
                  <a:pt x="781316" y="469900"/>
                </a:lnTo>
                <a:lnTo>
                  <a:pt x="772858" y="482600"/>
                </a:lnTo>
                <a:lnTo>
                  <a:pt x="685063" y="482600"/>
                </a:lnTo>
                <a:lnTo>
                  <a:pt x="685063" y="965200"/>
                </a:lnTo>
                <a:lnTo>
                  <a:pt x="608965" y="1066800"/>
                </a:lnTo>
                <a:lnTo>
                  <a:pt x="532853" y="965200"/>
                </a:lnTo>
                <a:lnTo>
                  <a:pt x="576707" y="647700"/>
                </a:lnTo>
                <a:lnTo>
                  <a:pt x="641223" y="647700"/>
                </a:lnTo>
                <a:lnTo>
                  <a:pt x="685063" y="965200"/>
                </a:lnTo>
                <a:lnTo>
                  <a:pt x="685063" y="482600"/>
                </a:lnTo>
                <a:lnTo>
                  <a:pt x="654621" y="482600"/>
                </a:lnTo>
                <a:lnTo>
                  <a:pt x="654621" y="609600"/>
                </a:lnTo>
                <a:lnTo>
                  <a:pt x="652310" y="609600"/>
                </a:lnTo>
                <a:lnTo>
                  <a:pt x="642416" y="622300"/>
                </a:lnTo>
                <a:lnTo>
                  <a:pt x="575525" y="622300"/>
                </a:lnTo>
                <a:lnTo>
                  <a:pt x="565645" y="609600"/>
                </a:lnTo>
                <a:lnTo>
                  <a:pt x="563295" y="609600"/>
                </a:lnTo>
                <a:lnTo>
                  <a:pt x="578510" y="546100"/>
                </a:lnTo>
                <a:lnTo>
                  <a:pt x="639394" y="546100"/>
                </a:lnTo>
                <a:lnTo>
                  <a:pt x="654621" y="609600"/>
                </a:lnTo>
                <a:lnTo>
                  <a:pt x="654621" y="482600"/>
                </a:lnTo>
                <a:lnTo>
                  <a:pt x="461416" y="482600"/>
                </a:lnTo>
                <a:lnTo>
                  <a:pt x="439978" y="469900"/>
                </a:lnTo>
                <a:lnTo>
                  <a:pt x="406247" y="457200"/>
                </a:lnTo>
                <a:lnTo>
                  <a:pt x="363893" y="444500"/>
                </a:lnTo>
                <a:lnTo>
                  <a:pt x="316598" y="406400"/>
                </a:lnTo>
                <a:lnTo>
                  <a:pt x="259270" y="355600"/>
                </a:lnTo>
                <a:lnTo>
                  <a:pt x="231343" y="317500"/>
                </a:lnTo>
                <a:lnTo>
                  <a:pt x="204825" y="279400"/>
                </a:lnTo>
                <a:lnTo>
                  <a:pt x="180390" y="228600"/>
                </a:lnTo>
                <a:lnTo>
                  <a:pt x="158762" y="177800"/>
                </a:lnTo>
                <a:lnTo>
                  <a:pt x="140601" y="114300"/>
                </a:lnTo>
                <a:lnTo>
                  <a:pt x="126606" y="50800"/>
                </a:lnTo>
                <a:lnTo>
                  <a:pt x="117741" y="25400"/>
                </a:lnTo>
                <a:lnTo>
                  <a:pt x="101003" y="0"/>
                </a:lnTo>
                <a:lnTo>
                  <a:pt x="29476" y="0"/>
                </a:lnTo>
                <a:lnTo>
                  <a:pt x="11480" y="12700"/>
                </a:lnTo>
                <a:lnTo>
                  <a:pt x="1092" y="38100"/>
                </a:lnTo>
                <a:lnTo>
                  <a:pt x="0" y="63500"/>
                </a:lnTo>
                <a:lnTo>
                  <a:pt x="11531" y="127000"/>
                </a:lnTo>
                <a:lnTo>
                  <a:pt x="26301" y="177800"/>
                </a:lnTo>
                <a:lnTo>
                  <a:pt x="43954" y="228600"/>
                </a:lnTo>
                <a:lnTo>
                  <a:pt x="64135" y="279400"/>
                </a:lnTo>
                <a:lnTo>
                  <a:pt x="86461" y="330200"/>
                </a:lnTo>
                <a:lnTo>
                  <a:pt x="110591" y="368300"/>
                </a:lnTo>
                <a:lnTo>
                  <a:pt x="136144" y="406400"/>
                </a:lnTo>
                <a:lnTo>
                  <a:pt x="162775" y="431800"/>
                </a:lnTo>
                <a:lnTo>
                  <a:pt x="190106" y="469900"/>
                </a:lnTo>
                <a:lnTo>
                  <a:pt x="217779" y="495300"/>
                </a:lnTo>
                <a:lnTo>
                  <a:pt x="245427" y="508000"/>
                </a:lnTo>
                <a:lnTo>
                  <a:pt x="287032" y="546100"/>
                </a:lnTo>
                <a:lnTo>
                  <a:pt x="326199" y="558800"/>
                </a:lnTo>
                <a:lnTo>
                  <a:pt x="361696" y="584200"/>
                </a:lnTo>
                <a:lnTo>
                  <a:pt x="392315" y="596900"/>
                </a:lnTo>
                <a:lnTo>
                  <a:pt x="392315" y="1866900"/>
                </a:lnTo>
                <a:lnTo>
                  <a:pt x="400100" y="1905000"/>
                </a:lnTo>
                <a:lnTo>
                  <a:pt x="421335" y="1943100"/>
                </a:lnTo>
                <a:lnTo>
                  <a:pt x="452805" y="1955800"/>
                </a:lnTo>
                <a:lnTo>
                  <a:pt x="491350" y="1968500"/>
                </a:lnTo>
                <a:lnTo>
                  <a:pt x="529907" y="1955800"/>
                </a:lnTo>
                <a:lnTo>
                  <a:pt x="561390" y="1943100"/>
                </a:lnTo>
                <a:lnTo>
                  <a:pt x="582625" y="1905000"/>
                </a:lnTo>
                <a:lnTo>
                  <a:pt x="590410" y="1866900"/>
                </a:lnTo>
                <a:lnTo>
                  <a:pt x="590410" y="1155700"/>
                </a:lnTo>
                <a:lnTo>
                  <a:pt x="627532" y="1155700"/>
                </a:lnTo>
                <a:lnTo>
                  <a:pt x="627532" y="1866900"/>
                </a:lnTo>
                <a:lnTo>
                  <a:pt x="635317" y="1905000"/>
                </a:lnTo>
                <a:lnTo>
                  <a:pt x="656551" y="1943100"/>
                </a:lnTo>
                <a:lnTo>
                  <a:pt x="688035" y="1955800"/>
                </a:lnTo>
                <a:lnTo>
                  <a:pt x="726579" y="1968500"/>
                </a:lnTo>
                <a:lnTo>
                  <a:pt x="765124" y="1955800"/>
                </a:lnTo>
                <a:lnTo>
                  <a:pt x="796620" y="1943100"/>
                </a:lnTo>
                <a:lnTo>
                  <a:pt x="817841" y="1905000"/>
                </a:lnTo>
                <a:lnTo>
                  <a:pt x="825627" y="1866900"/>
                </a:lnTo>
                <a:lnTo>
                  <a:pt x="825627" y="1155700"/>
                </a:lnTo>
                <a:lnTo>
                  <a:pt x="825627" y="1066800"/>
                </a:lnTo>
                <a:lnTo>
                  <a:pt x="825627" y="647700"/>
                </a:lnTo>
                <a:lnTo>
                  <a:pt x="825627" y="622300"/>
                </a:lnTo>
                <a:lnTo>
                  <a:pt x="825627" y="596900"/>
                </a:lnTo>
                <a:lnTo>
                  <a:pt x="856246" y="584200"/>
                </a:lnTo>
                <a:lnTo>
                  <a:pt x="891743" y="558800"/>
                </a:lnTo>
                <a:lnTo>
                  <a:pt x="930897" y="546100"/>
                </a:lnTo>
                <a:lnTo>
                  <a:pt x="972502" y="508000"/>
                </a:lnTo>
                <a:lnTo>
                  <a:pt x="1007389" y="482600"/>
                </a:lnTo>
                <a:lnTo>
                  <a:pt x="1042149" y="444500"/>
                </a:lnTo>
                <a:lnTo>
                  <a:pt x="1076071" y="406400"/>
                </a:lnTo>
                <a:lnTo>
                  <a:pt x="1108417" y="368300"/>
                </a:lnTo>
                <a:lnTo>
                  <a:pt x="1138478" y="317500"/>
                </a:lnTo>
                <a:lnTo>
                  <a:pt x="1160907" y="355600"/>
                </a:lnTo>
                <a:lnTo>
                  <a:pt x="1186307" y="406400"/>
                </a:lnTo>
                <a:lnTo>
                  <a:pt x="1213967" y="444500"/>
                </a:lnTo>
                <a:lnTo>
                  <a:pt x="1243203" y="482600"/>
                </a:lnTo>
                <a:lnTo>
                  <a:pt x="1303528" y="533400"/>
                </a:lnTo>
                <a:lnTo>
                  <a:pt x="1339075" y="571500"/>
                </a:lnTo>
                <a:lnTo>
                  <a:pt x="1372857" y="584200"/>
                </a:lnTo>
                <a:lnTo>
                  <a:pt x="1403819" y="609600"/>
                </a:lnTo>
                <a:lnTo>
                  <a:pt x="1430921" y="622300"/>
                </a:lnTo>
                <a:lnTo>
                  <a:pt x="1272451" y="1397000"/>
                </a:lnTo>
                <a:lnTo>
                  <a:pt x="1276731" y="1397000"/>
                </a:lnTo>
                <a:lnTo>
                  <a:pt x="1292339" y="1409700"/>
                </a:lnTo>
                <a:lnTo>
                  <a:pt x="1357604" y="1435100"/>
                </a:lnTo>
                <a:lnTo>
                  <a:pt x="1406918" y="1447800"/>
                </a:lnTo>
                <a:lnTo>
                  <a:pt x="1467129" y="1460500"/>
                </a:lnTo>
                <a:lnTo>
                  <a:pt x="1538071" y="1473200"/>
                </a:lnTo>
                <a:lnTo>
                  <a:pt x="1701088" y="1473200"/>
                </a:lnTo>
                <a:lnTo>
                  <a:pt x="1772043" y="1460500"/>
                </a:lnTo>
                <a:lnTo>
                  <a:pt x="1832254" y="1447800"/>
                </a:lnTo>
                <a:lnTo>
                  <a:pt x="1881568" y="1435100"/>
                </a:lnTo>
                <a:lnTo>
                  <a:pt x="1919808" y="1422400"/>
                </a:lnTo>
                <a:lnTo>
                  <a:pt x="1962442" y="1397000"/>
                </a:lnTo>
                <a:lnTo>
                  <a:pt x="1966722" y="1397000"/>
                </a:lnTo>
                <a:lnTo>
                  <a:pt x="1870608" y="927100"/>
                </a:lnTo>
                <a:lnTo>
                  <a:pt x="1808264" y="622300"/>
                </a:lnTo>
                <a:lnTo>
                  <a:pt x="1835353" y="609600"/>
                </a:lnTo>
                <a:lnTo>
                  <a:pt x="1866303" y="584200"/>
                </a:lnTo>
                <a:lnTo>
                  <a:pt x="1900085" y="571500"/>
                </a:lnTo>
                <a:lnTo>
                  <a:pt x="1935632" y="533400"/>
                </a:lnTo>
                <a:lnTo>
                  <a:pt x="1995944" y="482600"/>
                </a:lnTo>
                <a:lnTo>
                  <a:pt x="2025180" y="444500"/>
                </a:lnTo>
                <a:lnTo>
                  <a:pt x="2052840" y="406400"/>
                </a:lnTo>
                <a:lnTo>
                  <a:pt x="2078240" y="355600"/>
                </a:lnTo>
                <a:lnTo>
                  <a:pt x="2100668" y="317500"/>
                </a:lnTo>
                <a:lnTo>
                  <a:pt x="2130729" y="368300"/>
                </a:lnTo>
                <a:lnTo>
                  <a:pt x="2163076" y="406400"/>
                </a:lnTo>
                <a:lnTo>
                  <a:pt x="2196998" y="444500"/>
                </a:lnTo>
                <a:lnTo>
                  <a:pt x="2231771" y="482600"/>
                </a:lnTo>
                <a:lnTo>
                  <a:pt x="2266670" y="508000"/>
                </a:lnTo>
                <a:lnTo>
                  <a:pt x="2308263" y="546100"/>
                </a:lnTo>
                <a:lnTo>
                  <a:pt x="2347430" y="558800"/>
                </a:lnTo>
                <a:lnTo>
                  <a:pt x="2382926" y="584200"/>
                </a:lnTo>
                <a:lnTo>
                  <a:pt x="2413546" y="596900"/>
                </a:lnTo>
                <a:lnTo>
                  <a:pt x="2413546" y="1866900"/>
                </a:lnTo>
                <a:lnTo>
                  <a:pt x="2421331" y="1905000"/>
                </a:lnTo>
                <a:lnTo>
                  <a:pt x="2442565" y="1943100"/>
                </a:lnTo>
                <a:lnTo>
                  <a:pt x="2474049" y="1955800"/>
                </a:lnTo>
                <a:lnTo>
                  <a:pt x="2512593" y="1968500"/>
                </a:lnTo>
                <a:lnTo>
                  <a:pt x="2551138" y="1955800"/>
                </a:lnTo>
                <a:lnTo>
                  <a:pt x="2582621" y="1943100"/>
                </a:lnTo>
                <a:lnTo>
                  <a:pt x="2603855" y="1905000"/>
                </a:lnTo>
                <a:lnTo>
                  <a:pt x="2611640" y="1866900"/>
                </a:lnTo>
                <a:lnTo>
                  <a:pt x="2611640" y="1155700"/>
                </a:lnTo>
                <a:lnTo>
                  <a:pt x="2648775" y="1155700"/>
                </a:lnTo>
                <a:lnTo>
                  <a:pt x="2648775" y="1866900"/>
                </a:lnTo>
                <a:lnTo>
                  <a:pt x="2656560" y="1905000"/>
                </a:lnTo>
                <a:lnTo>
                  <a:pt x="2677782" y="1943100"/>
                </a:lnTo>
                <a:lnTo>
                  <a:pt x="2709265" y="1955800"/>
                </a:lnTo>
                <a:lnTo>
                  <a:pt x="2747810" y="1968500"/>
                </a:lnTo>
                <a:lnTo>
                  <a:pt x="2786367" y="1955800"/>
                </a:lnTo>
                <a:lnTo>
                  <a:pt x="2817850" y="1943100"/>
                </a:lnTo>
                <a:lnTo>
                  <a:pt x="2839085" y="1905000"/>
                </a:lnTo>
                <a:lnTo>
                  <a:pt x="2846870" y="1866900"/>
                </a:lnTo>
                <a:lnTo>
                  <a:pt x="2846870" y="1155700"/>
                </a:lnTo>
                <a:lnTo>
                  <a:pt x="2846870" y="1066800"/>
                </a:lnTo>
                <a:lnTo>
                  <a:pt x="2846870" y="647700"/>
                </a:lnTo>
                <a:lnTo>
                  <a:pt x="2846870" y="622300"/>
                </a:lnTo>
                <a:lnTo>
                  <a:pt x="2846870" y="596900"/>
                </a:lnTo>
                <a:lnTo>
                  <a:pt x="2877477" y="584200"/>
                </a:lnTo>
                <a:lnTo>
                  <a:pt x="2912973" y="558800"/>
                </a:lnTo>
                <a:lnTo>
                  <a:pt x="2952127" y="546100"/>
                </a:lnTo>
                <a:lnTo>
                  <a:pt x="2993720" y="508000"/>
                </a:lnTo>
                <a:lnTo>
                  <a:pt x="3021380" y="495300"/>
                </a:lnTo>
                <a:lnTo>
                  <a:pt x="3035223" y="482600"/>
                </a:lnTo>
                <a:lnTo>
                  <a:pt x="3049054" y="469900"/>
                </a:lnTo>
                <a:lnTo>
                  <a:pt x="3076384" y="431800"/>
                </a:lnTo>
                <a:lnTo>
                  <a:pt x="3103016" y="406400"/>
                </a:lnTo>
                <a:lnTo>
                  <a:pt x="3128568" y="368300"/>
                </a:lnTo>
                <a:lnTo>
                  <a:pt x="3152698" y="330200"/>
                </a:lnTo>
                <a:lnTo>
                  <a:pt x="3175025" y="279400"/>
                </a:lnTo>
                <a:lnTo>
                  <a:pt x="3195205" y="228600"/>
                </a:lnTo>
                <a:lnTo>
                  <a:pt x="3212858" y="177800"/>
                </a:lnTo>
                <a:lnTo>
                  <a:pt x="3227628" y="127000"/>
                </a:lnTo>
                <a:lnTo>
                  <a:pt x="3239160" y="63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2/19/26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3010" y="-134963"/>
            <a:ext cx="9352379" cy="2631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0" b="1" i="0">
                <a:solidFill>
                  <a:srgbClr val="00ACA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4500" y="2988265"/>
            <a:ext cx="4089400" cy="1775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1" i="0">
                <a:solidFill>
                  <a:srgbClr val="008DC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hyperlink" Target="mailto:Compliance.Officer@destinysprings.org" TargetMode="External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hyperlink" Target="mailto:InfoSec@PalomarHealth.org" TargetMode="External"/><Relationship Id="rId10" Type="http://schemas.openxmlformats.org/officeDocument/2006/relationships/image" Target="../media/image30.png"/><Relationship Id="rId4" Type="http://schemas.openxmlformats.org/officeDocument/2006/relationships/hyperlink" Target="mailto:PrivacyOfficer@destinysprings.org" TargetMode="External"/><Relationship Id="rId9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mailto:PrivacyOfficer@destinysprings.com" TargetMode="Externa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mailto:Compliance.Officer@destinysprings.org" TargetMode="External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237743" y="300545"/>
            <a:ext cx="9619615" cy="6053455"/>
          </a:xfrm>
          <a:custGeom>
            <a:avLst/>
            <a:gdLst/>
            <a:ahLst/>
            <a:cxnLst/>
            <a:rect l="l" t="t" r="r" b="b"/>
            <a:pathLst>
              <a:path w="9619615" h="6053455">
                <a:moveTo>
                  <a:pt x="9619488" y="0"/>
                </a:moveTo>
                <a:lnTo>
                  <a:pt x="0" y="0"/>
                </a:lnTo>
                <a:lnTo>
                  <a:pt x="0" y="6053328"/>
                </a:lnTo>
                <a:lnTo>
                  <a:pt x="9619488" y="6053328"/>
                </a:lnTo>
                <a:lnTo>
                  <a:pt x="9619488" y="0"/>
                </a:lnTo>
                <a:close/>
              </a:path>
            </a:pathLst>
          </a:custGeom>
          <a:solidFill>
            <a:srgbClr val="008D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274168" y="1704521"/>
            <a:ext cx="3996054" cy="3263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9005"/>
              </a:lnSpc>
              <a:spcBef>
                <a:spcPts val="130"/>
              </a:spcBef>
            </a:pPr>
            <a:r>
              <a:rPr sz="8800" spc="-10" dirty="0">
                <a:solidFill>
                  <a:srgbClr val="FFFFFF"/>
                </a:solidFill>
              </a:rPr>
              <a:t>LIVING</a:t>
            </a:r>
            <a:endParaRPr sz="8800" dirty="0"/>
          </a:p>
          <a:p>
            <a:pPr marL="12700" marR="14604">
              <a:lnSpc>
                <a:spcPct val="70600"/>
              </a:lnSpc>
              <a:spcBef>
                <a:spcPts val="1550"/>
              </a:spcBef>
            </a:pPr>
            <a:r>
              <a:rPr sz="8800" spc="-484" dirty="0">
                <a:solidFill>
                  <a:srgbClr val="FFFFFF"/>
                </a:solidFill>
              </a:rPr>
              <a:t>OUR </a:t>
            </a:r>
            <a:r>
              <a:rPr sz="8800" spc="-1839" dirty="0">
                <a:solidFill>
                  <a:srgbClr val="FFFFFF"/>
                </a:solidFill>
              </a:rPr>
              <a:t>V</a:t>
            </a:r>
            <a:r>
              <a:rPr sz="8800" spc="-370" dirty="0">
                <a:solidFill>
                  <a:srgbClr val="FFFFFF"/>
                </a:solidFill>
              </a:rPr>
              <a:t>A</a:t>
            </a:r>
            <a:r>
              <a:rPr sz="8800" spc="-1005" dirty="0">
                <a:solidFill>
                  <a:srgbClr val="FFFFFF"/>
                </a:solidFill>
              </a:rPr>
              <a:t>L</a:t>
            </a:r>
            <a:r>
              <a:rPr sz="8800" spc="-710" dirty="0">
                <a:solidFill>
                  <a:srgbClr val="FFFFFF"/>
                </a:solidFill>
              </a:rPr>
              <a:t>U</a:t>
            </a:r>
            <a:r>
              <a:rPr sz="8800" spc="-390" dirty="0">
                <a:solidFill>
                  <a:srgbClr val="FFFFFF"/>
                </a:solidFill>
              </a:rPr>
              <a:t>E</a:t>
            </a:r>
            <a:r>
              <a:rPr sz="8800" spc="-405" dirty="0">
                <a:solidFill>
                  <a:srgbClr val="FFFFFF"/>
                </a:solidFill>
              </a:rPr>
              <a:t>S</a:t>
            </a:r>
            <a:endParaRPr sz="8800" dirty="0"/>
          </a:p>
        </p:txBody>
      </p:sp>
      <p:sp>
        <p:nvSpPr>
          <p:cNvPr id="34" name="object 34"/>
          <p:cNvSpPr txBox="1"/>
          <p:nvPr/>
        </p:nvSpPr>
        <p:spPr>
          <a:xfrm>
            <a:off x="1274168" y="5191861"/>
            <a:ext cx="2833370" cy="770255"/>
          </a:xfrm>
          <a:prstGeom prst="rect">
            <a:avLst/>
          </a:prstGeom>
        </p:spPr>
        <p:txBody>
          <a:bodyPr vert="horz" wrap="square" lIns="0" tIns="173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sz="2200" b="1" dirty="0">
                <a:solidFill>
                  <a:srgbClr val="FFFFFF"/>
                </a:solidFill>
                <a:latin typeface="Arial"/>
                <a:cs typeface="Arial"/>
              </a:rPr>
              <a:t>CODE</a:t>
            </a:r>
            <a:r>
              <a:rPr sz="2200" b="1" spc="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200" b="1" spc="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FFFFFF"/>
                </a:solidFill>
                <a:latin typeface="Arial"/>
                <a:cs typeface="Arial"/>
              </a:rPr>
              <a:t>CONDUCT</a:t>
            </a:r>
            <a:endParaRPr sz="2200" dirty="0">
              <a:latin typeface="Arial"/>
              <a:cs typeface="Arial"/>
            </a:endParaRPr>
          </a:p>
          <a:p>
            <a:pPr marL="33020">
              <a:lnSpc>
                <a:spcPct val="100000"/>
              </a:lnSpc>
              <a:spcBef>
                <a:spcPts val="630"/>
              </a:spcBef>
            </a:pPr>
            <a:r>
              <a:rPr sz="1100" b="1" spc="-10" dirty="0">
                <a:solidFill>
                  <a:srgbClr val="FFFFFF"/>
                </a:solidFill>
                <a:latin typeface="Arial"/>
                <a:cs typeface="Arial"/>
              </a:rPr>
              <a:t>Board</a:t>
            </a:r>
            <a:r>
              <a:rPr sz="110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10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Director</a:t>
            </a:r>
            <a:r>
              <a:rPr sz="11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Approved</a:t>
            </a:r>
            <a:r>
              <a:rPr sz="110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Arial"/>
                <a:cs typeface="Arial"/>
              </a:rPr>
              <a:t>3.13.202</a:t>
            </a:r>
            <a:r>
              <a:rPr lang="en-US" sz="1100" b="1" spc="-1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E7487DA9-CF14-B4EC-485C-2BBED4B31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762000"/>
            <a:ext cx="3848100" cy="10890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4818" y="192023"/>
            <a:ext cx="4231005" cy="7388859"/>
          </a:xfrm>
          <a:custGeom>
            <a:avLst/>
            <a:gdLst/>
            <a:ahLst/>
            <a:cxnLst/>
            <a:rect l="l" t="t" r="r" b="b"/>
            <a:pathLst>
              <a:path w="4231005" h="7388859">
                <a:moveTo>
                  <a:pt x="4230878" y="0"/>
                </a:moveTo>
                <a:lnTo>
                  <a:pt x="0" y="0"/>
                </a:lnTo>
                <a:lnTo>
                  <a:pt x="0" y="7388352"/>
                </a:lnTo>
                <a:lnTo>
                  <a:pt x="4230878" y="7388352"/>
                </a:lnTo>
                <a:lnTo>
                  <a:pt x="4230878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xfrm>
            <a:off x="431056" y="1445652"/>
            <a:ext cx="3736975" cy="3808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Every</a:t>
            </a:r>
            <a:r>
              <a:rPr spc="-20" dirty="0"/>
              <a:t> </a:t>
            </a:r>
            <a:r>
              <a:rPr dirty="0"/>
              <a:t>day</a:t>
            </a:r>
            <a:r>
              <a:rPr spc="-20" dirty="0"/>
              <a:t> </a:t>
            </a:r>
            <a:r>
              <a:rPr dirty="0"/>
              <a:t>at</a:t>
            </a:r>
            <a:r>
              <a:rPr spc="-20" dirty="0"/>
              <a:t> </a:t>
            </a:r>
            <a:r>
              <a:rPr lang="en-US" dirty="0"/>
              <a:t>Destiny Springs</a:t>
            </a:r>
            <a:r>
              <a:rPr dirty="0"/>
              <a:t>,</a:t>
            </a:r>
            <a:r>
              <a:rPr spc="-20" dirty="0"/>
              <a:t> </a:t>
            </a:r>
            <a:r>
              <a:rPr dirty="0"/>
              <a:t>we</a:t>
            </a:r>
            <a:r>
              <a:rPr spc="-20" dirty="0"/>
              <a:t> </a:t>
            </a:r>
            <a:r>
              <a:rPr dirty="0"/>
              <a:t>ask</a:t>
            </a:r>
            <a:r>
              <a:rPr spc="-20" dirty="0"/>
              <a:t> </a:t>
            </a:r>
            <a:r>
              <a:rPr dirty="0"/>
              <a:t>our</a:t>
            </a:r>
            <a:r>
              <a:rPr spc="-20" dirty="0"/>
              <a:t> </a:t>
            </a:r>
            <a:r>
              <a:rPr dirty="0"/>
              <a:t>patients</a:t>
            </a:r>
            <a:r>
              <a:rPr spc="-15" dirty="0"/>
              <a:t> </a:t>
            </a:r>
            <a:r>
              <a:rPr spc="-25" dirty="0"/>
              <a:t>and </a:t>
            </a:r>
            <a:r>
              <a:rPr dirty="0"/>
              <a:t>their</a:t>
            </a:r>
            <a:r>
              <a:rPr spc="-25" dirty="0"/>
              <a:t> </a:t>
            </a:r>
            <a:r>
              <a:rPr dirty="0"/>
              <a:t>families</a:t>
            </a:r>
            <a:r>
              <a:rPr spc="-15" dirty="0"/>
              <a:t> </a:t>
            </a:r>
            <a:r>
              <a:rPr dirty="0"/>
              <a:t>for</a:t>
            </a:r>
            <a:r>
              <a:rPr spc="-10" dirty="0"/>
              <a:t> </a:t>
            </a:r>
            <a:r>
              <a:rPr dirty="0"/>
              <a:t>their</a:t>
            </a:r>
            <a:r>
              <a:rPr spc="-15" dirty="0"/>
              <a:t> </a:t>
            </a:r>
            <a:r>
              <a:rPr dirty="0"/>
              <a:t>trust</a:t>
            </a:r>
            <a:r>
              <a:rPr spc="-1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trust</a:t>
            </a:r>
            <a:r>
              <a:rPr spc="-15" dirty="0"/>
              <a:t> </a:t>
            </a:r>
            <a:r>
              <a:rPr dirty="0"/>
              <a:t>in</a:t>
            </a:r>
            <a:r>
              <a:rPr spc="-15" dirty="0"/>
              <a:t> </a:t>
            </a:r>
            <a:r>
              <a:rPr dirty="0"/>
              <a:t>our</a:t>
            </a:r>
            <a:r>
              <a:rPr spc="-10" dirty="0"/>
              <a:t> </a:t>
            </a:r>
            <a:r>
              <a:rPr dirty="0"/>
              <a:t>ability</a:t>
            </a:r>
            <a:r>
              <a:rPr spc="-15" dirty="0"/>
              <a:t> </a:t>
            </a:r>
            <a:r>
              <a:rPr dirty="0"/>
              <a:t>to</a:t>
            </a:r>
            <a:r>
              <a:rPr spc="-10" dirty="0"/>
              <a:t> provide </a:t>
            </a:r>
            <a:r>
              <a:rPr dirty="0"/>
              <a:t>excellent</a:t>
            </a:r>
            <a:r>
              <a:rPr spc="-20" dirty="0"/>
              <a:t> </a:t>
            </a:r>
            <a:r>
              <a:rPr dirty="0"/>
              <a:t>patient</a:t>
            </a:r>
            <a:r>
              <a:rPr spc="-20" dirty="0"/>
              <a:t> </a:t>
            </a:r>
            <a:r>
              <a:rPr dirty="0"/>
              <a:t>care</a:t>
            </a:r>
            <a:r>
              <a:rPr spc="-20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dirty="0"/>
              <a:t>safe</a:t>
            </a:r>
            <a:r>
              <a:rPr spc="-2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compassionate</a:t>
            </a:r>
            <a:r>
              <a:rPr spc="-20" dirty="0"/>
              <a:t> way.</a:t>
            </a:r>
          </a:p>
          <a:p>
            <a:pPr marL="12700" marR="221615">
              <a:lnSpc>
                <a:spcPct val="100000"/>
              </a:lnSpc>
            </a:pPr>
            <a:r>
              <a:rPr spc="-65" dirty="0"/>
              <a:t>To</a:t>
            </a:r>
            <a:r>
              <a:rPr spc="-10" dirty="0"/>
              <a:t> </a:t>
            </a:r>
            <a:r>
              <a:rPr dirty="0"/>
              <a:t>earn</a:t>
            </a:r>
            <a:r>
              <a:rPr spc="-5" dirty="0"/>
              <a:t> </a:t>
            </a:r>
            <a:r>
              <a:rPr dirty="0"/>
              <a:t>this</a:t>
            </a:r>
            <a:r>
              <a:rPr spc="-5" dirty="0"/>
              <a:t> </a:t>
            </a:r>
            <a:r>
              <a:rPr dirty="0"/>
              <a:t>trust,</a:t>
            </a:r>
            <a:r>
              <a:rPr spc="-5" dirty="0"/>
              <a:t> </a:t>
            </a:r>
            <a:r>
              <a:rPr dirty="0"/>
              <a:t>we</a:t>
            </a:r>
            <a:r>
              <a:rPr spc="-5" dirty="0"/>
              <a:t> </a:t>
            </a:r>
            <a:r>
              <a:rPr dirty="0"/>
              <a:t>must</a:t>
            </a:r>
            <a:r>
              <a:rPr spc="-10" dirty="0"/>
              <a:t> </a:t>
            </a:r>
            <a:r>
              <a:rPr dirty="0"/>
              <a:t>behave</a:t>
            </a:r>
            <a:r>
              <a:rPr spc="-5" dirty="0"/>
              <a:t> </a:t>
            </a:r>
            <a:r>
              <a:rPr dirty="0"/>
              <a:t>safely</a:t>
            </a:r>
            <a:r>
              <a:rPr spc="-5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spc="-10" dirty="0"/>
              <a:t>ethically </a:t>
            </a:r>
            <a:r>
              <a:rPr dirty="0"/>
              <a:t>in</a:t>
            </a:r>
            <a:r>
              <a:rPr spc="-10" dirty="0"/>
              <a:t> </a:t>
            </a:r>
            <a:r>
              <a:rPr dirty="0"/>
              <a:t>everything</a:t>
            </a:r>
            <a:r>
              <a:rPr spc="-10" dirty="0"/>
              <a:t> </a:t>
            </a:r>
            <a:r>
              <a:rPr dirty="0"/>
              <a:t>we</a:t>
            </a:r>
            <a:r>
              <a:rPr spc="-10" dirty="0"/>
              <a:t> </a:t>
            </a:r>
            <a:r>
              <a:rPr dirty="0"/>
              <a:t>do</a:t>
            </a:r>
            <a:r>
              <a:rPr spc="-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our</a:t>
            </a:r>
            <a:r>
              <a:rPr spc="-10" dirty="0"/>
              <a:t> </a:t>
            </a:r>
            <a:r>
              <a:rPr dirty="0"/>
              <a:t>Code</a:t>
            </a:r>
            <a:r>
              <a:rPr spc="-1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Conduct.</a:t>
            </a:r>
          </a:p>
          <a:p>
            <a:pPr marL="12700" marR="100330">
              <a:lnSpc>
                <a:spcPct val="100000"/>
              </a:lnSpc>
              <a:spcBef>
                <a:spcPts val="540"/>
              </a:spcBef>
            </a:pPr>
            <a:r>
              <a:rPr lang="en-US" dirty="0"/>
              <a:t>Destiny Springs </a:t>
            </a:r>
            <a:r>
              <a:rPr dirty="0"/>
              <a:t>Code</a:t>
            </a:r>
            <a:r>
              <a:rPr spc="-2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Conduct</a:t>
            </a:r>
            <a:r>
              <a:rPr spc="-25" dirty="0"/>
              <a:t> </a:t>
            </a:r>
            <a:r>
              <a:rPr dirty="0"/>
              <a:t>is</a:t>
            </a:r>
            <a:r>
              <a:rPr spc="-3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spc="-10" dirty="0"/>
              <a:t>foundation </a:t>
            </a:r>
            <a:r>
              <a:rPr dirty="0"/>
              <a:t>that</a:t>
            </a:r>
            <a:r>
              <a:rPr spc="-15" dirty="0"/>
              <a:t> </a:t>
            </a:r>
            <a:r>
              <a:rPr dirty="0"/>
              <a:t>helps</a:t>
            </a:r>
            <a:r>
              <a:rPr spc="-10" dirty="0"/>
              <a:t> </a:t>
            </a:r>
            <a:r>
              <a:rPr dirty="0"/>
              <a:t>fulfill</a:t>
            </a:r>
            <a:r>
              <a:rPr spc="-15" dirty="0"/>
              <a:t> </a:t>
            </a:r>
            <a:r>
              <a:rPr dirty="0"/>
              <a:t>our</a:t>
            </a:r>
            <a:r>
              <a:rPr spc="-10" dirty="0"/>
              <a:t> </a:t>
            </a:r>
            <a:r>
              <a:rPr dirty="0"/>
              <a:t>commitments</a:t>
            </a:r>
            <a:r>
              <a:rPr spc="-10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each</a:t>
            </a:r>
            <a:r>
              <a:rPr spc="-10" dirty="0"/>
              <a:t> </a:t>
            </a:r>
            <a:r>
              <a:rPr spc="-20" dirty="0"/>
              <a:t>other,</a:t>
            </a:r>
            <a:r>
              <a:rPr spc="-1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spc="-25" dirty="0"/>
              <a:t>our </a:t>
            </a:r>
            <a:r>
              <a:rPr dirty="0"/>
              <a:t>partners</a:t>
            </a:r>
            <a:r>
              <a:rPr spc="-2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our</a:t>
            </a:r>
            <a:r>
              <a:rPr spc="-15" dirty="0"/>
              <a:t> </a:t>
            </a:r>
            <a:r>
              <a:rPr dirty="0"/>
              <a:t>patients</a:t>
            </a:r>
            <a:r>
              <a:rPr spc="-2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their</a:t>
            </a:r>
            <a:r>
              <a:rPr spc="-15" dirty="0"/>
              <a:t> </a:t>
            </a:r>
            <a:r>
              <a:rPr dirty="0"/>
              <a:t>families.</a:t>
            </a:r>
            <a:r>
              <a:rPr spc="-15" dirty="0"/>
              <a:t> </a:t>
            </a:r>
            <a:r>
              <a:rPr dirty="0"/>
              <a:t>This</a:t>
            </a:r>
            <a:r>
              <a:rPr spc="-20" dirty="0"/>
              <a:t> also </a:t>
            </a:r>
            <a:r>
              <a:rPr dirty="0"/>
              <a:t>ensures</a:t>
            </a:r>
            <a:r>
              <a:rPr spc="-15" dirty="0"/>
              <a:t> </a:t>
            </a:r>
            <a:r>
              <a:rPr dirty="0"/>
              <a:t>we</a:t>
            </a:r>
            <a:r>
              <a:rPr spc="-15" dirty="0"/>
              <a:t> </a:t>
            </a:r>
            <a:r>
              <a:rPr dirty="0"/>
              <a:t>stay</a:t>
            </a:r>
            <a:r>
              <a:rPr spc="-15" dirty="0"/>
              <a:t> </a:t>
            </a:r>
            <a:r>
              <a:rPr dirty="0"/>
              <a:t>aligned</a:t>
            </a:r>
            <a:r>
              <a:rPr spc="-10" dirty="0"/>
              <a:t> </a:t>
            </a:r>
            <a:r>
              <a:rPr dirty="0"/>
              <a:t>with</a:t>
            </a:r>
            <a:r>
              <a:rPr spc="-15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law,</a:t>
            </a:r>
            <a:r>
              <a:rPr spc="-15" dirty="0"/>
              <a:t> </a:t>
            </a:r>
            <a:r>
              <a:rPr spc="-10" dirty="0"/>
              <a:t>regulations </a:t>
            </a:r>
            <a:r>
              <a:rPr spc="-25" dirty="0"/>
              <a:t>and </a:t>
            </a:r>
            <a:r>
              <a:rPr lang="en-US" dirty="0"/>
              <a:t>Destiny Springs </a:t>
            </a:r>
            <a:r>
              <a:rPr dirty="0"/>
              <a:t>policies</a:t>
            </a:r>
            <a:r>
              <a:rPr spc="-10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spc="-10" dirty="0"/>
              <a:t>procedures. </a:t>
            </a:r>
            <a:r>
              <a:rPr dirty="0"/>
              <a:t>It</a:t>
            </a:r>
            <a:r>
              <a:rPr spc="-5" dirty="0"/>
              <a:t> </a:t>
            </a:r>
            <a:r>
              <a:rPr dirty="0"/>
              <a:t>is</a:t>
            </a:r>
            <a:r>
              <a:rPr spc="-10" dirty="0"/>
              <a:t> important </a:t>
            </a:r>
            <a:r>
              <a:rPr dirty="0"/>
              <a:t>that</a:t>
            </a:r>
            <a:r>
              <a:rPr spc="-15" dirty="0"/>
              <a:t> </a:t>
            </a:r>
            <a:r>
              <a:rPr dirty="0"/>
              <a:t>we</a:t>
            </a:r>
            <a:r>
              <a:rPr spc="-10" dirty="0"/>
              <a:t> </a:t>
            </a:r>
            <a:r>
              <a:rPr dirty="0"/>
              <a:t>understand</a:t>
            </a:r>
            <a:r>
              <a:rPr spc="-15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agree</a:t>
            </a:r>
            <a:r>
              <a:rPr spc="-10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uphold</a:t>
            </a:r>
            <a:r>
              <a:rPr spc="-1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spc="-10" dirty="0"/>
              <a:t>principles </a:t>
            </a:r>
            <a:r>
              <a:rPr dirty="0"/>
              <a:t>outlined</a:t>
            </a:r>
            <a:r>
              <a:rPr spc="-25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Code</a:t>
            </a:r>
            <a:r>
              <a:rPr spc="-20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Conduct</a:t>
            </a:r>
            <a:r>
              <a:rPr spc="-20" dirty="0"/>
              <a:t> </a:t>
            </a:r>
            <a:r>
              <a:rPr dirty="0"/>
              <a:t>each</a:t>
            </a:r>
            <a:r>
              <a:rPr spc="-20" dirty="0"/>
              <a:t> day.</a:t>
            </a: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/>
              <a:t>If you have any questions or ethical concerns </a:t>
            </a:r>
            <a:r>
              <a:rPr spc="-10" dirty="0"/>
              <a:t>regarding</a:t>
            </a:r>
          </a:p>
          <a:p>
            <a:pPr marL="12700" marR="9525">
              <a:lnSpc>
                <a:spcPct val="100000"/>
              </a:lnSpc>
            </a:pPr>
            <a:r>
              <a:rPr dirty="0"/>
              <a:t>a</a:t>
            </a:r>
            <a:r>
              <a:rPr spc="-20" dirty="0"/>
              <a:t> </a:t>
            </a:r>
            <a:r>
              <a:rPr dirty="0"/>
              <a:t>situation</a:t>
            </a:r>
            <a:r>
              <a:rPr spc="-15" dirty="0"/>
              <a:t> </a:t>
            </a:r>
            <a:r>
              <a:rPr dirty="0"/>
              <a:t>at</a:t>
            </a:r>
            <a:r>
              <a:rPr spc="-20" dirty="0"/>
              <a:t> </a:t>
            </a:r>
            <a:r>
              <a:rPr lang="en-US" dirty="0"/>
              <a:t>Destiny Springs</a:t>
            </a:r>
            <a:r>
              <a:rPr dirty="0"/>
              <a:t>,</a:t>
            </a:r>
            <a:r>
              <a:rPr spc="-20" dirty="0"/>
              <a:t> </a:t>
            </a:r>
            <a:r>
              <a:rPr dirty="0"/>
              <a:t>I</a:t>
            </a:r>
            <a:r>
              <a:rPr spc="-15" dirty="0"/>
              <a:t> </a:t>
            </a:r>
            <a:r>
              <a:rPr dirty="0"/>
              <a:t>encourage</a:t>
            </a:r>
            <a:r>
              <a:rPr spc="-20" dirty="0"/>
              <a:t> </a:t>
            </a:r>
            <a:r>
              <a:rPr dirty="0"/>
              <a:t>you</a:t>
            </a:r>
            <a:r>
              <a:rPr spc="-15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spc="-10" dirty="0"/>
              <a:t>contact </a:t>
            </a:r>
            <a:r>
              <a:rPr dirty="0"/>
              <a:t>your</a:t>
            </a:r>
            <a:r>
              <a:rPr spc="-20" dirty="0"/>
              <a:t> </a:t>
            </a:r>
            <a:r>
              <a:rPr dirty="0"/>
              <a:t>supervisor</a:t>
            </a:r>
            <a:r>
              <a:rPr spc="-15" dirty="0"/>
              <a:t> </a:t>
            </a:r>
            <a:r>
              <a:rPr dirty="0"/>
              <a:t>or</a:t>
            </a:r>
            <a:r>
              <a:rPr spc="-2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lang="en-US" dirty="0"/>
              <a:t>Destiny Springs</a:t>
            </a:r>
            <a:r>
              <a:rPr spc="-15" dirty="0"/>
              <a:t> </a:t>
            </a:r>
            <a:r>
              <a:rPr spc="-10" dirty="0"/>
              <a:t>Compliance </a:t>
            </a:r>
            <a:r>
              <a:rPr lang="en-US" spc="-10" dirty="0"/>
              <a:t>L</a:t>
            </a:r>
            <a:r>
              <a:rPr lang="en-US" dirty="0"/>
              <a:t>ine</a:t>
            </a:r>
            <a:r>
              <a:rPr dirty="0"/>
              <a:t>.</a:t>
            </a:r>
            <a:r>
              <a:rPr spc="-25" dirty="0"/>
              <a:t> </a:t>
            </a:r>
            <a:r>
              <a:rPr dirty="0"/>
              <a:t>We</a:t>
            </a:r>
            <a:r>
              <a:rPr spc="-20" dirty="0"/>
              <a:t> </a:t>
            </a:r>
            <a:r>
              <a:rPr dirty="0"/>
              <a:t>welcome</a:t>
            </a:r>
            <a:r>
              <a:rPr spc="-20" dirty="0"/>
              <a:t> </a:t>
            </a:r>
            <a:r>
              <a:rPr dirty="0"/>
              <a:t>your</a:t>
            </a:r>
            <a:r>
              <a:rPr spc="-20" dirty="0"/>
              <a:t> </a:t>
            </a:r>
            <a:r>
              <a:rPr dirty="0"/>
              <a:t>comments</a:t>
            </a:r>
            <a:r>
              <a:rPr spc="-2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enforce</a:t>
            </a:r>
          </a:p>
          <a:p>
            <a:pPr marL="12700" marR="220345">
              <a:lnSpc>
                <a:spcPct val="100000"/>
              </a:lnSpc>
            </a:pPr>
            <a:r>
              <a:rPr dirty="0"/>
              <a:t>a</a:t>
            </a:r>
            <a:r>
              <a:rPr spc="-20" dirty="0"/>
              <a:t> </a:t>
            </a:r>
            <a:r>
              <a:rPr dirty="0"/>
              <a:t>strict</a:t>
            </a:r>
            <a:r>
              <a:rPr spc="-20" dirty="0"/>
              <a:t> </a:t>
            </a:r>
            <a:r>
              <a:rPr spc="-10" dirty="0"/>
              <a:t>non-</a:t>
            </a:r>
            <a:r>
              <a:rPr dirty="0"/>
              <a:t>retaliation</a:t>
            </a:r>
            <a:r>
              <a:rPr spc="-20" dirty="0"/>
              <a:t> </a:t>
            </a:r>
            <a:r>
              <a:rPr spc="-10" dirty="0"/>
              <a:t>policy.</a:t>
            </a:r>
            <a:r>
              <a:rPr spc="-20" dirty="0"/>
              <a:t> </a:t>
            </a:r>
            <a:endParaRPr b="1" spc="-25" dirty="0">
              <a:latin typeface="Arial"/>
              <a:cs typeface="Arial"/>
            </a:endParaRPr>
          </a:p>
          <a:p>
            <a:pPr marL="12700" marR="137795">
              <a:lnSpc>
                <a:spcPct val="100000"/>
              </a:lnSpc>
              <a:spcBef>
                <a:spcPts val="540"/>
              </a:spcBef>
            </a:pPr>
            <a:r>
              <a:rPr dirty="0"/>
              <a:t>Thank</a:t>
            </a:r>
            <a:r>
              <a:rPr spc="-10" dirty="0"/>
              <a:t> </a:t>
            </a:r>
            <a:r>
              <a:rPr dirty="0"/>
              <a:t>you</a:t>
            </a:r>
            <a:r>
              <a:rPr spc="-10" dirty="0"/>
              <a:t> </a:t>
            </a:r>
            <a:r>
              <a:rPr dirty="0"/>
              <a:t>for</a:t>
            </a:r>
            <a:r>
              <a:rPr spc="-5" dirty="0"/>
              <a:t> </a:t>
            </a:r>
            <a:r>
              <a:rPr dirty="0"/>
              <a:t>your</a:t>
            </a:r>
            <a:r>
              <a:rPr spc="-10" dirty="0"/>
              <a:t> </a:t>
            </a:r>
            <a:r>
              <a:rPr dirty="0"/>
              <a:t>commitment</a:t>
            </a:r>
            <a:r>
              <a:rPr spc="-10" dirty="0"/>
              <a:t> </a:t>
            </a:r>
            <a:r>
              <a:rPr dirty="0"/>
              <a:t>to</a:t>
            </a:r>
            <a:r>
              <a:rPr spc="-5" dirty="0"/>
              <a:t> </a:t>
            </a:r>
            <a:r>
              <a:rPr dirty="0"/>
              <a:t>deliver</a:t>
            </a:r>
            <a:r>
              <a:rPr spc="-10" dirty="0"/>
              <a:t> </a:t>
            </a:r>
            <a:r>
              <a:rPr dirty="0"/>
              <a:t>high-</a:t>
            </a:r>
            <a:r>
              <a:rPr spc="-25" dirty="0"/>
              <a:t>quality, </a:t>
            </a:r>
            <a:r>
              <a:rPr dirty="0"/>
              <a:t>safe</a:t>
            </a:r>
            <a:r>
              <a:rPr spc="-20" dirty="0"/>
              <a:t> </a:t>
            </a:r>
            <a:r>
              <a:rPr dirty="0"/>
              <a:t>patient</a:t>
            </a:r>
            <a:r>
              <a:rPr spc="-20" dirty="0"/>
              <a:t> </a:t>
            </a:r>
            <a:r>
              <a:rPr dirty="0"/>
              <a:t>care</a:t>
            </a:r>
            <a:r>
              <a:rPr spc="-20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every</a:t>
            </a:r>
            <a:r>
              <a:rPr spc="-20" dirty="0"/>
              <a:t> </a:t>
            </a:r>
            <a:r>
              <a:rPr dirty="0"/>
              <a:t>patient,</a:t>
            </a:r>
            <a:r>
              <a:rPr spc="-20" dirty="0"/>
              <a:t> </a:t>
            </a:r>
            <a:r>
              <a:rPr dirty="0"/>
              <a:t>every</a:t>
            </a:r>
            <a:r>
              <a:rPr spc="-20" dirty="0"/>
              <a:t> </a:t>
            </a:r>
            <a:r>
              <a:rPr spc="-10" dirty="0"/>
              <a:t>time.</a:t>
            </a: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pc="-10" dirty="0"/>
              <a:t>Sincerely,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69900" y="6739568"/>
            <a:ext cx="1587500" cy="3795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50" b="1" dirty="0">
                <a:solidFill>
                  <a:srgbClr val="FFFFFF"/>
                </a:solidFill>
                <a:latin typeface="Arial"/>
                <a:cs typeface="Arial"/>
              </a:rPr>
              <a:t>David Carnahan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50" spc="-25" dirty="0">
                <a:solidFill>
                  <a:srgbClr val="FFFFFF"/>
                </a:solidFill>
                <a:latin typeface="Avenir Book"/>
                <a:cs typeface="Avenir Book"/>
              </a:rPr>
              <a:t>CEO</a:t>
            </a:r>
            <a:endParaRPr sz="115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32008" y="445472"/>
            <a:ext cx="3722594" cy="1261884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40"/>
              </a:spcBef>
            </a:pPr>
            <a:r>
              <a:rPr sz="2200" i="1" spc="-229" dirty="0">
                <a:solidFill>
                  <a:srgbClr val="008BC0"/>
                </a:solidFill>
                <a:latin typeface="Arial"/>
                <a:cs typeface="Arial"/>
              </a:rPr>
              <a:t>Our</a:t>
            </a:r>
            <a:r>
              <a:rPr sz="2200" i="1" spc="70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sz="2200" i="1" spc="-10" dirty="0">
                <a:solidFill>
                  <a:srgbClr val="008BC0"/>
                </a:solidFill>
                <a:latin typeface="Arial"/>
                <a:cs typeface="Arial"/>
              </a:rPr>
              <a:t>Mission</a:t>
            </a:r>
            <a:endParaRPr sz="2200" dirty="0">
              <a:latin typeface="Arial"/>
              <a:cs typeface="Arial"/>
            </a:endParaRPr>
          </a:p>
          <a:p>
            <a:pPr marL="12700" marR="5080" algn="ctr">
              <a:lnSpc>
                <a:spcPct val="100000"/>
              </a:lnSpc>
              <a:spcBef>
                <a:spcPts val="560"/>
              </a:spcBef>
            </a:pPr>
            <a:r>
              <a:rPr lang="en-US" sz="1600" dirty="0">
                <a:latin typeface="Avenir Book" panose="02000503020000020003" pitchFamily="2" charset="0"/>
              </a:rPr>
              <a:t>To deliver outstanding patient care, driven by a passionate commitment to both clinical and service excellence.</a:t>
            </a:r>
            <a:endParaRPr sz="1650" dirty="0">
              <a:latin typeface="Avenir Book" panose="02000503020000020003" pitchFamily="2" charset="0"/>
              <a:cs typeface="Avenir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16412" y="1694513"/>
            <a:ext cx="4953785" cy="2509020"/>
          </a:xfrm>
          <a:prstGeom prst="rect">
            <a:avLst/>
          </a:prstGeom>
        </p:spPr>
        <p:txBody>
          <a:bodyPr vert="horz" wrap="square" lIns="0" tIns="1073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45"/>
              </a:spcBef>
            </a:pPr>
            <a:r>
              <a:rPr sz="2200" i="1" spc="-229" dirty="0">
                <a:solidFill>
                  <a:srgbClr val="008BC0"/>
                </a:solidFill>
                <a:latin typeface="Arial"/>
                <a:cs typeface="Arial"/>
              </a:rPr>
              <a:t>Our</a:t>
            </a:r>
            <a:r>
              <a:rPr sz="2200" i="1" spc="70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sz="2200" i="1" spc="-70" dirty="0">
                <a:solidFill>
                  <a:srgbClr val="008BC0"/>
                </a:solidFill>
                <a:latin typeface="Arial"/>
                <a:cs typeface="Arial"/>
              </a:rPr>
              <a:t>Vision</a:t>
            </a:r>
            <a:endParaRPr sz="2200" dirty="0">
              <a:latin typeface="Arial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To create a patient care experience that consistently exceeds the expectations of our patients, families, and guests.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400" dirty="0">
              <a:solidFill>
                <a:schemeClr val="tx1"/>
              </a:solidFill>
              <a:latin typeface="Avenir Book" panose="02000503020000020003" pitchFamily="2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We strive to be a culture based upon: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venir Book" panose="02000503020000020003" pitchFamily="2" charset="0"/>
            </a:endParaRPr>
          </a:p>
          <a:p>
            <a:pPr lvl="3" algn="ctr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Honest and Respectful Communication</a:t>
            </a:r>
          </a:p>
          <a:p>
            <a:pPr lvl="3" algn="ctr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Fairness in our dealings</a:t>
            </a:r>
          </a:p>
          <a:p>
            <a:pPr lvl="3" algn="ctr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Compassion for our patients, families, and each other.</a:t>
            </a:r>
          </a:p>
          <a:p>
            <a:pPr lvl="3" algn="ctr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Accountability to each other and the work that we do 	</a:t>
            </a:r>
            <a:endParaRPr lang="en-US" sz="2200" i="1" spc="-229" dirty="0">
              <a:solidFill>
                <a:srgbClr val="000000"/>
              </a:solidFill>
              <a:latin typeface="Bell MT" panose="02020503060305020303" pitchFamily="18" charset="77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sz="2200" i="1" spc="-229" dirty="0">
                <a:solidFill>
                  <a:srgbClr val="008BC0"/>
                </a:solidFill>
                <a:latin typeface="Arial"/>
                <a:cs typeface="Arial"/>
              </a:rPr>
              <a:t>Our</a:t>
            </a:r>
            <a:r>
              <a:rPr sz="2200" i="1" spc="70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sz="2200" i="1" spc="-310" dirty="0">
                <a:solidFill>
                  <a:srgbClr val="008BC0"/>
                </a:solidFill>
                <a:latin typeface="Arial"/>
                <a:cs typeface="Arial"/>
              </a:rPr>
              <a:t>Values</a:t>
            </a:r>
            <a:endParaRPr sz="2200" dirty="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650214" y="4387866"/>
            <a:ext cx="644525" cy="801370"/>
            <a:chOff x="5650214" y="4387866"/>
            <a:chExt cx="644525" cy="80137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51090" y="4958396"/>
              <a:ext cx="243357" cy="23072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50214" y="4957200"/>
              <a:ext cx="243878" cy="23191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658193" y="4387875"/>
              <a:ext cx="629920" cy="633730"/>
            </a:xfrm>
            <a:custGeom>
              <a:avLst/>
              <a:gdLst/>
              <a:ahLst/>
              <a:cxnLst/>
              <a:rect l="l" t="t" r="r" b="b"/>
              <a:pathLst>
                <a:path w="629920" h="633729">
                  <a:moveTo>
                    <a:pt x="450469" y="281178"/>
                  </a:moveTo>
                  <a:lnTo>
                    <a:pt x="356755" y="267563"/>
                  </a:lnTo>
                  <a:lnTo>
                    <a:pt x="314845" y="182651"/>
                  </a:lnTo>
                  <a:lnTo>
                    <a:pt x="272935" y="267550"/>
                  </a:lnTo>
                  <a:lnTo>
                    <a:pt x="179222" y="281178"/>
                  </a:lnTo>
                  <a:lnTo>
                    <a:pt x="247040" y="347268"/>
                  </a:lnTo>
                  <a:lnTo>
                    <a:pt x="231025" y="440613"/>
                  </a:lnTo>
                  <a:lnTo>
                    <a:pt x="314845" y="396544"/>
                  </a:lnTo>
                  <a:lnTo>
                    <a:pt x="398640" y="440613"/>
                  </a:lnTo>
                  <a:lnTo>
                    <a:pt x="382638" y="347268"/>
                  </a:lnTo>
                  <a:lnTo>
                    <a:pt x="450469" y="281178"/>
                  </a:lnTo>
                  <a:close/>
                </a:path>
                <a:path w="629920" h="633729">
                  <a:moveTo>
                    <a:pt x="629691" y="353758"/>
                  </a:moveTo>
                  <a:lnTo>
                    <a:pt x="604266" y="289496"/>
                  </a:lnTo>
                  <a:lnTo>
                    <a:pt x="615924" y="221297"/>
                  </a:lnTo>
                  <a:lnTo>
                    <a:pt x="566851" y="173062"/>
                  </a:lnTo>
                  <a:lnTo>
                    <a:pt x="550113" y="105981"/>
                  </a:lnTo>
                  <a:lnTo>
                    <a:pt x="538556" y="101688"/>
                  </a:lnTo>
                  <a:lnTo>
                    <a:pt x="538556" y="316255"/>
                  </a:lnTo>
                  <a:lnTo>
                    <a:pt x="534009" y="361340"/>
                  </a:lnTo>
                  <a:lnTo>
                    <a:pt x="520979" y="403339"/>
                  </a:lnTo>
                  <a:lnTo>
                    <a:pt x="500354" y="441337"/>
                  </a:lnTo>
                  <a:lnTo>
                    <a:pt x="473049" y="474446"/>
                  </a:lnTo>
                  <a:lnTo>
                    <a:pt x="439940" y="501764"/>
                  </a:lnTo>
                  <a:lnTo>
                    <a:pt x="401929" y="522389"/>
                  </a:lnTo>
                  <a:lnTo>
                    <a:pt x="359943" y="535419"/>
                  </a:lnTo>
                  <a:lnTo>
                    <a:pt x="314845" y="539965"/>
                  </a:lnTo>
                  <a:lnTo>
                    <a:pt x="269760" y="535419"/>
                  </a:lnTo>
                  <a:lnTo>
                    <a:pt x="227774" y="522389"/>
                  </a:lnTo>
                  <a:lnTo>
                    <a:pt x="189776" y="501764"/>
                  </a:lnTo>
                  <a:lnTo>
                    <a:pt x="156667" y="474446"/>
                  </a:lnTo>
                  <a:lnTo>
                    <a:pt x="129349" y="441337"/>
                  </a:lnTo>
                  <a:lnTo>
                    <a:pt x="108724" y="403339"/>
                  </a:lnTo>
                  <a:lnTo>
                    <a:pt x="95681" y="361340"/>
                  </a:lnTo>
                  <a:lnTo>
                    <a:pt x="91135" y="316255"/>
                  </a:lnTo>
                  <a:lnTo>
                    <a:pt x="95681" y="271170"/>
                  </a:lnTo>
                  <a:lnTo>
                    <a:pt x="108724" y="229184"/>
                  </a:lnTo>
                  <a:lnTo>
                    <a:pt x="129349" y="191185"/>
                  </a:lnTo>
                  <a:lnTo>
                    <a:pt x="156667" y="158076"/>
                  </a:lnTo>
                  <a:lnTo>
                    <a:pt x="189776" y="130771"/>
                  </a:lnTo>
                  <a:lnTo>
                    <a:pt x="227774" y="110147"/>
                  </a:lnTo>
                  <a:lnTo>
                    <a:pt x="269760" y="97116"/>
                  </a:lnTo>
                  <a:lnTo>
                    <a:pt x="314845" y="92570"/>
                  </a:lnTo>
                  <a:lnTo>
                    <a:pt x="359943" y="97116"/>
                  </a:lnTo>
                  <a:lnTo>
                    <a:pt x="401929" y="110147"/>
                  </a:lnTo>
                  <a:lnTo>
                    <a:pt x="439940" y="130771"/>
                  </a:lnTo>
                  <a:lnTo>
                    <a:pt x="473049" y="158076"/>
                  </a:lnTo>
                  <a:lnTo>
                    <a:pt x="500354" y="191185"/>
                  </a:lnTo>
                  <a:lnTo>
                    <a:pt x="520979" y="229184"/>
                  </a:lnTo>
                  <a:lnTo>
                    <a:pt x="534009" y="271170"/>
                  </a:lnTo>
                  <a:lnTo>
                    <a:pt x="538556" y="316255"/>
                  </a:lnTo>
                  <a:lnTo>
                    <a:pt x="538556" y="101688"/>
                  </a:lnTo>
                  <a:lnTo>
                    <a:pt x="514070" y="92570"/>
                  </a:lnTo>
                  <a:lnTo>
                    <a:pt x="485902" y="82092"/>
                  </a:lnTo>
                  <a:lnTo>
                    <a:pt x="447192" y="32296"/>
                  </a:lnTo>
                  <a:lnTo>
                    <a:pt x="443611" y="27686"/>
                  </a:lnTo>
                  <a:lnTo>
                    <a:pt x="375335" y="32296"/>
                  </a:lnTo>
                  <a:lnTo>
                    <a:pt x="314845" y="0"/>
                  </a:lnTo>
                  <a:lnTo>
                    <a:pt x="254342" y="32296"/>
                  </a:lnTo>
                  <a:lnTo>
                    <a:pt x="186080" y="27686"/>
                  </a:lnTo>
                  <a:lnTo>
                    <a:pt x="143789" y="82092"/>
                  </a:lnTo>
                  <a:lnTo>
                    <a:pt x="79578" y="105981"/>
                  </a:lnTo>
                  <a:lnTo>
                    <a:pt x="62839" y="173062"/>
                  </a:lnTo>
                  <a:lnTo>
                    <a:pt x="13754" y="221297"/>
                  </a:lnTo>
                  <a:lnTo>
                    <a:pt x="25425" y="289496"/>
                  </a:lnTo>
                  <a:lnTo>
                    <a:pt x="0" y="353758"/>
                  </a:lnTo>
                  <a:lnTo>
                    <a:pt x="38087" y="411238"/>
                  </a:lnTo>
                  <a:lnTo>
                    <a:pt x="40690" y="480402"/>
                  </a:lnTo>
                  <a:lnTo>
                    <a:pt x="98590" y="517258"/>
                  </a:lnTo>
                  <a:lnTo>
                    <a:pt x="128765" y="579374"/>
                  </a:lnTo>
                  <a:lnTo>
                    <a:pt x="196481" y="589229"/>
                  </a:lnTo>
                  <a:lnTo>
                    <a:pt x="249021" y="633552"/>
                  </a:lnTo>
                  <a:lnTo>
                    <a:pt x="314845" y="614680"/>
                  </a:lnTo>
                  <a:lnTo>
                    <a:pt x="380669" y="633552"/>
                  </a:lnTo>
                  <a:lnTo>
                    <a:pt x="403047" y="614680"/>
                  </a:lnTo>
                  <a:lnTo>
                    <a:pt x="433209" y="589229"/>
                  </a:lnTo>
                  <a:lnTo>
                    <a:pt x="500938" y="579374"/>
                  </a:lnTo>
                  <a:lnTo>
                    <a:pt x="520077" y="539965"/>
                  </a:lnTo>
                  <a:lnTo>
                    <a:pt x="531101" y="517258"/>
                  </a:lnTo>
                  <a:lnTo>
                    <a:pt x="588987" y="480402"/>
                  </a:lnTo>
                  <a:lnTo>
                    <a:pt x="591604" y="411238"/>
                  </a:lnTo>
                  <a:lnTo>
                    <a:pt x="629691" y="353758"/>
                  </a:lnTo>
                  <a:close/>
                </a:path>
              </a:pathLst>
            </a:custGeom>
            <a:solidFill>
              <a:srgbClr val="008B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481132" y="5307592"/>
            <a:ext cx="102298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0" dirty="0">
                <a:solidFill>
                  <a:srgbClr val="231F20"/>
                </a:solidFill>
                <a:latin typeface="Avenir"/>
                <a:cs typeface="Avenir"/>
              </a:rPr>
              <a:t>Excellence</a:t>
            </a:r>
            <a:endParaRPr sz="1650">
              <a:latin typeface="Avenir"/>
              <a:cs typeface="Avenir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188256" y="4366735"/>
            <a:ext cx="617220" cy="801370"/>
            <a:chOff x="8188256" y="4366735"/>
            <a:chExt cx="617220" cy="801370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63745" y="4366735"/>
              <a:ext cx="136804" cy="13681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11784" y="4366735"/>
              <a:ext cx="136804" cy="13681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8188249" y="4523892"/>
              <a:ext cx="617220" cy="644525"/>
            </a:xfrm>
            <a:custGeom>
              <a:avLst/>
              <a:gdLst/>
              <a:ahLst/>
              <a:cxnLst/>
              <a:rect l="l" t="t" r="r" b="b"/>
              <a:pathLst>
                <a:path w="617220" h="644525">
                  <a:moveTo>
                    <a:pt x="537057" y="14973"/>
                  </a:moveTo>
                  <a:lnTo>
                    <a:pt x="486765" y="2336"/>
                  </a:lnTo>
                  <a:lnTo>
                    <a:pt x="443890" y="0"/>
                  </a:lnTo>
                  <a:lnTo>
                    <a:pt x="420814" y="584"/>
                  </a:lnTo>
                  <a:lnTo>
                    <a:pt x="400989" y="2336"/>
                  </a:lnTo>
                  <a:lnTo>
                    <a:pt x="382981" y="5194"/>
                  </a:lnTo>
                  <a:lnTo>
                    <a:pt x="363804" y="9613"/>
                  </a:lnTo>
                  <a:lnTo>
                    <a:pt x="398437" y="18808"/>
                  </a:lnTo>
                  <a:lnTo>
                    <a:pt x="436714" y="24993"/>
                  </a:lnTo>
                  <a:lnTo>
                    <a:pt x="447446" y="25222"/>
                  </a:lnTo>
                  <a:lnTo>
                    <a:pt x="471335" y="24295"/>
                  </a:lnTo>
                  <a:lnTo>
                    <a:pt x="495071" y="21882"/>
                  </a:lnTo>
                  <a:lnTo>
                    <a:pt x="517398" y="18580"/>
                  </a:lnTo>
                  <a:lnTo>
                    <a:pt x="537057" y="14973"/>
                  </a:lnTo>
                  <a:close/>
                </a:path>
                <a:path w="617220" h="644525">
                  <a:moveTo>
                    <a:pt x="597014" y="81445"/>
                  </a:moveTo>
                  <a:lnTo>
                    <a:pt x="574103" y="33235"/>
                  </a:lnTo>
                  <a:lnTo>
                    <a:pt x="511086" y="49542"/>
                  </a:lnTo>
                  <a:lnTo>
                    <a:pt x="472325" y="56400"/>
                  </a:lnTo>
                  <a:lnTo>
                    <a:pt x="403720" y="46837"/>
                  </a:lnTo>
                  <a:lnTo>
                    <a:pt x="365798" y="37096"/>
                  </a:lnTo>
                  <a:lnTo>
                    <a:pt x="293344" y="16002"/>
                  </a:lnTo>
                  <a:lnTo>
                    <a:pt x="293154" y="16230"/>
                  </a:lnTo>
                  <a:lnTo>
                    <a:pt x="277406" y="11341"/>
                  </a:lnTo>
                  <a:lnTo>
                    <a:pt x="272923" y="9766"/>
                  </a:lnTo>
                  <a:lnTo>
                    <a:pt x="252818" y="5194"/>
                  </a:lnTo>
                  <a:lnTo>
                    <a:pt x="234810" y="2336"/>
                  </a:lnTo>
                  <a:lnTo>
                    <a:pt x="214998" y="596"/>
                  </a:lnTo>
                  <a:lnTo>
                    <a:pt x="191922" y="12"/>
                  </a:lnTo>
                  <a:lnTo>
                    <a:pt x="168846" y="596"/>
                  </a:lnTo>
                  <a:lnTo>
                    <a:pt x="113360" y="9156"/>
                  </a:lnTo>
                  <a:lnTo>
                    <a:pt x="75819" y="37909"/>
                  </a:lnTo>
                  <a:lnTo>
                    <a:pt x="40347" y="99174"/>
                  </a:lnTo>
                  <a:lnTo>
                    <a:pt x="20650" y="145986"/>
                  </a:lnTo>
                  <a:lnTo>
                    <a:pt x="5016" y="201053"/>
                  </a:lnTo>
                  <a:lnTo>
                    <a:pt x="0" y="247980"/>
                  </a:lnTo>
                  <a:lnTo>
                    <a:pt x="1600" y="295579"/>
                  </a:lnTo>
                  <a:lnTo>
                    <a:pt x="6870" y="337248"/>
                  </a:lnTo>
                  <a:lnTo>
                    <a:pt x="12877" y="366356"/>
                  </a:lnTo>
                  <a:lnTo>
                    <a:pt x="66446" y="364337"/>
                  </a:lnTo>
                  <a:lnTo>
                    <a:pt x="63487" y="311404"/>
                  </a:lnTo>
                  <a:lnTo>
                    <a:pt x="63868" y="278307"/>
                  </a:lnTo>
                  <a:lnTo>
                    <a:pt x="79527" y="215887"/>
                  </a:lnTo>
                  <a:lnTo>
                    <a:pt x="93903" y="183121"/>
                  </a:lnTo>
                  <a:lnTo>
                    <a:pt x="95491" y="247980"/>
                  </a:lnTo>
                  <a:lnTo>
                    <a:pt x="95415" y="301307"/>
                  </a:lnTo>
                  <a:lnTo>
                    <a:pt x="94640" y="337464"/>
                  </a:lnTo>
                  <a:lnTo>
                    <a:pt x="94170" y="350774"/>
                  </a:lnTo>
                  <a:lnTo>
                    <a:pt x="50749" y="644131"/>
                  </a:lnTo>
                  <a:lnTo>
                    <a:pt x="137591" y="644131"/>
                  </a:lnTo>
                  <a:lnTo>
                    <a:pt x="190017" y="350774"/>
                  </a:lnTo>
                  <a:lnTo>
                    <a:pt x="193687" y="350774"/>
                  </a:lnTo>
                  <a:lnTo>
                    <a:pt x="195427" y="454228"/>
                  </a:lnTo>
                  <a:lnTo>
                    <a:pt x="196278" y="567944"/>
                  </a:lnTo>
                  <a:lnTo>
                    <a:pt x="195999" y="644131"/>
                  </a:lnTo>
                  <a:lnTo>
                    <a:pt x="273380" y="644131"/>
                  </a:lnTo>
                  <a:lnTo>
                    <a:pt x="277990" y="602449"/>
                  </a:lnTo>
                  <a:lnTo>
                    <a:pt x="283159" y="535838"/>
                  </a:lnTo>
                  <a:lnTo>
                    <a:pt x="286092" y="480148"/>
                  </a:lnTo>
                  <a:lnTo>
                    <a:pt x="288404" y="425843"/>
                  </a:lnTo>
                  <a:lnTo>
                    <a:pt x="289445" y="385152"/>
                  </a:lnTo>
                  <a:lnTo>
                    <a:pt x="289687" y="350774"/>
                  </a:lnTo>
                  <a:lnTo>
                    <a:pt x="287489" y="298996"/>
                  </a:lnTo>
                  <a:lnTo>
                    <a:pt x="286880" y="262293"/>
                  </a:lnTo>
                  <a:lnTo>
                    <a:pt x="287947" y="223113"/>
                  </a:lnTo>
                  <a:lnTo>
                    <a:pt x="290804" y="163969"/>
                  </a:lnTo>
                  <a:lnTo>
                    <a:pt x="295656" y="111442"/>
                  </a:lnTo>
                  <a:lnTo>
                    <a:pt x="297802" y="98640"/>
                  </a:lnTo>
                  <a:lnTo>
                    <a:pt x="325475" y="102997"/>
                  </a:lnTo>
                  <a:lnTo>
                    <a:pt x="354368" y="107124"/>
                  </a:lnTo>
                  <a:lnTo>
                    <a:pt x="382879" y="110604"/>
                  </a:lnTo>
                  <a:lnTo>
                    <a:pt x="409397" y="113030"/>
                  </a:lnTo>
                  <a:lnTo>
                    <a:pt x="444614" y="112598"/>
                  </a:lnTo>
                  <a:lnTo>
                    <a:pt x="484809" y="108038"/>
                  </a:lnTo>
                  <a:lnTo>
                    <a:pt x="525106" y="100952"/>
                  </a:lnTo>
                  <a:lnTo>
                    <a:pt x="571830" y="90335"/>
                  </a:lnTo>
                  <a:lnTo>
                    <a:pt x="596011" y="82118"/>
                  </a:lnTo>
                  <a:lnTo>
                    <a:pt x="597014" y="81445"/>
                  </a:lnTo>
                  <a:close/>
                </a:path>
                <a:path w="617220" h="644525">
                  <a:moveTo>
                    <a:pt x="616877" y="288747"/>
                  </a:moveTo>
                  <a:lnTo>
                    <a:pt x="614502" y="238709"/>
                  </a:lnTo>
                  <a:lnTo>
                    <a:pt x="609727" y="190296"/>
                  </a:lnTo>
                  <a:lnTo>
                    <a:pt x="602221" y="145821"/>
                  </a:lnTo>
                  <a:lnTo>
                    <a:pt x="593166" y="111061"/>
                  </a:lnTo>
                  <a:lnTo>
                    <a:pt x="558736" y="119938"/>
                  </a:lnTo>
                  <a:lnTo>
                    <a:pt x="513562" y="127952"/>
                  </a:lnTo>
                  <a:lnTo>
                    <a:pt x="465696" y="133743"/>
                  </a:lnTo>
                  <a:lnTo>
                    <a:pt x="423202" y="135978"/>
                  </a:lnTo>
                  <a:lnTo>
                    <a:pt x="410514" y="135775"/>
                  </a:lnTo>
                  <a:lnTo>
                    <a:pt x="389940" y="134188"/>
                  </a:lnTo>
                  <a:lnTo>
                    <a:pt x="358317" y="130962"/>
                  </a:lnTo>
                  <a:lnTo>
                    <a:pt x="342061" y="129044"/>
                  </a:lnTo>
                  <a:lnTo>
                    <a:pt x="343738" y="145376"/>
                  </a:lnTo>
                  <a:lnTo>
                    <a:pt x="344995" y="163957"/>
                  </a:lnTo>
                  <a:lnTo>
                    <a:pt x="347294" y="235318"/>
                  </a:lnTo>
                  <a:lnTo>
                    <a:pt x="347446" y="294855"/>
                  </a:lnTo>
                  <a:lnTo>
                    <a:pt x="346659" y="335648"/>
                  </a:lnTo>
                  <a:lnTo>
                    <a:pt x="345376" y="380225"/>
                  </a:lnTo>
                  <a:lnTo>
                    <a:pt x="344411" y="405307"/>
                  </a:lnTo>
                  <a:lnTo>
                    <a:pt x="335838" y="560133"/>
                  </a:lnTo>
                  <a:lnTo>
                    <a:pt x="333883" y="606145"/>
                  </a:lnTo>
                  <a:lnTo>
                    <a:pt x="332752" y="644118"/>
                  </a:lnTo>
                  <a:lnTo>
                    <a:pt x="421309" y="644118"/>
                  </a:lnTo>
                  <a:lnTo>
                    <a:pt x="423659" y="603554"/>
                  </a:lnTo>
                  <a:lnTo>
                    <a:pt x="428739" y="492226"/>
                  </a:lnTo>
                  <a:lnTo>
                    <a:pt x="430695" y="453059"/>
                  </a:lnTo>
                  <a:lnTo>
                    <a:pt x="432892" y="415937"/>
                  </a:lnTo>
                  <a:lnTo>
                    <a:pt x="437476" y="350774"/>
                  </a:lnTo>
                  <a:lnTo>
                    <a:pt x="450291" y="350774"/>
                  </a:lnTo>
                  <a:lnTo>
                    <a:pt x="454875" y="415937"/>
                  </a:lnTo>
                  <a:lnTo>
                    <a:pt x="457073" y="453059"/>
                  </a:lnTo>
                  <a:lnTo>
                    <a:pt x="466458" y="644118"/>
                  </a:lnTo>
                  <a:lnTo>
                    <a:pt x="555015" y="644118"/>
                  </a:lnTo>
                  <a:lnTo>
                    <a:pt x="554418" y="612381"/>
                  </a:lnTo>
                  <a:lnTo>
                    <a:pt x="553542" y="586524"/>
                  </a:lnTo>
                  <a:lnTo>
                    <a:pt x="551802" y="552767"/>
                  </a:lnTo>
                  <a:lnTo>
                    <a:pt x="545033" y="432993"/>
                  </a:lnTo>
                  <a:lnTo>
                    <a:pt x="542925" y="387210"/>
                  </a:lnTo>
                  <a:lnTo>
                    <a:pt x="541642" y="350774"/>
                  </a:lnTo>
                  <a:lnTo>
                    <a:pt x="539800" y="307200"/>
                  </a:lnTo>
                  <a:lnTo>
                    <a:pt x="539191" y="275780"/>
                  </a:lnTo>
                  <a:lnTo>
                    <a:pt x="539826" y="241350"/>
                  </a:lnTo>
                  <a:lnTo>
                    <a:pt x="541693" y="188696"/>
                  </a:lnTo>
                  <a:lnTo>
                    <a:pt x="543775" y="195326"/>
                  </a:lnTo>
                  <a:lnTo>
                    <a:pt x="552538" y="248437"/>
                  </a:lnTo>
                  <a:lnTo>
                    <a:pt x="556526" y="299770"/>
                  </a:lnTo>
                  <a:lnTo>
                    <a:pt x="557885" y="339890"/>
                  </a:lnTo>
                  <a:lnTo>
                    <a:pt x="558038" y="356082"/>
                  </a:lnTo>
                  <a:lnTo>
                    <a:pt x="611263" y="362343"/>
                  </a:lnTo>
                  <a:lnTo>
                    <a:pt x="616051" y="332574"/>
                  </a:lnTo>
                  <a:lnTo>
                    <a:pt x="616877" y="288747"/>
                  </a:lnTo>
                  <a:close/>
                </a:path>
              </a:pathLst>
            </a:custGeom>
            <a:solidFill>
              <a:srgbClr val="008B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149080" y="5307592"/>
            <a:ext cx="69532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0" dirty="0">
                <a:solidFill>
                  <a:srgbClr val="231F20"/>
                </a:solidFill>
                <a:latin typeface="Avenir"/>
                <a:cs typeface="Avenir"/>
              </a:rPr>
              <a:t>Service</a:t>
            </a:r>
            <a:endParaRPr sz="1650">
              <a:latin typeface="Avenir"/>
              <a:cs typeface="Avenir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827823" y="4342070"/>
            <a:ext cx="847090" cy="847090"/>
            <a:chOff x="6827823" y="4342070"/>
            <a:chExt cx="847090" cy="847090"/>
          </a:xfrm>
        </p:grpSpPr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27823" y="4822852"/>
              <a:ext cx="117322" cy="20156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92526" y="4342070"/>
              <a:ext cx="201561" cy="11730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57549" y="4506771"/>
              <a:ext cx="117335" cy="20156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08615" y="5071805"/>
              <a:ext cx="201561" cy="11732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962915" y="4477168"/>
              <a:ext cx="577215" cy="577215"/>
            </a:xfrm>
            <a:custGeom>
              <a:avLst/>
              <a:gdLst/>
              <a:ahLst/>
              <a:cxnLst/>
              <a:rect l="l" t="t" r="r" b="b"/>
              <a:pathLst>
                <a:path w="577215" h="577214">
                  <a:moveTo>
                    <a:pt x="274421" y="525564"/>
                  </a:moveTo>
                  <a:lnTo>
                    <a:pt x="273481" y="502208"/>
                  </a:lnTo>
                  <a:lnTo>
                    <a:pt x="270497" y="479374"/>
                  </a:lnTo>
                  <a:lnTo>
                    <a:pt x="245491" y="342747"/>
                  </a:lnTo>
                  <a:lnTo>
                    <a:pt x="237210" y="294411"/>
                  </a:lnTo>
                  <a:lnTo>
                    <a:pt x="237045" y="291261"/>
                  </a:lnTo>
                  <a:lnTo>
                    <a:pt x="236715" y="291338"/>
                  </a:lnTo>
                  <a:lnTo>
                    <a:pt x="233946" y="272859"/>
                  </a:lnTo>
                  <a:lnTo>
                    <a:pt x="233934" y="270256"/>
                  </a:lnTo>
                  <a:lnTo>
                    <a:pt x="162394" y="295021"/>
                  </a:lnTo>
                  <a:lnTo>
                    <a:pt x="118008" y="305904"/>
                  </a:lnTo>
                  <a:lnTo>
                    <a:pt x="82257" y="305295"/>
                  </a:lnTo>
                  <a:lnTo>
                    <a:pt x="36677" y="295554"/>
                  </a:lnTo>
                  <a:lnTo>
                    <a:pt x="35509" y="295160"/>
                  </a:lnTo>
                  <a:lnTo>
                    <a:pt x="34264" y="297624"/>
                  </a:lnTo>
                  <a:lnTo>
                    <a:pt x="32181" y="305308"/>
                  </a:lnTo>
                  <a:lnTo>
                    <a:pt x="28498" y="320548"/>
                  </a:lnTo>
                  <a:lnTo>
                    <a:pt x="25412" y="331812"/>
                  </a:lnTo>
                  <a:lnTo>
                    <a:pt x="13360" y="385711"/>
                  </a:lnTo>
                  <a:lnTo>
                    <a:pt x="4965" y="452602"/>
                  </a:lnTo>
                  <a:lnTo>
                    <a:pt x="1549" y="504952"/>
                  </a:lnTo>
                  <a:lnTo>
                    <a:pt x="4597" y="522097"/>
                  </a:lnTo>
                  <a:lnTo>
                    <a:pt x="11341" y="535292"/>
                  </a:lnTo>
                  <a:lnTo>
                    <a:pt x="20904" y="543941"/>
                  </a:lnTo>
                  <a:lnTo>
                    <a:pt x="32461" y="547471"/>
                  </a:lnTo>
                  <a:lnTo>
                    <a:pt x="35598" y="547497"/>
                  </a:lnTo>
                  <a:lnTo>
                    <a:pt x="43167" y="547027"/>
                  </a:lnTo>
                  <a:lnTo>
                    <a:pt x="42341" y="545858"/>
                  </a:lnTo>
                  <a:lnTo>
                    <a:pt x="50431" y="547497"/>
                  </a:lnTo>
                  <a:lnTo>
                    <a:pt x="59245" y="552297"/>
                  </a:lnTo>
                  <a:lnTo>
                    <a:pt x="65582" y="558584"/>
                  </a:lnTo>
                  <a:lnTo>
                    <a:pt x="73088" y="564438"/>
                  </a:lnTo>
                  <a:lnTo>
                    <a:pt x="85420" y="567944"/>
                  </a:lnTo>
                  <a:lnTo>
                    <a:pt x="96875" y="567702"/>
                  </a:lnTo>
                  <a:lnTo>
                    <a:pt x="117716" y="562622"/>
                  </a:lnTo>
                  <a:lnTo>
                    <a:pt x="129794" y="562927"/>
                  </a:lnTo>
                  <a:lnTo>
                    <a:pt x="135928" y="565467"/>
                  </a:lnTo>
                  <a:lnTo>
                    <a:pt x="141884" y="569556"/>
                  </a:lnTo>
                  <a:lnTo>
                    <a:pt x="149542" y="573811"/>
                  </a:lnTo>
                  <a:lnTo>
                    <a:pt x="160769" y="576872"/>
                  </a:lnTo>
                  <a:lnTo>
                    <a:pt x="174472" y="575614"/>
                  </a:lnTo>
                  <a:lnTo>
                    <a:pt x="187667" y="570382"/>
                  </a:lnTo>
                  <a:lnTo>
                    <a:pt x="199339" y="564921"/>
                  </a:lnTo>
                  <a:lnTo>
                    <a:pt x="208483" y="563016"/>
                  </a:lnTo>
                  <a:lnTo>
                    <a:pt x="212852" y="563664"/>
                  </a:lnTo>
                  <a:lnTo>
                    <a:pt x="221335" y="567436"/>
                  </a:lnTo>
                  <a:lnTo>
                    <a:pt x="232041" y="567728"/>
                  </a:lnTo>
                  <a:lnTo>
                    <a:pt x="249923" y="566420"/>
                  </a:lnTo>
                  <a:lnTo>
                    <a:pt x="260324" y="561568"/>
                  </a:lnTo>
                  <a:lnTo>
                    <a:pt x="266382" y="553707"/>
                  </a:lnTo>
                  <a:lnTo>
                    <a:pt x="271221" y="543356"/>
                  </a:lnTo>
                  <a:lnTo>
                    <a:pt x="274421" y="525564"/>
                  </a:lnTo>
                  <a:close/>
                </a:path>
                <a:path w="577215" h="577214">
                  <a:moveTo>
                    <a:pt x="306616" y="233946"/>
                  </a:moveTo>
                  <a:lnTo>
                    <a:pt x="281851" y="162394"/>
                  </a:lnTo>
                  <a:lnTo>
                    <a:pt x="270954" y="118008"/>
                  </a:lnTo>
                  <a:lnTo>
                    <a:pt x="271513" y="85420"/>
                  </a:lnTo>
                  <a:lnTo>
                    <a:pt x="271576" y="82270"/>
                  </a:lnTo>
                  <a:lnTo>
                    <a:pt x="280098" y="42341"/>
                  </a:lnTo>
                  <a:lnTo>
                    <a:pt x="281317" y="36677"/>
                  </a:lnTo>
                  <a:lnTo>
                    <a:pt x="281686" y="35585"/>
                  </a:lnTo>
                  <a:lnTo>
                    <a:pt x="281876" y="35585"/>
                  </a:lnTo>
                  <a:lnTo>
                    <a:pt x="279234" y="34264"/>
                  </a:lnTo>
                  <a:lnTo>
                    <a:pt x="271551" y="32181"/>
                  </a:lnTo>
                  <a:lnTo>
                    <a:pt x="256311" y="28498"/>
                  </a:lnTo>
                  <a:lnTo>
                    <a:pt x="245046" y="25425"/>
                  </a:lnTo>
                  <a:lnTo>
                    <a:pt x="191160" y="13347"/>
                  </a:lnTo>
                  <a:lnTo>
                    <a:pt x="124256" y="4965"/>
                  </a:lnTo>
                  <a:lnTo>
                    <a:pt x="75095" y="1663"/>
                  </a:lnTo>
                  <a:lnTo>
                    <a:pt x="73901" y="1511"/>
                  </a:lnTo>
                  <a:lnTo>
                    <a:pt x="72021" y="1511"/>
                  </a:lnTo>
                  <a:lnTo>
                    <a:pt x="54762" y="4610"/>
                  </a:lnTo>
                  <a:lnTo>
                    <a:pt x="41567" y="11341"/>
                  </a:lnTo>
                  <a:lnTo>
                    <a:pt x="32918" y="20904"/>
                  </a:lnTo>
                  <a:lnTo>
                    <a:pt x="29502" y="32181"/>
                  </a:lnTo>
                  <a:lnTo>
                    <a:pt x="29438" y="36677"/>
                  </a:lnTo>
                  <a:lnTo>
                    <a:pt x="29781" y="42341"/>
                  </a:lnTo>
                  <a:lnTo>
                    <a:pt x="29832" y="43154"/>
                  </a:lnTo>
                  <a:lnTo>
                    <a:pt x="31013" y="42341"/>
                  </a:lnTo>
                  <a:lnTo>
                    <a:pt x="29375" y="50419"/>
                  </a:lnTo>
                  <a:lnTo>
                    <a:pt x="24561" y="59245"/>
                  </a:lnTo>
                  <a:lnTo>
                    <a:pt x="18288" y="65582"/>
                  </a:lnTo>
                  <a:lnTo>
                    <a:pt x="12433" y="73088"/>
                  </a:lnTo>
                  <a:lnTo>
                    <a:pt x="8940" y="85420"/>
                  </a:lnTo>
                  <a:lnTo>
                    <a:pt x="9169" y="96875"/>
                  </a:lnTo>
                  <a:lnTo>
                    <a:pt x="11798" y="107200"/>
                  </a:lnTo>
                  <a:lnTo>
                    <a:pt x="14249" y="117729"/>
                  </a:lnTo>
                  <a:lnTo>
                    <a:pt x="13944" y="129794"/>
                  </a:lnTo>
                  <a:lnTo>
                    <a:pt x="11391" y="135940"/>
                  </a:lnTo>
                  <a:lnTo>
                    <a:pt x="7315" y="141897"/>
                  </a:lnTo>
                  <a:lnTo>
                    <a:pt x="3048" y="149542"/>
                  </a:lnTo>
                  <a:lnTo>
                    <a:pt x="0" y="160769"/>
                  </a:lnTo>
                  <a:lnTo>
                    <a:pt x="1244" y="174472"/>
                  </a:lnTo>
                  <a:lnTo>
                    <a:pt x="6489" y="187667"/>
                  </a:lnTo>
                  <a:lnTo>
                    <a:pt x="11938" y="199339"/>
                  </a:lnTo>
                  <a:lnTo>
                    <a:pt x="13855" y="208470"/>
                  </a:lnTo>
                  <a:lnTo>
                    <a:pt x="13208" y="212852"/>
                  </a:lnTo>
                  <a:lnTo>
                    <a:pt x="9436" y="221322"/>
                  </a:lnTo>
                  <a:lnTo>
                    <a:pt x="9131" y="232029"/>
                  </a:lnTo>
                  <a:lnTo>
                    <a:pt x="33515" y="271208"/>
                  </a:lnTo>
                  <a:lnTo>
                    <a:pt x="51295" y="274421"/>
                  </a:lnTo>
                  <a:lnTo>
                    <a:pt x="74637" y="273481"/>
                  </a:lnTo>
                  <a:lnTo>
                    <a:pt x="97472" y="270497"/>
                  </a:lnTo>
                  <a:lnTo>
                    <a:pt x="234073" y="245503"/>
                  </a:lnTo>
                  <a:lnTo>
                    <a:pt x="282448" y="237197"/>
                  </a:lnTo>
                  <a:lnTo>
                    <a:pt x="285597" y="237032"/>
                  </a:lnTo>
                  <a:lnTo>
                    <a:pt x="285521" y="236715"/>
                  </a:lnTo>
                  <a:lnTo>
                    <a:pt x="296329" y="235000"/>
                  </a:lnTo>
                  <a:lnTo>
                    <a:pt x="304012" y="233946"/>
                  </a:lnTo>
                  <a:lnTo>
                    <a:pt x="306616" y="233946"/>
                  </a:lnTo>
                  <a:close/>
                </a:path>
                <a:path w="577215" h="577214">
                  <a:moveTo>
                    <a:pt x="575310" y="71907"/>
                  </a:moveTo>
                  <a:lnTo>
                    <a:pt x="555955" y="32931"/>
                  </a:lnTo>
                  <a:lnTo>
                    <a:pt x="541274" y="29375"/>
                  </a:lnTo>
                  <a:lnTo>
                    <a:pt x="533704" y="29832"/>
                  </a:lnTo>
                  <a:lnTo>
                    <a:pt x="534530" y="31013"/>
                  </a:lnTo>
                  <a:lnTo>
                    <a:pt x="526440" y="29375"/>
                  </a:lnTo>
                  <a:lnTo>
                    <a:pt x="517613" y="24561"/>
                  </a:lnTo>
                  <a:lnTo>
                    <a:pt x="511276" y="18288"/>
                  </a:lnTo>
                  <a:lnTo>
                    <a:pt x="503770" y="12433"/>
                  </a:lnTo>
                  <a:lnTo>
                    <a:pt x="491439" y="8940"/>
                  </a:lnTo>
                  <a:lnTo>
                    <a:pt x="479983" y="9156"/>
                  </a:lnTo>
                  <a:lnTo>
                    <a:pt x="459143" y="14249"/>
                  </a:lnTo>
                  <a:lnTo>
                    <a:pt x="447065" y="13944"/>
                  </a:lnTo>
                  <a:lnTo>
                    <a:pt x="440931" y="11404"/>
                  </a:lnTo>
                  <a:lnTo>
                    <a:pt x="434975" y="7315"/>
                  </a:lnTo>
                  <a:lnTo>
                    <a:pt x="427316" y="3048"/>
                  </a:lnTo>
                  <a:lnTo>
                    <a:pt x="416077" y="0"/>
                  </a:lnTo>
                  <a:lnTo>
                    <a:pt x="402386" y="1244"/>
                  </a:lnTo>
                  <a:lnTo>
                    <a:pt x="389191" y="6477"/>
                  </a:lnTo>
                  <a:lnTo>
                    <a:pt x="377520" y="11938"/>
                  </a:lnTo>
                  <a:lnTo>
                    <a:pt x="368376" y="13855"/>
                  </a:lnTo>
                  <a:lnTo>
                    <a:pt x="364007" y="13208"/>
                  </a:lnTo>
                  <a:lnTo>
                    <a:pt x="355536" y="9423"/>
                  </a:lnTo>
                  <a:lnTo>
                    <a:pt x="344830" y="9144"/>
                  </a:lnTo>
                  <a:lnTo>
                    <a:pt x="305650" y="33515"/>
                  </a:lnTo>
                  <a:lnTo>
                    <a:pt x="302437" y="51282"/>
                  </a:lnTo>
                  <a:lnTo>
                    <a:pt x="303377" y="74612"/>
                  </a:lnTo>
                  <a:lnTo>
                    <a:pt x="306362" y="97447"/>
                  </a:lnTo>
                  <a:lnTo>
                    <a:pt x="331343" y="233984"/>
                  </a:lnTo>
                  <a:lnTo>
                    <a:pt x="339661" y="282460"/>
                  </a:lnTo>
                  <a:lnTo>
                    <a:pt x="339813" y="285597"/>
                  </a:lnTo>
                  <a:lnTo>
                    <a:pt x="340156" y="285534"/>
                  </a:lnTo>
                  <a:lnTo>
                    <a:pt x="342925" y="304012"/>
                  </a:lnTo>
                  <a:lnTo>
                    <a:pt x="342938" y="306616"/>
                  </a:lnTo>
                  <a:lnTo>
                    <a:pt x="414477" y="281851"/>
                  </a:lnTo>
                  <a:lnTo>
                    <a:pt x="458863" y="270954"/>
                  </a:lnTo>
                  <a:lnTo>
                    <a:pt x="494601" y="271576"/>
                  </a:lnTo>
                  <a:lnTo>
                    <a:pt x="540181" y="281317"/>
                  </a:lnTo>
                  <a:lnTo>
                    <a:pt x="541362" y="281711"/>
                  </a:lnTo>
                  <a:lnTo>
                    <a:pt x="542607" y="279234"/>
                  </a:lnTo>
                  <a:lnTo>
                    <a:pt x="544690" y="271551"/>
                  </a:lnTo>
                  <a:lnTo>
                    <a:pt x="548373" y="256311"/>
                  </a:lnTo>
                  <a:lnTo>
                    <a:pt x="551446" y="245046"/>
                  </a:lnTo>
                  <a:lnTo>
                    <a:pt x="563511" y="191173"/>
                  </a:lnTo>
                  <a:lnTo>
                    <a:pt x="571906" y="124256"/>
                  </a:lnTo>
                  <a:lnTo>
                    <a:pt x="574116" y="94043"/>
                  </a:lnTo>
                  <a:lnTo>
                    <a:pt x="575310" y="71907"/>
                  </a:lnTo>
                  <a:close/>
                </a:path>
                <a:path w="577215" h="577214">
                  <a:moveTo>
                    <a:pt x="576872" y="416090"/>
                  </a:moveTo>
                  <a:lnTo>
                    <a:pt x="575614" y="402386"/>
                  </a:lnTo>
                  <a:lnTo>
                    <a:pt x="570382" y="389191"/>
                  </a:lnTo>
                  <a:lnTo>
                    <a:pt x="564921" y="377532"/>
                  </a:lnTo>
                  <a:lnTo>
                    <a:pt x="563016" y="368401"/>
                  </a:lnTo>
                  <a:lnTo>
                    <a:pt x="563664" y="364020"/>
                  </a:lnTo>
                  <a:lnTo>
                    <a:pt x="567423" y="355536"/>
                  </a:lnTo>
                  <a:lnTo>
                    <a:pt x="567740" y="344830"/>
                  </a:lnTo>
                  <a:lnTo>
                    <a:pt x="543356" y="305650"/>
                  </a:lnTo>
                  <a:lnTo>
                    <a:pt x="525564" y="302437"/>
                  </a:lnTo>
                  <a:lnTo>
                    <a:pt x="502221" y="303390"/>
                  </a:lnTo>
                  <a:lnTo>
                    <a:pt x="479386" y="306374"/>
                  </a:lnTo>
                  <a:lnTo>
                    <a:pt x="294411" y="339661"/>
                  </a:lnTo>
                  <a:lnTo>
                    <a:pt x="291261" y="339826"/>
                  </a:lnTo>
                  <a:lnTo>
                    <a:pt x="291312" y="340029"/>
                  </a:lnTo>
                  <a:lnTo>
                    <a:pt x="280543" y="341858"/>
                  </a:lnTo>
                  <a:lnTo>
                    <a:pt x="272846" y="342938"/>
                  </a:lnTo>
                  <a:lnTo>
                    <a:pt x="270243" y="342938"/>
                  </a:lnTo>
                  <a:lnTo>
                    <a:pt x="295008" y="414464"/>
                  </a:lnTo>
                  <a:lnTo>
                    <a:pt x="305904" y="458851"/>
                  </a:lnTo>
                  <a:lnTo>
                    <a:pt x="305346" y="491451"/>
                  </a:lnTo>
                  <a:lnTo>
                    <a:pt x="305295" y="494601"/>
                  </a:lnTo>
                  <a:lnTo>
                    <a:pt x="295554" y="540181"/>
                  </a:lnTo>
                  <a:lnTo>
                    <a:pt x="295160" y="541350"/>
                  </a:lnTo>
                  <a:lnTo>
                    <a:pt x="297637" y="542594"/>
                  </a:lnTo>
                  <a:lnTo>
                    <a:pt x="305308" y="544677"/>
                  </a:lnTo>
                  <a:lnTo>
                    <a:pt x="320548" y="548373"/>
                  </a:lnTo>
                  <a:lnTo>
                    <a:pt x="331812" y="551446"/>
                  </a:lnTo>
                  <a:lnTo>
                    <a:pt x="385699" y="563524"/>
                  </a:lnTo>
                  <a:lnTo>
                    <a:pt x="452602" y="571893"/>
                  </a:lnTo>
                  <a:lnTo>
                    <a:pt x="501777" y="575195"/>
                  </a:lnTo>
                  <a:lnTo>
                    <a:pt x="503466" y="575411"/>
                  </a:lnTo>
                  <a:lnTo>
                    <a:pt x="504494" y="575411"/>
                  </a:lnTo>
                  <a:lnTo>
                    <a:pt x="522097" y="572262"/>
                  </a:lnTo>
                  <a:lnTo>
                    <a:pt x="535292" y="565518"/>
                  </a:lnTo>
                  <a:lnTo>
                    <a:pt x="543941" y="555955"/>
                  </a:lnTo>
                  <a:lnTo>
                    <a:pt x="547370" y="544677"/>
                  </a:lnTo>
                  <a:lnTo>
                    <a:pt x="547420" y="540181"/>
                  </a:lnTo>
                  <a:lnTo>
                    <a:pt x="547077" y="534530"/>
                  </a:lnTo>
                  <a:lnTo>
                    <a:pt x="547027" y="533704"/>
                  </a:lnTo>
                  <a:lnTo>
                    <a:pt x="545858" y="534530"/>
                  </a:lnTo>
                  <a:lnTo>
                    <a:pt x="547497" y="526453"/>
                  </a:lnTo>
                  <a:lnTo>
                    <a:pt x="552297" y="517626"/>
                  </a:lnTo>
                  <a:lnTo>
                    <a:pt x="558584" y="511289"/>
                  </a:lnTo>
                  <a:lnTo>
                    <a:pt x="564438" y="503770"/>
                  </a:lnTo>
                  <a:lnTo>
                    <a:pt x="567931" y="491451"/>
                  </a:lnTo>
                  <a:lnTo>
                    <a:pt x="567702" y="479983"/>
                  </a:lnTo>
                  <a:lnTo>
                    <a:pt x="565061" y="469658"/>
                  </a:lnTo>
                  <a:lnTo>
                    <a:pt x="562610" y="459143"/>
                  </a:lnTo>
                  <a:lnTo>
                    <a:pt x="562914" y="447078"/>
                  </a:lnTo>
                  <a:lnTo>
                    <a:pt x="565467" y="440931"/>
                  </a:lnTo>
                  <a:lnTo>
                    <a:pt x="569556" y="434975"/>
                  </a:lnTo>
                  <a:lnTo>
                    <a:pt x="573811" y="427316"/>
                  </a:lnTo>
                  <a:lnTo>
                    <a:pt x="576872" y="416090"/>
                  </a:lnTo>
                  <a:close/>
                </a:path>
              </a:pathLst>
            </a:custGeom>
            <a:solidFill>
              <a:srgbClr val="008B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768640" y="5307592"/>
            <a:ext cx="972819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20" dirty="0">
                <a:solidFill>
                  <a:srgbClr val="231F20"/>
                </a:solidFill>
                <a:latin typeface="Avenir"/>
                <a:cs typeface="Avenir"/>
              </a:rPr>
              <a:t>Teamwork</a:t>
            </a:r>
            <a:endParaRPr sz="1650" dirty="0">
              <a:latin typeface="Avenir"/>
              <a:cs typeface="Avenir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502071" y="5979236"/>
            <a:ext cx="917575" cy="759460"/>
          </a:xfrm>
          <a:custGeom>
            <a:avLst/>
            <a:gdLst/>
            <a:ahLst/>
            <a:cxnLst/>
            <a:rect l="l" t="t" r="r" b="b"/>
            <a:pathLst>
              <a:path w="917575" h="759459">
                <a:moveTo>
                  <a:pt x="447713" y="277863"/>
                </a:moveTo>
                <a:lnTo>
                  <a:pt x="397332" y="227482"/>
                </a:lnTo>
                <a:lnTo>
                  <a:pt x="167322" y="457492"/>
                </a:lnTo>
                <a:lnTo>
                  <a:pt x="173189" y="480148"/>
                </a:lnTo>
                <a:lnTo>
                  <a:pt x="190207" y="496341"/>
                </a:lnTo>
                <a:lnTo>
                  <a:pt x="213194" y="500900"/>
                </a:lnTo>
                <a:lnTo>
                  <a:pt x="236969" y="488607"/>
                </a:lnTo>
                <a:lnTo>
                  <a:pt x="447713" y="277863"/>
                </a:lnTo>
                <a:close/>
              </a:path>
              <a:path w="917575" h="759459">
                <a:moveTo>
                  <a:pt x="548271" y="244221"/>
                </a:moveTo>
                <a:lnTo>
                  <a:pt x="384276" y="69265"/>
                </a:lnTo>
                <a:lnTo>
                  <a:pt x="346735" y="37846"/>
                </a:lnTo>
                <a:lnTo>
                  <a:pt x="307797" y="16332"/>
                </a:lnTo>
                <a:lnTo>
                  <a:pt x="268224" y="3962"/>
                </a:lnTo>
                <a:lnTo>
                  <a:pt x="228739" y="0"/>
                </a:lnTo>
                <a:lnTo>
                  <a:pt x="189484" y="3835"/>
                </a:lnTo>
                <a:lnTo>
                  <a:pt x="151866" y="14808"/>
                </a:lnTo>
                <a:lnTo>
                  <a:pt x="116687" y="32143"/>
                </a:lnTo>
                <a:lnTo>
                  <a:pt x="84696" y="55067"/>
                </a:lnTo>
                <a:lnTo>
                  <a:pt x="56692" y="82791"/>
                </a:lnTo>
                <a:lnTo>
                  <a:pt x="33439" y="114554"/>
                </a:lnTo>
                <a:lnTo>
                  <a:pt x="15722" y="149567"/>
                </a:lnTo>
                <a:lnTo>
                  <a:pt x="4318" y="187045"/>
                </a:lnTo>
                <a:lnTo>
                  <a:pt x="0" y="226225"/>
                </a:lnTo>
                <a:lnTo>
                  <a:pt x="3568" y="266306"/>
                </a:lnTo>
                <a:lnTo>
                  <a:pt x="15773" y="306539"/>
                </a:lnTo>
                <a:lnTo>
                  <a:pt x="37414" y="346125"/>
                </a:lnTo>
                <a:lnTo>
                  <a:pt x="69253" y="384302"/>
                </a:lnTo>
                <a:lnTo>
                  <a:pt x="139446" y="454482"/>
                </a:lnTo>
                <a:lnTo>
                  <a:pt x="397332" y="196596"/>
                </a:lnTo>
                <a:lnTo>
                  <a:pt x="478891" y="278142"/>
                </a:lnTo>
                <a:lnTo>
                  <a:pt x="485698" y="283845"/>
                </a:lnTo>
                <a:lnTo>
                  <a:pt x="492772" y="287756"/>
                </a:lnTo>
                <a:lnTo>
                  <a:pt x="499948" y="290004"/>
                </a:lnTo>
                <a:lnTo>
                  <a:pt x="507111" y="290715"/>
                </a:lnTo>
                <a:lnTo>
                  <a:pt x="528955" y="283933"/>
                </a:lnTo>
                <a:lnTo>
                  <a:pt x="544296" y="266814"/>
                </a:lnTo>
                <a:lnTo>
                  <a:pt x="548271" y="244221"/>
                </a:lnTo>
                <a:close/>
              </a:path>
              <a:path w="917575" h="759459">
                <a:moveTo>
                  <a:pt x="917562" y="225310"/>
                </a:moveTo>
                <a:lnTo>
                  <a:pt x="903224" y="160566"/>
                </a:lnTo>
                <a:lnTo>
                  <a:pt x="870623" y="102755"/>
                </a:lnTo>
                <a:lnTo>
                  <a:pt x="823518" y="55664"/>
                </a:lnTo>
                <a:lnTo>
                  <a:pt x="765708" y="23050"/>
                </a:lnTo>
                <a:lnTo>
                  <a:pt x="700976" y="8712"/>
                </a:lnTo>
                <a:lnTo>
                  <a:pt x="667181" y="9588"/>
                </a:lnTo>
                <a:lnTo>
                  <a:pt x="599135" y="29743"/>
                </a:lnTo>
                <a:lnTo>
                  <a:pt x="565823" y="49987"/>
                </a:lnTo>
                <a:lnTo>
                  <a:pt x="533615" y="77635"/>
                </a:lnTo>
                <a:lnTo>
                  <a:pt x="478599" y="132651"/>
                </a:lnTo>
                <a:lnTo>
                  <a:pt x="551497" y="205549"/>
                </a:lnTo>
                <a:lnTo>
                  <a:pt x="562914" y="220535"/>
                </a:lnTo>
                <a:lnTo>
                  <a:pt x="569226" y="237172"/>
                </a:lnTo>
                <a:lnTo>
                  <a:pt x="570242" y="254660"/>
                </a:lnTo>
                <a:lnTo>
                  <a:pt x="565810" y="272275"/>
                </a:lnTo>
                <a:lnTo>
                  <a:pt x="555955" y="288734"/>
                </a:lnTo>
                <a:lnTo>
                  <a:pt x="542137" y="301447"/>
                </a:lnTo>
                <a:lnTo>
                  <a:pt x="525475" y="309651"/>
                </a:lnTo>
                <a:lnTo>
                  <a:pt x="507111" y="312559"/>
                </a:lnTo>
                <a:lnTo>
                  <a:pt x="499554" y="312064"/>
                </a:lnTo>
                <a:lnTo>
                  <a:pt x="492201" y="310616"/>
                </a:lnTo>
                <a:lnTo>
                  <a:pt x="485089" y="308229"/>
                </a:lnTo>
                <a:lnTo>
                  <a:pt x="478243" y="304914"/>
                </a:lnTo>
                <a:lnTo>
                  <a:pt x="265772" y="517398"/>
                </a:lnTo>
                <a:lnTo>
                  <a:pt x="253263" y="547763"/>
                </a:lnTo>
                <a:lnTo>
                  <a:pt x="265760" y="574560"/>
                </a:lnTo>
                <a:lnTo>
                  <a:pt x="292557" y="587057"/>
                </a:lnTo>
                <a:lnTo>
                  <a:pt x="322922" y="574560"/>
                </a:lnTo>
                <a:lnTo>
                  <a:pt x="535800" y="361683"/>
                </a:lnTo>
                <a:lnTo>
                  <a:pt x="564603" y="390474"/>
                </a:lnTo>
                <a:lnTo>
                  <a:pt x="351726" y="603351"/>
                </a:lnTo>
                <a:lnTo>
                  <a:pt x="339217" y="633717"/>
                </a:lnTo>
                <a:lnTo>
                  <a:pt x="351713" y="660514"/>
                </a:lnTo>
                <a:lnTo>
                  <a:pt x="378510" y="673011"/>
                </a:lnTo>
                <a:lnTo>
                  <a:pt x="408889" y="660514"/>
                </a:lnTo>
                <a:lnTo>
                  <a:pt x="621753" y="447636"/>
                </a:lnTo>
                <a:lnTo>
                  <a:pt x="650544" y="476427"/>
                </a:lnTo>
                <a:lnTo>
                  <a:pt x="437680" y="689305"/>
                </a:lnTo>
                <a:lnTo>
                  <a:pt x="425170" y="719670"/>
                </a:lnTo>
                <a:lnTo>
                  <a:pt x="437667" y="746467"/>
                </a:lnTo>
                <a:lnTo>
                  <a:pt x="464464" y="758964"/>
                </a:lnTo>
                <a:lnTo>
                  <a:pt x="494842" y="746467"/>
                </a:lnTo>
                <a:lnTo>
                  <a:pt x="848652" y="392671"/>
                </a:lnTo>
                <a:lnTo>
                  <a:pt x="876287" y="360451"/>
                </a:lnTo>
                <a:lnTo>
                  <a:pt x="896531" y="327139"/>
                </a:lnTo>
                <a:lnTo>
                  <a:pt x="916698" y="259092"/>
                </a:lnTo>
                <a:lnTo>
                  <a:pt x="917562" y="225310"/>
                </a:lnTo>
                <a:close/>
              </a:path>
            </a:pathLst>
          </a:custGeom>
          <a:solidFill>
            <a:srgbClr val="008B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416436" y="6877852"/>
            <a:ext cx="118681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0" dirty="0">
                <a:solidFill>
                  <a:srgbClr val="231F20"/>
                </a:solidFill>
                <a:latin typeface="Avenir"/>
                <a:cs typeface="Avenir"/>
              </a:rPr>
              <a:t>Compassion</a:t>
            </a:r>
            <a:endParaRPr sz="1650">
              <a:latin typeface="Avenir"/>
              <a:cs typeface="Avenir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096313" y="5958116"/>
            <a:ext cx="800735" cy="737870"/>
          </a:xfrm>
          <a:custGeom>
            <a:avLst/>
            <a:gdLst/>
            <a:ahLst/>
            <a:cxnLst/>
            <a:rect l="l" t="t" r="r" b="b"/>
            <a:pathLst>
              <a:path w="800734" h="737870">
                <a:moveTo>
                  <a:pt x="737743" y="368871"/>
                </a:moveTo>
                <a:lnTo>
                  <a:pt x="736447" y="337820"/>
                </a:lnTo>
                <a:lnTo>
                  <a:pt x="732637" y="307492"/>
                </a:lnTo>
                <a:lnTo>
                  <a:pt x="726427" y="277964"/>
                </a:lnTo>
                <a:lnTo>
                  <a:pt x="717931" y="249364"/>
                </a:lnTo>
                <a:lnTo>
                  <a:pt x="701306" y="263232"/>
                </a:lnTo>
                <a:lnTo>
                  <a:pt x="685393" y="276885"/>
                </a:lnTo>
                <a:lnTo>
                  <a:pt x="670153" y="290360"/>
                </a:lnTo>
                <a:lnTo>
                  <a:pt x="655535" y="303707"/>
                </a:lnTo>
                <a:lnTo>
                  <a:pt x="658672" y="319582"/>
                </a:lnTo>
                <a:lnTo>
                  <a:pt x="660946" y="335749"/>
                </a:lnTo>
                <a:lnTo>
                  <a:pt x="662330" y="352196"/>
                </a:lnTo>
                <a:lnTo>
                  <a:pt x="662800" y="368871"/>
                </a:lnTo>
                <a:lnTo>
                  <a:pt x="658952" y="416547"/>
                </a:lnTo>
                <a:lnTo>
                  <a:pt x="647814" y="461784"/>
                </a:lnTo>
                <a:lnTo>
                  <a:pt x="629983" y="503948"/>
                </a:lnTo>
                <a:lnTo>
                  <a:pt x="606082" y="542467"/>
                </a:lnTo>
                <a:lnTo>
                  <a:pt x="576707" y="576719"/>
                </a:lnTo>
                <a:lnTo>
                  <a:pt x="542455" y="606094"/>
                </a:lnTo>
                <a:lnTo>
                  <a:pt x="503948" y="629996"/>
                </a:lnTo>
                <a:lnTo>
                  <a:pt x="461772" y="647814"/>
                </a:lnTo>
                <a:lnTo>
                  <a:pt x="416547" y="658952"/>
                </a:lnTo>
                <a:lnTo>
                  <a:pt x="368871" y="662800"/>
                </a:lnTo>
                <a:lnTo>
                  <a:pt x="321195" y="658952"/>
                </a:lnTo>
                <a:lnTo>
                  <a:pt x="275958" y="647814"/>
                </a:lnTo>
                <a:lnTo>
                  <a:pt x="233794" y="629996"/>
                </a:lnTo>
                <a:lnTo>
                  <a:pt x="195275" y="606094"/>
                </a:lnTo>
                <a:lnTo>
                  <a:pt x="161023" y="576719"/>
                </a:lnTo>
                <a:lnTo>
                  <a:pt x="131648" y="542467"/>
                </a:lnTo>
                <a:lnTo>
                  <a:pt x="107746" y="503948"/>
                </a:lnTo>
                <a:lnTo>
                  <a:pt x="89928" y="461784"/>
                </a:lnTo>
                <a:lnTo>
                  <a:pt x="78790" y="416547"/>
                </a:lnTo>
                <a:lnTo>
                  <a:pt x="74942" y="368871"/>
                </a:lnTo>
                <a:lnTo>
                  <a:pt x="78790" y="321195"/>
                </a:lnTo>
                <a:lnTo>
                  <a:pt x="89928" y="275971"/>
                </a:lnTo>
                <a:lnTo>
                  <a:pt x="107746" y="233794"/>
                </a:lnTo>
                <a:lnTo>
                  <a:pt x="131648" y="195287"/>
                </a:lnTo>
                <a:lnTo>
                  <a:pt x="161023" y="161036"/>
                </a:lnTo>
                <a:lnTo>
                  <a:pt x="195275" y="131660"/>
                </a:lnTo>
                <a:lnTo>
                  <a:pt x="233794" y="107759"/>
                </a:lnTo>
                <a:lnTo>
                  <a:pt x="275958" y="89928"/>
                </a:lnTo>
                <a:lnTo>
                  <a:pt x="321195" y="78790"/>
                </a:lnTo>
                <a:lnTo>
                  <a:pt x="368871" y="74942"/>
                </a:lnTo>
                <a:lnTo>
                  <a:pt x="414274" y="78435"/>
                </a:lnTo>
                <a:lnTo>
                  <a:pt x="457492" y="88557"/>
                </a:lnTo>
                <a:lnTo>
                  <a:pt x="497992" y="104775"/>
                </a:lnTo>
                <a:lnTo>
                  <a:pt x="535279" y="126568"/>
                </a:lnTo>
                <a:lnTo>
                  <a:pt x="552259" y="115595"/>
                </a:lnTo>
                <a:lnTo>
                  <a:pt x="569531" y="105067"/>
                </a:lnTo>
                <a:lnTo>
                  <a:pt x="587070" y="94996"/>
                </a:lnTo>
                <a:lnTo>
                  <a:pt x="604862" y="85382"/>
                </a:lnTo>
                <a:lnTo>
                  <a:pt x="564375" y="56045"/>
                </a:lnTo>
                <a:lnTo>
                  <a:pt x="520014" y="32308"/>
                </a:lnTo>
                <a:lnTo>
                  <a:pt x="472287" y="14706"/>
                </a:lnTo>
                <a:lnTo>
                  <a:pt x="421741" y="3771"/>
                </a:lnTo>
                <a:lnTo>
                  <a:pt x="368871" y="0"/>
                </a:lnTo>
                <a:lnTo>
                  <a:pt x="322592" y="2882"/>
                </a:lnTo>
                <a:lnTo>
                  <a:pt x="278041" y="11264"/>
                </a:lnTo>
                <a:lnTo>
                  <a:pt x="235546" y="24828"/>
                </a:lnTo>
                <a:lnTo>
                  <a:pt x="195453" y="43218"/>
                </a:lnTo>
                <a:lnTo>
                  <a:pt x="158127" y="66090"/>
                </a:lnTo>
                <a:lnTo>
                  <a:pt x="123888" y="93103"/>
                </a:lnTo>
                <a:lnTo>
                  <a:pt x="93091" y="123901"/>
                </a:lnTo>
                <a:lnTo>
                  <a:pt x="66090" y="158127"/>
                </a:lnTo>
                <a:lnTo>
                  <a:pt x="43218" y="195465"/>
                </a:lnTo>
                <a:lnTo>
                  <a:pt x="24828" y="235559"/>
                </a:lnTo>
                <a:lnTo>
                  <a:pt x="11264" y="278053"/>
                </a:lnTo>
                <a:lnTo>
                  <a:pt x="2870" y="322605"/>
                </a:lnTo>
                <a:lnTo>
                  <a:pt x="0" y="368871"/>
                </a:lnTo>
                <a:lnTo>
                  <a:pt x="2870" y="415150"/>
                </a:lnTo>
                <a:lnTo>
                  <a:pt x="11264" y="459701"/>
                </a:lnTo>
                <a:lnTo>
                  <a:pt x="24828" y="502196"/>
                </a:lnTo>
                <a:lnTo>
                  <a:pt x="43218" y="542290"/>
                </a:lnTo>
                <a:lnTo>
                  <a:pt x="66090" y="579615"/>
                </a:lnTo>
                <a:lnTo>
                  <a:pt x="93091" y="613854"/>
                </a:lnTo>
                <a:lnTo>
                  <a:pt x="123888" y="644652"/>
                </a:lnTo>
                <a:lnTo>
                  <a:pt x="158127" y="671652"/>
                </a:lnTo>
                <a:lnTo>
                  <a:pt x="195453" y="694524"/>
                </a:lnTo>
                <a:lnTo>
                  <a:pt x="235546" y="712914"/>
                </a:lnTo>
                <a:lnTo>
                  <a:pt x="278041" y="726478"/>
                </a:lnTo>
                <a:lnTo>
                  <a:pt x="322592" y="734872"/>
                </a:lnTo>
                <a:lnTo>
                  <a:pt x="368871" y="737743"/>
                </a:lnTo>
                <a:lnTo>
                  <a:pt x="415137" y="734872"/>
                </a:lnTo>
                <a:lnTo>
                  <a:pt x="459689" y="726478"/>
                </a:lnTo>
                <a:lnTo>
                  <a:pt x="502183" y="712914"/>
                </a:lnTo>
                <a:lnTo>
                  <a:pt x="542277" y="694524"/>
                </a:lnTo>
                <a:lnTo>
                  <a:pt x="579615" y="671652"/>
                </a:lnTo>
                <a:lnTo>
                  <a:pt x="613841" y="644652"/>
                </a:lnTo>
                <a:lnTo>
                  <a:pt x="644639" y="613854"/>
                </a:lnTo>
                <a:lnTo>
                  <a:pt x="671652" y="579615"/>
                </a:lnTo>
                <a:lnTo>
                  <a:pt x="694524" y="542290"/>
                </a:lnTo>
                <a:lnTo>
                  <a:pt x="712914" y="502196"/>
                </a:lnTo>
                <a:lnTo>
                  <a:pt x="726478" y="459701"/>
                </a:lnTo>
                <a:lnTo>
                  <a:pt x="734860" y="415150"/>
                </a:lnTo>
                <a:lnTo>
                  <a:pt x="737743" y="368871"/>
                </a:lnTo>
                <a:close/>
              </a:path>
              <a:path w="800734" h="737870">
                <a:moveTo>
                  <a:pt x="800722" y="111950"/>
                </a:moveTo>
                <a:lnTo>
                  <a:pt x="798220" y="99758"/>
                </a:lnTo>
                <a:lnTo>
                  <a:pt x="776211" y="92290"/>
                </a:lnTo>
                <a:lnTo>
                  <a:pt x="740308" y="95656"/>
                </a:lnTo>
                <a:lnTo>
                  <a:pt x="701751" y="105029"/>
                </a:lnTo>
                <a:lnTo>
                  <a:pt x="623951" y="138595"/>
                </a:lnTo>
                <a:lnTo>
                  <a:pt x="579056" y="164642"/>
                </a:lnTo>
                <a:lnTo>
                  <a:pt x="537108" y="193421"/>
                </a:lnTo>
                <a:lnTo>
                  <a:pt x="498106" y="224650"/>
                </a:lnTo>
                <a:lnTo>
                  <a:pt x="462038" y="258051"/>
                </a:lnTo>
                <a:lnTo>
                  <a:pt x="428917" y="293344"/>
                </a:lnTo>
                <a:lnTo>
                  <a:pt x="398716" y="330250"/>
                </a:lnTo>
                <a:lnTo>
                  <a:pt x="371462" y="368503"/>
                </a:lnTo>
                <a:lnTo>
                  <a:pt x="353098" y="341172"/>
                </a:lnTo>
                <a:lnTo>
                  <a:pt x="331076" y="310642"/>
                </a:lnTo>
                <a:lnTo>
                  <a:pt x="304139" y="279984"/>
                </a:lnTo>
                <a:lnTo>
                  <a:pt x="270992" y="252272"/>
                </a:lnTo>
                <a:lnTo>
                  <a:pt x="246481" y="241630"/>
                </a:lnTo>
                <a:lnTo>
                  <a:pt x="221488" y="242354"/>
                </a:lnTo>
                <a:lnTo>
                  <a:pt x="196659" y="253784"/>
                </a:lnTo>
                <a:lnTo>
                  <a:pt x="172656" y="275272"/>
                </a:lnTo>
                <a:lnTo>
                  <a:pt x="166027" y="294220"/>
                </a:lnTo>
                <a:lnTo>
                  <a:pt x="175018" y="313702"/>
                </a:lnTo>
                <a:lnTo>
                  <a:pt x="192697" y="334251"/>
                </a:lnTo>
                <a:lnTo>
                  <a:pt x="212153" y="356362"/>
                </a:lnTo>
                <a:lnTo>
                  <a:pt x="248348" y="405765"/>
                </a:lnTo>
                <a:lnTo>
                  <a:pt x="276186" y="448614"/>
                </a:lnTo>
                <a:lnTo>
                  <a:pt x="296214" y="482561"/>
                </a:lnTo>
                <a:lnTo>
                  <a:pt x="308952" y="505244"/>
                </a:lnTo>
                <a:lnTo>
                  <a:pt x="319417" y="520598"/>
                </a:lnTo>
                <a:lnTo>
                  <a:pt x="332117" y="533336"/>
                </a:lnTo>
                <a:lnTo>
                  <a:pt x="346875" y="542302"/>
                </a:lnTo>
                <a:lnTo>
                  <a:pt x="363524" y="546303"/>
                </a:lnTo>
                <a:lnTo>
                  <a:pt x="367411" y="546430"/>
                </a:lnTo>
                <a:lnTo>
                  <a:pt x="383400" y="544220"/>
                </a:lnTo>
                <a:lnTo>
                  <a:pt x="397992" y="537946"/>
                </a:lnTo>
                <a:lnTo>
                  <a:pt x="410591" y="528104"/>
                </a:lnTo>
                <a:lnTo>
                  <a:pt x="420585" y="515200"/>
                </a:lnTo>
                <a:lnTo>
                  <a:pt x="447878" y="471170"/>
                </a:lnTo>
                <a:lnTo>
                  <a:pt x="475653" y="430022"/>
                </a:lnTo>
                <a:lnTo>
                  <a:pt x="504355" y="391261"/>
                </a:lnTo>
                <a:lnTo>
                  <a:pt x="534403" y="354368"/>
                </a:lnTo>
                <a:lnTo>
                  <a:pt x="566204" y="318858"/>
                </a:lnTo>
                <a:lnTo>
                  <a:pt x="600202" y="284238"/>
                </a:lnTo>
                <a:lnTo>
                  <a:pt x="636803" y="249999"/>
                </a:lnTo>
                <a:lnTo>
                  <a:pt x="676452" y="215646"/>
                </a:lnTo>
                <a:lnTo>
                  <a:pt x="719569" y="180695"/>
                </a:lnTo>
                <a:lnTo>
                  <a:pt x="766559" y="144640"/>
                </a:lnTo>
                <a:lnTo>
                  <a:pt x="779703" y="135064"/>
                </a:lnTo>
                <a:lnTo>
                  <a:pt x="792822" y="123939"/>
                </a:lnTo>
                <a:lnTo>
                  <a:pt x="800722" y="111950"/>
                </a:lnTo>
                <a:close/>
              </a:path>
            </a:pathLst>
          </a:custGeom>
          <a:solidFill>
            <a:srgbClr val="008B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912435" y="6877852"/>
            <a:ext cx="1939289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6850">
              <a:lnSpc>
                <a:spcPct val="100000"/>
              </a:lnSpc>
              <a:spcBef>
                <a:spcPts val="105"/>
              </a:spcBef>
            </a:pPr>
            <a:r>
              <a:rPr sz="1650" spc="-10" dirty="0">
                <a:solidFill>
                  <a:srgbClr val="231F20"/>
                </a:solidFill>
                <a:latin typeface="Avenir"/>
                <a:cs typeface="Avenir"/>
              </a:rPr>
              <a:t>Integrity</a:t>
            </a:r>
            <a:endParaRPr sz="1650" dirty="0">
              <a:latin typeface="Avenir"/>
              <a:cs typeface="Avenir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endParaRPr sz="850" dirty="0">
              <a:latin typeface="Arial"/>
              <a:cs typeface="Arial"/>
            </a:endParaRPr>
          </a:p>
        </p:txBody>
      </p:sp>
      <p:pic>
        <p:nvPicPr>
          <p:cNvPr id="28" name="object 2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649873" y="5945504"/>
            <a:ext cx="1162061" cy="799086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7013151" y="6877852"/>
            <a:ext cx="473709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25" dirty="0">
                <a:solidFill>
                  <a:srgbClr val="231F20"/>
                </a:solidFill>
                <a:latin typeface="Avenir"/>
                <a:cs typeface="Avenir"/>
              </a:rPr>
              <a:t>Trust</a:t>
            </a:r>
            <a:endParaRPr sz="1650">
              <a:latin typeface="Avenir"/>
              <a:cs typeface="Avenir"/>
            </a:endParaRPr>
          </a:p>
        </p:txBody>
      </p:sp>
      <p:sp>
        <p:nvSpPr>
          <p:cNvPr id="30" name="object 30" descr="$PPTXTitle"/>
          <p:cNvSpPr txBox="1">
            <a:spLocks noGrp="1"/>
          </p:cNvSpPr>
          <p:nvPr>
            <p:ph type="title"/>
          </p:nvPr>
        </p:nvSpPr>
        <p:spPr>
          <a:xfrm>
            <a:off x="1112745" y="569113"/>
            <a:ext cx="2316256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895" marR="5080" indent="-36830" algn="just">
              <a:lnSpc>
                <a:spcPct val="100000"/>
              </a:lnSpc>
              <a:spcBef>
                <a:spcPts val="100"/>
              </a:spcBef>
            </a:pPr>
            <a:r>
              <a:rPr lang="en-US" sz="2000" b="0" spc="-24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Message </a:t>
            </a:r>
            <a:r>
              <a:rPr lang="en-US" sz="2000" b="0" spc="-15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en-US" sz="2000" b="0" spc="4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spc="-315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 </a:t>
            </a:r>
            <a:r>
              <a:rPr lang="en-US" sz="2000" b="0" spc="-29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CEO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EC5065A4-2A19-D3B3-C879-4BDA1D57F38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9900" y="5497111"/>
            <a:ext cx="2323948" cy="746274"/>
          </a:xfrm>
          <a:prstGeom prst="rect">
            <a:avLst/>
          </a:prstGeom>
          <a:solidFill>
            <a:schemeClr val="accent1">
              <a:alpha val="0"/>
            </a:schemeClr>
          </a:solidFill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55978" y="2619565"/>
          <a:ext cx="6902449" cy="25717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68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2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39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0660">
                <a:tc>
                  <a:txBody>
                    <a:bodyPr/>
                    <a:lstStyle/>
                    <a:p>
                      <a:pPr>
                        <a:lnSpc>
                          <a:spcPts val="1325"/>
                        </a:lnSpc>
                      </a:pPr>
                      <a:r>
                        <a:rPr sz="1150" b="1" spc="-1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EXCELLENCE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8740" algn="r">
                        <a:lnSpc>
                          <a:spcPts val="1325"/>
                        </a:lnSpc>
                      </a:pPr>
                      <a:r>
                        <a:rPr sz="1150" b="1" spc="-5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25"/>
                        </a:lnSpc>
                      </a:pPr>
                      <a:r>
                        <a:rPr sz="1150" b="1" spc="-1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TRUST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325"/>
                        </a:lnSpc>
                      </a:pPr>
                      <a:r>
                        <a:rPr sz="1150" b="1" spc="-2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16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790">
                <a:tc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15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What</a:t>
                      </a:r>
                      <a:r>
                        <a:rPr sz="1150" spc="-25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 </a:t>
                      </a:r>
                      <a:r>
                        <a:rPr sz="1150" spc="-3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You</a:t>
                      </a:r>
                      <a:r>
                        <a:rPr sz="1150" spc="-2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 </a:t>
                      </a:r>
                      <a:r>
                        <a:rPr sz="115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Need</a:t>
                      </a:r>
                      <a:r>
                        <a:rPr sz="1150" spc="-2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 </a:t>
                      </a:r>
                      <a:r>
                        <a:rPr sz="115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to</a:t>
                      </a:r>
                      <a:r>
                        <a:rPr sz="1150" spc="-2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 Know</a:t>
                      </a:r>
                      <a:endParaRPr sz="1150">
                        <a:latin typeface="Avenir Book"/>
                        <a:cs typeface="Avenir Book"/>
                      </a:endParaRPr>
                    </a:p>
                  </a:txBody>
                  <a:tcPr marL="0" marR="0" marT="25400" marB="0">
                    <a:lnB w="6350">
                      <a:solidFill>
                        <a:srgbClr val="231F2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150" spc="-5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7</a:t>
                      </a:r>
                      <a:endParaRPr sz="1150">
                        <a:latin typeface="Avenir Book"/>
                        <a:cs typeface="Avenir Book"/>
                      </a:endParaRPr>
                    </a:p>
                  </a:txBody>
                  <a:tcPr marL="0" marR="0" marT="25400" marB="0">
                    <a:lnB w="6350">
                      <a:solidFill>
                        <a:srgbClr val="231F2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15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Quality</a:t>
                      </a:r>
                      <a:r>
                        <a:rPr sz="1150" spc="-25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 </a:t>
                      </a:r>
                      <a:r>
                        <a:rPr sz="115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of</a:t>
                      </a:r>
                      <a:r>
                        <a:rPr sz="1150" spc="-25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 </a:t>
                      </a:r>
                      <a:r>
                        <a:rPr sz="1150" spc="-2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Care</a:t>
                      </a:r>
                      <a:endParaRPr sz="1150">
                        <a:latin typeface="Avenir Book"/>
                        <a:cs typeface="Avenir Book"/>
                      </a:endParaRPr>
                    </a:p>
                  </a:txBody>
                  <a:tcPr marL="0" marR="0" marT="25400" marB="0"/>
                </a:tc>
                <a:tc>
                  <a:txBody>
                    <a:bodyPr/>
                    <a:lstStyle/>
                    <a:p>
                      <a:pPr marR="2540" algn="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150" spc="-25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17</a:t>
                      </a:r>
                      <a:endParaRPr sz="1150">
                        <a:latin typeface="Avenir Book"/>
                        <a:cs typeface="Avenir Book"/>
                      </a:endParaRPr>
                    </a:p>
                  </a:txBody>
                  <a:tcPr marL="0" marR="0" marT="2540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3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150" b="1" spc="-1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TEAMWORK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61594" marB="0">
                    <a:lnT w="6350">
                      <a:solidFill>
                        <a:srgbClr val="231F20"/>
                      </a:solidFill>
                      <a:prstDash val="dot"/>
                    </a:lnT>
                  </a:tcPr>
                </a:tc>
                <a:tc>
                  <a:txBody>
                    <a:bodyPr/>
                    <a:lstStyle/>
                    <a:p>
                      <a:pPr marR="78740" algn="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150" b="1" spc="-5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61594" marB="0">
                    <a:lnT w="6350">
                      <a:solidFill>
                        <a:srgbClr val="231F20"/>
                      </a:solidFill>
                      <a:prstDash val="dot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5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Qualified </a:t>
                      </a:r>
                      <a:r>
                        <a:rPr sz="1150" spc="-1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Caregivers</a:t>
                      </a:r>
                      <a:endParaRPr sz="1150">
                        <a:latin typeface="Avenir Book"/>
                        <a:cs typeface="Avenir Book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R="254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50" spc="-25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17</a:t>
                      </a:r>
                      <a:endParaRPr sz="1150">
                        <a:latin typeface="Avenir Book"/>
                        <a:cs typeface="Avenir Book"/>
                      </a:endParaRPr>
                    </a:p>
                  </a:txBody>
                  <a:tcPr marL="0" marR="0" marT="3429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935">
                <a:tc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15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Employee </a:t>
                      </a:r>
                      <a:r>
                        <a:rPr sz="1150" spc="-1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Responsibility</a:t>
                      </a:r>
                      <a:endParaRPr sz="1150">
                        <a:latin typeface="Avenir Book"/>
                        <a:cs typeface="Avenir Book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150" spc="-5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9</a:t>
                      </a:r>
                      <a:endParaRPr sz="1150">
                        <a:latin typeface="Avenir Book"/>
                        <a:cs typeface="Avenir Book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15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Information</a:t>
                      </a:r>
                      <a:r>
                        <a:rPr sz="1150" spc="-4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 </a:t>
                      </a:r>
                      <a:r>
                        <a:rPr sz="1150" spc="-1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Technology</a:t>
                      </a:r>
                      <a:endParaRPr sz="1150">
                        <a:latin typeface="Avenir Book"/>
                        <a:cs typeface="Avenir Book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R="2540" algn="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150" spc="-25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17</a:t>
                      </a:r>
                      <a:endParaRPr sz="1150">
                        <a:latin typeface="Avenir Book"/>
                        <a:cs typeface="Avenir Book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7965">
                <a:tc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15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Our</a:t>
                      </a:r>
                      <a:r>
                        <a:rPr sz="1150" spc="-1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 </a:t>
                      </a:r>
                      <a:r>
                        <a:rPr sz="115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Leadership</a:t>
                      </a:r>
                      <a:r>
                        <a:rPr sz="1150" spc="-1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 Promise</a:t>
                      </a:r>
                      <a:endParaRPr sz="1150">
                        <a:latin typeface="Avenir Book"/>
                        <a:cs typeface="Avenir Book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150" spc="-5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9</a:t>
                      </a:r>
                      <a:endParaRPr sz="1150">
                        <a:latin typeface="Avenir Book"/>
                        <a:cs typeface="Avenir Book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5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Confidentiality</a:t>
                      </a:r>
                      <a:r>
                        <a:rPr sz="1150" spc="-4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 </a:t>
                      </a:r>
                      <a:r>
                        <a:rPr sz="115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and</a:t>
                      </a:r>
                      <a:r>
                        <a:rPr sz="1150" spc="-35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 </a:t>
                      </a:r>
                      <a:r>
                        <a:rPr sz="1150" spc="-1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Privacy</a:t>
                      </a:r>
                      <a:endParaRPr sz="1150">
                        <a:latin typeface="Avenir Book"/>
                        <a:cs typeface="Avenir Book"/>
                      </a:endParaRPr>
                    </a:p>
                  </a:txBody>
                  <a:tcPr marL="0" marR="0" marT="5715" marB="0">
                    <a:lnB w="6350">
                      <a:solidFill>
                        <a:srgbClr val="231F2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R="2540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50" spc="-25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18</a:t>
                      </a:r>
                      <a:endParaRPr sz="1150">
                        <a:latin typeface="Avenir Book"/>
                        <a:cs typeface="Avenir Book"/>
                      </a:endParaRPr>
                    </a:p>
                  </a:txBody>
                  <a:tcPr marL="0" marR="0" marT="5715" marB="0">
                    <a:lnB w="6350">
                      <a:solidFill>
                        <a:srgbClr val="231F2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190">
                <a:tc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5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Reporting</a:t>
                      </a:r>
                      <a:r>
                        <a:rPr sz="1150" spc="-3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 </a:t>
                      </a:r>
                      <a:r>
                        <a:rPr sz="115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Compliance</a:t>
                      </a:r>
                      <a:r>
                        <a:rPr sz="1150" spc="-25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 </a:t>
                      </a:r>
                      <a:r>
                        <a:rPr sz="1150" spc="-1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Issues</a:t>
                      </a:r>
                      <a:endParaRPr sz="1150">
                        <a:latin typeface="Avenir Book"/>
                        <a:cs typeface="Avenir Book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R="254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50" spc="-25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10</a:t>
                      </a:r>
                      <a:endParaRPr sz="1150">
                        <a:latin typeface="Avenir Book"/>
                        <a:cs typeface="Avenir Book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150" b="1" spc="-1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INTEGRITY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61594" marB="0">
                    <a:lnT w="6350">
                      <a:solidFill>
                        <a:srgbClr val="231F20"/>
                      </a:solidFill>
                      <a:prstDash val="dot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150" b="1" spc="-2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19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61594" marB="0">
                    <a:lnT w="6350">
                      <a:solidFill>
                        <a:srgbClr val="231F20"/>
                      </a:solidFill>
                      <a:prstDash val="dot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679">
                <a:tc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Investigation and </a:t>
                      </a:r>
                      <a:r>
                        <a:rPr sz="1150" spc="-1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Resolution</a:t>
                      </a:r>
                      <a:endParaRPr sz="1150">
                        <a:latin typeface="Avenir Book"/>
                        <a:cs typeface="Avenir Book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R="2540" algn="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spc="-25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11</a:t>
                      </a:r>
                      <a:endParaRPr sz="1150">
                        <a:latin typeface="Avenir Book"/>
                        <a:cs typeface="Avenir Book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Conflicts</a:t>
                      </a:r>
                      <a:r>
                        <a:rPr sz="1150" spc="-1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 </a:t>
                      </a:r>
                      <a:r>
                        <a:rPr sz="115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of</a:t>
                      </a:r>
                      <a:r>
                        <a:rPr sz="1150" spc="-5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 </a:t>
                      </a:r>
                      <a:r>
                        <a:rPr sz="1150" spc="-1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Interest</a:t>
                      </a:r>
                      <a:endParaRPr sz="1150">
                        <a:latin typeface="Avenir Book"/>
                        <a:cs typeface="Avenir Book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R="2540" algn="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spc="-25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20</a:t>
                      </a:r>
                      <a:endParaRPr sz="1150">
                        <a:latin typeface="Avenir Book"/>
                        <a:cs typeface="Avenir Book"/>
                      </a:endParaRPr>
                    </a:p>
                  </a:txBody>
                  <a:tcPr marL="0" marR="0" marT="1714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045">
                <a:tc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spc="-1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Non-Retaliation</a:t>
                      </a:r>
                      <a:endParaRPr sz="1150">
                        <a:latin typeface="Avenir Book"/>
                        <a:cs typeface="Avenir Book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R="2540" algn="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spc="-25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11</a:t>
                      </a:r>
                      <a:endParaRPr sz="1150">
                        <a:latin typeface="Avenir Book"/>
                        <a:cs typeface="Avenir Book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Gifts</a:t>
                      </a:r>
                      <a:r>
                        <a:rPr sz="1150" spc="-15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 </a:t>
                      </a:r>
                      <a:r>
                        <a:rPr sz="115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and</a:t>
                      </a:r>
                      <a:r>
                        <a:rPr sz="1150" spc="-1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 Entertainment</a:t>
                      </a:r>
                      <a:endParaRPr sz="1150">
                        <a:latin typeface="Avenir Book"/>
                        <a:cs typeface="Avenir Book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R="2540" algn="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spc="-25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21</a:t>
                      </a:r>
                      <a:endParaRPr sz="1150">
                        <a:latin typeface="Avenir Book"/>
                        <a:cs typeface="Avenir Book"/>
                      </a:endParaRPr>
                    </a:p>
                  </a:txBody>
                  <a:tcPr marL="0" marR="0" marT="17145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535">
                <a:tc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Disciplinary </a:t>
                      </a:r>
                      <a:r>
                        <a:rPr sz="1150" spc="-1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Action</a:t>
                      </a:r>
                      <a:endParaRPr sz="1150">
                        <a:latin typeface="Avenir Book"/>
                        <a:cs typeface="Avenir Book"/>
                      </a:endParaRPr>
                    </a:p>
                  </a:txBody>
                  <a:tcPr marL="0" marR="0" marT="17145" marB="0">
                    <a:lnB w="6350">
                      <a:solidFill>
                        <a:srgbClr val="231F2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R="2540" algn="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spc="-25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11</a:t>
                      </a:r>
                      <a:endParaRPr sz="1150">
                        <a:latin typeface="Avenir Book"/>
                        <a:cs typeface="Avenir Book"/>
                      </a:endParaRPr>
                    </a:p>
                  </a:txBody>
                  <a:tcPr marL="0" marR="0" marT="17145" marB="0">
                    <a:lnB w="6350">
                      <a:solidFill>
                        <a:srgbClr val="231F2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Medical</a:t>
                      </a:r>
                      <a:r>
                        <a:rPr sz="1150" spc="-3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 </a:t>
                      </a:r>
                      <a:r>
                        <a:rPr sz="115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Record</a:t>
                      </a:r>
                      <a:r>
                        <a:rPr sz="1150" spc="-25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 </a:t>
                      </a:r>
                      <a:r>
                        <a:rPr sz="1150" spc="-1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Documentation</a:t>
                      </a:r>
                      <a:endParaRPr sz="1150">
                        <a:latin typeface="Avenir Book"/>
                        <a:cs typeface="Avenir Book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R="2540" algn="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spc="-25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22</a:t>
                      </a:r>
                      <a:endParaRPr sz="1150">
                        <a:latin typeface="Avenir Book"/>
                        <a:cs typeface="Avenir Book"/>
                      </a:endParaRPr>
                    </a:p>
                  </a:txBody>
                  <a:tcPr marL="0" marR="0" marT="17145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33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150" b="1" spc="-1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SERVICE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61594" marB="0">
                    <a:lnT w="6350">
                      <a:solidFill>
                        <a:srgbClr val="231F20"/>
                      </a:solidFill>
                      <a:prstDash val="dot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150" b="1" spc="-2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12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61594" marB="0">
                    <a:lnT w="6350">
                      <a:solidFill>
                        <a:srgbClr val="231F20"/>
                      </a:solidFill>
                      <a:prstDash val="dot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5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Coding</a:t>
                      </a:r>
                      <a:r>
                        <a:rPr sz="1150" spc="-25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 </a:t>
                      </a:r>
                      <a:r>
                        <a:rPr sz="115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and</a:t>
                      </a:r>
                      <a:r>
                        <a:rPr sz="1150" spc="-2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 </a:t>
                      </a:r>
                      <a:r>
                        <a:rPr sz="1150" spc="-1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Billing</a:t>
                      </a:r>
                      <a:endParaRPr sz="1150">
                        <a:latin typeface="Avenir Book"/>
                        <a:cs typeface="Avenir Book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R="254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50" spc="-25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22</a:t>
                      </a:r>
                      <a:endParaRPr sz="1150">
                        <a:latin typeface="Avenir Book"/>
                        <a:cs typeface="Avenir Book"/>
                      </a:endParaRPr>
                    </a:p>
                  </a:txBody>
                  <a:tcPr marL="0" marR="0" marT="3429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150" spc="-2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Safety,</a:t>
                      </a:r>
                      <a:r>
                        <a:rPr sz="1150" spc="-5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 </a:t>
                      </a:r>
                      <a:r>
                        <a:rPr sz="115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Health</a:t>
                      </a:r>
                      <a:r>
                        <a:rPr sz="1150" spc="-5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 </a:t>
                      </a:r>
                      <a:r>
                        <a:rPr sz="115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and</a:t>
                      </a:r>
                      <a:r>
                        <a:rPr sz="1150" spc="-5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 </a:t>
                      </a:r>
                      <a:r>
                        <a:rPr sz="115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the</a:t>
                      </a:r>
                      <a:r>
                        <a:rPr sz="1150" spc="-5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 </a:t>
                      </a:r>
                      <a:r>
                        <a:rPr sz="1150" spc="-1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Environment</a:t>
                      </a:r>
                      <a:endParaRPr sz="1150">
                        <a:latin typeface="Avenir Book"/>
                        <a:cs typeface="Avenir Book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marR="254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150" spc="-25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13</a:t>
                      </a:r>
                      <a:endParaRPr sz="1150">
                        <a:latin typeface="Avenir Book"/>
                        <a:cs typeface="Avenir Book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150" spc="-1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Organizational</a:t>
                      </a:r>
                      <a:r>
                        <a:rPr sz="1150" spc="35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 </a:t>
                      </a:r>
                      <a:r>
                        <a:rPr sz="1150" spc="-10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Assets</a:t>
                      </a:r>
                      <a:endParaRPr sz="1150">
                        <a:latin typeface="Avenir Book"/>
                        <a:cs typeface="Avenir Book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R="2540" algn="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150" spc="-25" dirty="0">
                          <a:solidFill>
                            <a:srgbClr val="231F20"/>
                          </a:solidFill>
                          <a:latin typeface="Avenir Book"/>
                          <a:cs typeface="Avenir Book"/>
                        </a:rPr>
                        <a:t>22</a:t>
                      </a:r>
                      <a:endParaRPr sz="1150">
                        <a:latin typeface="Avenir Book"/>
                        <a:cs typeface="Avenir Book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455978" y="5585772"/>
            <a:ext cx="3362960" cy="6350"/>
            <a:chOff x="455978" y="5585772"/>
            <a:chExt cx="3362960" cy="6350"/>
          </a:xfrm>
        </p:grpSpPr>
        <p:sp>
          <p:nvSpPr>
            <p:cNvPr id="4" name="object 4"/>
            <p:cNvSpPr/>
            <p:nvPr/>
          </p:nvSpPr>
          <p:spPr>
            <a:xfrm>
              <a:off x="478223" y="5588947"/>
              <a:ext cx="3328035" cy="0"/>
            </a:xfrm>
            <a:custGeom>
              <a:avLst/>
              <a:gdLst/>
              <a:ahLst/>
              <a:cxnLst/>
              <a:rect l="l" t="t" r="r" b="b"/>
              <a:pathLst>
                <a:path w="3328035">
                  <a:moveTo>
                    <a:pt x="0" y="0"/>
                  </a:moveTo>
                  <a:lnTo>
                    <a:pt x="3327857" y="0"/>
                  </a:lnTo>
                </a:path>
              </a:pathLst>
            </a:custGeom>
            <a:ln w="6350">
              <a:solidFill>
                <a:srgbClr val="231F2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5968" y="5585777"/>
              <a:ext cx="3362960" cy="6350"/>
            </a:xfrm>
            <a:custGeom>
              <a:avLst/>
              <a:gdLst/>
              <a:ahLst/>
              <a:cxnLst/>
              <a:rect l="l" t="t" r="r" b="b"/>
              <a:pathLst>
                <a:path w="3362960" h="6350">
                  <a:moveTo>
                    <a:pt x="6350" y="3175"/>
                  </a:moveTo>
                  <a:lnTo>
                    <a:pt x="5422" y="927"/>
                  </a:lnTo>
                  <a:lnTo>
                    <a:pt x="3175" y="0"/>
                  </a:lnTo>
                  <a:lnTo>
                    <a:pt x="939" y="927"/>
                  </a:lnTo>
                  <a:lnTo>
                    <a:pt x="0" y="3175"/>
                  </a:lnTo>
                  <a:lnTo>
                    <a:pt x="939" y="5422"/>
                  </a:lnTo>
                  <a:lnTo>
                    <a:pt x="3175" y="6350"/>
                  </a:lnTo>
                  <a:lnTo>
                    <a:pt x="5422" y="5422"/>
                  </a:lnTo>
                  <a:lnTo>
                    <a:pt x="6350" y="3175"/>
                  </a:lnTo>
                  <a:close/>
                </a:path>
                <a:path w="3362960" h="6350">
                  <a:moveTo>
                    <a:pt x="3362807" y="3175"/>
                  </a:moveTo>
                  <a:lnTo>
                    <a:pt x="3361880" y="927"/>
                  </a:lnTo>
                  <a:lnTo>
                    <a:pt x="3359632" y="0"/>
                  </a:lnTo>
                  <a:lnTo>
                    <a:pt x="3357397" y="927"/>
                  </a:lnTo>
                  <a:lnTo>
                    <a:pt x="3356457" y="3175"/>
                  </a:lnTo>
                  <a:lnTo>
                    <a:pt x="3357397" y="5422"/>
                  </a:lnTo>
                  <a:lnTo>
                    <a:pt x="3359632" y="6350"/>
                  </a:lnTo>
                  <a:lnTo>
                    <a:pt x="3361880" y="5422"/>
                  </a:lnTo>
                  <a:lnTo>
                    <a:pt x="3362807" y="3175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455978" y="6309671"/>
            <a:ext cx="3362960" cy="6350"/>
            <a:chOff x="455978" y="6309671"/>
            <a:chExt cx="3362960" cy="6350"/>
          </a:xfrm>
        </p:grpSpPr>
        <p:sp>
          <p:nvSpPr>
            <p:cNvPr id="7" name="object 7"/>
            <p:cNvSpPr/>
            <p:nvPr/>
          </p:nvSpPr>
          <p:spPr>
            <a:xfrm>
              <a:off x="478223" y="6312846"/>
              <a:ext cx="3328035" cy="0"/>
            </a:xfrm>
            <a:custGeom>
              <a:avLst/>
              <a:gdLst/>
              <a:ahLst/>
              <a:cxnLst/>
              <a:rect l="l" t="t" r="r" b="b"/>
              <a:pathLst>
                <a:path w="3328035">
                  <a:moveTo>
                    <a:pt x="0" y="0"/>
                  </a:moveTo>
                  <a:lnTo>
                    <a:pt x="3327857" y="0"/>
                  </a:lnTo>
                </a:path>
              </a:pathLst>
            </a:custGeom>
            <a:ln w="6350">
              <a:solidFill>
                <a:srgbClr val="231F2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5968" y="6309677"/>
              <a:ext cx="3362960" cy="6350"/>
            </a:xfrm>
            <a:custGeom>
              <a:avLst/>
              <a:gdLst/>
              <a:ahLst/>
              <a:cxnLst/>
              <a:rect l="l" t="t" r="r" b="b"/>
              <a:pathLst>
                <a:path w="3362960" h="6350">
                  <a:moveTo>
                    <a:pt x="6350" y="3175"/>
                  </a:moveTo>
                  <a:lnTo>
                    <a:pt x="5422" y="927"/>
                  </a:lnTo>
                  <a:lnTo>
                    <a:pt x="3175" y="0"/>
                  </a:lnTo>
                  <a:lnTo>
                    <a:pt x="939" y="927"/>
                  </a:lnTo>
                  <a:lnTo>
                    <a:pt x="0" y="3175"/>
                  </a:lnTo>
                  <a:lnTo>
                    <a:pt x="939" y="5422"/>
                  </a:lnTo>
                  <a:lnTo>
                    <a:pt x="3175" y="6350"/>
                  </a:lnTo>
                  <a:lnTo>
                    <a:pt x="5422" y="5422"/>
                  </a:lnTo>
                  <a:lnTo>
                    <a:pt x="6350" y="3175"/>
                  </a:lnTo>
                  <a:close/>
                </a:path>
                <a:path w="3362960" h="6350">
                  <a:moveTo>
                    <a:pt x="3362807" y="3175"/>
                  </a:moveTo>
                  <a:lnTo>
                    <a:pt x="3361880" y="927"/>
                  </a:lnTo>
                  <a:lnTo>
                    <a:pt x="3359632" y="0"/>
                  </a:lnTo>
                  <a:lnTo>
                    <a:pt x="3357397" y="927"/>
                  </a:lnTo>
                  <a:lnTo>
                    <a:pt x="3356457" y="3175"/>
                  </a:lnTo>
                  <a:lnTo>
                    <a:pt x="3357397" y="5422"/>
                  </a:lnTo>
                  <a:lnTo>
                    <a:pt x="3359632" y="6350"/>
                  </a:lnTo>
                  <a:lnTo>
                    <a:pt x="3361880" y="5422"/>
                  </a:lnTo>
                  <a:lnTo>
                    <a:pt x="3362807" y="3175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84552" y="5216200"/>
            <a:ext cx="1605280" cy="365760"/>
          </a:xfrm>
          <a:prstGeom prst="rect">
            <a:avLst/>
          </a:prstGeom>
        </p:spPr>
        <p:txBody>
          <a:bodyPr vert="horz" wrap="square" lIns="0" tIns="26669" rIns="0" bIns="0" rtlCol="0">
            <a:spAutoFit/>
          </a:bodyPr>
          <a:lstStyle/>
          <a:p>
            <a:pPr marL="12700" marR="5080">
              <a:lnSpc>
                <a:spcPts val="1300"/>
              </a:lnSpc>
              <a:spcBef>
                <a:spcPts val="209"/>
              </a:spcBef>
            </a:pP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Workplace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Conduct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and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Employment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Practices</a:t>
            </a:r>
            <a:endParaRPr sz="1150">
              <a:latin typeface="Avenir Book"/>
              <a:cs typeface="Avenir Boo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43671" y="5381300"/>
            <a:ext cx="187960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13</a:t>
            </a:r>
            <a:endParaRPr sz="1150">
              <a:latin typeface="Avenir Book"/>
              <a:cs typeface="Avenir Boo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3278" y="5579419"/>
            <a:ext cx="1164590" cy="492759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COMPASSION</a:t>
            </a:r>
            <a:endParaRPr sz="1150">
              <a:latin typeface="Arial"/>
              <a:cs typeface="Arial"/>
            </a:endParaRPr>
          </a:p>
          <a:p>
            <a:pPr marL="253365">
              <a:lnSpc>
                <a:spcPct val="100000"/>
              </a:lnSpc>
              <a:spcBef>
                <a:spcPts val="459"/>
              </a:spcBef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Patient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Rights</a:t>
            </a:r>
            <a:endParaRPr sz="1150">
              <a:latin typeface="Avenir Book"/>
              <a:cs typeface="Avenir Book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43671" y="5579419"/>
            <a:ext cx="198755" cy="492759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1150" b="1" spc="-25" dirty="0">
                <a:solidFill>
                  <a:srgbClr val="231F20"/>
                </a:solidFill>
                <a:latin typeface="Arial"/>
                <a:cs typeface="Arial"/>
              </a:rPr>
              <a:t>14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15</a:t>
            </a:r>
            <a:endParaRPr sz="1150">
              <a:latin typeface="Avenir Book"/>
              <a:cs typeface="Avenir Boo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4552" y="6105200"/>
            <a:ext cx="3147060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Admission,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Transfers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Continuity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Care</a:t>
            </a:r>
            <a:r>
              <a:rPr sz="1150" spc="105" dirty="0">
                <a:solidFill>
                  <a:srgbClr val="231F20"/>
                </a:solidFill>
                <a:latin typeface="Avenir Book"/>
                <a:cs typeface="Avenir Book"/>
              </a:rPr>
              <a:t> 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15</a:t>
            </a:r>
            <a:endParaRPr sz="1150">
              <a:latin typeface="Avenir Book"/>
              <a:cs typeface="Avenir Book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935760" y="4678349"/>
            <a:ext cx="1824355" cy="2488565"/>
          </a:xfrm>
          <a:custGeom>
            <a:avLst/>
            <a:gdLst/>
            <a:ahLst/>
            <a:cxnLst/>
            <a:rect l="l" t="t" r="r" b="b"/>
            <a:pathLst>
              <a:path w="1824354" h="2488565">
                <a:moveTo>
                  <a:pt x="940765" y="831684"/>
                </a:moveTo>
                <a:lnTo>
                  <a:pt x="934631" y="785990"/>
                </a:lnTo>
                <a:lnTo>
                  <a:pt x="917308" y="744943"/>
                </a:lnTo>
                <a:lnTo>
                  <a:pt x="890435" y="710158"/>
                </a:lnTo>
                <a:lnTo>
                  <a:pt x="876109" y="699096"/>
                </a:lnTo>
                <a:lnTo>
                  <a:pt x="876109" y="897623"/>
                </a:lnTo>
                <a:lnTo>
                  <a:pt x="856361" y="922197"/>
                </a:lnTo>
                <a:lnTo>
                  <a:pt x="831164" y="941171"/>
                </a:lnTo>
                <a:lnTo>
                  <a:pt x="801636" y="953389"/>
                </a:lnTo>
                <a:lnTo>
                  <a:pt x="768896" y="957719"/>
                </a:lnTo>
                <a:lnTo>
                  <a:pt x="736155" y="953389"/>
                </a:lnTo>
                <a:lnTo>
                  <a:pt x="706640" y="941171"/>
                </a:lnTo>
                <a:lnTo>
                  <a:pt x="681443" y="922197"/>
                </a:lnTo>
                <a:lnTo>
                  <a:pt x="661695" y="897623"/>
                </a:lnTo>
                <a:lnTo>
                  <a:pt x="876109" y="897623"/>
                </a:lnTo>
                <a:lnTo>
                  <a:pt x="876109" y="699096"/>
                </a:lnTo>
                <a:lnTo>
                  <a:pt x="855649" y="683285"/>
                </a:lnTo>
                <a:lnTo>
                  <a:pt x="814590" y="665962"/>
                </a:lnTo>
                <a:lnTo>
                  <a:pt x="768896" y="659828"/>
                </a:lnTo>
                <a:lnTo>
                  <a:pt x="723214" y="665962"/>
                </a:lnTo>
                <a:lnTo>
                  <a:pt x="682155" y="683285"/>
                </a:lnTo>
                <a:lnTo>
                  <a:pt x="647369" y="710158"/>
                </a:lnTo>
                <a:lnTo>
                  <a:pt x="620496" y="744943"/>
                </a:lnTo>
                <a:lnTo>
                  <a:pt x="603173" y="785990"/>
                </a:lnTo>
                <a:lnTo>
                  <a:pt x="597027" y="831684"/>
                </a:lnTo>
                <a:lnTo>
                  <a:pt x="603173" y="877379"/>
                </a:lnTo>
                <a:lnTo>
                  <a:pt x="620496" y="918425"/>
                </a:lnTo>
                <a:lnTo>
                  <a:pt x="647369" y="953211"/>
                </a:lnTo>
                <a:lnTo>
                  <a:pt x="682155" y="980084"/>
                </a:lnTo>
                <a:lnTo>
                  <a:pt x="723214" y="997419"/>
                </a:lnTo>
                <a:lnTo>
                  <a:pt x="768896" y="1003554"/>
                </a:lnTo>
                <a:lnTo>
                  <a:pt x="814590" y="997419"/>
                </a:lnTo>
                <a:lnTo>
                  <a:pt x="855649" y="980084"/>
                </a:lnTo>
                <a:lnTo>
                  <a:pt x="890435" y="953211"/>
                </a:lnTo>
                <a:lnTo>
                  <a:pt x="917308" y="918425"/>
                </a:lnTo>
                <a:lnTo>
                  <a:pt x="926084" y="897623"/>
                </a:lnTo>
                <a:lnTo>
                  <a:pt x="934631" y="877379"/>
                </a:lnTo>
                <a:lnTo>
                  <a:pt x="940765" y="831684"/>
                </a:lnTo>
                <a:close/>
              </a:path>
              <a:path w="1824354" h="2488565">
                <a:moveTo>
                  <a:pt x="1824228" y="445592"/>
                </a:moveTo>
                <a:lnTo>
                  <a:pt x="1722843" y="344208"/>
                </a:lnTo>
                <a:lnTo>
                  <a:pt x="1378635" y="0"/>
                </a:lnTo>
                <a:lnTo>
                  <a:pt x="1378635" y="344208"/>
                </a:lnTo>
                <a:lnTo>
                  <a:pt x="1100645" y="315899"/>
                </a:lnTo>
                <a:lnTo>
                  <a:pt x="1100645" y="575284"/>
                </a:lnTo>
                <a:lnTo>
                  <a:pt x="1080109" y="651789"/>
                </a:lnTo>
                <a:lnTo>
                  <a:pt x="1057579" y="721639"/>
                </a:lnTo>
                <a:lnTo>
                  <a:pt x="1033741" y="784910"/>
                </a:lnTo>
                <a:lnTo>
                  <a:pt x="1009256" y="841616"/>
                </a:lnTo>
                <a:lnTo>
                  <a:pt x="984808" y="891832"/>
                </a:lnTo>
                <a:lnTo>
                  <a:pt x="961059" y="935596"/>
                </a:lnTo>
                <a:lnTo>
                  <a:pt x="938707" y="972959"/>
                </a:lnTo>
                <a:lnTo>
                  <a:pt x="900950" y="1028484"/>
                </a:lnTo>
                <a:lnTo>
                  <a:pt x="886663" y="1047076"/>
                </a:lnTo>
                <a:lnTo>
                  <a:pt x="650963" y="1047076"/>
                </a:lnTo>
                <a:lnTo>
                  <a:pt x="618680" y="1003452"/>
                </a:lnTo>
                <a:lnTo>
                  <a:pt x="575221" y="933742"/>
                </a:lnTo>
                <a:lnTo>
                  <a:pt x="551053" y="888885"/>
                </a:lnTo>
                <a:lnTo>
                  <a:pt x="526199" y="837285"/>
                </a:lnTo>
                <a:lnTo>
                  <a:pt x="501345" y="778840"/>
                </a:lnTo>
                <a:lnTo>
                  <a:pt x="477215" y="713460"/>
                </a:lnTo>
                <a:lnTo>
                  <a:pt x="458431" y="653656"/>
                </a:lnTo>
                <a:lnTo>
                  <a:pt x="454494" y="641096"/>
                </a:lnTo>
                <a:lnTo>
                  <a:pt x="1100645" y="575284"/>
                </a:lnTo>
                <a:lnTo>
                  <a:pt x="1100645" y="315899"/>
                </a:lnTo>
                <a:lnTo>
                  <a:pt x="0" y="203796"/>
                </a:lnTo>
                <a:lnTo>
                  <a:pt x="0" y="687387"/>
                </a:lnTo>
                <a:lnTo>
                  <a:pt x="331177" y="653656"/>
                </a:lnTo>
                <a:lnTo>
                  <a:pt x="352272" y="724712"/>
                </a:lnTo>
                <a:lnTo>
                  <a:pt x="374865" y="790092"/>
                </a:lnTo>
                <a:lnTo>
                  <a:pt x="398437" y="849845"/>
                </a:lnTo>
                <a:lnTo>
                  <a:pt x="422490" y="904011"/>
                </a:lnTo>
                <a:lnTo>
                  <a:pt x="446519" y="952677"/>
                </a:lnTo>
                <a:lnTo>
                  <a:pt x="470039" y="995857"/>
                </a:lnTo>
                <a:lnTo>
                  <a:pt x="492544" y="1033627"/>
                </a:lnTo>
                <a:lnTo>
                  <a:pt x="513511" y="1066050"/>
                </a:lnTo>
                <a:lnTo>
                  <a:pt x="548906" y="1115009"/>
                </a:lnTo>
                <a:lnTo>
                  <a:pt x="562317" y="1131658"/>
                </a:lnTo>
                <a:lnTo>
                  <a:pt x="562305" y="1569554"/>
                </a:lnTo>
                <a:lnTo>
                  <a:pt x="489851" y="2386076"/>
                </a:lnTo>
                <a:lnTo>
                  <a:pt x="493991" y="2423350"/>
                </a:lnTo>
                <a:lnTo>
                  <a:pt x="511492" y="2455049"/>
                </a:lnTo>
                <a:lnTo>
                  <a:pt x="539610" y="2477859"/>
                </a:lnTo>
                <a:lnTo>
                  <a:pt x="575564" y="2488488"/>
                </a:lnTo>
                <a:lnTo>
                  <a:pt x="612838" y="2484348"/>
                </a:lnTo>
                <a:lnTo>
                  <a:pt x="644525" y="2466848"/>
                </a:lnTo>
                <a:lnTo>
                  <a:pt x="667346" y="2438743"/>
                </a:lnTo>
                <a:lnTo>
                  <a:pt x="677989" y="2402776"/>
                </a:lnTo>
                <a:lnTo>
                  <a:pt x="741464" y="1687550"/>
                </a:lnTo>
                <a:lnTo>
                  <a:pt x="796340" y="1687550"/>
                </a:lnTo>
                <a:lnTo>
                  <a:pt x="859815" y="2402776"/>
                </a:lnTo>
                <a:lnTo>
                  <a:pt x="893279" y="2466848"/>
                </a:lnTo>
                <a:lnTo>
                  <a:pt x="962240" y="2488488"/>
                </a:lnTo>
                <a:lnTo>
                  <a:pt x="998194" y="2477859"/>
                </a:lnTo>
                <a:lnTo>
                  <a:pt x="1026312" y="2455049"/>
                </a:lnTo>
                <a:lnTo>
                  <a:pt x="1043813" y="2423350"/>
                </a:lnTo>
                <a:lnTo>
                  <a:pt x="1047953" y="2386076"/>
                </a:lnTo>
                <a:lnTo>
                  <a:pt x="985964" y="1687550"/>
                </a:lnTo>
                <a:lnTo>
                  <a:pt x="975499" y="1569554"/>
                </a:lnTo>
                <a:lnTo>
                  <a:pt x="975499" y="1131658"/>
                </a:lnTo>
                <a:lnTo>
                  <a:pt x="988898" y="1115009"/>
                </a:lnTo>
                <a:lnTo>
                  <a:pt x="1005497" y="1092936"/>
                </a:lnTo>
                <a:lnTo>
                  <a:pt x="1024559" y="1065669"/>
                </a:lnTo>
                <a:lnTo>
                  <a:pt x="1036586" y="1047076"/>
                </a:lnTo>
                <a:lnTo>
                  <a:pt x="1045654" y="1033068"/>
                </a:lnTo>
                <a:lnTo>
                  <a:pt x="1068273" y="995057"/>
                </a:lnTo>
                <a:lnTo>
                  <a:pt x="1091907" y="951585"/>
                </a:lnTo>
                <a:lnTo>
                  <a:pt x="1116050" y="902614"/>
                </a:lnTo>
                <a:lnTo>
                  <a:pt x="1140193" y="848067"/>
                </a:lnTo>
                <a:lnTo>
                  <a:pt x="1163840" y="787895"/>
                </a:lnTo>
                <a:lnTo>
                  <a:pt x="1186459" y="722058"/>
                </a:lnTo>
                <a:lnTo>
                  <a:pt x="1207566" y="650481"/>
                </a:lnTo>
                <a:lnTo>
                  <a:pt x="1226108" y="575284"/>
                </a:lnTo>
                <a:lnTo>
                  <a:pt x="1228013" y="562317"/>
                </a:lnTo>
                <a:lnTo>
                  <a:pt x="1378635" y="546976"/>
                </a:lnTo>
                <a:lnTo>
                  <a:pt x="1378635" y="891184"/>
                </a:lnTo>
                <a:lnTo>
                  <a:pt x="1722843" y="546976"/>
                </a:lnTo>
                <a:lnTo>
                  <a:pt x="1824228" y="445592"/>
                </a:lnTo>
                <a:close/>
              </a:path>
            </a:pathLst>
          </a:custGeom>
          <a:solidFill>
            <a:srgbClr val="F477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xfrm>
            <a:off x="443278" y="1259432"/>
            <a:ext cx="3902710" cy="113792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40"/>
              </a:spcBef>
            </a:pPr>
            <a:r>
              <a:rPr sz="3800" dirty="0">
                <a:solidFill>
                  <a:srgbClr val="008DC4"/>
                </a:solidFill>
              </a:rPr>
              <a:t>Navigating</a:t>
            </a:r>
            <a:r>
              <a:rPr sz="3800" spc="254" dirty="0">
                <a:solidFill>
                  <a:srgbClr val="008DC4"/>
                </a:solidFill>
              </a:rPr>
              <a:t> </a:t>
            </a:r>
            <a:r>
              <a:rPr sz="3800" spc="30" dirty="0">
                <a:solidFill>
                  <a:srgbClr val="008DC4"/>
                </a:solidFill>
              </a:rPr>
              <a:t>the </a:t>
            </a:r>
            <a:r>
              <a:rPr sz="3800" dirty="0">
                <a:solidFill>
                  <a:srgbClr val="008DC4"/>
                </a:solidFill>
              </a:rPr>
              <a:t>Code</a:t>
            </a:r>
            <a:r>
              <a:rPr sz="3800" spc="20" dirty="0">
                <a:solidFill>
                  <a:srgbClr val="008DC4"/>
                </a:solidFill>
              </a:rPr>
              <a:t> </a:t>
            </a:r>
            <a:r>
              <a:rPr sz="3800" spc="50" dirty="0">
                <a:solidFill>
                  <a:srgbClr val="008DC4"/>
                </a:solidFill>
              </a:rPr>
              <a:t>of</a:t>
            </a:r>
            <a:r>
              <a:rPr sz="3800" spc="20" dirty="0">
                <a:solidFill>
                  <a:srgbClr val="008DC4"/>
                </a:solidFill>
              </a:rPr>
              <a:t> </a:t>
            </a:r>
            <a:r>
              <a:rPr sz="3800" spc="-45" dirty="0">
                <a:solidFill>
                  <a:srgbClr val="008DC4"/>
                </a:solidFill>
              </a:rPr>
              <a:t>Conduct</a:t>
            </a:r>
            <a:endParaRPr sz="3800"/>
          </a:p>
        </p:txBody>
      </p:sp>
      <p:grpSp>
        <p:nvGrpSpPr>
          <p:cNvPr id="16" name="object 16"/>
          <p:cNvGrpSpPr/>
          <p:nvPr/>
        </p:nvGrpSpPr>
        <p:grpSpPr>
          <a:xfrm>
            <a:off x="3985563" y="5631491"/>
            <a:ext cx="3362960" cy="6350"/>
            <a:chOff x="3985563" y="5631491"/>
            <a:chExt cx="3362960" cy="6350"/>
          </a:xfrm>
        </p:grpSpPr>
        <p:sp>
          <p:nvSpPr>
            <p:cNvPr id="17" name="object 17"/>
            <p:cNvSpPr/>
            <p:nvPr/>
          </p:nvSpPr>
          <p:spPr>
            <a:xfrm>
              <a:off x="4007809" y="5634666"/>
              <a:ext cx="3328035" cy="0"/>
            </a:xfrm>
            <a:custGeom>
              <a:avLst/>
              <a:gdLst/>
              <a:ahLst/>
              <a:cxnLst/>
              <a:rect l="l" t="t" r="r" b="b"/>
              <a:pathLst>
                <a:path w="3328034">
                  <a:moveTo>
                    <a:pt x="0" y="0"/>
                  </a:moveTo>
                  <a:lnTo>
                    <a:pt x="3327857" y="0"/>
                  </a:lnTo>
                </a:path>
              </a:pathLst>
            </a:custGeom>
            <a:ln w="6350">
              <a:solidFill>
                <a:srgbClr val="231F2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985552" y="5631497"/>
              <a:ext cx="3362960" cy="6350"/>
            </a:xfrm>
            <a:custGeom>
              <a:avLst/>
              <a:gdLst/>
              <a:ahLst/>
              <a:cxnLst/>
              <a:rect l="l" t="t" r="r" b="b"/>
              <a:pathLst>
                <a:path w="3362959" h="6350">
                  <a:moveTo>
                    <a:pt x="6350" y="3175"/>
                  </a:moveTo>
                  <a:lnTo>
                    <a:pt x="5422" y="927"/>
                  </a:lnTo>
                  <a:lnTo>
                    <a:pt x="3175" y="0"/>
                  </a:lnTo>
                  <a:lnTo>
                    <a:pt x="939" y="927"/>
                  </a:lnTo>
                  <a:lnTo>
                    <a:pt x="0" y="3175"/>
                  </a:lnTo>
                  <a:lnTo>
                    <a:pt x="939" y="5422"/>
                  </a:lnTo>
                  <a:lnTo>
                    <a:pt x="3175" y="6350"/>
                  </a:lnTo>
                  <a:lnTo>
                    <a:pt x="5422" y="5422"/>
                  </a:lnTo>
                  <a:lnTo>
                    <a:pt x="6350" y="3175"/>
                  </a:lnTo>
                  <a:close/>
                </a:path>
                <a:path w="3362959" h="6350">
                  <a:moveTo>
                    <a:pt x="3362807" y="3175"/>
                  </a:moveTo>
                  <a:lnTo>
                    <a:pt x="3361880" y="927"/>
                  </a:lnTo>
                  <a:lnTo>
                    <a:pt x="3359632" y="0"/>
                  </a:lnTo>
                  <a:lnTo>
                    <a:pt x="3357397" y="927"/>
                  </a:lnTo>
                  <a:lnTo>
                    <a:pt x="3356457" y="3175"/>
                  </a:lnTo>
                  <a:lnTo>
                    <a:pt x="3357397" y="5422"/>
                  </a:lnTo>
                  <a:lnTo>
                    <a:pt x="3359632" y="6350"/>
                  </a:lnTo>
                  <a:lnTo>
                    <a:pt x="3361880" y="5422"/>
                  </a:lnTo>
                  <a:lnTo>
                    <a:pt x="3362807" y="3175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214138" y="5134921"/>
            <a:ext cx="3147060" cy="492759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  <a:tabLst>
                <a:tab pos="2971165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Physician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Relations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	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23</a:t>
            </a:r>
            <a:endParaRPr sz="1150">
              <a:latin typeface="Avenir Book"/>
              <a:cs typeface="Avenir Book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  <a:tabLst>
                <a:tab pos="2971165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Customer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Business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Associate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Relations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	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23</a:t>
            </a:r>
            <a:endParaRPr sz="1150">
              <a:latin typeface="Avenir Book"/>
              <a:cs typeface="Avenir Book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229599" y="7239000"/>
            <a:ext cx="1530515" cy="1436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50" b="1" spc="-25" dirty="0">
                <a:solidFill>
                  <a:srgbClr val="FFC425"/>
                </a:solidFill>
                <a:latin typeface="Arial"/>
                <a:cs typeface="Arial"/>
              </a:rPr>
              <a:t>VALUES</a:t>
            </a:r>
            <a:r>
              <a:rPr lang="en-US" sz="850" b="1" spc="-15" dirty="0">
                <a:solidFill>
                  <a:srgbClr val="FFC425"/>
                </a:solidFill>
                <a:latin typeface="Arial"/>
                <a:cs typeface="Arial"/>
              </a:rPr>
              <a:t> </a:t>
            </a:r>
            <a:r>
              <a:rPr lang="en-US" sz="850" b="1" dirty="0">
                <a:solidFill>
                  <a:srgbClr val="FFC425"/>
                </a:solidFill>
                <a:latin typeface="Arial"/>
                <a:cs typeface="Arial"/>
              </a:rPr>
              <a:t>LINE</a:t>
            </a:r>
            <a:r>
              <a:rPr lang="en-US" sz="850" b="1" spc="-15" dirty="0">
                <a:solidFill>
                  <a:srgbClr val="FFC425"/>
                </a:solidFill>
                <a:latin typeface="Arial"/>
                <a:cs typeface="Arial"/>
              </a:rPr>
              <a:t> </a:t>
            </a:r>
            <a:r>
              <a:rPr lang="en-US" sz="850" b="1" dirty="0">
                <a:solidFill>
                  <a:srgbClr val="F47720"/>
                </a:solidFill>
                <a:latin typeface="Arial"/>
                <a:cs typeface="Arial"/>
              </a:rPr>
              <a:t>I</a:t>
            </a:r>
            <a:r>
              <a:rPr lang="en-US" sz="850" b="1" spc="-15" dirty="0">
                <a:solidFill>
                  <a:srgbClr val="F47720"/>
                </a:solidFill>
                <a:latin typeface="Arial"/>
                <a:cs typeface="Arial"/>
              </a:rPr>
              <a:t> </a:t>
            </a:r>
            <a:r>
              <a:rPr lang="en-US" sz="850" i="1" spc="-90" dirty="0">
                <a:solidFill>
                  <a:srgbClr val="008BC0"/>
                </a:solidFill>
                <a:latin typeface="Arial"/>
                <a:cs typeface="Arial"/>
              </a:rPr>
              <a:t>833.290.0001   3</a:t>
            </a:r>
            <a:endParaRPr sz="8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910438"/>
            <a:ext cx="2594610" cy="2021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2865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Code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Conduct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highlights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the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connection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between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work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we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do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every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day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our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values. It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provides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examples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what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it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means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live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our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values: Excellence,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Teamwork,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Service,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Compassion,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Trust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Integrity.</a:t>
            </a:r>
            <a:endParaRPr sz="1150" dirty="0">
              <a:latin typeface="Avenir Book"/>
              <a:cs typeface="Avenir Book"/>
            </a:endParaRPr>
          </a:p>
          <a:p>
            <a:pPr marL="12700" marR="5080">
              <a:lnSpc>
                <a:spcPct val="100000"/>
              </a:lnSpc>
              <a:spcBef>
                <a:spcPts val="540"/>
              </a:spcBef>
            </a:pPr>
            <a:r>
              <a:rPr sz="1150" spc="-65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achieve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lang="en-US" sz="1150" dirty="0">
                <a:solidFill>
                  <a:srgbClr val="231F20"/>
                </a:solidFill>
                <a:latin typeface="Avenir Book"/>
                <a:cs typeface="Avenir Book"/>
              </a:rPr>
              <a:t>Destiny Springs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’s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mission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vision,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each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us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must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do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our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part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deliver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extraordinary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care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line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with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law,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lang="en-US" sz="1150" dirty="0">
                <a:solidFill>
                  <a:srgbClr val="231F20"/>
                </a:solidFill>
                <a:latin typeface="Avenir Book"/>
                <a:cs typeface="Avenir Book"/>
              </a:rPr>
              <a:t>Destiny Springs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policies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and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procedures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our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Code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Conduct.</a:t>
            </a:r>
            <a:endParaRPr sz="1150" dirty="0">
              <a:latin typeface="Avenir Book"/>
              <a:cs typeface="Avenir Boo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24276" y="4910438"/>
            <a:ext cx="2586990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This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resource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guide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is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foundation</a:t>
            </a:r>
            <a:r>
              <a:rPr sz="1150" spc="50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our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Ethics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Compliance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program.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It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outlines:</a:t>
            </a:r>
            <a:endParaRPr sz="1150">
              <a:latin typeface="Avenir Book"/>
              <a:cs typeface="Avenir Boo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24276" y="5504798"/>
            <a:ext cx="2482215" cy="970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304165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organization’s</a:t>
            </a:r>
            <a:r>
              <a:rPr sz="1150" spc="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ethical</a:t>
            </a:r>
            <a:r>
              <a:rPr sz="1150" spc="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and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professional</a:t>
            </a:r>
            <a:r>
              <a:rPr sz="1150" spc="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standards.</a:t>
            </a:r>
            <a:endParaRPr sz="1150">
              <a:latin typeface="Avenir Book"/>
              <a:cs typeface="Avenir Book"/>
            </a:endParaRPr>
          </a:p>
          <a:p>
            <a:pPr marL="241300" marR="5080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methods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which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are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available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for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reporting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issues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conflict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with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our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standards.</a:t>
            </a:r>
            <a:endParaRPr sz="1150">
              <a:latin typeface="Avenir Book"/>
              <a:cs typeface="Avenir Boo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35446" y="4910438"/>
            <a:ext cx="2743835" cy="1496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All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employees,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volunteers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and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independent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contractors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are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responsible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for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knowing,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understanding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following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our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Code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Conduct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policies</a:t>
            </a:r>
            <a:r>
              <a:rPr sz="1150" spc="50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procedures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 it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reinforces.</a:t>
            </a:r>
            <a:endParaRPr sz="1150" dirty="0">
              <a:latin typeface="Avenir Book"/>
              <a:cs typeface="Avenir Book"/>
            </a:endParaRPr>
          </a:p>
          <a:p>
            <a:pPr marL="12700" marR="492125">
              <a:lnSpc>
                <a:spcPct val="100000"/>
              </a:lnSpc>
              <a:spcBef>
                <a:spcPts val="540"/>
              </a:spcBef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For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more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information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on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any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topic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presented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this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guide,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refer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endParaRPr sz="1150" dirty="0">
              <a:latin typeface="Avenir Book"/>
              <a:cs typeface="Avenir Book"/>
            </a:endParaRPr>
          </a:p>
          <a:p>
            <a:pPr marL="12700">
              <a:lnSpc>
                <a:spcPct val="100000"/>
              </a:lnSpc>
            </a:pPr>
            <a:r>
              <a:rPr lang="en-US" sz="1150" dirty="0">
                <a:solidFill>
                  <a:srgbClr val="231F20"/>
                </a:solidFill>
                <a:latin typeface="Avenir Book"/>
                <a:cs typeface="Avenir Book"/>
              </a:rPr>
              <a:t>Destiny Springs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’s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policies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procedures.</a:t>
            </a:r>
            <a:endParaRPr sz="1150" dirty="0">
              <a:latin typeface="Avenir Book"/>
              <a:cs typeface="Avenir Book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44500" y="1738585"/>
            <a:ext cx="4170679" cy="1137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380"/>
              </a:lnSpc>
              <a:spcBef>
                <a:spcPts val="100"/>
              </a:spcBef>
            </a:pPr>
            <a:r>
              <a:rPr sz="3800" spc="65" dirty="0">
                <a:solidFill>
                  <a:srgbClr val="008DC4"/>
                </a:solidFill>
              </a:rPr>
              <a:t>What</a:t>
            </a:r>
            <a:r>
              <a:rPr sz="3800" spc="-30" dirty="0">
                <a:solidFill>
                  <a:srgbClr val="008DC4"/>
                </a:solidFill>
              </a:rPr>
              <a:t> </a:t>
            </a:r>
            <a:r>
              <a:rPr sz="3800" spc="-120" dirty="0">
                <a:solidFill>
                  <a:srgbClr val="008DC4"/>
                </a:solidFill>
              </a:rPr>
              <a:t>is</a:t>
            </a:r>
            <a:r>
              <a:rPr sz="3800" spc="-25" dirty="0">
                <a:solidFill>
                  <a:srgbClr val="008DC4"/>
                </a:solidFill>
              </a:rPr>
              <a:t> </a:t>
            </a:r>
            <a:r>
              <a:rPr sz="3800" spc="30" dirty="0">
                <a:solidFill>
                  <a:srgbClr val="008DC4"/>
                </a:solidFill>
              </a:rPr>
              <a:t>the</a:t>
            </a:r>
            <a:endParaRPr sz="3800"/>
          </a:p>
          <a:p>
            <a:pPr marL="12700">
              <a:lnSpc>
                <a:spcPts val="4380"/>
              </a:lnSpc>
            </a:pPr>
            <a:r>
              <a:rPr sz="3800" dirty="0">
                <a:solidFill>
                  <a:srgbClr val="008DC4"/>
                </a:solidFill>
              </a:rPr>
              <a:t>Code</a:t>
            </a:r>
            <a:r>
              <a:rPr sz="3800" spc="20" dirty="0">
                <a:solidFill>
                  <a:srgbClr val="008DC4"/>
                </a:solidFill>
              </a:rPr>
              <a:t> </a:t>
            </a:r>
            <a:r>
              <a:rPr sz="3800" spc="50" dirty="0">
                <a:solidFill>
                  <a:srgbClr val="008DC4"/>
                </a:solidFill>
              </a:rPr>
              <a:t>of</a:t>
            </a:r>
            <a:r>
              <a:rPr sz="3800" spc="20" dirty="0">
                <a:solidFill>
                  <a:srgbClr val="008DC4"/>
                </a:solidFill>
              </a:rPr>
              <a:t> </a:t>
            </a:r>
            <a:r>
              <a:rPr sz="3800" spc="-60" dirty="0">
                <a:solidFill>
                  <a:srgbClr val="008DC4"/>
                </a:solidFill>
              </a:rPr>
              <a:t>Conduct?</a:t>
            </a:r>
            <a:endParaRPr sz="3800"/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444500" y="2988265"/>
            <a:ext cx="4089400" cy="1500411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40"/>
              </a:spcBef>
            </a:pPr>
            <a:r>
              <a:rPr dirty="0"/>
              <a:t>Why</a:t>
            </a:r>
            <a:r>
              <a:rPr spc="-40" dirty="0"/>
              <a:t> </a:t>
            </a:r>
            <a:r>
              <a:rPr spc="-120" dirty="0"/>
              <a:t>is</a:t>
            </a:r>
            <a:r>
              <a:rPr spc="-35" dirty="0"/>
              <a:t> </a:t>
            </a:r>
            <a:r>
              <a:rPr spc="75" dirty="0"/>
              <a:t>it </a:t>
            </a:r>
            <a:r>
              <a:rPr dirty="0"/>
              <a:t>Important</a:t>
            </a:r>
            <a:r>
              <a:rPr spc="240" dirty="0"/>
              <a:t> </a:t>
            </a:r>
            <a:r>
              <a:rPr spc="125" dirty="0"/>
              <a:t>to</a:t>
            </a:r>
            <a:r>
              <a:rPr spc="240" dirty="0"/>
              <a:t> </a:t>
            </a:r>
            <a:r>
              <a:rPr spc="50" dirty="0"/>
              <a:t>Me?</a:t>
            </a:r>
          </a:p>
          <a:p>
            <a:pPr marL="12700" marR="195580">
              <a:lnSpc>
                <a:spcPct val="100000"/>
              </a:lnSpc>
              <a:spcBef>
                <a:spcPts val="615"/>
              </a:spcBef>
            </a:pPr>
            <a:r>
              <a:rPr sz="1800" b="0" i="1" spc="-180" dirty="0">
                <a:solidFill>
                  <a:srgbClr val="F47720"/>
                </a:solidFill>
                <a:latin typeface="+mj-lt"/>
                <a:cs typeface="Arial"/>
              </a:rPr>
              <a:t>Our</a:t>
            </a:r>
            <a:r>
              <a:rPr sz="1800" b="0" i="1" spc="40" dirty="0">
                <a:solidFill>
                  <a:srgbClr val="F47720"/>
                </a:solidFill>
                <a:latin typeface="+mj-lt"/>
                <a:cs typeface="Arial"/>
              </a:rPr>
              <a:t> </a:t>
            </a:r>
            <a:r>
              <a:rPr sz="1800" b="0" i="1" spc="-254" dirty="0">
                <a:solidFill>
                  <a:srgbClr val="F47720"/>
                </a:solidFill>
                <a:latin typeface="+mj-lt"/>
                <a:cs typeface="Arial"/>
              </a:rPr>
              <a:t>values</a:t>
            </a:r>
            <a:r>
              <a:rPr sz="1800" b="0" i="1" spc="40" dirty="0">
                <a:solidFill>
                  <a:srgbClr val="F47720"/>
                </a:solidFill>
                <a:latin typeface="+mj-lt"/>
                <a:cs typeface="Arial"/>
              </a:rPr>
              <a:t> </a:t>
            </a:r>
            <a:r>
              <a:rPr sz="1800" b="0" i="1" spc="-235" dirty="0">
                <a:solidFill>
                  <a:srgbClr val="F47720"/>
                </a:solidFill>
                <a:latin typeface="+mj-lt"/>
                <a:cs typeface="Arial"/>
              </a:rPr>
              <a:t>serve</a:t>
            </a:r>
            <a:r>
              <a:rPr sz="1800" b="0" i="1" spc="40" dirty="0">
                <a:solidFill>
                  <a:srgbClr val="F47720"/>
                </a:solidFill>
                <a:latin typeface="+mj-lt"/>
                <a:cs typeface="Arial"/>
              </a:rPr>
              <a:t> </a:t>
            </a:r>
            <a:r>
              <a:rPr sz="1800" b="0" i="1" spc="-260" dirty="0">
                <a:solidFill>
                  <a:srgbClr val="F47720"/>
                </a:solidFill>
                <a:latin typeface="+mj-lt"/>
                <a:cs typeface="Arial"/>
              </a:rPr>
              <a:t>as</a:t>
            </a:r>
            <a:r>
              <a:rPr sz="1800" b="0" i="1" spc="40" dirty="0">
                <a:solidFill>
                  <a:srgbClr val="F47720"/>
                </a:solidFill>
                <a:latin typeface="+mj-lt"/>
                <a:cs typeface="Arial"/>
              </a:rPr>
              <a:t> </a:t>
            </a:r>
            <a:r>
              <a:rPr sz="1800" b="0" i="1" spc="-210" dirty="0">
                <a:solidFill>
                  <a:srgbClr val="F47720"/>
                </a:solidFill>
                <a:latin typeface="+mj-lt"/>
                <a:cs typeface="Arial"/>
              </a:rPr>
              <a:t>a</a:t>
            </a:r>
            <a:r>
              <a:rPr sz="1800" b="0" i="1" spc="40" dirty="0">
                <a:solidFill>
                  <a:srgbClr val="F47720"/>
                </a:solidFill>
                <a:latin typeface="+mj-lt"/>
                <a:cs typeface="Arial"/>
              </a:rPr>
              <a:t> </a:t>
            </a:r>
            <a:r>
              <a:rPr sz="1800" b="0" i="1" spc="-245" dirty="0">
                <a:solidFill>
                  <a:srgbClr val="F47720"/>
                </a:solidFill>
                <a:latin typeface="+mj-lt"/>
                <a:cs typeface="Arial"/>
              </a:rPr>
              <a:t>guide</a:t>
            </a:r>
            <a:r>
              <a:rPr sz="1800" b="0" i="1" spc="40" dirty="0">
                <a:solidFill>
                  <a:srgbClr val="F47720"/>
                </a:solidFill>
                <a:latin typeface="+mj-lt"/>
                <a:cs typeface="Arial"/>
              </a:rPr>
              <a:t> </a:t>
            </a:r>
            <a:r>
              <a:rPr sz="1800" b="0" i="1" spc="-10" dirty="0">
                <a:solidFill>
                  <a:srgbClr val="F47720"/>
                </a:solidFill>
                <a:latin typeface="+mj-lt"/>
                <a:cs typeface="Arial"/>
              </a:rPr>
              <a:t>for</a:t>
            </a:r>
            <a:r>
              <a:rPr sz="1800" b="0" i="1" spc="40" dirty="0">
                <a:solidFill>
                  <a:srgbClr val="F47720"/>
                </a:solidFill>
                <a:latin typeface="+mj-lt"/>
                <a:cs typeface="Arial"/>
              </a:rPr>
              <a:t> </a:t>
            </a:r>
            <a:r>
              <a:rPr sz="1800" b="0" i="1" spc="-260" dirty="0">
                <a:solidFill>
                  <a:srgbClr val="F47720"/>
                </a:solidFill>
                <a:latin typeface="+mj-lt"/>
                <a:cs typeface="Arial"/>
              </a:rPr>
              <a:t>the</a:t>
            </a:r>
            <a:r>
              <a:rPr sz="1800" b="0" i="1" spc="40" dirty="0">
                <a:solidFill>
                  <a:srgbClr val="F47720"/>
                </a:solidFill>
                <a:latin typeface="+mj-lt"/>
                <a:cs typeface="Arial"/>
              </a:rPr>
              <a:t> </a:t>
            </a:r>
            <a:r>
              <a:rPr sz="1800" b="0" i="1" spc="-240" dirty="0">
                <a:solidFill>
                  <a:srgbClr val="F47720"/>
                </a:solidFill>
                <a:latin typeface="+mj-lt"/>
                <a:cs typeface="Arial"/>
              </a:rPr>
              <a:t>decisions</a:t>
            </a:r>
            <a:r>
              <a:rPr sz="1800" b="0" i="1" spc="40" dirty="0">
                <a:solidFill>
                  <a:srgbClr val="F47720"/>
                </a:solidFill>
                <a:latin typeface="+mj-lt"/>
                <a:cs typeface="Arial"/>
              </a:rPr>
              <a:t> </a:t>
            </a:r>
            <a:r>
              <a:rPr sz="1800" b="0" i="1" spc="-385" dirty="0">
                <a:solidFill>
                  <a:srgbClr val="F47720"/>
                </a:solidFill>
                <a:latin typeface="+mj-lt"/>
                <a:cs typeface="Arial"/>
              </a:rPr>
              <a:t>we</a:t>
            </a:r>
            <a:r>
              <a:rPr sz="1800" b="0" i="1" spc="-295" dirty="0">
                <a:solidFill>
                  <a:srgbClr val="F47720"/>
                </a:solidFill>
                <a:latin typeface="+mj-lt"/>
                <a:cs typeface="Arial"/>
              </a:rPr>
              <a:t> </a:t>
            </a:r>
            <a:r>
              <a:rPr lang="en-US" sz="1800" b="0" i="1" spc="-295" dirty="0">
                <a:solidFill>
                  <a:srgbClr val="F47720"/>
                </a:solidFill>
                <a:latin typeface="+mj-lt"/>
                <a:cs typeface="Arial"/>
              </a:rPr>
              <a:t>   </a:t>
            </a:r>
            <a:r>
              <a:rPr sz="1800" b="0" i="1" spc="-295" dirty="0">
                <a:solidFill>
                  <a:srgbClr val="F47720"/>
                </a:solidFill>
                <a:latin typeface="+mj-lt"/>
                <a:cs typeface="Arial"/>
              </a:rPr>
              <a:t>make.</a:t>
            </a:r>
            <a:endParaRPr sz="1800" dirty="0">
              <a:latin typeface="+mj-lt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298662" y="2587014"/>
            <a:ext cx="845819" cy="1861185"/>
            <a:chOff x="6298662" y="2587014"/>
            <a:chExt cx="845819" cy="1861185"/>
          </a:xfrm>
        </p:grpSpPr>
        <p:sp>
          <p:nvSpPr>
            <p:cNvPr id="9" name="object 9"/>
            <p:cNvSpPr/>
            <p:nvPr/>
          </p:nvSpPr>
          <p:spPr>
            <a:xfrm>
              <a:off x="6298654" y="2587015"/>
              <a:ext cx="845819" cy="1861185"/>
            </a:xfrm>
            <a:custGeom>
              <a:avLst/>
              <a:gdLst/>
              <a:ahLst/>
              <a:cxnLst/>
              <a:rect l="l" t="t" r="r" b="b"/>
              <a:pathLst>
                <a:path w="845820" h="1861185">
                  <a:moveTo>
                    <a:pt x="385813" y="1433601"/>
                  </a:moveTo>
                  <a:lnTo>
                    <a:pt x="343649" y="1431264"/>
                  </a:lnTo>
                  <a:lnTo>
                    <a:pt x="303885" y="1426375"/>
                  </a:lnTo>
                  <a:lnTo>
                    <a:pt x="266661" y="1419390"/>
                  </a:lnTo>
                  <a:lnTo>
                    <a:pt x="232117" y="1410754"/>
                  </a:lnTo>
                  <a:lnTo>
                    <a:pt x="232117" y="1783892"/>
                  </a:lnTo>
                  <a:lnTo>
                    <a:pt x="238150" y="1813801"/>
                  </a:lnTo>
                  <a:lnTo>
                    <a:pt x="254622" y="1838236"/>
                  </a:lnTo>
                  <a:lnTo>
                    <a:pt x="279044" y="1854708"/>
                  </a:lnTo>
                  <a:lnTo>
                    <a:pt x="308965" y="1860740"/>
                  </a:lnTo>
                  <a:lnTo>
                    <a:pt x="338874" y="1854708"/>
                  </a:lnTo>
                  <a:lnTo>
                    <a:pt x="363308" y="1838236"/>
                  </a:lnTo>
                  <a:lnTo>
                    <a:pt x="379768" y="1813801"/>
                  </a:lnTo>
                  <a:lnTo>
                    <a:pt x="385813" y="1783892"/>
                  </a:lnTo>
                  <a:lnTo>
                    <a:pt x="385813" y="1433601"/>
                  </a:lnTo>
                  <a:close/>
                </a:path>
                <a:path w="845820" h="1861185">
                  <a:moveTo>
                    <a:pt x="563714" y="269506"/>
                  </a:moveTo>
                  <a:lnTo>
                    <a:pt x="556450" y="227304"/>
                  </a:lnTo>
                  <a:lnTo>
                    <a:pt x="538873" y="188887"/>
                  </a:lnTo>
                  <a:lnTo>
                    <a:pt x="512165" y="156146"/>
                  </a:lnTo>
                  <a:lnTo>
                    <a:pt x="477507" y="130975"/>
                  </a:lnTo>
                  <a:lnTo>
                    <a:pt x="436092" y="115265"/>
                  </a:lnTo>
                  <a:lnTo>
                    <a:pt x="391985" y="111061"/>
                  </a:lnTo>
                  <a:lnTo>
                    <a:pt x="349770" y="118325"/>
                  </a:lnTo>
                  <a:lnTo>
                    <a:pt x="311353" y="135902"/>
                  </a:lnTo>
                  <a:lnTo>
                    <a:pt x="278612" y="162610"/>
                  </a:lnTo>
                  <a:lnTo>
                    <a:pt x="253441" y="197256"/>
                  </a:lnTo>
                  <a:lnTo>
                    <a:pt x="237744" y="238683"/>
                  </a:lnTo>
                  <a:lnTo>
                    <a:pt x="233527" y="282803"/>
                  </a:lnTo>
                  <a:lnTo>
                    <a:pt x="240792" y="325005"/>
                  </a:lnTo>
                  <a:lnTo>
                    <a:pt x="258368" y="363435"/>
                  </a:lnTo>
                  <a:lnTo>
                    <a:pt x="285076" y="396176"/>
                  </a:lnTo>
                  <a:lnTo>
                    <a:pt x="319735" y="421347"/>
                  </a:lnTo>
                  <a:lnTo>
                    <a:pt x="361175" y="437045"/>
                  </a:lnTo>
                  <a:lnTo>
                    <a:pt x="405282" y="441261"/>
                  </a:lnTo>
                  <a:lnTo>
                    <a:pt x="447484" y="433984"/>
                  </a:lnTo>
                  <a:lnTo>
                    <a:pt x="485902" y="416407"/>
                  </a:lnTo>
                  <a:lnTo>
                    <a:pt x="518642" y="389712"/>
                  </a:lnTo>
                  <a:lnTo>
                    <a:pt x="543801" y="355053"/>
                  </a:lnTo>
                  <a:lnTo>
                    <a:pt x="559511" y="313613"/>
                  </a:lnTo>
                  <a:lnTo>
                    <a:pt x="563714" y="269506"/>
                  </a:lnTo>
                  <a:close/>
                </a:path>
                <a:path w="845820" h="1861185">
                  <a:moveTo>
                    <a:pt x="565137" y="1410754"/>
                  </a:moveTo>
                  <a:lnTo>
                    <a:pt x="530593" y="1419390"/>
                  </a:lnTo>
                  <a:lnTo>
                    <a:pt x="493356" y="1426375"/>
                  </a:lnTo>
                  <a:lnTo>
                    <a:pt x="453593" y="1431264"/>
                  </a:lnTo>
                  <a:lnTo>
                    <a:pt x="411441" y="1433601"/>
                  </a:lnTo>
                  <a:lnTo>
                    <a:pt x="411441" y="1783892"/>
                  </a:lnTo>
                  <a:lnTo>
                    <a:pt x="417474" y="1813801"/>
                  </a:lnTo>
                  <a:lnTo>
                    <a:pt x="433946" y="1838236"/>
                  </a:lnTo>
                  <a:lnTo>
                    <a:pt x="458368" y="1854708"/>
                  </a:lnTo>
                  <a:lnTo>
                    <a:pt x="488289" y="1860740"/>
                  </a:lnTo>
                  <a:lnTo>
                    <a:pt x="518185" y="1854708"/>
                  </a:lnTo>
                  <a:lnTo>
                    <a:pt x="542620" y="1838236"/>
                  </a:lnTo>
                  <a:lnTo>
                    <a:pt x="559092" y="1813801"/>
                  </a:lnTo>
                  <a:lnTo>
                    <a:pt x="565137" y="1783892"/>
                  </a:lnTo>
                  <a:lnTo>
                    <a:pt x="565137" y="1410754"/>
                  </a:lnTo>
                  <a:close/>
                </a:path>
                <a:path w="845820" h="1861185">
                  <a:moveTo>
                    <a:pt x="659892" y="138328"/>
                  </a:moveTo>
                  <a:lnTo>
                    <a:pt x="586663" y="58356"/>
                  </a:lnTo>
                  <a:lnTo>
                    <a:pt x="535038" y="17297"/>
                  </a:lnTo>
                  <a:lnTo>
                    <a:pt x="480529" y="2171"/>
                  </a:lnTo>
                  <a:lnTo>
                    <a:pt x="398627" y="0"/>
                  </a:lnTo>
                  <a:lnTo>
                    <a:pt x="299440" y="21615"/>
                  </a:lnTo>
                  <a:lnTo>
                    <a:pt x="216115" y="69164"/>
                  </a:lnTo>
                  <a:lnTo>
                    <a:pt x="158724" y="116725"/>
                  </a:lnTo>
                  <a:lnTo>
                    <a:pt x="137350" y="138328"/>
                  </a:lnTo>
                  <a:lnTo>
                    <a:pt x="227749" y="217970"/>
                  </a:lnTo>
                  <a:lnTo>
                    <a:pt x="247459" y="177253"/>
                  </a:lnTo>
                  <a:lnTo>
                    <a:pt x="275971" y="143408"/>
                  </a:lnTo>
                  <a:lnTo>
                    <a:pt x="311683" y="117665"/>
                  </a:lnTo>
                  <a:lnTo>
                    <a:pt x="353047" y="101307"/>
                  </a:lnTo>
                  <a:lnTo>
                    <a:pt x="398500" y="95567"/>
                  </a:lnTo>
                  <a:lnTo>
                    <a:pt x="408825" y="95872"/>
                  </a:lnTo>
                  <a:lnTo>
                    <a:pt x="483654" y="116852"/>
                  </a:lnTo>
                  <a:lnTo>
                    <a:pt x="520776" y="143268"/>
                  </a:lnTo>
                  <a:lnTo>
                    <a:pt x="549770" y="177622"/>
                  </a:lnTo>
                  <a:lnTo>
                    <a:pt x="569468" y="217995"/>
                  </a:lnTo>
                  <a:lnTo>
                    <a:pt x="659892" y="138328"/>
                  </a:lnTo>
                  <a:close/>
                </a:path>
                <a:path w="845820" h="1861185">
                  <a:moveTo>
                    <a:pt x="845515" y="1084821"/>
                  </a:moveTo>
                  <a:lnTo>
                    <a:pt x="834961" y="1014552"/>
                  </a:lnTo>
                  <a:lnTo>
                    <a:pt x="822718" y="950048"/>
                  </a:lnTo>
                  <a:lnTo>
                    <a:pt x="808990" y="891032"/>
                  </a:lnTo>
                  <a:lnTo>
                    <a:pt x="793940" y="837272"/>
                  </a:lnTo>
                  <a:lnTo>
                    <a:pt x="777748" y="788530"/>
                  </a:lnTo>
                  <a:lnTo>
                    <a:pt x="760615" y="744524"/>
                  </a:lnTo>
                  <a:lnTo>
                    <a:pt x="742696" y="705027"/>
                  </a:lnTo>
                  <a:lnTo>
                    <a:pt x="724192" y="669785"/>
                  </a:lnTo>
                  <a:lnTo>
                    <a:pt x="715200" y="654913"/>
                  </a:lnTo>
                  <a:lnTo>
                    <a:pt x="705281" y="638530"/>
                  </a:lnTo>
                  <a:lnTo>
                    <a:pt x="681723" y="605523"/>
                  </a:lnTo>
                  <a:lnTo>
                    <a:pt x="620102" y="541070"/>
                  </a:lnTo>
                  <a:lnTo>
                    <a:pt x="578065" y="512686"/>
                  </a:lnTo>
                  <a:lnTo>
                    <a:pt x="524129" y="492239"/>
                  </a:lnTo>
                  <a:lnTo>
                    <a:pt x="523887" y="492239"/>
                  </a:lnTo>
                  <a:lnTo>
                    <a:pt x="523506" y="510260"/>
                  </a:lnTo>
                  <a:lnTo>
                    <a:pt x="523443" y="512686"/>
                  </a:lnTo>
                  <a:lnTo>
                    <a:pt x="511962" y="572262"/>
                  </a:lnTo>
                  <a:lnTo>
                    <a:pt x="469112" y="605523"/>
                  </a:lnTo>
                  <a:lnTo>
                    <a:pt x="439381" y="592861"/>
                  </a:lnTo>
                  <a:lnTo>
                    <a:pt x="419125" y="575919"/>
                  </a:lnTo>
                  <a:lnTo>
                    <a:pt x="419125" y="700608"/>
                  </a:lnTo>
                  <a:lnTo>
                    <a:pt x="419125" y="878649"/>
                  </a:lnTo>
                  <a:lnTo>
                    <a:pt x="417512" y="886637"/>
                  </a:lnTo>
                  <a:lnTo>
                    <a:pt x="413118" y="893152"/>
                  </a:lnTo>
                  <a:lnTo>
                    <a:pt x="406590" y="897534"/>
                  </a:lnTo>
                  <a:lnTo>
                    <a:pt x="398614" y="899147"/>
                  </a:lnTo>
                  <a:lnTo>
                    <a:pt x="397408" y="899147"/>
                  </a:lnTo>
                  <a:lnTo>
                    <a:pt x="396252" y="898994"/>
                  </a:lnTo>
                  <a:lnTo>
                    <a:pt x="395122" y="898804"/>
                  </a:lnTo>
                  <a:lnTo>
                    <a:pt x="378574" y="874395"/>
                  </a:lnTo>
                  <a:lnTo>
                    <a:pt x="381152" y="867943"/>
                  </a:lnTo>
                  <a:lnTo>
                    <a:pt x="419125" y="878649"/>
                  </a:lnTo>
                  <a:lnTo>
                    <a:pt x="419125" y="700608"/>
                  </a:lnTo>
                  <a:lnTo>
                    <a:pt x="417512" y="708583"/>
                  </a:lnTo>
                  <a:lnTo>
                    <a:pt x="413118" y="715098"/>
                  </a:lnTo>
                  <a:lnTo>
                    <a:pt x="406590" y="719493"/>
                  </a:lnTo>
                  <a:lnTo>
                    <a:pt x="398614" y="721106"/>
                  </a:lnTo>
                  <a:lnTo>
                    <a:pt x="390639" y="719493"/>
                  </a:lnTo>
                  <a:lnTo>
                    <a:pt x="384124" y="715098"/>
                  </a:lnTo>
                  <a:lnTo>
                    <a:pt x="379742" y="708583"/>
                  </a:lnTo>
                  <a:lnTo>
                    <a:pt x="378129" y="700608"/>
                  </a:lnTo>
                  <a:lnTo>
                    <a:pt x="379742" y="692632"/>
                  </a:lnTo>
                  <a:lnTo>
                    <a:pt x="384124" y="686130"/>
                  </a:lnTo>
                  <a:lnTo>
                    <a:pt x="390639" y="681736"/>
                  </a:lnTo>
                  <a:lnTo>
                    <a:pt x="398614" y="680123"/>
                  </a:lnTo>
                  <a:lnTo>
                    <a:pt x="406590" y="681736"/>
                  </a:lnTo>
                  <a:lnTo>
                    <a:pt x="413118" y="686130"/>
                  </a:lnTo>
                  <a:lnTo>
                    <a:pt x="417512" y="692632"/>
                  </a:lnTo>
                  <a:lnTo>
                    <a:pt x="419125" y="700608"/>
                  </a:lnTo>
                  <a:lnTo>
                    <a:pt x="419125" y="575919"/>
                  </a:lnTo>
                  <a:lnTo>
                    <a:pt x="416052" y="573341"/>
                  </a:lnTo>
                  <a:lnTo>
                    <a:pt x="406615" y="563232"/>
                  </a:lnTo>
                  <a:lnTo>
                    <a:pt x="482422" y="483628"/>
                  </a:lnTo>
                  <a:lnTo>
                    <a:pt x="463994" y="480783"/>
                  </a:lnTo>
                  <a:lnTo>
                    <a:pt x="443560" y="478332"/>
                  </a:lnTo>
                  <a:lnTo>
                    <a:pt x="421601" y="476605"/>
                  </a:lnTo>
                  <a:lnTo>
                    <a:pt x="398614" y="475907"/>
                  </a:lnTo>
                  <a:lnTo>
                    <a:pt x="375627" y="476605"/>
                  </a:lnTo>
                  <a:lnTo>
                    <a:pt x="353682" y="478332"/>
                  </a:lnTo>
                  <a:lnTo>
                    <a:pt x="333248" y="480783"/>
                  </a:lnTo>
                  <a:lnTo>
                    <a:pt x="314820" y="483628"/>
                  </a:lnTo>
                  <a:lnTo>
                    <a:pt x="390639" y="563232"/>
                  </a:lnTo>
                  <a:lnTo>
                    <a:pt x="357162" y="602183"/>
                  </a:lnTo>
                  <a:lnTo>
                    <a:pt x="336499" y="618490"/>
                  </a:lnTo>
                  <a:lnTo>
                    <a:pt x="320116" y="615137"/>
                  </a:lnTo>
                  <a:lnTo>
                    <a:pt x="299466" y="595122"/>
                  </a:lnTo>
                  <a:lnTo>
                    <a:pt x="285280" y="572262"/>
                  </a:lnTo>
                  <a:lnTo>
                    <a:pt x="277304" y="544614"/>
                  </a:lnTo>
                  <a:lnTo>
                    <a:pt x="273875" y="516496"/>
                  </a:lnTo>
                  <a:lnTo>
                    <a:pt x="273494" y="498741"/>
                  </a:lnTo>
                  <a:lnTo>
                    <a:pt x="273367" y="492963"/>
                  </a:lnTo>
                  <a:lnTo>
                    <a:pt x="273354" y="492239"/>
                  </a:lnTo>
                  <a:lnTo>
                    <a:pt x="270408" y="492963"/>
                  </a:lnTo>
                  <a:lnTo>
                    <a:pt x="268033" y="493585"/>
                  </a:lnTo>
                  <a:lnTo>
                    <a:pt x="231076" y="510260"/>
                  </a:lnTo>
                  <a:lnTo>
                    <a:pt x="197358" y="529602"/>
                  </a:lnTo>
                  <a:lnTo>
                    <a:pt x="158381" y="557390"/>
                  </a:lnTo>
                  <a:lnTo>
                    <a:pt x="118491" y="594664"/>
                  </a:lnTo>
                  <a:lnTo>
                    <a:pt x="82550" y="642632"/>
                  </a:lnTo>
                  <a:lnTo>
                    <a:pt x="56286" y="702246"/>
                  </a:lnTo>
                  <a:lnTo>
                    <a:pt x="46202" y="772731"/>
                  </a:lnTo>
                  <a:lnTo>
                    <a:pt x="46253" y="780186"/>
                  </a:lnTo>
                  <a:lnTo>
                    <a:pt x="53276" y="834351"/>
                  </a:lnTo>
                  <a:lnTo>
                    <a:pt x="66827" y="879208"/>
                  </a:lnTo>
                  <a:lnTo>
                    <a:pt x="87922" y="925804"/>
                  </a:lnTo>
                  <a:lnTo>
                    <a:pt x="116979" y="974153"/>
                  </a:lnTo>
                  <a:lnTo>
                    <a:pt x="154406" y="1024267"/>
                  </a:lnTo>
                  <a:lnTo>
                    <a:pt x="193116" y="1042593"/>
                  </a:lnTo>
                  <a:lnTo>
                    <a:pt x="201434" y="1041908"/>
                  </a:lnTo>
                  <a:lnTo>
                    <a:pt x="237248" y="1015974"/>
                  </a:lnTo>
                  <a:lnTo>
                    <a:pt x="231749" y="961009"/>
                  </a:lnTo>
                  <a:lnTo>
                    <a:pt x="193179" y="908164"/>
                  </a:lnTo>
                  <a:lnTo>
                    <a:pt x="167449" y="861187"/>
                  </a:lnTo>
                  <a:lnTo>
                    <a:pt x="152565" y="819924"/>
                  </a:lnTo>
                  <a:lnTo>
                    <a:pt x="146253" y="780186"/>
                  </a:lnTo>
                  <a:lnTo>
                    <a:pt x="146113" y="772731"/>
                  </a:lnTo>
                  <a:lnTo>
                    <a:pt x="147701" y="750684"/>
                  </a:lnTo>
                  <a:lnTo>
                    <a:pt x="159067" y="711606"/>
                  </a:lnTo>
                  <a:lnTo>
                    <a:pt x="182511" y="673519"/>
                  </a:lnTo>
                  <a:lnTo>
                    <a:pt x="199224" y="654913"/>
                  </a:lnTo>
                  <a:lnTo>
                    <a:pt x="166890" y="813816"/>
                  </a:lnTo>
                  <a:lnTo>
                    <a:pt x="169824" y="824344"/>
                  </a:lnTo>
                  <a:lnTo>
                    <a:pt x="173393" y="835037"/>
                  </a:lnTo>
                  <a:lnTo>
                    <a:pt x="177609" y="845908"/>
                  </a:lnTo>
                  <a:lnTo>
                    <a:pt x="182435" y="856945"/>
                  </a:lnTo>
                  <a:lnTo>
                    <a:pt x="289712" y="784288"/>
                  </a:lnTo>
                  <a:lnTo>
                    <a:pt x="427621" y="987894"/>
                  </a:lnTo>
                  <a:lnTo>
                    <a:pt x="419125" y="993660"/>
                  </a:lnTo>
                  <a:lnTo>
                    <a:pt x="419125" y="1056690"/>
                  </a:lnTo>
                  <a:lnTo>
                    <a:pt x="417512" y="1064666"/>
                  </a:lnTo>
                  <a:lnTo>
                    <a:pt x="413118" y="1071181"/>
                  </a:lnTo>
                  <a:lnTo>
                    <a:pt x="406590" y="1075563"/>
                  </a:lnTo>
                  <a:lnTo>
                    <a:pt x="398614" y="1077175"/>
                  </a:lnTo>
                  <a:lnTo>
                    <a:pt x="390639" y="1075563"/>
                  </a:lnTo>
                  <a:lnTo>
                    <a:pt x="384124" y="1071181"/>
                  </a:lnTo>
                  <a:lnTo>
                    <a:pt x="379742" y="1064666"/>
                  </a:lnTo>
                  <a:lnTo>
                    <a:pt x="378129" y="1056690"/>
                  </a:lnTo>
                  <a:lnTo>
                    <a:pt x="378129" y="1053515"/>
                  </a:lnTo>
                  <a:lnTo>
                    <a:pt x="378904" y="1050544"/>
                  </a:lnTo>
                  <a:lnTo>
                    <a:pt x="380199" y="1047851"/>
                  </a:lnTo>
                  <a:lnTo>
                    <a:pt x="397192" y="1036332"/>
                  </a:lnTo>
                  <a:lnTo>
                    <a:pt x="399313" y="1036332"/>
                  </a:lnTo>
                  <a:lnTo>
                    <a:pt x="406590" y="1037805"/>
                  </a:lnTo>
                  <a:lnTo>
                    <a:pt x="413118" y="1042200"/>
                  </a:lnTo>
                  <a:lnTo>
                    <a:pt x="417512" y="1048715"/>
                  </a:lnTo>
                  <a:lnTo>
                    <a:pt x="419125" y="1056690"/>
                  </a:lnTo>
                  <a:lnTo>
                    <a:pt x="419125" y="993660"/>
                  </a:lnTo>
                  <a:lnTo>
                    <a:pt x="169913" y="1162431"/>
                  </a:lnTo>
                  <a:lnTo>
                    <a:pt x="32016" y="958824"/>
                  </a:lnTo>
                  <a:lnTo>
                    <a:pt x="73355" y="930821"/>
                  </a:lnTo>
                  <a:lnTo>
                    <a:pt x="69710" y="923836"/>
                  </a:lnTo>
                  <a:lnTo>
                    <a:pt x="66294" y="916863"/>
                  </a:lnTo>
                  <a:lnTo>
                    <a:pt x="63119" y="909904"/>
                  </a:lnTo>
                  <a:lnTo>
                    <a:pt x="0" y="952665"/>
                  </a:lnTo>
                  <a:lnTo>
                    <a:pt x="106603" y="1110068"/>
                  </a:lnTo>
                  <a:lnTo>
                    <a:pt x="65608" y="1311567"/>
                  </a:lnTo>
                  <a:lnTo>
                    <a:pt x="145008" y="1368907"/>
                  </a:lnTo>
                  <a:lnTo>
                    <a:pt x="206159" y="1398346"/>
                  </a:lnTo>
                  <a:lnTo>
                    <a:pt x="280289" y="1409192"/>
                  </a:lnTo>
                  <a:lnTo>
                    <a:pt x="398614" y="1410741"/>
                  </a:lnTo>
                  <a:lnTo>
                    <a:pt x="535495" y="1395247"/>
                  </a:lnTo>
                  <a:lnTo>
                    <a:pt x="640549" y="1361160"/>
                  </a:lnTo>
                  <a:lnTo>
                    <a:pt x="707885" y="1327061"/>
                  </a:lnTo>
                  <a:lnTo>
                    <a:pt x="731634" y="1311567"/>
                  </a:lnTo>
                  <a:lnTo>
                    <a:pt x="701294" y="1162431"/>
                  </a:lnTo>
                  <a:lnTo>
                    <a:pt x="683945" y="1077175"/>
                  </a:lnTo>
                  <a:lnTo>
                    <a:pt x="675627" y="1036332"/>
                  </a:lnTo>
                  <a:lnTo>
                    <a:pt x="647712" y="899147"/>
                  </a:lnTo>
                  <a:lnTo>
                    <a:pt x="639368" y="858151"/>
                  </a:lnTo>
                  <a:lnTo>
                    <a:pt x="624471" y="784910"/>
                  </a:lnTo>
                  <a:lnTo>
                    <a:pt x="624344" y="784288"/>
                  </a:lnTo>
                  <a:lnTo>
                    <a:pt x="611479" y="721106"/>
                  </a:lnTo>
                  <a:lnTo>
                    <a:pt x="603135" y="680123"/>
                  </a:lnTo>
                  <a:lnTo>
                    <a:pt x="599528" y="662381"/>
                  </a:lnTo>
                  <a:lnTo>
                    <a:pt x="600138" y="663155"/>
                  </a:lnTo>
                  <a:lnTo>
                    <a:pt x="600748" y="663829"/>
                  </a:lnTo>
                  <a:lnTo>
                    <a:pt x="636841" y="718261"/>
                  </a:lnTo>
                  <a:lnTo>
                    <a:pt x="654888" y="752944"/>
                  </a:lnTo>
                  <a:lnTo>
                    <a:pt x="672706" y="793445"/>
                  </a:lnTo>
                  <a:lnTo>
                    <a:pt x="689940" y="840181"/>
                  </a:lnTo>
                  <a:lnTo>
                    <a:pt x="706259" y="893572"/>
                  </a:lnTo>
                  <a:lnTo>
                    <a:pt x="721347" y="954036"/>
                  </a:lnTo>
                  <a:lnTo>
                    <a:pt x="734860" y="1021994"/>
                  </a:lnTo>
                  <a:lnTo>
                    <a:pt x="746467" y="1097876"/>
                  </a:lnTo>
                  <a:lnTo>
                    <a:pt x="752132" y="1115263"/>
                  </a:lnTo>
                  <a:lnTo>
                    <a:pt x="763193" y="1129017"/>
                  </a:lnTo>
                  <a:lnTo>
                    <a:pt x="778256" y="1138072"/>
                  </a:lnTo>
                  <a:lnTo>
                    <a:pt x="795934" y="1141323"/>
                  </a:lnTo>
                  <a:lnTo>
                    <a:pt x="798106" y="1141323"/>
                  </a:lnTo>
                  <a:lnTo>
                    <a:pt x="835634" y="1121752"/>
                  </a:lnTo>
                  <a:lnTo>
                    <a:pt x="844169" y="1104607"/>
                  </a:lnTo>
                  <a:lnTo>
                    <a:pt x="845515" y="1084821"/>
                  </a:lnTo>
                  <a:close/>
                </a:path>
              </a:pathLst>
            </a:custGeom>
            <a:solidFill>
              <a:srgbClr val="F477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06424" y="3445172"/>
              <a:ext cx="149398" cy="166336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5307197" y="2682415"/>
            <a:ext cx="833755" cy="1763395"/>
            <a:chOff x="5307197" y="2682415"/>
            <a:chExt cx="833755" cy="176339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34384" y="3987511"/>
              <a:ext cx="96634" cy="25272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359400" y="3059264"/>
              <a:ext cx="779145" cy="1386840"/>
            </a:xfrm>
            <a:custGeom>
              <a:avLst/>
              <a:gdLst/>
              <a:ahLst/>
              <a:cxnLst/>
              <a:rect l="l" t="t" r="r" b="b"/>
              <a:pathLst>
                <a:path w="779145" h="1386839">
                  <a:moveTo>
                    <a:pt x="372338" y="976274"/>
                  </a:moveTo>
                  <a:lnTo>
                    <a:pt x="324104" y="973734"/>
                  </a:lnTo>
                  <a:lnTo>
                    <a:pt x="276923" y="968578"/>
                  </a:lnTo>
                  <a:lnTo>
                    <a:pt x="231508" y="961237"/>
                  </a:lnTo>
                  <a:lnTo>
                    <a:pt x="188518" y="952131"/>
                  </a:lnTo>
                  <a:lnTo>
                    <a:pt x="188518" y="1294307"/>
                  </a:lnTo>
                  <a:lnTo>
                    <a:pt x="195745" y="1330096"/>
                  </a:lnTo>
                  <a:lnTo>
                    <a:pt x="215442" y="1359306"/>
                  </a:lnTo>
                  <a:lnTo>
                    <a:pt x="244652" y="1379004"/>
                  </a:lnTo>
                  <a:lnTo>
                    <a:pt x="280416" y="1386217"/>
                  </a:lnTo>
                  <a:lnTo>
                    <a:pt x="308546" y="1381836"/>
                  </a:lnTo>
                  <a:lnTo>
                    <a:pt x="352818" y="1350810"/>
                  </a:lnTo>
                  <a:lnTo>
                    <a:pt x="370751" y="1311135"/>
                  </a:lnTo>
                  <a:lnTo>
                    <a:pt x="372338" y="1294307"/>
                  </a:lnTo>
                  <a:lnTo>
                    <a:pt x="372338" y="976274"/>
                  </a:lnTo>
                  <a:close/>
                </a:path>
                <a:path w="779145" h="1386839">
                  <a:moveTo>
                    <a:pt x="590613" y="952131"/>
                  </a:moveTo>
                  <a:lnTo>
                    <a:pt x="547624" y="961250"/>
                  </a:lnTo>
                  <a:lnTo>
                    <a:pt x="502208" y="968590"/>
                  </a:lnTo>
                  <a:lnTo>
                    <a:pt x="455041" y="973734"/>
                  </a:lnTo>
                  <a:lnTo>
                    <a:pt x="406793" y="976274"/>
                  </a:lnTo>
                  <a:lnTo>
                    <a:pt x="406793" y="1294307"/>
                  </a:lnTo>
                  <a:lnTo>
                    <a:pt x="414020" y="1330096"/>
                  </a:lnTo>
                  <a:lnTo>
                    <a:pt x="433717" y="1359306"/>
                  </a:lnTo>
                  <a:lnTo>
                    <a:pt x="462927" y="1379004"/>
                  </a:lnTo>
                  <a:lnTo>
                    <a:pt x="498703" y="1386217"/>
                  </a:lnTo>
                  <a:lnTo>
                    <a:pt x="534466" y="1379004"/>
                  </a:lnTo>
                  <a:lnTo>
                    <a:pt x="563689" y="1359306"/>
                  </a:lnTo>
                  <a:lnTo>
                    <a:pt x="583387" y="1330096"/>
                  </a:lnTo>
                  <a:lnTo>
                    <a:pt x="590613" y="1294307"/>
                  </a:lnTo>
                  <a:lnTo>
                    <a:pt x="590613" y="952131"/>
                  </a:lnTo>
                  <a:close/>
                </a:path>
                <a:path w="779145" h="1386839">
                  <a:moveTo>
                    <a:pt x="779106" y="577494"/>
                  </a:moveTo>
                  <a:lnTo>
                    <a:pt x="775004" y="505663"/>
                  </a:lnTo>
                  <a:lnTo>
                    <a:pt x="769124" y="440207"/>
                  </a:lnTo>
                  <a:lnTo>
                    <a:pt x="761619" y="380796"/>
                  </a:lnTo>
                  <a:lnTo>
                    <a:pt x="752665" y="327279"/>
                  </a:lnTo>
                  <a:lnTo>
                    <a:pt x="742327" y="278765"/>
                  </a:lnTo>
                  <a:lnTo>
                    <a:pt x="730872" y="235483"/>
                  </a:lnTo>
                  <a:lnTo>
                    <a:pt x="718388" y="196926"/>
                  </a:lnTo>
                  <a:lnTo>
                    <a:pt x="714159" y="186105"/>
                  </a:lnTo>
                  <a:lnTo>
                    <a:pt x="711631" y="179628"/>
                  </a:lnTo>
                  <a:lnTo>
                    <a:pt x="690994" y="132626"/>
                  </a:lnTo>
                  <a:lnTo>
                    <a:pt x="655142" y="75234"/>
                  </a:lnTo>
                  <a:lnTo>
                    <a:pt x="611720" y="31521"/>
                  </a:lnTo>
                  <a:lnTo>
                    <a:pt x="577570" y="11087"/>
                  </a:lnTo>
                  <a:lnTo>
                    <a:pt x="545553" y="1384"/>
                  </a:lnTo>
                  <a:lnTo>
                    <a:pt x="541553" y="508"/>
                  </a:lnTo>
                  <a:lnTo>
                    <a:pt x="537425" y="0"/>
                  </a:lnTo>
                  <a:lnTo>
                    <a:pt x="483806" y="0"/>
                  </a:lnTo>
                  <a:lnTo>
                    <a:pt x="478815" y="41998"/>
                  </a:lnTo>
                  <a:lnTo>
                    <a:pt x="466699" y="88201"/>
                  </a:lnTo>
                  <a:lnTo>
                    <a:pt x="450049" y="135216"/>
                  </a:lnTo>
                  <a:lnTo>
                    <a:pt x="431507" y="179628"/>
                  </a:lnTo>
                  <a:lnTo>
                    <a:pt x="420243" y="96672"/>
                  </a:lnTo>
                  <a:lnTo>
                    <a:pt x="419493" y="91173"/>
                  </a:lnTo>
                  <a:lnTo>
                    <a:pt x="412140" y="93560"/>
                  </a:lnTo>
                  <a:lnTo>
                    <a:pt x="404698" y="95288"/>
                  </a:lnTo>
                  <a:lnTo>
                    <a:pt x="397154" y="96329"/>
                  </a:lnTo>
                  <a:lnTo>
                    <a:pt x="389610" y="96672"/>
                  </a:lnTo>
                  <a:lnTo>
                    <a:pt x="381939" y="96329"/>
                  </a:lnTo>
                  <a:lnTo>
                    <a:pt x="374396" y="95288"/>
                  </a:lnTo>
                  <a:lnTo>
                    <a:pt x="366941" y="93560"/>
                  </a:lnTo>
                  <a:lnTo>
                    <a:pt x="359625" y="91173"/>
                  </a:lnTo>
                  <a:lnTo>
                    <a:pt x="347611" y="179628"/>
                  </a:lnTo>
                  <a:lnTo>
                    <a:pt x="329069" y="135216"/>
                  </a:lnTo>
                  <a:lnTo>
                    <a:pt x="314782" y="94843"/>
                  </a:lnTo>
                  <a:lnTo>
                    <a:pt x="314782" y="702094"/>
                  </a:lnTo>
                  <a:lnTo>
                    <a:pt x="310718" y="731558"/>
                  </a:lnTo>
                  <a:lnTo>
                    <a:pt x="178168" y="713282"/>
                  </a:lnTo>
                  <a:lnTo>
                    <a:pt x="182232" y="683844"/>
                  </a:lnTo>
                  <a:lnTo>
                    <a:pt x="314782" y="702094"/>
                  </a:lnTo>
                  <a:lnTo>
                    <a:pt x="314782" y="94843"/>
                  </a:lnTo>
                  <a:lnTo>
                    <a:pt x="312432" y="88201"/>
                  </a:lnTo>
                  <a:lnTo>
                    <a:pt x="300304" y="41998"/>
                  </a:lnTo>
                  <a:lnTo>
                    <a:pt x="295478" y="1384"/>
                  </a:lnTo>
                  <a:lnTo>
                    <a:pt x="295376" y="508"/>
                  </a:lnTo>
                  <a:lnTo>
                    <a:pt x="295313" y="0"/>
                  </a:lnTo>
                  <a:lnTo>
                    <a:pt x="241719" y="0"/>
                  </a:lnTo>
                  <a:lnTo>
                    <a:pt x="237591" y="508"/>
                  </a:lnTo>
                  <a:lnTo>
                    <a:pt x="233603" y="1384"/>
                  </a:lnTo>
                  <a:lnTo>
                    <a:pt x="224459" y="3225"/>
                  </a:lnTo>
                  <a:lnTo>
                    <a:pt x="188302" y="17767"/>
                  </a:lnTo>
                  <a:lnTo>
                    <a:pt x="156591" y="40360"/>
                  </a:lnTo>
                  <a:lnTo>
                    <a:pt x="124028" y="75234"/>
                  </a:lnTo>
                  <a:lnTo>
                    <a:pt x="92392" y="124269"/>
                  </a:lnTo>
                  <a:lnTo>
                    <a:pt x="63347" y="189585"/>
                  </a:lnTo>
                  <a:lnTo>
                    <a:pt x="41287" y="260756"/>
                  </a:lnTo>
                  <a:lnTo>
                    <a:pt x="31521" y="302171"/>
                  </a:lnTo>
                  <a:lnTo>
                    <a:pt x="22745" y="347802"/>
                  </a:lnTo>
                  <a:lnTo>
                    <a:pt x="15087" y="397903"/>
                  </a:lnTo>
                  <a:lnTo>
                    <a:pt x="8661" y="452716"/>
                  </a:lnTo>
                  <a:lnTo>
                    <a:pt x="3581" y="512495"/>
                  </a:lnTo>
                  <a:lnTo>
                    <a:pt x="1308" y="553377"/>
                  </a:lnTo>
                  <a:lnTo>
                    <a:pt x="0" y="577494"/>
                  </a:lnTo>
                  <a:lnTo>
                    <a:pt x="15506" y="583615"/>
                  </a:lnTo>
                  <a:lnTo>
                    <a:pt x="53936" y="594093"/>
                  </a:lnTo>
                  <a:lnTo>
                    <a:pt x="101612" y="602907"/>
                  </a:lnTo>
                  <a:lnTo>
                    <a:pt x="122351" y="448386"/>
                  </a:lnTo>
                  <a:lnTo>
                    <a:pt x="142811" y="315048"/>
                  </a:lnTo>
                  <a:lnTo>
                    <a:pt x="158419" y="221437"/>
                  </a:lnTo>
                  <a:lnTo>
                    <a:pt x="164642" y="186105"/>
                  </a:lnTo>
                  <a:lnTo>
                    <a:pt x="182448" y="186105"/>
                  </a:lnTo>
                  <a:lnTo>
                    <a:pt x="178727" y="209638"/>
                  </a:lnTo>
                  <a:lnTo>
                    <a:pt x="173774" y="241731"/>
                  </a:lnTo>
                  <a:lnTo>
                    <a:pt x="167830" y="281305"/>
                  </a:lnTo>
                  <a:lnTo>
                    <a:pt x="161150" y="327088"/>
                  </a:lnTo>
                  <a:lnTo>
                    <a:pt x="153911" y="378548"/>
                  </a:lnTo>
                  <a:lnTo>
                    <a:pt x="146431" y="434060"/>
                  </a:lnTo>
                  <a:lnTo>
                    <a:pt x="138912" y="492696"/>
                  </a:lnTo>
                  <a:lnTo>
                    <a:pt x="131622" y="553377"/>
                  </a:lnTo>
                  <a:lnTo>
                    <a:pt x="124790" y="615035"/>
                  </a:lnTo>
                  <a:lnTo>
                    <a:pt x="118643" y="676554"/>
                  </a:lnTo>
                  <a:lnTo>
                    <a:pt x="113449" y="736879"/>
                  </a:lnTo>
                  <a:lnTo>
                    <a:pt x="109435" y="794905"/>
                  </a:lnTo>
                  <a:lnTo>
                    <a:pt x="106857" y="849541"/>
                  </a:lnTo>
                  <a:lnTo>
                    <a:pt x="105943" y="899718"/>
                  </a:lnTo>
                  <a:lnTo>
                    <a:pt x="141668" y="914450"/>
                  </a:lnTo>
                  <a:lnTo>
                    <a:pt x="183629" y="928357"/>
                  </a:lnTo>
                  <a:lnTo>
                    <a:pt x="230593" y="940600"/>
                  </a:lnTo>
                  <a:lnTo>
                    <a:pt x="281381" y="950379"/>
                  </a:lnTo>
                  <a:lnTo>
                    <a:pt x="334772" y="956843"/>
                  </a:lnTo>
                  <a:lnTo>
                    <a:pt x="389559" y="959180"/>
                  </a:lnTo>
                  <a:lnTo>
                    <a:pt x="444347" y="956843"/>
                  </a:lnTo>
                  <a:lnTo>
                    <a:pt x="497725" y="950379"/>
                  </a:lnTo>
                  <a:lnTo>
                    <a:pt x="548513" y="940600"/>
                  </a:lnTo>
                  <a:lnTo>
                    <a:pt x="595490" y="928357"/>
                  </a:lnTo>
                  <a:lnTo>
                    <a:pt x="637438" y="914450"/>
                  </a:lnTo>
                  <a:lnTo>
                    <a:pt x="673176" y="899718"/>
                  </a:lnTo>
                  <a:lnTo>
                    <a:pt x="672261" y="849541"/>
                  </a:lnTo>
                  <a:lnTo>
                    <a:pt x="669671" y="794905"/>
                  </a:lnTo>
                  <a:lnTo>
                    <a:pt x="665670" y="736879"/>
                  </a:lnTo>
                  <a:lnTo>
                    <a:pt x="665213" y="731558"/>
                  </a:lnTo>
                  <a:lnTo>
                    <a:pt x="661098" y="683844"/>
                  </a:lnTo>
                  <a:lnTo>
                    <a:pt x="660476" y="676554"/>
                  </a:lnTo>
                  <a:lnTo>
                    <a:pt x="654329" y="615035"/>
                  </a:lnTo>
                  <a:lnTo>
                    <a:pt x="647496" y="553377"/>
                  </a:lnTo>
                  <a:lnTo>
                    <a:pt x="640207" y="492696"/>
                  </a:lnTo>
                  <a:lnTo>
                    <a:pt x="632701" y="434060"/>
                  </a:lnTo>
                  <a:lnTo>
                    <a:pt x="625208" y="378548"/>
                  </a:lnTo>
                  <a:lnTo>
                    <a:pt x="617994" y="327279"/>
                  </a:lnTo>
                  <a:lnTo>
                    <a:pt x="611301" y="281305"/>
                  </a:lnTo>
                  <a:lnTo>
                    <a:pt x="605345" y="241731"/>
                  </a:lnTo>
                  <a:lnTo>
                    <a:pt x="600964" y="213347"/>
                  </a:lnTo>
                  <a:lnTo>
                    <a:pt x="600964" y="713282"/>
                  </a:lnTo>
                  <a:lnTo>
                    <a:pt x="468414" y="731558"/>
                  </a:lnTo>
                  <a:lnTo>
                    <a:pt x="464350" y="702094"/>
                  </a:lnTo>
                  <a:lnTo>
                    <a:pt x="596900" y="683844"/>
                  </a:lnTo>
                  <a:lnTo>
                    <a:pt x="600964" y="713282"/>
                  </a:lnTo>
                  <a:lnTo>
                    <a:pt x="600964" y="213347"/>
                  </a:lnTo>
                  <a:lnTo>
                    <a:pt x="600392" y="209638"/>
                  </a:lnTo>
                  <a:lnTo>
                    <a:pt x="596684" y="186105"/>
                  </a:lnTo>
                  <a:lnTo>
                    <a:pt x="614476" y="186105"/>
                  </a:lnTo>
                  <a:lnTo>
                    <a:pt x="636384" y="307886"/>
                  </a:lnTo>
                  <a:lnTo>
                    <a:pt x="650265" y="391883"/>
                  </a:lnTo>
                  <a:lnTo>
                    <a:pt x="662000" y="477202"/>
                  </a:lnTo>
                  <a:lnTo>
                    <a:pt x="677379" y="601891"/>
                  </a:lnTo>
                  <a:lnTo>
                    <a:pt x="677506" y="602907"/>
                  </a:lnTo>
                  <a:lnTo>
                    <a:pt x="725284" y="594093"/>
                  </a:lnTo>
                  <a:lnTo>
                    <a:pt x="763625" y="583615"/>
                  </a:lnTo>
                  <a:lnTo>
                    <a:pt x="779106" y="577494"/>
                  </a:lnTo>
                  <a:close/>
                </a:path>
              </a:pathLst>
            </a:custGeom>
            <a:solidFill>
              <a:srgbClr val="F477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8696" y="3652694"/>
              <a:ext cx="102196" cy="13779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06592" y="3059903"/>
              <a:ext cx="84734" cy="7372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307190" y="2682417"/>
              <a:ext cx="609600" cy="1480820"/>
            </a:xfrm>
            <a:custGeom>
              <a:avLst/>
              <a:gdLst/>
              <a:ahLst/>
              <a:cxnLst/>
              <a:rect l="l" t="t" r="r" b="b"/>
              <a:pathLst>
                <a:path w="609600" h="1480820">
                  <a:moveTo>
                    <a:pt x="152044" y="994524"/>
                  </a:moveTo>
                  <a:lnTo>
                    <a:pt x="104622" y="985812"/>
                  </a:lnTo>
                  <a:lnTo>
                    <a:pt x="51562" y="970267"/>
                  </a:lnTo>
                  <a:lnTo>
                    <a:pt x="50457" y="1008367"/>
                  </a:lnTo>
                  <a:lnTo>
                    <a:pt x="49847" y="1048143"/>
                  </a:lnTo>
                  <a:lnTo>
                    <a:pt x="60998" y="1083183"/>
                  </a:lnTo>
                  <a:lnTo>
                    <a:pt x="56654" y="1088847"/>
                  </a:lnTo>
                  <a:lnTo>
                    <a:pt x="42837" y="1136815"/>
                  </a:lnTo>
                  <a:lnTo>
                    <a:pt x="40462" y="1177366"/>
                  </a:lnTo>
                  <a:lnTo>
                    <a:pt x="40716" y="1191691"/>
                  </a:lnTo>
                  <a:lnTo>
                    <a:pt x="41427" y="1206309"/>
                  </a:lnTo>
                  <a:lnTo>
                    <a:pt x="42570" y="1221143"/>
                  </a:lnTo>
                  <a:lnTo>
                    <a:pt x="44094" y="1236065"/>
                  </a:lnTo>
                  <a:lnTo>
                    <a:pt x="37134" y="1240256"/>
                  </a:lnTo>
                  <a:lnTo>
                    <a:pt x="9956" y="1298879"/>
                  </a:lnTo>
                  <a:lnTo>
                    <a:pt x="3416" y="1346339"/>
                  </a:lnTo>
                  <a:lnTo>
                    <a:pt x="673" y="1396098"/>
                  </a:lnTo>
                  <a:lnTo>
                    <a:pt x="0" y="1441805"/>
                  </a:lnTo>
                  <a:lnTo>
                    <a:pt x="190" y="1480388"/>
                  </a:lnTo>
                  <a:lnTo>
                    <a:pt x="22491" y="1480388"/>
                  </a:lnTo>
                  <a:lnTo>
                    <a:pt x="22301" y="1441805"/>
                  </a:lnTo>
                  <a:lnTo>
                    <a:pt x="22555" y="1412570"/>
                  </a:lnTo>
                  <a:lnTo>
                    <a:pt x="25666" y="1348244"/>
                  </a:lnTo>
                  <a:lnTo>
                    <a:pt x="31788" y="1303299"/>
                  </a:lnTo>
                  <a:lnTo>
                    <a:pt x="47802" y="1258443"/>
                  </a:lnTo>
                  <a:lnTo>
                    <a:pt x="52705" y="1255395"/>
                  </a:lnTo>
                  <a:lnTo>
                    <a:pt x="56870" y="1255522"/>
                  </a:lnTo>
                  <a:lnTo>
                    <a:pt x="61023" y="1255395"/>
                  </a:lnTo>
                  <a:lnTo>
                    <a:pt x="79463" y="1292212"/>
                  </a:lnTo>
                  <a:lnTo>
                    <a:pt x="88455" y="1353350"/>
                  </a:lnTo>
                  <a:lnTo>
                    <a:pt x="91262" y="1414284"/>
                  </a:lnTo>
                  <a:lnTo>
                    <a:pt x="91262" y="1480388"/>
                  </a:lnTo>
                  <a:lnTo>
                    <a:pt x="113550" y="1480388"/>
                  </a:lnTo>
                  <a:lnTo>
                    <a:pt x="113728" y="1441805"/>
                  </a:lnTo>
                  <a:lnTo>
                    <a:pt x="113563" y="1416964"/>
                  </a:lnTo>
                  <a:lnTo>
                    <a:pt x="112877" y="1389849"/>
                  </a:lnTo>
                  <a:lnTo>
                    <a:pt x="108254" y="1326984"/>
                  </a:lnTo>
                  <a:lnTo>
                    <a:pt x="100558" y="1284744"/>
                  </a:lnTo>
                  <a:lnTo>
                    <a:pt x="80784" y="1242910"/>
                  </a:lnTo>
                  <a:lnTo>
                    <a:pt x="66395" y="1234846"/>
                  </a:lnTo>
                  <a:lnTo>
                    <a:pt x="64858" y="1220152"/>
                  </a:lnTo>
                  <a:lnTo>
                    <a:pt x="63715" y="1205585"/>
                  </a:lnTo>
                  <a:lnTo>
                    <a:pt x="63017" y="1191285"/>
                  </a:lnTo>
                  <a:lnTo>
                    <a:pt x="62776" y="1177366"/>
                  </a:lnTo>
                  <a:lnTo>
                    <a:pt x="63309" y="1157732"/>
                  </a:lnTo>
                  <a:lnTo>
                    <a:pt x="71653" y="1110272"/>
                  </a:lnTo>
                  <a:lnTo>
                    <a:pt x="77368" y="1098702"/>
                  </a:lnTo>
                  <a:lnTo>
                    <a:pt x="82778" y="1102169"/>
                  </a:lnTo>
                  <a:lnTo>
                    <a:pt x="88785" y="1104785"/>
                  </a:lnTo>
                  <a:lnTo>
                    <a:pt x="99593" y="1107414"/>
                  </a:lnTo>
                  <a:lnTo>
                    <a:pt x="104127" y="1108049"/>
                  </a:lnTo>
                  <a:lnTo>
                    <a:pt x="111950" y="1108087"/>
                  </a:lnTo>
                  <a:lnTo>
                    <a:pt x="117043" y="1107541"/>
                  </a:lnTo>
                  <a:lnTo>
                    <a:pt x="122123" y="1117206"/>
                  </a:lnTo>
                  <a:lnTo>
                    <a:pt x="126974" y="1128623"/>
                  </a:lnTo>
                  <a:lnTo>
                    <a:pt x="131546" y="1141615"/>
                  </a:lnTo>
                  <a:lnTo>
                    <a:pt x="135801" y="1155992"/>
                  </a:lnTo>
                  <a:lnTo>
                    <a:pt x="140309" y="1103604"/>
                  </a:lnTo>
                  <a:lnTo>
                    <a:pt x="138582" y="1100353"/>
                  </a:lnTo>
                  <a:lnTo>
                    <a:pt x="140754" y="1099045"/>
                  </a:lnTo>
                  <a:lnTo>
                    <a:pt x="146062" y="1047064"/>
                  </a:lnTo>
                  <a:lnTo>
                    <a:pt x="152044" y="994524"/>
                  </a:lnTo>
                  <a:close/>
                </a:path>
                <a:path w="609600" h="1480820">
                  <a:moveTo>
                    <a:pt x="513588" y="16179"/>
                  </a:moveTo>
                  <a:lnTo>
                    <a:pt x="496811" y="9283"/>
                  </a:lnTo>
                  <a:lnTo>
                    <a:pt x="479171" y="4203"/>
                  </a:lnTo>
                  <a:lnTo>
                    <a:pt x="460781" y="1079"/>
                  </a:lnTo>
                  <a:lnTo>
                    <a:pt x="441769" y="0"/>
                  </a:lnTo>
                  <a:lnTo>
                    <a:pt x="406819" y="3670"/>
                  </a:lnTo>
                  <a:lnTo>
                    <a:pt x="374396" y="14147"/>
                  </a:lnTo>
                  <a:lnTo>
                    <a:pt x="345249" y="30695"/>
                  </a:lnTo>
                  <a:lnTo>
                    <a:pt x="320116" y="52539"/>
                  </a:lnTo>
                  <a:lnTo>
                    <a:pt x="490220" y="52539"/>
                  </a:lnTo>
                  <a:lnTo>
                    <a:pt x="493509" y="41821"/>
                  </a:lnTo>
                  <a:lnTo>
                    <a:pt x="498652" y="32067"/>
                  </a:lnTo>
                  <a:lnTo>
                    <a:pt x="505409" y="23456"/>
                  </a:lnTo>
                  <a:lnTo>
                    <a:pt x="513588" y="16179"/>
                  </a:lnTo>
                  <a:close/>
                </a:path>
                <a:path w="609600" h="1480820">
                  <a:moveTo>
                    <a:pt x="609028" y="167259"/>
                  </a:moveTo>
                  <a:lnTo>
                    <a:pt x="608190" y="150558"/>
                  </a:lnTo>
                  <a:lnTo>
                    <a:pt x="605764" y="134340"/>
                  </a:lnTo>
                  <a:lnTo>
                    <a:pt x="601827" y="118656"/>
                  </a:lnTo>
                  <a:lnTo>
                    <a:pt x="596455" y="103606"/>
                  </a:lnTo>
                  <a:lnTo>
                    <a:pt x="587095" y="112725"/>
                  </a:lnTo>
                  <a:lnTo>
                    <a:pt x="575945" y="119672"/>
                  </a:lnTo>
                  <a:lnTo>
                    <a:pt x="563346" y="124091"/>
                  </a:lnTo>
                  <a:lnTo>
                    <a:pt x="549668" y="125641"/>
                  </a:lnTo>
                  <a:lnTo>
                    <a:pt x="531279" y="122796"/>
                  </a:lnTo>
                  <a:lnTo>
                    <a:pt x="515162" y="114871"/>
                  </a:lnTo>
                  <a:lnTo>
                    <a:pt x="502196" y="102730"/>
                  </a:lnTo>
                  <a:lnTo>
                    <a:pt x="493229" y="87249"/>
                  </a:lnTo>
                  <a:lnTo>
                    <a:pt x="294881" y="87249"/>
                  </a:lnTo>
                  <a:lnTo>
                    <a:pt x="286219" y="105702"/>
                  </a:lnTo>
                  <a:lnTo>
                    <a:pt x="279831" y="125285"/>
                  </a:lnTo>
                  <a:lnTo>
                    <a:pt x="275869" y="145872"/>
                  </a:lnTo>
                  <a:lnTo>
                    <a:pt x="274523" y="167259"/>
                  </a:lnTo>
                  <a:lnTo>
                    <a:pt x="280492" y="211721"/>
                  </a:lnTo>
                  <a:lnTo>
                    <a:pt x="297357" y="251675"/>
                  </a:lnTo>
                  <a:lnTo>
                    <a:pt x="323507" y="285521"/>
                  </a:lnTo>
                  <a:lnTo>
                    <a:pt x="357352" y="311670"/>
                  </a:lnTo>
                  <a:lnTo>
                    <a:pt x="397306" y="328536"/>
                  </a:lnTo>
                  <a:lnTo>
                    <a:pt x="441782" y="334505"/>
                  </a:lnTo>
                  <a:lnTo>
                    <a:pt x="486244" y="328536"/>
                  </a:lnTo>
                  <a:lnTo>
                    <a:pt x="526199" y="311670"/>
                  </a:lnTo>
                  <a:lnTo>
                    <a:pt x="560044" y="285521"/>
                  </a:lnTo>
                  <a:lnTo>
                    <a:pt x="586193" y="251675"/>
                  </a:lnTo>
                  <a:lnTo>
                    <a:pt x="603046" y="211721"/>
                  </a:lnTo>
                  <a:lnTo>
                    <a:pt x="609028" y="167259"/>
                  </a:lnTo>
                  <a:close/>
                </a:path>
              </a:pathLst>
            </a:custGeom>
            <a:solidFill>
              <a:srgbClr val="F477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7258175" y="2682011"/>
            <a:ext cx="1873250" cy="1767205"/>
            <a:chOff x="7258175" y="2682011"/>
            <a:chExt cx="1873250" cy="1767205"/>
          </a:xfrm>
        </p:grpSpPr>
        <p:sp>
          <p:nvSpPr>
            <p:cNvPr id="18" name="object 18"/>
            <p:cNvSpPr/>
            <p:nvPr/>
          </p:nvSpPr>
          <p:spPr>
            <a:xfrm>
              <a:off x="7258164" y="2683446"/>
              <a:ext cx="1873250" cy="1765300"/>
            </a:xfrm>
            <a:custGeom>
              <a:avLst/>
              <a:gdLst/>
              <a:ahLst/>
              <a:cxnLst/>
              <a:rect l="l" t="t" r="r" b="b"/>
              <a:pathLst>
                <a:path w="1873250" h="1765300">
                  <a:moveTo>
                    <a:pt x="341960" y="1233043"/>
                  </a:moveTo>
                  <a:lnTo>
                    <a:pt x="341934" y="1181557"/>
                  </a:lnTo>
                  <a:lnTo>
                    <a:pt x="330555" y="1132903"/>
                  </a:lnTo>
                  <a:lnTo>
                    <a:pt x="300012" y="1094168"/>
                  </a:lnTo>
                  <a:lnTo>
                    <a:pt x="300012" y="1223937"/>
                  </a:lnTo>
                  <a:lnTo>
                    <a:pt x="311556" y="1225918"/>
                  </a:lnTo>
                  <a:lnTo>
                    <a:pt x="322427" y="1228102"/>
                  </a:lnTo>
                  <a:lnTo>
                    <a:pt x="332574" y="1230477"/>
                  </a:lnTo>
                  <a:lnTo>
                    <a:pt x="341960" y="1233043"/>
                  </a:lnTo>
                  <a:close/>
                </a:path>
                <a:path w="1873250" h="1765300">
                  <a:moveTo>
                    <a:pt x="667537" y="166890"/>
                  </a:moveTo>
                  <a:lnTo>
                    <a:pt x="661568" y="122516"/>
                  </a:lnTo>
                  <a:lnTo>
                    <a:pt x="644740" y="82651"/>
                  </a:lnTo>
                  <a:lnTo>
                    <a:pt x="618655" y="48869"/>
                  </a:lnTo>
                  <a:lnTo>
                    <a:pt x="584873" y="22783"/>
                  </a:lnTo>
                  <a:lnTo>
                    <a:pt x="544995" y="5956"/>
                  </a:lnTo>
                  <a:lnTo>
                    <a:pt x="500634" y="0"/>
                  </a:lnTo>
                  <a:lnTo>
                    <a:pt x="456272" y="5956"/>
                  </a:lnTo>
                  <a:lnTo>
                    <a:pt x="416407" y="22783"/>
                  </a:lnTo>
                  <a:lnTo>
                    <a:pt x="382638" y="48869"/>
                  </a:lnTo>
                  <a:lnTo>
                    <a:pt x="356539" y="82651"/>
                  </a:lnTo>
                  <a:lnTo>
                    <a:pt x="339712" y="122516"/>
                  </a:lnTo>
                  <a:lnTo>
                    <a:pt x="333756" y="166890"/>
                  </a:lnTo>
                  <a:lnTo>
                    <a:pt x="339712" y="211251"/>
                  </a:lnTo>
                  <a:lnTo>
                    <a:pt x="356539" y="251117"/>
                  </a:lnTo>
                  <a:lnTo>
                    <a:pt x="382638" y="284899"/>
                  </a:lnTo>
                  <a:lnTo>
                    <a:pt x="416407" y="310997"/>
                  </a:lnTo>
                  <a:lnTo>
                    <a:pt x="456272" y="327812"/>
                  </a:lnTo>
                  <a:lnTo>
                    <a:pt x="500634" y="333781"/>
                  </a:lnTo>
                  <a:lnTo>
                    <a:pt x="544995" y="327812"/>
                  </a:lnTo>
                  <a:lnTo>
                    <a:pt x="584873" y="310997"/>
                  </a:lnTo>
                  <a:lnTo>
                    <a:pt x="618655" y="284899"/>
                  </a:lnTo>
                  <a:lnTo>
                    <a:pt x="644740" y="251117"/>
                  </a:lnTo>
                  <a:lnTo>
                    <a:pt x="661568" y="211251"/>
                  </a:lnTo>
                  <a:lnTo>
                    <a:pt x="667537" y="166890"/>
                  </a:lnTo>
                  <a:close/>
                </a:path>
                <a:path w="1873250" h="1765300">
                  <a:moveTo>
                    <a:pt x="1195705" y="1713725"/>
                  </a:moveTo>
                  <a:lnTo>
                    <a:pt x="1183068" y="1693138"/>
                  </a:lnTo>
                  <a:lnTo>
                    <a:pt x="1150543" y="1677581"/>
                  </a:lnTo>
                  <a:lnTo>
                    <a:pt x="1098956" y="1672348"/>
                  </a:lnTo>
                  <a:lnTo>
                    <a:pt x="1041311" y="1668360"/>
                  </a:lnTo>
                  <a:lnTo>
                    <a:pt x="1014958" y="1655356"/>
                  </a:lnTo>
                  <a:lnTo>
                    <a:pt x="1011682" y="1638566"/>
                  </a:lnTo>
                  <a:lnTo>
                    <a:pt x="1011593" y="1638109"/>
                  </a:lnTo>
                  <a:lnTo>
                    <a:pt x="1022870" y="1621383"/>
                  </a:lnTo>
                  <a:lnTo>
                    <a:pt x="1028534" y="1610245"/>
                  </a:lnTo>
                  <a:lnTo>
                    <a:pt x="1026972" y="1609305"/>
                  </a:lnTo>
                  <a:lnTo>
                    <a:pt x="1017600" y="1604060"/>
                  </a:lnTo>
                  <a:lnTo>
                    <a:pt x="995553" y="1599501"/>
                  </a:lnTo>
                  <a:lnTo>
                    <a:pt x="985291" y="1597113"/>
                  </a:lnTo>
                  <a:lnTo>
                    <a:pt x="967943" y="1593088"/>
                  </a:lnTo>
                  <a:lnTo>
                    <a:pt x="940739" y="1585493"/>
                  </a:lnTo>
                  <a:lnTo>
                    <a:pt x="915123" y="1580896"/>
                  </a:lnTo>
                  <a:lnTo>
                    <a:pt x="889508" y="1581073"/>
                  </a:lnTo>
                  <a:lnTo>
                    <a:pt x="862291" y="1587804"/>
                  </a:lnTo>
                  <a:lnTo>
                    <a:pt x="855154" y="1590154"/>
                  </a:lnTo>
                  <a:lnTo>
                    <a:pt x="846632" y="1592465"/>
                  </a:lnTo>
                  <a:lnTo>
                    <a:pt x="836968" y="1594777"/>
                  </a:lnTo>
                  <a:lnTo>
                    <a:pt x="826465" y="1597113"/>
                  </a:lnTo>
                  <a:lnTo>
                    <a:pt x="826465" y="1083068"/>
                  </a:lnTo>
                  <a:lnTo>
                    <a:pt x="842098" y="1075220"/>
                  </a:lnTo>
                  <a:lnTo>
                    <a:pt x="854697" y="1063256"/>
                  </a:lnTo>
                  <a:lnTo>
                    <a:pt x="869111" y="992416"/>
                  </a:lnTo>
                  <a:lnTo>
                    <a:pt x="871283" y="921423"/>
                  </a:lnTo>
                  <a:lnTo>
                    <a:pt x="871550" y="888123"/>
                  </a:lnTo>
                  <a:lnTo>
                    <a:pt x="870419" y="823912"/>
                  </a:lnTo>
                  <a:lnTo>
                    <a:pt x="867295" y="765390"/>
                  </a:lnTo>
                  <a:lnTo>
                    <a:pt x="862304" y="712266"/>
                  </a:lnTo>
                  <a:lnTo>
                    <a:pt x="855599" y="664235"/>
                  </a:lnTo>
                  <a:lnTo>
                    <a:pt x="847293" y="620991"/>
                  </a:lnTo>
                  <a:lnTo>
                    <a:pt x="837539" y="582218"/>
                  </a:lnTo>
                  <a:lnTo>
                    <a:pt x="828916" y="555282"/>
                  </a:lnTo>
                  <a:lnTo>
                    <a:pt x="828802" y="554901"/>
                  </a:lnTo>
                  <a:lnTo>
                    <a:pt x="826465" y="547624"/>
                  </a:lnTo>
                  <a:lnTo>
                    <a:pt x="826465" y="470014"/>
                  </a:lnTo>
                  <a:lnTo>
                    <a:pt x="826465" y="91960"/>
                  </a:lnTo>
                  <a:lnTo>
                    <a:pt x="789381" y="91960"/>
                  </a:lnTo>
                  <a:lnTo>
                    <a:pt x="789381" y="470014"/>
                  </a:lnTo>
                  <a:lnTo>
                    <a:pt x="787628" y="467207"/>
                  </a:lnTo>
                  <a:lnTo>
                    <a:pt x="747852" y="419989"/>
                  </a:lnTo>
                  <a:lnTo>
                    <a:pt x="707517" y="392010"/>
                  </a:lnTo>
                  <a:lnTo>
                    <a:pt x="658355" y="376948"/>
                  </a:lnTo>
                  <a:lnTo>
                    <a:pt x="646747" y="376186"/>
                  </a:lnTo>
                  <a:lnTo>
                    <a:pt x="354444" y="376186"/>
                  </a:lnTo>
                  <a:lnTo>
                    <a:pt x="342646" y="376948"/>
                  </a:lnTo>
                  <a:lnTo>
                    <a:pt x="342887" y="376948"/>
                  </a:lnTo>
                  <a:lnTo>
                    <a:pt x="328523" y="379399"/>
                  </a:lnTo>
                  <a:lnTo>
                    <a:pt x="263436" y="411391"/>
                  </a:lnTo>
                  <a:lnTo>
                    <a:pt x="233489" y="440550"/>
                  </a:lnTo>
                  <a:lnTo>
                    <a:pt x="205422" y="480339"/>
                  </a:lnTo>
                  <a:lnTo>
                    <a:pt x="180670" y="531736"/>
                  </a:lnTo>
                  <a:lnTo>
                    <a:pt x="157264" y="606666"/>
                  </a:lnTo>
                  <a:lnTo>
                    <a:pt x="147853" y="651421"/>
                  </a:lnTo>
                  <a:lnTo>
                    <a:pt x="140195" y="701548"/>
                  </a:lnTo>
                  <a:lnTo>
                    <a:pt x="134556" y="756907"/>
                  </a:lnTo>
                  <a:lnTo>
                    <a:pt x="131000" y="818299"/>
                  </a:lnTo>
                  <a:lnTo>
                    <a:pt x="129667" y="888123"/>
                  </a:lnTo>
                  <a:lnTo>
                    <a:pt x="129882" y="916584"/>
                  </a:lnTo>
                  <a:lnTo>
                    <a:pt x="130505" y="946365"/>
                  </a:lnTo>
                  <a:lnTo>
                    <a:pt x="131559" y="977430"/>
                  </a:lnTo>
                  <a:lnTo>
                    <a:pt x="133007" y="1009269"/>
                  </a:lnTo>
                  <a:lnTo>
                    <a:pt x="133477" y="1018667"/>
                  </a:lnTo>
                  <a:lnTo>
                    <a:pt x="133578" y="1021092"/>
                  </a:lnTo>
                  <a:lnTo>
                    <a:pt x="133845" y="1025664"/>
                  </a:lnTo>
                  <a:lnTo>
                    <a:pt x="133921" y="1027150"/>
                  </a:lnTo>
                  <a:lnTo>
                    <a:pt x="90843" y="1041044"/>
                  </a:lnTo>
                  <a:lnTo>
                    <a:pt x="54000" y="1065161"/>
                  </a:lnTo>
                  <a:lnTo>
                    <a:pt x="25298" y="1097775"/>
                  </a:lnTo>
                  <a:lnTo>
                    <a:pt x="6667" y="1137158"/>
                  </a:lnTo>
                  <a:lnTo>
                    <a:pt x="0" y="1181557"/>
                  </a:lnTo>
                  <a:lnTo>
                    <a:pt x="0" y="1344460"/>
                  </a:lnTo>
                  <a:lnTo>
                    <a:pt x="16281" y="1344460"/>
                  </a:lnTo>
                  <a:lnTo>
                    <a:pt x="37719" y="1609305"/>
                  </a:lnTo>
                  <a:lnTo>
                    <a:pt x="49771" y="1624469"/>
                  </a:lnTo>
                  <a:lnTo>
                    <a:pt x="82613" y="1636839"/>
                  </a:lnTo>
                  <a:lnTo>
                    <a:pt x="131330" y="1645183"/>
                  </a:lnTo>
                  <a:lnTo>
                    <a:pt x="190995" y="1648244"/>
                  </a:lnTo>
                  <a:lnTo>
                    <a:pt x="250659" y="1645183"/>
                  </a:lnTo>
                  <a:lnTo>
                    <a:pt x="299377" y="1636839"/>
                  </a:lnTo>
                  <a:lnTo>
                    <a:pt x="332232" y="1624469"/>
                  </a:lnTo>
                  <a:lnTo>
                    <a:pt x="344271" y="1609305"/>
                  </a:lnTo>
                  <a:lnTo>
                    <a:pt x="365709" y="1344460"/>
                  </a:lnTo>
                  <a:lnTo>
                    <a:pt x="381990" y="1344460"/>
                  </a:lnTo>
                  <a:lnTo>
                    <a:pt x="381990" y="1300238"/>
                  </a:lnTo>
                  <a:lnTo>
                    <a:pt x="381990" y="1259230"/>
                  </a:lnTo>
                  <a:lnTo>
                    <a:pt x="381990" y="1181557"/>
                  </a:lnTo>
                  <a:lnTo>
                    <a:pt x="375589" y="1138008"/>
                  </a:lnTo>
                  <a:lnTo>
                    <a:pt x="359740" y="1103782"/>
                  </a:lnTo>
                  <a:lnTo>
                    <a:pt x="359740" y="1181557"/>
                  </a:lnTo>
                  <a:lnTo>
                    <a:pt x="359740" y="1259230"/>
                  </a:lnTo>
                  <a:lnTo>
                    <a:pt x="346138" y="1254023"/>
                  </a:lnTo>
                  <a:lnTo>
                    <a:pt x="346138" y="1275511"/>
                  </a:lnTo>
                  <a:lnTo>
                    <a:pt x="333946" y="1285151"/>
                  </a:lnTo>
                  <a:lnTo>
                    <a:pt x="300710" y="1292999"/>
                  </a:lnTo>
                  <a:lnTo>
                    <a:pt x="251396" y="1298295"/>
                  </a:lnTo>
                  <a:lnTo>
                    <a:pt x="190995" y="1300238"/>
                  </a:lnTo>
                  <a:lnTo>
                    <a:pt x="130619" y="1298295"/>
                  </a:lnTo>
                  <a:lnTo>
                    <a:pt x="81305" y="1292999"/>
                  </a:lnTo>
                  <a:lnTo>
                    <a:pt x="48056" y="1285151"/>
                  </a:lnTo>
                  <a:lnTo>
                    <a:pt x="35864" y="1275511"/>
                  </a:lnTo>
                  <a:lnTo>
                    <a:pt x="48056" y="1265897"/>
                  </a:lnTo>
                  <a:lnTo>
                    <a:pt x="76263" y="1259230"/>
                  </a:lnTo>
                  <a:lnTo>
                    <a:pt x="81305" y="1258049"/>
                  </a:lnTo>
                  <a:lnTo>
                    <a:pt x="130619" y="1252740"/>
                  </a:lnTo>
                  <a:lnTo>
                    <a:pt x="190995" y="1250797"/>
                  </a:lnTo>
                  <a:lnTo>
                    <a:pt x="251396" y="1252740"/>
                  </a:lnTo>
                  <a:lnTo>
                    <a:pt x="300710" y="1258049"/>
                  </a:lnTo>
                  <a:lnTo>
                    <a:pt x="333946" y="1265897"/>
                  </a:lnTo>
                  <a:lnTo>
                    <a:pt x="346138" y="1275511"/>
                  </a:lnTo>
                  <a:lnTo>
                    <a:pt x="346138" y="1254023"/>
                  </a:lnTo>
                  <a:lnTo>
                    <a:pt x="294601" y="1241158"/>
                  </a:lnTo>
                  <a:lnTo>
                    <a:pt x="246265" y="1235964"/>
                  </a:lnTo>
                  <a:lnTo>
                    <a:pt x="190995" y="1234097"/>
                  </a:lnTo>
                  <a:lnTo>
                    <a:pt x="135737" y="1235964"/>
                  </a:lnTo>
                  <a:lnTo>
                    <a:pt x="87401" y="1241158"/>
                  </a:lnTo>
                  <a:lnTo>
                    <a:pt x="48679" y="1249108"/>
                  </a:lnTo>
                  <a:lnTo>
                    <a:pt x="22250" y="1259230"/>
                  </a:lnTo>
                  <a:lnTo>
                    <a:pt x="22250" y="1181557"/>
                  </a:lnTo>
                  <a:lnTo>
                    <a:pt x="31127" y="1134732"/>
                  </a:lnTo>
                  <a:lnTo>
                    <a:pt x="55499" y="1094968"/>
                  </a:lnTo>
                  <a:lnTo>
                    <a:pt x="92278" y="1065352"/>
                  </a:lnTo>
                  <a:lnTo>
                    <a:pt x="138366" y="1048994"/>
                  </a:lnTo>
                  <a:lnTo>
                    <a:pt x="140830" y="1055065"/>
                  </a:lnTo>
                  <a:lnTo>
                    <a:pt x="144221" y="1060653"/>
                  </a:lnTo>
                  <a:lnTo>
                    <a:pt x="180289" y="1084656"/>
                  </a:lnTo>
                  <a:lnTo>
                    <a:pt x="193255" y="1086091"/>
                  </a:lnTo>
                  <a:lnTo>
                    <a:pt x="196088" y="1086091"/>
                  </a:lnTo>
                  <a:lnTo>
                    <a:pt x="237731" y="1066114"/>
                  </a:lnTo>
                  <a:lnTo>
                    <a:pt x="247980" y="1049769"/>
                  </a:lnTo>
                  <a:lnTo>
                    <a:pt x="292455" y="1066901"/>
                  </a:lnTo>
                  <a:lnTo>
                    <a:pt x="327850" y="1096505"/>
                  </a:lnTo>
                  <a:lnTo>
                    <a:pt x="351243" y="1135684"/>
                  </a:lnTo>
                  <a:lnTo>
                    <a:pt x="359740" y="1181557"/>
                  </a:lnTo>
                  <a:lnTo>
                    <a:pt x="359740" y="1103782"/>
                  </a:lnTo>
                  <a:lnTo>
                    <a:pt x="357644" y="1099248"/>
                  </a:lnTo>
                  <a:lnTo>
                    <a:pt x="329984" y="1066901"/>
                  </a:lnTo>
                  <a:lnTo>
                    <a:pt x="304863" y="1049769"/>
                  </a:lnTo>
                  <a:lnTo>
                    <a:pt x="303733" y="1048994"/>
                  </a:lnTo>
                  <a:lnTo>
                    <a:pt x="294373" y="1042619"/>
                  </a:lnTo>
                  <a:lnTo>
                    <a:pt x="252615" y="1028026"/>
                  </a:lnTo>
                  <a:lnTo>
                    <a:pt x="252577" y="1023302"/>
                  </a:lnTo>
                  <a:lnTo>
                    <a:pt x="252298" y="1018667"/>
                  </a:lnTo>
                  <a:lnTo>
                    <a:pt x="252158" y="1015212"/>
                  </a:lnTo>
                  <a:lnTo>
                    <a:pt x="251879" y="1009777"/>
                  </a:lnTo>
                  <a:lnTo>
                    <a:pt x="250329" y="977430"/>
                  </a:lnTo>
                  <a:lnTo>
                    <a:pt x="249224" y="946492"/>
                  </a:lnTo>
                  <a:lnTo>
                    <a:pt x="248678" y="921423"/>
                  </a:lnTo>
                  <a:lnTo>
                    <a:pt x="248564" y="916584"/>
                  </a:lnTo>
                  <a:lnTo>
                    <a:pt x="248361" y="888123"/>
                  </a:lnTo>
                  <a:lnTo>
                    <a:pt x="249631" y="823912"/>
                  </a:lnTo>
                  <a:lnTo>
                    <a:pt x="249745" y="818299"/>
                  </a:lnTo>
                  <a:lnTo>
                    <a:pt x="249783" y="815860"/>
                  </a:lnTo>
                  <a:lnTo>
                    <a:pt x="253987" y="752703"/>
                  </a:lnTo>
                  <a:lnTo>
                    <a:pt x="260477" y="698119"/>
                  </a:lnTo>
                  <a:lnTo>
                    <a:pt x="268795" y="651586"/>
                  </a:lnTo>
                  <a:lnTo>
                    <a:pt x="278472" y="612559"/>
                  </a:lnTo>
                  <a:lnTo>
                    <a:pt x="300012" y="554901"/>
                  </a:lnTo>
                  <a:lnTo>
                    <a:pt x="300012" y="1025664"/>
                  </a:lnTo>
                  <a:lnTo>
                    <a:pt x="340537" y="1052715"/>
                  </a:lnTo>
                  <a:lnTo>
                    <a:pt x="372059" y="1089025"/>
                  </a:lnTo>
                  <a:lnTo>
                    <a:pt x="392506" y="1132624"/>
                  </a:lnTo>
                  <a:lnTo>
                    <a:pt x="399796" y="1181557"/>
                  </a:lnTo>
                  <a:lnTo>
                    <a:pt x="399796" y="1362278"/>
                  </a:lnTo>
                  <a:lnTo>
                    <a:pt x="382130" y="1362278"/>
                  </a:lnTo>
                  <a:lnTo>
                    <a:pt x="362153" y="1609305"/>
                  </a:lnTo>
                  <a:lnTo>
                    <a:pt x="362077" y="1610245"/>
                  </a:lnTo>
                  <a:lnTo>
                    <a:pt x="356768" y="1626057"/>
                  </a:lnTo>
                  <a:lnTo>
                    <a:pt x="343293" y="1638566"/>
                  </a:lnTo>
                  <a:lnTo>
                    <a:pt x="323494" y="1648244"/>
                  </a:lnTo>
                  <a:lnTo>
                    <a:pt x="323367" y="1648244"/>
                  </a:lnTo>
                  <a:lnTo>
                    <a:pt x="300012" y="1655203"/>
                  </a:lnTo>
                  <a:lnTo>
                    <a:pt x="300012" y="1667560"/>
                  </a:lnTo>
                  <a:lnTo>
                    <a:pt x="307225" y="1703273"/>
                  </a:lnTo>
                  <a:lnTo>
                    <a:pt x="326885" y="1732432"/>
                  </a:lnTo>
                  <a:lnTo>
                    <a:pt x="356044" y="1752079"/>
                  </a:lnTo>
                  <a:lnTo>
                    <a:pt x="391731" y="1759280"/>
                  </a:lnTo>
                  <a:lnTo>
                    <a:pt x="427431" y="1752079"/>
                  </a:lnTo>
                  <a:lnTo>
                    <a:pt x="456577" y="1732432"/>
                  </a:lnTo>
                  <a:lnTo>
                    <a:pt x="476237" y="1703273"/>
                  </a:lnTo>
                  <a:lnTo>
                    <a:pt x="483438" y="1667560"/>
                  </a:lnTo>
                  <a:lnTo>
                    <a:pt x="483438" y="997991"/>
                  </a:lnTo>
                  <a:lnTo>
                    <a:pt x="517829" y="997991"/>
                  </a:lnTo>
                  <a:lnTo>
                    <a:pt x="517829" y="1667560"/>
                  </a:lnTo>
                  <a:lnTo>
                    <a:pt x="525043" y="1703273"/>
                  </a:lnTo>
                  <a:lnTo>
                    <a:pt x="544703" y="1732432"/>
                  </a:lnTo>
                  <a:lnTo>
                    <a:pt x="573849" y="1752079"/>
                  </a:lnTo>
                  <a:lnTo>
                    <a:pt x="609523" y="1759280"/>
                  </a:lnTo>
                  <a:lnTo>
                    <a:pt x="645223" y="1752079"/>
                  </a:lnTo>
                  <a:lnTo>
                    <a:pt x="674370" y="1732432"/>
                  </a:lnTo>
                  <a:lnTo>
                    <a:pt x="694029" y="1703273"/>
                  </a:lnTo>
                  <a:lnTo>
                    <a:pt x="701230" y="1667560"/>
                  </a:lnTo>
                  <a:lnTo>
                    <a:pt x="701230" y="997991"/>
                  </a:lnTo>
                  <a:lnTo>
                    <a:pt x="701230" y="555282"/>
                  </a:lnTo>
                  <a:lnTo>
                    <a:pt x="724560" y="618832"/>
                  </a:lnTo>
                  <a:lnTo>
                    <a:pt x="733717" y="657618"/>
                  </a:lnTo>
                  <a:lnTo>
                    <a:pt x="741527" y="703491"/>
                  </a:lnTo>
                  <a:lnTo>
                    <a:pt x="747585" y="756907"/>
                  </a:lnTo>
                  <a:lnTo>
                    <a:pt x="751484" y="818299"/>
                  </a:lnTo>
                  <a:lnTo>
                    <a:pt x="752843" y="888123"/>
                  </a:lnTo>
                  <a:lnTo>
                    <a:pt x="752627" y="916584"/>
                  </a:lnTo>
                  <a:lnTo>
                    <a:pt x="750544" y="987132"/>
                  </a:lnTo>
                  <a:lnTo>
                    <a:pt x="748792" y="1021092"/>
                  </a:lnTo>
                  <a:lnTo>
                    <a:pt x="748677" y="1023302"/>
                  </a:lnTo>
                  <a:lnTo>
                    <a:pt x="759079" y="1060411"/>
                  </a:lnTo>
                  <a:lnTo>
                    <a:pt x="789381" y="1083068"/>
                  </a:lnTo>
                  <a:lnTo>
                    <a:pt x="789381" y="1605394"/>
                  </a:lnTo>
                  <a:lnTo>
                    <a:pt x="761149" y="1613344"/>
                  </a:lnTo>
                  <a:lnTo>
                    <a:pt x="740092" y="1622996"/>
                  </a:lnTo>
                  <a:lnTo>
                    <a:pt x="731266" y="1634921"/>
                  </a:lnTo>
                  <a:lnTo>
                    <a:pt x="739749" y="1649704"/>
                  </a:lnTo>
                  <a:lnTo>
                    <a:pt x="752868" y="1674596"/>
                  </a:lnTo>
                  <a:lnTo>
                    <a:pt x="751382" y="1702295"/>
                  </a:lnTo>
                  <a:lnTo>
                    <a:pt x="750100" y="1728685"/>
                  </a:lnTo>
                  <a:lnTo>
                    <a:pt x="763816" y="1749602"/>
                  </a:lnTo>
                  <a:lnTo>
                    <a:pt x="807351" y="1760880"/>
                  </a:lnTo>
                  <a:lnTo>
                    <a:pt x="856500" y="1763776"/>
                  </a:lnTo>
                  <a:lnTo>
                    <a:pt x="911275" y="1765173"/>
                  </a:lnTo>
                  <a:lnTo>
                    <a:pt x="968476" y="1765033"/>
                  </a:lnTo>
                  <a:lnTo>
                    <a:pt x="1024940" y="1763344"/>
                  </a:lnTo>
                  <a:lnTo>
                    <a:pt x="1077493" y="1760093"/>
                  </a:lnTo>
                  <a:lnTo>
                    <a:pt x="1122946" y="1755241"/>
                  </a:lnTo>
                  <a:lnTo>
                    <a:pt x="1187665" y="1734032"/>
                  </a:lnTo>
                  <a:lnTo>
                    <a:pt x="1195705" y="1713725"/>
                  </a:lnTo>
                  <a:close/>
                </a:path>
                <a:path w="1873250" h="1765300">
                  <a:moveTo>
                    <a:pt x="1503083" y="1289519"/>
                  </a:moveTo>
                  <a:lnTo>
                    <a:pt x="1466900" y="1287538"/>
                  </a:lnTo>
                  <a:lnTo>
                    <a:pt x="1424762" y="1284274"/>
                  </a:lnTo>
                  <a:lnTo>
                    <a:pt x="1383525" y="1280604"/>
                  </a:lnTo>
                  <a:lnTo>
                    <a:pt x="1350022" y="1277391"/>
                  </a:lnTo>
                  <a:lnTo>
                    <a:pt x="1350022" y="1685239"/>
                  </a:lnTo>
                  <a:lnTo>
                    <a:pt x="1356029" y="1715033"/>
                  </a:lnTo>
                  <a:lnTo>
                    <a:pt x="1372438" y="1739353"/>
                  </a:lnTo>
                  <a:lnTo>
                    <a:pt x="1396758" y="1755749"/>
                  </a:lnTo>
                  <a:lnTo>
                    <a:pt x="1426552" y="1761756"/>
                  </a:lnTo>
                  <a:lnTo>
                    <a:pt x="1456334" y="1755749"/>
                  </a:lnTo>
                  <a:lnTo>
                    <a:pt x="1480654" y="1739353"/>
                  </a:lnTo>
                  <a:lnTo>
                    <a:pt x="1497063" y="1715033"/>
                  </a:lnTo>
                  <a:lnTo>
                    <a:pt x="1503083" y="1685239"/>
                  </a:lnTo>
                  <a:lnTo>
                    <a:pt x="1503083" y="1289519"/>
                  </a:lnTo>
                  <a:close/>
                </a:path>
                <a:path w="1873250" h="1765300">
                  <a:moveTo>
                    <a:pt x="1580438" y="368846"/>
                  </a:moveTo>
                  <a:lnTo>
                    <a:pt x="1565211" y="367271"/>
                  </a:lnTo>
                  <a:lnTo>
                    <a:pt x="1549361" y="366090"/>
                  </a:lnTo>
                  <a:lnTo>
                    <a:pt x="1532915" y="365353"/>
                  </a:lnTo>
                  <a:lnTo>
                    <a:pt x="1515846" y="365099"/>
                  </a:lnTo>
                  <a:lnTo>
                    <a:pt x="1498777" y="365353"/>
                  </a:lnTo>
                  <a:lnTo>
                    <a:pt x="1482318" y="366090"/>
                  </a:lnTo>
                  <a:lnTo>
                    <a:pt x="1466469" y="367271"/>
                  </a:lnTo>
                  <a:lnTo>
                    <a:pt x="1451229" y="368846"/>
                  </a:lnTo>
                  <a:lnTo>
                    <a:pt x="1455216" y="429577"/>
                  </a:lnTo>
                  <a:lnTo>
                    <a:pt x="1515833" y="622528"/>
                  </a:lnTo>
                  <a:lnTo>
                    <a:pt x="1576438" y="429577"/>
                  </a:lnTo>
                  <a:lnTo>
                    <a:pt x="1580438" y="368846"/>
                  </a:lnTo>
                  <a:close/>
                </a:path>
                <a:path w="1873250" h="1765300">
                  <a:moveTo>
                    <a:pt x="1681670" y="1277391"/>
                  </a:moveTo>
                  <a:lnTo>
                    <a:pt x="1648155" y="1280604"/>
                  </a:lnTo>
                  <a:lnTo>
                    <a:pt x="1606905" y="1284274"/>
                  </a:lnTo>
                  <a:lnTo>
                    <a:pt x="1564779" y="1287538"/>
                  </a:lnTo>
                  <a:lnTo>
                    <a:pt x="1528597" y="1289519"/>
                  </a:lnTo>
                  <a:lnTo>
                    <a:pt x="1528597" y="1685239"/>
                  </a:lnTo>
                  <a:lnTo>
                    <a:pt x="1534604" y="1715033"/>
                  </a:lnTo>
                  <a:lnTo>
                    <a:pt x="1551012" y="1739353"/>
                  </a:lnTo>
                  <a:lnTo>
                    <a:pt x="1575333" y="1755749"/>
                  </a:lnTo>
                  <a:lnTo>
                    <a:pt x="1605127" y="1761756"/>
                  </a:lnTo>
                  <a:lnTo>
                    <a:pt x="1634896" y="1755749"/>
                  </a:lnTo>
                  <a:lnTo>
                    <a:pt x="1659229" y="1739353"/>
                  </a:lnTo>
                  <a:lnTo>
                    <a:pt x="1675650" y="1715033"/>
                  </a:lnTo>
                  <a:lnTo>
                    <a:pt x="1681670" y="1685239"/>
                  </a:lnTo>
                  <a:lnTo>
                    <a:pt x="1681670" y="1277391"/>
                  </a:lnTo>
                  <a:close/>
                </a:path>
                <a:path w="1873250" h="1765300">
                  <a:moveTo>
                    <a:pt x="1873135" y="995133"/>
                  </a:moveTo>
                  <a:lnTo>
                    <a:pt x="1868792" y="910501"/>
                  </a:lnTo>
                  <a:lnTo>
                    <a:pt x="1861070" y="831265"/>
                  </a:lnTo>
                  <a:lnTo>
                    <a:pt x="1850745" y="757936"/>
                  </a:lnTo>
                  <a:lnTo>
                    <a:pt x="1838591" y="691007"/>
                  </a:lnTo>
                  <a:lnTo>
                    <a:pt x="1825383" y="631012"/>
                  </a:lnTo>
                  <a:lnTo>
                    <a:pt x="1811921" y="578446"/>
                  </a:lnTo>
                  <a:lnTo>
                    <a:pt x="1798955" y="533844"/>
                  </a:lnTo>
                  <a:lnTo>
                    <a:pt x="1777682" y="470509"/>
                  </a:lnTo>
                  <a:lnTo>
                    <a:pt x="1756930" y="429183"/>
                  </a:lnTo>
                  <a:lnTo>
                    <a:pt x="1701800" y="399427"/>
                  </a:lnTo>
                  <a:lnTo>
                    <a:pt x="1632978" y="377850"/>
                  </a:lnTo>
                  <a:lnTo>
                    <a:pt x="1638287" y="430809"/>
                  </a:lnTo>
                  <a:lnTo>
                    <a:pt x="1602409" y="430809"/>
                  </a:lnTo>
                  <a:lnTo>
                    <a:pt x="1625904" y="472859"/>
                  </a:lnTo>
                  <a:lnTo>
                    <a:pt x="1515833" y="654685"/>
                  </a:lnTo>
                  <a:lnTo>
                    <a:pt x="1416621" y="490804"/>
                  </a:lnTo>
                  <a:lnTo>
                    <a:pt x="1412633" y="498208"/>
                  </a:lnTo>
                  <a:lnTo>
                    <a:pt x="1383487" y="532714"/>
                  </a:lnTo>
                  <a:lnTo>
                    <a:pt x="1342085" y="559320"/>
                  </a:lnTo>
                  <a:lnTo>
                    <a:pt x="1356512" y="599770"/>
                  </a:lnTo>
                  <a:lnTo>
                    <a:pt x="1368005" y="640016"/>
                  </a:lnTo>
                  <a:lnTo>
                    <a:pt x="1375003" y="678040"/>
                  </a:lnTo>
                  <a:lnTo>
                    <a:pt x="1375943" y="711771"/>
                  </a:lnTo>
                  <a:lnTo>
                    <a:pt x="1365478" y="763752"/>
                  </a:lnTo>
                  <a:lnTo>
                    <a:pt x="1348333" y="806323"/>
                  </a:lnTo>
                  <a:lnTo>
                    <a:pt x="1330655" y="847953"/>
                  </a:lnTo>
                  <a:lnTo>
                    <a:pt x="1318577" y="897102"/>
                  </a:lnTo>
                  <a:lnTo>
                    <a:pt x="1316812" y="905332"/>
                  </a:lnTo>
                  <a:lnTo>
                    <a:pt x="1315504" y="915504"/>
                  </a:lnTo>
                  <a:lnTo>
                    <a:pt x="1314691" y="927785"/>
                  </a:lnTo>
                  <a:lnTo>
                    <a:pt x="1314411" y="942314"/>
                  </a:lnTo>
                  <a:lnTo>
                    <a:pt x="1314704" y="963485"/>
                  </a:lnTo>
                  <a:lnTo>
                    <a:pt x="1315529" y="982726"/>
                  </a:lnTo>
                  <a:lnTo>
                    <a:pt x="1316824" y="1000239"/>
                  </a:lnTo>
                  <a:lnTo>
                    <a:pt x="1318526" y="1016266"/>
                  </a:lnTo>
                  <a:lnTo>
                    <a:pt x="1331696" y="1252474"/>
                  </a:lnTo>
                  <a:lnTo>
                    <a:pt x="1412316" y="1260767"/>
                  </a:lnTo>
                  <a:lnTo>
                    <a:pt x="1458379" y="1265021"/>
                  </a:lnTo>
                  <a:lnTo>
                    <a:pt x="1487119" y="1266596"/>
                  </a:lnTo>
                  <a:lnTo>
                    <a:pt x="1515833" y="1266825"/>
                  </a:lnTo>
                  <a:lnTo>
                    <a:pt x="1563979" y="1264577"/>
                  </a:lnTo>
                  <a:lnTo>
                    <a:pt x="1625130" y="1259649"/>
                  </a:lnTo>
                  <a:lnTo>
                    <a:pt x="1699971" y="1252474"/>
                  </a:lnTo>
                  <a:lnTo>
                    <a:pt x="1713153" y="1016165"/>
                  </a:lnTo>
                  <a:lnTo>
                    <a:pt x="1714855" y="1000175"/>
                  </a:lnTo>
                  <a:lnTo>
                    <a:pt x="1716151" y="982713"/>
                  </a:lnTo>
                  <a:lnTo>
                    <a:pt x="1716976" y="963536"/>
                  </a:lnTo>
                  <a:lnTo>
                    <a:pt x="1717268" y="942314"/>
                  </a:lnTo>
                  <a:lnTo>
                    <a:pt x="1716989" y="927785"/>
                  </a:lnTo>
                  <a:lnTo>
                    <a:pt x="1701025" y="847953"/>
                  </a:lnTo>
                  <a:lnTo>
                    <a:pt x="1683334" y="806323"/>
                  </a:lnTo>
                  <a:lnTo>
                    <a:pt x="1666201" y="763752"/>
                  </a:lnTo>
                  <a:lnTo>
                    <a:pt x="1655749" y="711771"/>
                  </a:lnTo>
                  <a:lnTo>
                    <a:pt x="1657197" y="673836"/>
                  </a:lnTo>
                  <a:lnTo>
                    <a:pt x="1665973" y="630872"/>
                  </a:lnTo>
                  <a:lnTo>
                    <a:pt x="1679879" y="585724"/>
                  </a:lnTo>
                  <a:lnTo>
                    <a:pt x="1696770" y="541210"/>
                  </a:lnTo>
                  <a:lnTo>
                    <a:pt x="1706295" y="571677"/>
                  </a:lnTo>
                  <a:lnTo>
                    <a:pt x="1727377" y="649782"/>
                  </a:lnTo>
                  <a:lnTo>
                    <a:pt x="1738007" y="696747"/>
                  </a:lnTo>
                  <a:lnTo>
                    <a:pt x="1748091" y="748576"/>
                  </a:lnTo>
                  <a:lnTo>
                    <a:pt x="1757159" y="804926"/>
                  </a:lnTo>
                  <a:lnTo>
                    <a:pt x="1764753" y="865466"/>
                  </a:lnTo>
                  <a:lnTo>
                    <a:pt x="1770405" y="929881"/>
                  </a:lnTo>
                  <a:lnTo>
                    <a:pt x="1773669" y="997851"/>
                  </a:lnTo>
                  <a:lnTo>
                    <a:pt x="1777974" y="1016800"/>
                  </a:lnTo>
                  <a:lnTo>
                    <a:pt x="1788731" y="1032167"/>
                  </a:lnTo>
                  <a:lnTo>
                    <a:pt x="1804377" y="1042466"/>
                  </a:lnTo>
                  <a:lnTo>
                    <a:pt x="1824761" y="1046226"/>
                  </a:lnTo>
                  <a:lnTo>
                    <a:pt x="1844014" y="1041781"/>
                  </a:lnTo>
                  <a:lnTo>
                    <a:pt x="1859521" y="1030681"/>
                  </a:lnTo>
                  <a:lnTo>
                    <a:pt x="1869757" y="1014590"/>
                  </a:lnTo>
                  <a:lnTo>
                    <a:pt x="1873135" y="995133"/>
                  </a:lnTo>
                  <a:close/>
                </a:path>
              </a:pathLst>
            </a:custGeom>
            <a:solidFill>
              <a:srgbClr val="F477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96622" y="3092218"/>
              <a:ext cx="70573" cy="10690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398446" y="2682011"/>
              <a:ext cx="540385" cy="1390650"/>
            </a:xfrm>
            <a:custGeom>
              <a:avLst/>
              <a:gdLst/>
              <a:ahLst/>
              <a:cxnLst/>
              <a:rect l="l" t="t" r="r" b="b"/>
              <a:pathLst>
                <a:path w="540384" h="1390650">
                  <a:moveTo>
                    <a:pt x="187363" y="565950"/>
                  </a:moveTo>
                  <a:lnTo>
                    <a:pt x="168452" y="569810"/>
                  </a:lnTo>
                  <a:lnTo>
                    <a:pt x="151777" y="570649"/>
                  </a:lnTo>
                  <a:lnTo>
                    <a:pt x="137858" y="569518"/>
                  </a:lnTo>
                  <a:lnTo>
                    <a:pt x="96062" y="551218"/>
                  </a:lnTo>
                  <a:lnTo>
                    <a:pt x="90195" y="542671"/>
                  </a:lnTo>
                  <a:lnTo>
                    <a:pt x="80327" y="576846"/>
                  </a:lnTo>
                  <a:lnTo>
                    <a:pt x="70129" y="615607"/>
                  </a:lnTo>
                  <a:lnTo>
                    <a:pt x="59956" y="658723"/>
                  </a:lnTo>
                  <a:lnTo>
                    <a:pt x="50139" y="705980"/>
                  </a:lnTo>
                  <a:lnTo>
                    <a:pt x="41021" y="757148"/>
                  </a:lnTo>
                  <a:lnTo>
                    <a:pt x="32931" y="812012"/>
                  </a:lnTo>
                  <a:lnTo>
                    <a:pt x="26212" y="870356"/>
                  </a:lnTo>
                  <a:lnTo>
                    <a:pt x="21209" y="931938"/>
                  </a:lnTo>
                  <a:lnTo>
                    <a:pt x="18262" y="996556"/>
                  </a:lnTo>
                  <a:lnTo>
                    <a:pt x="20523" y="1012837"/>
                  </a:lnTo>
                  <a:lnTo>
                    <a:pt x="27647" y="1026998"/>
                  </a:lnTo>
                  <a:lnTo>
                    <a:pt x="38747" y="1038123"/>
                  </a:lnTo>
                  <a:lnTo>
                    <a:pt x="52946" y="1045311"/>
                  </a:lnTo>
                  <a:lnTo>
                    <a:pt x="52946" y="1081773"/>
                  </a:lnTo>
                  <a:lnTo>
                    <a:pt x="0" y="1081773"/>
                  </a:lnTo>
                  <a:lnTo>
                    <a:pt x="0" y="1390446"/>
                  </a:lnTo>
                  <a:lnTo>
                    <a:pt x="140309" y="1390446"/>
                  </a:lnTo>
                  <a:lnTo>
                    <a:pt x="140309" y="1081773"/>
                  </a:lnTo>
                  <a:lnTo>
                    <a:pt x="87376" y="1081773"/>
                  </a:lnTo>
                  <a:lnTo>
                    <a:pt x="87376" y="1043724"/>
                  </a:lnTo>
                  <a:lnTo>
                    <a:pt x="115189" y="1013675"/>
                  </a:lnTo>
                  <a:lnTo>
                    <a:pt x="120599" y="937247"/>
                  </a:lnTo>
                  <a:lnTo>
                    <a:pt x="125514" y="878090"/>
                  </a:lnTo>
                  <a:lnTo>
                    <a:pt x="132118" y="822058"/>
                  </a:lnTo>
                  <a:lnTo>
                    <a:pt x="140042" y="769404"/>
                  </a:lnTo>
                  <a:lnTo>
                    <a:pt x="148958" y="720407"/>
                  </a:lnTo>
                  <a:lnTo>
                    <a:pt x="158496" y="675297"/>
                  </a:lnTo>
                  <a:lnTo>
                    <a:pt x="168313" y="634352"/>
                  </a:lnTo>
                  <a:lnTo>
                    <a:pt x="178054" y="597814"/>
                  </a:lnTo>
                  <a:lnTo>
                    <a:pt x="187363" y="565950"/>
                  </a:lnTo>
                  <a:close/>
                </a:path>
                <a:path w="540384" h="1390650">
                  <a:moveTo>
                    <a:pt x="282181" y="320852"/>
                  </a:moveTo>
                  <a:lnTo>
                    <a:pt x="262343" y="307111"/>
                  </a:lnTo>
                  <a:lnTo>
                    <a:pt x="244525" y="290918"/>
                  </a:lnTo>
                  <a:lnTo>
                    <a:pt x="228981" y="272516"/>
                  </a:lnTo>
                  <a:lnTo>
                    <a:pt x="215938" y="252171"/>
                  </a:lnTo>
                  <a:lnTo>
                    <a:pt x="202387" y="275640"/>
                  </a:lnTo>
                  <a:lnTo>
                    <a:pt x="192366" y="304685"/>
                  </a:lnTo>
                  <a:lnTo>
                    <a:pt x="186626" y="339940"/>
                  </a:lnTo>
                  <a:lnTo>
                    <a:pt x="185902" y="382054"/>
                  </a:lnTo>
                  <a:lnTo>
                    <a:pt x="181952" y="459498"/>
                  </a:lnTo>
                  <a:lnTo>
                    <a:pt x="165112" y="504799"/>
                  </a:lnTo>
                  <a:lnTo>
                    <a:pt x="140677" y="525907"/>
                  </a:lnTo>
                  <a:lnTo>
                    <a:pt x="113982" y="530758"/>
                  </a:lnTo>
                  <a:lnTo>
                    <a:pt x="106616" y="536359"/>
                  </a:lnTo>
                  <a:lnTo>
                    <a:pt x="122123" y="547255"/>
                  </a:lnTo>
                  <a:lnTo>
                    <a:pt x="154355" y="553097"/>
                  </a:lnTo>
                  <a:lnTo>
                    <a:pt x="197180" y="543547"/>
                  </a:lnTo>
                  <a:lnTo>
                    <a:pt x="244436" y="508241"/>
                  </a:lnTo>
                  <a:lnTo>
                    <a:pt x="267411" y="468083"/>
                  </a:lnTo>
                  <a:lnTo>
                    <a:pt x="277291" y="419874"/>
                  </a:lnTo>
                  <a:lnTo>
                    <a:pt x="280187" y="369011"/>
                  </a:lnTo>
                  <a:lnTo>
                    <a:pt x="282181" y="320852"/>
                  </a:lnTo>
                  <a:close/>
                </a:path>
                <a:path w="540384" h="1390650">
                  <a:moveTo>
                    <a:pt x="540092" y="164541"/>
                  </a:moveTo>
                  <a:lnTo>
                    <a:pt x="534212" y="120802"/>
                  </a:lnTo>
                  <a:lnTo>
                    <a:pt x="517626" y="81508"/>
                  </a:lnTo>
                  <a:lnTo>
                    <a:pt x="491896" y="48196"/>
                  </a:lnTo>
                  <a:lnTo>
                    <a:pt x="473468" y="33959"/>
                  </a:lnTo>
                  <a:lnTo>
                    <a:pt x="473468" y="218160"/>
                  </a:lnTo>
                  <a:lnTo>
                    <a:pt x="455434" y="240614"/>
                  </a:lnTo>
                  <a:lnTo>
                    <a:pt x="432422" y="257937"/>
                  </a:lnTo>
                  <a:lnTo>
                    <a:pt x="405460" y="269100"/>
                  </a:lnTo>
                  <a:lnTo>
                    <a:pt x="375551" y="273050"/>
                  </a:lnTo>
                  <a:lnTo>
                    <a:pt x="345655" y="269100"/>
                  </a:lnTo>
                  <a:lnTo>
                    <a:pt x="318693" y="257937"/>
                  </a:lnTo>
                  <a:lnTo>
                    <a:pt x="295681" y="240614"/>
                  </a:lnTo>
                  <a:lnTo>
                    <a:pt x="277622" y="218160"/>
                  </a:lnTo>
                  <a:lnTo>
                    <a:pt x="473468" y="218160"/>
                  </a:lnTo>
                  <a:lnTo>
                    <a:pt x="473468" y="33959"/>
                  </a:lnTo>
                  <a:lnTo>
                    <a:pt x="458597" y="22466"/>
                  </a:lnTo>
                  <a:lnTo>
                    <a:pt x="419290" y="5880"/>
                  </a:lnTo>
                  <a:lnTo>
                    <a:pt x="375551" y="0"/>
                  </a:lnTo>
                  <a:lnTo>
                    <a:pt x="331812" y="5880"/>
                  </a:lnTo>
                  <a:lnTo>
                    <a:pt x="292506" y="22466"/>
                  </a:lnTo>
                  <a:lnTo>
                    <a:pt x="259194" y="48196"/>
                  </a:lnTo>
                  <a:lnTo>
                    <a:pt x="233464" y="81508"/>
                  </a:lnTo>
                  <a:lnTo>
                    <a:pt x="216877" y="120802"/>
                  </a:lnTo>
                  <a:lnTo>
                    <a:pt x="210997" y="164541"/>
                  </a:lnTo>
                  <a:lnTo>
                    <a:pt x="216877" y="208292"/>
                  </a:lnTo>
                  <a:lnTo>
                    <a:pt x="233464" y="247586"/>
                  </a:lnTo>
                  <a:lnTo>
                    <a:pt x="259194" y="280898"/>
                  </a:lnTo>
                  <a:lnTo>
                    <a:pt x="292506" y="306628"/>
                  </a:lnTo>
                  <a:lnTo>
                    <a:pt x="331812" y="323215"/>
                  </a:lnTo>
                  <a:lnTo>
                    <a:pt x="375551" y="329082"/>
                  </a:lnTo>
                  <a:lnTo>
                    <a:pt x="419290" y="323215"/>
                  </a:lnTo>
                  <a:lnTo>
                    <a:pt x="458597" y="306628"/>
                  </a:lnTo>
                  <a:lnTo>
                    <a:pt x="491896" y="280898"/>
                  </a:lnTo>
                  <a:lnTo>
                    <a:pt x="497954" y="273050"/>
                  </a:lnTo>
                  <a:lnTo>
                    <a:pt x="517626" y="247586"/>
                  </a:lnTo>
                  <a:lnTo>
                    <a:pt x="530047" y="218160"/>
                  </a:lnTo>
                  <a:lnTo>
                    <a:pt x="534212" y="208292"/>
                  </a:lnTo>
                  <a:lnTo>
                    <a:pt x="540092" y="164541"/>
                  </a:lnTo>
                  <a:close/>
                </a:path>
              </a:pathLst>
            </a:custGeom>
            <a:solidFill>
              <a:srgbClr val="F477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911656" y="7291279"/>
            <a:ext cx="1931035" cy="1436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50" b="1" dirty="0">
                <a:solidFill>
                  <a:srgbClr val="FFC425"/>
                </a:solidFill>
                <a:latin typeface="Arial"/>
                <a:cs typeface="Arial"/>
              </a:rPr>
              <a:t>Destiny Springs</a:t>
            </a:r>
            <a:r>
              <a:rPr lang="en-US" sz="850" b="1" spc="-20" dirty="0">
                <a:solidFill>
                  <a:srgbClr val="FFC425"/>
                </a:solidFill>
                <a:latin typeface="Arial"/>
                <a:cs typeface="Arial"/>
              </a:rPr>
              <a:t> </a:t>
            </a:r>
            <a:r>
              <a:rPr lang="en-US" sz="850" b="1" dirty="0">
                <a:solidFill>
                  <a:srgbClr val="F47720"/>
                </a:solidFill>
                <a:latin typeface="Arial"/>
                <a:cs typeface="Arial"/>
              </a:rPr>
              <a:t>I</a:t>
            </a:r>
            <a:r>
              <a:rPr lang="en-US" sz="850" b="1" spc="-20" dirty="0">
                <a:solidFill>
                  <a:srgbClr val="F47720"/>
                </a:solidFill>
                <a:latin typeface="Arial"/>
                <a:cs typeface="Arial"/>
              </a:rPr>
              <a:t> </a:t>
            </a:r>
            <a:r>
              <a:rPr lang="en-US" sz="850" i="1" spc="-45" dirty="0">
                <a:solidFill>
                  <a:srgbClr val="008BC0"/>
                </a:solidFill>
                <a:latin typeface="Arial"/>
                <a:cs typeface="Arial"/>
              </a:rPr>
              <a:t>Living</a:t>
            </a:r>
            <a:r>
              <a:rPr lang="en-US" sz="850" i="1" spc="-15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lang="en-US" sz="850" i="1" spc="-80" dirty="0">
                <a:solidFill>
                  <a:srgbClr val="008BC0"/>
                </a:solidFill>
                <a:latin typeface="Arial"/>
                <a:cs typeface="Arial"/>
              </a:rPr>
              <a:t>our</a:t>
            </a:r>
            <a:r>
              <a:rPr lang="en-US" sz="850" i="1" spc="15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lang="en-US" sz="850" i="1" spc="-90" dirty="0">
                <a:solidFill>
                  <a:srgbClr val="008BC0"/>
                </a:solidFill>
                <a:latin typeface="Arial"/>
                <a:cs typeface="Arial"/>
              </a:rPr>
              <a:t>Values</a:t>
            </a:r>
            <a:r>
              <a:rPr lang="en-US" sz="850" i="1" spc="260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sz="850" b="1" spc="-50" dirty="0">
                <a:solidFill>
                  <a:srgbClr val="008BC0"/>
                </a:solidFill>
                <a:latin typeface="Arial"/>
                <a:cs typeface="Arial"/>
              </a:rPr>
              <a:t>4</a:t>
            </a:r>
            <a:endParaRPr sz="8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4500" y="1153292"/>
            <a:ext cx="3725545" cy="1137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380"/>
              </a:lnSpc>
              <a:spcBef>
                <a:spcPts val="100"/>
              </a:spcBef>
            </a:pPr>
            <a:r>
              <a:rPr sz="3800" spc="-10" dirty="0">
                <a:solidFill>
                  <a:srgbClr val="008DC4"/>
                </a:solidFill>
              </a:rPr>
              <a:t>Ethical</a:t>
            </a:r>
            <a:endParaRPr sz="3800" dirty="0"/>
          </a:p>
          <a:p>
            <a:pPr marL="12700">
              <a:lnSpc>
                <a:spcPts val="4380"/>
              </a:lnSpc>
            </a:pPr>
            <a:r>
              <a:rPr sz="3800" spc="-90" dirty="0">
                <a:solidFill>
                  <a:srgbClr val="008DC4"/>
                </a:solidFill>
              </a:rPr>
              <a:t>Self-</a:t>
            </a:r>
            <a:r>
              <a:rPr sz="3800" spc="-110" dirty="0">
                <a:solidFill>
                  <a:srgbClr val="008DC4"/>
                </a:solidFill>
              </a:rPr>
              <a:t>Assessment</a:t>
            </a:r>
            <a:endParaRPr sz="3800" dirty="0"/>
          </a:p>
        </p:txBody>
      </p:sp>
      <p:sp>
        <p:nvSpPr>
          <p:cNvPr id="3" name="object 3"/>
          <p:cNvSpPr txBox="1"/>
          <p:nvPr/>
        </p:nvSpPr>
        <p:spPr>
          <a:xfrm>
            <a:off x="444500" y="2355833"/>
            <a:ext cx="217043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50" b="1" spc="-45" dirty="0">
                <a:solidFill>
                  <a:srgbClr val="231F20"/>
                </a:solidFill>
                <a:latin typeface="Arial"/>
                <a:cs typeface="Arial"/>
              </a:rPr>
              <a:t>Since</a:t>
            </a:r>
            <a:r>
              <a:rPr sz="1150" b="1" spc="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sz="1150" b="1" spc="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Code</a:t>
            </a:r>
            <a:r>
              <a:rPr sz="1150" b="1" spc="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sz="1150" b="1" spc="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Conduct cannot</a:t>
            </a:r>
            <a:r>
              <a:rPr sz="115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20" dirty="0">
                <a:solidFill>
                  <a:srgbClr val="231F20"/>
                </a:solidFill>
                <a:latin typeface="Arial"/>
                <a:cs typeface="Arial"/>
              </a:rPr>
              <a:t>address</a:t>
            </a:r>
            <a:r>
              <a:rPr sz="115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every</a:t>
            </a:r>
            <a:r>
              <a:rPr sz="115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potential</a:t>
            </a:r>
            <a:endParaRPr sz="11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4500" y="2706353"/>
            <a:ext cx="2253615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situation,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here</a:t>
            </a:r>
            <a:r>
              <a:rPr sz="1150" b="1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are</a:t>
            </a:r>
            <a:r>
              <a:rPr sz="1150" b="1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some general </a:t>
            </a:r>
            <a:r>
              <a:rPr sz="1150" b="1" spc="-20" dirty="0">
                <a:solidFill>
                  <a:srgbClr val="231F20"/>
                </a:solidFill>
                <a:latin typeface="Arial"/>
                <a:cs typeface="Arial"/>
              </a:rPr>
              <a:t>questions</a:t>
            </a:r>
            <a:r>
              <a:rPr sz="1150" b="1" spc="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sz="1150" b="1" spc="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help</a:t>
            </a:r>
            <a:r>
              <a:rPr sz="1150" b="1" spc="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apply</a:t>
            </a:r>
            <a:r>
              <a:rPr sz="1150" b="1" spc="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25" dirty="0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sz="1150" b="1" spc="-20" dirty="0">
                <a:solidFill>
                  <a:srgbClr val="231F20"/>
                </a:solidFill>
                <a:latin typeface="Arial"/>
                <a:cs typeface="Arial"/>
              </a:rPr>
              <a:t>principles</a:t>
            </a:r>
            <a:r>
              <a:rPr sz="1150" b="1" spc="-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in</a:t>
            </a:r>
            <a:r>
              <a:rPr sz="1150" b="1" spc="-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this</a:t>
            </a:r>
            <a:r>
              <a:rPr sz="1150" b="1" spc="-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guide:</a:t>
            </a:r>
            <a:endParaRPr sz="11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17725" y="4295555"/>
            <a:ext cx="1258570" cy="73406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indent="365760">
              <a:lnSpc>
                <a:spcPct val="101400"/>
              </a:lnSpc>
              <a:spcBef>
                <a:spcPts val="80"/>
              </a:spcBef>
            </a:pPr>
            <a:r>
              <a:rPr sz="1150" b="1" dirty="0">
                <a:solidFill>
                  <a:srgbClr val="008BC0"/>
                </a:solidFill>
                <a:latin typeface="Arial"/>
                <a:cs typeface="Arial"/>
              </a:rPr>
              <a:t>Are</a:t>
            </a:r>
            <a:r>
              <a:rPr sz="1150" b="1" spc="50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sz="1150" b="1" spc="-35" dirty="0">
                <a:solidFill>
                  <a:srgbClr val="008BC0"/>
                </a:solidFill>
                <a:latin typeface="Arial"/>
                <a:cs typeface="Arial"/>
              </a:rPr>
              <a:t>my </a:t>
            </a:r>
            <a:r>
              <a:rPr sz="1150" b="1" spc="-20" dirty="0">
                <a:solidFill>
                  <a:srgbClr val="008BC0"/>
                </a:solidFill>
                <a:latin typeface="Arial"/>
                <a:cs typeface="Arial"/>
              </a:rPr>
              <a:t>actions</a:t>
            </a:r>
            <a:r>
              <a:rPr sz="1150" b="1" spc="-45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sz="1150" b="1" spc="-30" dirty="0">
                <a:solidFill>
                  <a:srgbClr val="008BC0"/>
                </a:solidFill>
                <a:latin typeface="Arial"/>
                <a:cs typeface="Arial"/>
              </a:rPr>
              <a:t>consistent</a:t>
            </a:r>
            <a:endParaRPr sz="1150">
              <a:latin typeface="Arial"/>
              <a:cs typeface="Arial"/>
            </a:endParaRPr>
          </a:p>
          <a:p>
            <a:pPr marL="205740" marR="130810" indent="-67945">
              <a:lnSpc>
                <a:spcPct val="101400"/>
              </a:lnSpc>
            </a:pPr>
            <a:r>
              <a:rPr sz="1150" b="1" dirty="0">
                <a:solidFill>
                  <a:srgbClr val="008BC0"/>
                </a:solidFill>
                <a:latin typeface="Arial"/>
                <a:cs typeface="Arial"/>
              </a:rPr>
              <a:t>with</a:t>
            </a:r>
            <a:r>
              <a:rPr sz="1150" b="1" spc="80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008BC0"/>
                </a:solidFill>
                <a:latin typeface="Arial"/>
                <a:cs typeface="Arial"/>
              </a:rPr>
              <a:t>the</a:t>
            </a:r>
            <a:r>
              <a:rPr sz="1150" b="1" spc="80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sz="1150" b="1" spc="-20" dirty="0">
                <a:solidFill>
                  <a:srgbClr val="008BC0"/>
                </a:solidFill>
                <a:latin typeface="Arial"/>
                <a:cs typeface="Arial"/>
              </a:rPr>
              <a:t>Code </a:t>
            </a:r>
            <a:r>
              <a:rPr sz="1150" b="1" dirty="0">
                <a:solidFill>
                  <a:srgbClr val="008BC0"/>
                </a:solidFill>
                <a:latin typeface="Arial"/>
                <a:cs typeface="Arial"/>
              </a:rPr>
              <a:t>of</a:t>
            </a:r>
            <a:r>
              <a:rPr sz="1150" b="1" spc="50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008BC0"/>
                </a:solidFill>
                <a:latin typeface="Arial"/>
                <a:cs typeface="Arial"/>
              </a:rPr>
              <a:t>Conduct?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61252" y="2743291"/>
            <a:ext cx="1464310" cy="126746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15900" marR="220979" indent="12065" algn="ctr">
              <a:lnSpc>
                <a:spcPct val="101400"/>
              </a:lnSpc>
              <a:spcBef>
                <a:spcPts val="80"/>
              </a:spcBef>
            </a:pPr>
            <a:r>
              <a:rPr sz="1150" b="1" dirty="0">
                <a:solidFill>
                  <a:srgbClr val="008BC0"/>
                </a:solidFill>
                <a:latin typeface="Arial"/>
                <a:cs typeface="Arial"/>
              </a:rPr>
              <a:t>Will</a:t>
            </a:r>
            <a:r>
              <a:rPr sz="1150" b="1" spc="-5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sz="1150" b="1" spc="-35" dirty="0">
                <a:solidFill>
                  <a:srgbClr val="008BC0"/>
                </a:solidFill>
                <a:latin typeface="Arial"/>
                <a:cs typeface="Arial"/>
              </a:rPr>
              <a:t>my </a:t>
            </a:r>
            <a:r>
              <a:rPr sz="1150" b="1" spc="-20" dirty="0">
                <a:solidFill>
                  <a:srgbClr val="008BC0"/>
                </a:solidFill>
                <a:latin typeface="Arial"/>
                <a:cs typeface="Arial"/>
              </a:rPr>
              <a:t>actions</a:t>
            </a:r>
            <a:r>
              <a:rPr sz="1150" b="1" spc="-45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sz="1150" b="1" spc="-20" dirty="0">
                <a:solidFill>
                  <a:srgbClr val="008BC0"/>
                </a:solidFill>
                <a:latin typeface="Arial"/>
                <a:cs typeface="Arial"/>
              </a:rPr>
              <a:t>hurt </a:t>
            </a:r>
            <a:r>
              <a:rPr sz="1150" b="1" dirty="0">
                <a:solidFill>
                  <a:srgbClr val="008BC0"/>
                </a:solidFill>
                <a:latin typeface="Arial"/>
                <a:cs typeface="Arial"/>
              </a:rPr>
              <a:t>my</a:t>
            </a:r>
            <a:r>
              <a:rPr sz="1150" b="1" spc="-15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008BC0"/>
                </a:solidFill>
                <a:latin typeface="Arial"/>
                <a:cs typeface="Arial"/>
              </a:rPr>
              <a:t>reputation,</a:t>
            </a:r>
            <a:endParaRPr sz="1150">
              <a:latin typeface="Arial"/>
              <a:cs typeface="Arial"/>
            </a:endParaRPr>
          </a:p>
          <a:p>
            <a:pPr marL="12700" marR="5080" indent="128270">
              <a:lnSpc>
                <a:spcPct val="101400"/>
              </a:lnSpc>
            </a:pPr>
            <a:r>
              <a:rPr sz="1150" b="1" dirty="0">
                <a:solidFill>
                  <a:srgbClr val="008BC0"/>
                </a:solidFill>
                <a:latin typeface="Arial"/>
                <a:cs typeface="Arial"/>
              </a:rPr>
              <a:t>the</a:t>
            </a:r>
            <a:r>
              <a:rPr sz="1150" b="1" spc="65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008BC0"/>
                </a:solidFill>
                <a:latin typeface="Arial"/>
                <a:cs typeface="Arial"/>
              </a:rPr>
              <a:t>reputation</a:t>
            </a:r>
            <a:r>
              <a:rPr sz="1150" b="1" spc="70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sz="1150" b="1" spc="-25" dirty="0">
                <a:solidFill>
                  <a:srgbClr val="008BC0"/>
                </a:solidFill>
                <a:latin typeface="Arial"/>
                <a:cs typeface="Arial"/>
              </a:rPr>
              <a:t>of </a:t>
            </a:r>
            <a:r>
              <a:rPr sz="1150" b="1" dirty="0">
                <a:solidFill>
                  <a:srgbClr val="008BC0"/>
                </a:solidFill>
                <a:latin typeface="Arial"/>
                <a:cs typeface="Arial"/>
              </a:rPr>
              <a:t>my </a:t>
            </a:r>
            <a:r>
              <a:rPr sz="1150" b="1" spc="-20" dirty="0">
                <a:solidFill>
                  <a:srgbClr val="008BC0"/>
                </a:solidFill>
                <a:latin typeface="Arial"/>
                <a:cs typeface="Arial"/>
              </a:rPr>
              <a:t>colleagues</a:t>
            </a:r>
            <a:r>
              <a:rPr sz="1150" b="1" dirty="0">
                <a:solidFill>
                  <a:srgbClr val="008BC0"/>
                </a:solidFill>
                <a:latin typeface="Arial"/>
                <a:cs typeface="Arial"/>
              </a:rPr>
              <a:t> or </a:t>
            </a:r>
            <a:r>
              <a:rPr sz="1150" b="1" spc="-25" dirty="0">
                <a:solidFill>
                  <a:srgbClr val="008BC0"/>
                </a:solidFill>
                <a:latin typeface="Arial"/>
                <a:cs typeface="Arial"/>
              </a:rPr>
              <a:t>the</a:t>
            </a:r>
            <a:endParaRPr sz="1150">
              <a:latin typeface="Arial"/>
              <a:cs typeface="Arial"/>
            </a:endParaRPr>
          </a:p>
          <a:p>
            <a:pPr marL="259715" marR="139700" indent="-125730">
              <a:lnSpc>
                <a:spcPct val="101400"/>
              </a:lnSpc>
            </a:pPr>
            <a:r>
              <a:rPr sz="1150" b="1" dirty="0">
                <a:solidFill>
                  <a:srgbClr val="008BC0"/>
                </a:solidFill>
                <a:latin typeface="Arial"/>
                <a:cs typeface="Arial"/>
              </a:rPr>
              <a:t>reputation</a:t>
            </a:r>
            <a:r>
              <a:rPr sz="1150" b="1" spc="55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008BC0"/>
                </a:solidFill>
                <a:latin typeface="Arial"/>
                <a:cs typeface="Arial"/>
              </a:rPr>
              <a:t>of</a:t>
            </a:r>
            <a:r>
              <a:rPr sz="1150" b="1" spc="60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sz="1150" b="1" spc="-25" dirty="0">
                <a:solidFill>
                  <a:srgbClr val="008BC0"/>
                </a:solidFill>
                <a:latin typeface="Arial"/>
                <a:cs typeface="Arial"/>
              </a:rPr>
              <a:t>the </a:t>
            </a:r>
            <a:r>
              <a:rPr sz="1150" b="1" spc="-10" dirty="0">
                <a:solidFill>
                  <a:srgbClr val="008BC0"/>
                </a:solidFill>
                <a:latin typeface="Arial"/>
                <a:cs typeface="Arial"/>
              </a:rPr>
              <a:t>organization?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82057" y="5283092"/>
            <a:ext cx="1356360" cy="734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150" b="1" dirty="0">
                <a:solidFill>
                  <a:srgbClr val="008BC0"/>
                </a:solidFill>
                <a:latin typeface="Arial"/>
                <a:cs typeface="Arial"/>
              </a:rPr>
              <a:t>How</a:t>
            </a:r>
            <a:r>
              <a:rPr sz="1150" b="1" spc="114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008BC0"/>
                </a:solidFill>
                <a:latin typeface="Arial"/>
                <a:cs typeface="Arial"/>
              </a:rPr>
              <a:t>would</a:t>
            </a:r>
            <a:endParaRPr sz="1150" dirty="0">
              <a:latin typeface="Arial"/>
              <a:cs typeface="Arial"/>
            </a:endParaRPr>
          </a:p>
          <a:p>
            <a:pPr marL="12700" marR="5080" algn="ctr">
              <a:lnSpc>
                <a:spcPct val="101400"/>
              </a:lnSpc>
            </a:pPr>
            <a:r>
              <a:rPr sz="1150" b="1" dirty="0">
                <a:solidFill>
                  <a:srgbClr val="008BC0"/>
                </a:solidFill>
                <a:latin typeface="Arial"/>
                <a:cs typeface="Arial"/>
              </a:rPr>
              <a:t>the</a:t>
            </a:r>
            <a:r>
              <a:rPr sz="1150" b="1" spc="45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sz="1150" b="1" spc="-50" dirty="0">
                <a:solidFill>
                  <a:srgbClr val="008BC0"/>
                </a:solidFill>
                <a:latin typeface="Arial"/>
                <a:cs typeface="Arial"/>
              </a:rPr>
              <a:t>issue</a:t>
            </a:r>
            <a:r>
              <a:rPr sz="1150" b="1" spc="45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008BC0"/>
                </a:solidFill>
                <a:latin typeface="Arial"/>
                <a:cs typeface="Arial"/>
              </a:rPr>
              <a:t>appear</a:t>
            </a:r>
            <a:r>
              <a:rPr sz="1150" b="1" spc="45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sz="1150" b="1" spc="-25" dirty="0">
                <a:solidFill>
                  <a:srgbClr val="008BC0"/>
                </a:solidFill>
                <a:latin typeface="Arial"/>
                <a:cs typeface="Arial"/>
              </a:rPr>
              <a:t>to </a:t>
            </a:r>
            <a:r>
              <a:rPr sz="1150" b="1" spc="-10" dirty="0">
                <a:solidFill>
                  <a:srgbClr val="008BC0"/>
                </a:solidFill>
                <a:latin typeface="Arial"/>
                <a:cs typeface="Arial"/>
              </a:rPr>
              <a:t>someone</a:t>
            </a:r>
            <a:r>
              <a:rPr sz="1150" b="1" spc="-65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008BC0"/>
                </a:solidFill>
                <a:latin typeface="Arial"/>
                <a:cs typeface="Arial"/>
              </a:rPr>
              <a:t>outside </a:t>
            </a:r>
            <a:r>
              <a:rPr lang="en-US" sz="1150" b="1" spc="-10" dirty="0">
                <a:solidFill>
                  <a:srgbClr val="008BC0"/>
                </a:solidFill>
                <a:latin typeface="Arial"/>
                <a:cs typeface="Arial"/>
              </a:rPr>
              <a:t>Destiny Springs</a:t>
            </a:r>
            <a:r>
              <a:rPr sz="1150" b="1" spc="-10" dirty="0">
                <a:solidFill>
                  <a:srgbClr val="008BC0"/>
                </a:solidFill>
                <a:latin typeface="Arial"/>
                <a:cs typeface="Arial"/>
              </a:rPr>
              <a:t>?</a:t>
            </a:r>
            <a:endParaRPr sz="115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86458" y="3641383"/>
            <a:ext cx="878205" cy="55626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indent="43180" algn="ctr">
              <a:lnSpc>
                <a:spcPct val="101400"/>
              </a:lnSpc>
              <a:spcBef>
                <a:spcPts val="80"/>
              </a:spcBef>
            </a:pPr>
            <a:r>
              <a:rPr sz="1150" b="1" dirty="0">
                <a:solidFill>
                  <a:srgbClr val="008BC0"/>
                </a:solidFill>
                <a:latin typeface="Arial"/>
                <a:cs typeface="Arial"/>
              </a:rPr>
              <a:t>Is</a:t>
            </a:r>
            <a:r>
              <a:rPr sz="1150" b="1" spc="-60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008BC0"/>
                </a:solidFill>
                <a:latin typeface="Arial"/>
                <a:cs typeface="Arial"/>
              </a:rPr>
              <a:t>this</a:t>
            </a:r>
            <a:r>
              <a:rPr sz="1150" b="1" spc="-60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sz="1150" b="1" spc="-25" dirty="0">
                <a:solidFill>
                  <a:srgbClr val="008BC0"/>
                </a:solidFill>
                <a:latin typeface="Arial"/>
                <a:cs typeface="Arial"/>
              </a:rPr>
              <a:t>an </a:t>
            </a:r>
            <a:r>
              <a:rPr sz="1150" b="1" spc="-10" dirty="0">
                <a:solidFill>
                  <a:srgbClr val="008BC0"/>
                </a:solidFill>
                <a:latin typeface="Arial"/>
                <a:cs typeface="Arial"/>
              </a:rPr>
              <a:t>ethical</a:t>
            </a:r>
            <a:r>
              <a:rPr sz="1150" b="1" spc="-20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008BC0"/>
                </a:solidFill>
                <a:latin typeface="Arial"/>
                <a:cs typeface="Arial"/>
              </a:rPr>
              <a:t>thing </a:t>
            </a:r>
            <a:r>
              <a:rPr sz="1150" b="1" dirty="0">
                <a:solidFill>
                  <a:srgbClr val="008BC0"/>
                </a:solidFill>
                <a:latin typeface="Arial"/>
                <a:cs typeface="Arial"/>
              </a:rPr>
              <a:t>to</a:t>
            </a:r>
            <a:r>
              <a:rPr sz="1150" b="1" spc="95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sz="1150" b="1" spc="-25" dirty="0">
                <a:solidFill>
                  <a:srgbClr val="008BC0"/>
                </a:solidFill>
                <a:latin typeface="Arial"/>
                <a:cs typeface="Arial"/>
              </a:rPr>
              <a:t>do?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426465" y="2404165"/>
            <a:ext cx="6999605" cy="5374640"/>
            <a:chOff x="1426465" y="2404165"/>
            <a:chExt cx="6999605" cy="537464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26465" y="2404165"/>
              <a:ext cx="6999154" cy="536823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666744" y="7662672"/>
              <a:ext cx="3035935" cy="109855"/>
            </a:xfrm>
            <a:custGeom>
              <a:avLst/>
              <a:gdLst/>
              <a:ahLst/>
              <a:cxnLst/>
              <a:rect l="l" t="t" r="r" b="b"/>
              <a:pathLst>
                <a:path w="3035934" h="109854">
                  <a:moveTo>
                    <a:pt x="3035807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3035807" y="109727"/>
                  </a:lnTo>
                  <a:lnTo>
                    <a:pt x="30358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66744" y="7662672"/>
              <a:ext cx="3035935" cy="109855"/>
            </a:xfrm>
            <a:custGeom>
              <a:avLst/>
              <a:gdLst/>
              <a:ahLst/>
              <a:cxnLst/>
              <a:rect l="l" t="t" r="r" b="b"/>
              <a:pathLst>
                <a:path w="3035934" h="109854">
                  <a:moveTo>
                    <a:pt x="3035807" y="109727"/>
                  </a:moveTo>
                  <a:lnTo>
                    <a:pt x="3035807" y="0"/>
                  </a:lnTo>
                  <a:lnTo>
                    <a:pt x="0" y="0"/>
                  </a:lnTo>
                  <a:lnTo>
                    <a:pt x="0" y="109727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652755" y="6172650"/>
            <a:ext cx="3190240" cy="126492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2022475" indent="-635" algn="ctr">
              <a:lnSpc>
                <a:spcPct val="101400"/>
              </a:lnSpc>
              <a:spcBef>
                <a:spcPts val="80"/>
              </a:spcBef>
            </a:pPr>
            <a:r>
              <a:rPr sz="1150" b="1" dirty="0">
                <a:solidFill>
                  <a:srgbClr val="008BC0"/>
                </a:solidFill>
                <a:latin typeface="Arial"/>
                <a:cs typeface="Arial"/>
              </a:rPr>
              <a:t>Will</a:t>
            </a:r>
            <a:r>
              <a:rPr sz="1150" b="1" spc="-10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008BC0"/>
                </a:solidFill>
                <a:latin typeface="Arial"/>
                <a:cs typeface="Arial"/>
              </a:rPr>
              <a:t>my</a:t>
            </a:r>
            <a:r>
              <a:rPr sz="1150" b="1" spc="-5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008BC0"/>
                </a:solidFill>
                <a:latin typeface="Arial"/>
                <a:cs typeface="Arial"/>
              </a:rPr>
              <a:t>actions </a:t>
            </a:r>
            <a:r>
              <a:rPr sz="1150" b="1" dirty="0">
                <a:solidFill>
                  <a:srgbClr val="008BC0"/>
                </a:solidFill>
                <a:latin typeface="Arial"/>
                <a:cs typeface="Arial"/>
              </a:rPr>
              <a:t>violate</a:t>
            </a:r>
            <a:r>
              <a:rPr sz="1150" b="1" spc="-10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008BC0"/>
                </a:solidFill>
                <a:latin typeface="Arial"/>
                <a:cs typeface="Arial"/>
              </a:rPr>
              <a:t>any</a:t>
            </a:r>
            <a:r>
              <a:rPr sz="1150" b="1" spc="-10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sz="1150" b="1" spc="-25" dirty="0">
                <a:solidFill>
                  <a:srgbClr val="008BC0"/>
                </a:solidFill>
                <a:latin typeface="Arial"/>
                <a:cs typeface="Arial"/>
              </a:rPr>
              <a:t>laws, </a:t>
            </a:r>
            <a:r>
              <a:rPr sz="1150" b="1" spc="-10" dirty="0">
                <a:solidFill>
                  <a:srgbClr val="008BC0"/>
                </a:solidFill>
                <a:latin typeface="Arial"/>
                <a:cs typeface="Arial"/>
              </a:rPr>
              <a:t>regulations</a:t>
            </a:r>
            <a:r>
              <a:rPr sz="1150" b="1" spc="-50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sz="1150" b="1" spc="-25" dirty="0">
                <a:solidFill>
                  <a:srgbClr val="008BC0"/>
                </a:solidFill>
                <a:latin typeface="Arial"/>
                <a:cs typeface="Arial"/>
              </a:rPr>
              <a:t>or </a:t>
            </a:r>
            <a:r>
              <a:rPr lang="en-US" sz="1150" b="1" spc="-10" dirty="0">
                <a:solidFill>
                  <a:srgbClr val="008BC0"/>
                </a:solidFill>
                <a:latin typeface="Arial"/>
                <a:cs typeface="Arial"/>
              </a:rPr>
              <a:t>Destiny Springs</a:t>
            </a:r>
            <a:r>
              <a:rPr sz="1150" b="1" spc="-10" dirty="0">
                <a:solidFill>
                  <a:srgbClr val="008BC0"/>
                </a:solidFill>
                <a:latin typeface="Arial"/>
                <a:cs typeface="Arial"/>
              </a:rPr>
              <a:t> procedures?</a:t>
            </a:r>
            <a:endParaRPr sz="11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1150" dirty="0">
              <a:latin typeface="Arial"/>
              <a:cs typeface="Arial"/>
            </a:endParaRPr>
          </a:p>
          <a:p>
            <a:pPr marL="1727835">
              <a:lnSpc>
                <a:spcPct val="100000"/>
              </a:lnSpc>
            </a:pPr>
            <a:r>
              <a:rPr sz="850" b="1" spc="-25" dirty="0">
                <a:solidFill>
                  <a:srgbClr val="FFC425"/>
                </a:solidFill>
                <a:latin typeface="Arial"/>
                <a:cs typeface="Arial"/>
              </a:rPr>
              <a:t>VALUES</a:t>
            </a:r>
            <a:r>
              <a:rPr sz="850" b="1" spc="-15" dirty="0">
                <a:solidFill>
                  <a:srgbClr val="FFC425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FC425"/>
                </a:solidFill>
                <a:latin typeface="Arial"/>
                <a:cs typeface="Arial"/>
              </a:rPr>
              <a:t>LINE</a:t>
            </a:r>
            <a:r>
              <a:rPr sz="850" b="1" spc="-15" dirty="0">
                <a:solidFill>
                  <a:srgbClr val="FFC425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47720"/>
                </a:solidFill>
                <a:latin typeface="Arial"/>
                <a:cs typeface="Arial"/>
              </a:rPr>
              <a:t>I</a:t>
            </a:r>
            <a:r>
              <a:rPr sz="850" b="1" spc="-15" dirty="0">
                <a:solidFill>
                  <a:srgbClr val="F47720"/>
                </a:solidFill>
                <a:latin typeface="Arial"/>
                <a:cs typeface="Arial"/>
              </a:rPr>
              <a:t> </a:t>
            </a:r>
            <a:r>
              <a:rPr lang="en-US" sz="850" i="1" spc="-90" dirty="0">
                <a:solidFill>
                  <a:srgbClr val="008BC0"/>
                </a:solidFill>
                <a:latin typeface="Arial"/>
                <a:cs typeface="Arial"/>
              </a:rPr>
              <a:t>833.290.0001   </a:t>
            </a:r>
            <a:r>
              <a:rPr lang="en-US" sz="850" b="1" spc="-90" dirty="0">
                <a:solidFill>
                  <a:srgbClr val="008BC0"/>
                </a:solidFill>
                <a:latin typeface="Arial"/>
                <a:cs typeface="Arial"/>
              </a:rPr>
              <a:t>5</a:t>
            </a:r>
            <a:endParaRPr sz="850" b="1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577808" y="1276518"/>
            <a:ext cx="267970" cy="254000"/>
          </a:xfrm>
          <a:custGeom>
            <a:avLst/>
            <a:gdLst/>
            <a:ahLst/>
            <a:cxnLst/>
            <a:rect l="l" t="t" r="r" b="b"/>
            <a:pathLst>
              <a:path w="267970" h="254000">
                <a:moveTo>
                  <a:pt x="173418" y="0"/>
                </a:moveTo>
                <a:lnTo>
                  <a:pt x="148767" y="50698"/>
                </a:lnTo>
                <a:lnTo>
                  <a:pt x="63487" y="63106"/>
                </a:lnTo>
                <a:lnTo>
                  <a:pt x="0" y="116636"/>
                </a:lnTo>
                <a:lnTo>
                  <a:pt x="97091" y="253657"/>
                </a:lnTo>
                <a:lnTo>
                  <a:pt x="157695" y="127215"/>
                </a:lnTo>
                <a:lnTo>
                  <a:pt x="267576" y="132892"/>
                </a:lnTo>
                <a:lnTo>
                  <a:pt x="173418" y="0"/>
                </a:lnTo>
                <a:close/>
              </a:path>
            </a:pathLst>
          </a:custGeom>
          <a:solidFill>
            <a:srgbClr val="F477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137068" y="649236"/>
            <a:ext cx="701675" cy="881380"/>
          </a:xfrm>
          <a:custGeom>
            <a:avLst/>
            <a:gdLst/>
            <a:ahLst/>
            <a:cxnLst/>
            <a:rect l="l" t="t" r="r" b="b"/>
            <a:pathLst>
              <a:path w="701675" h="881380">
                <a:moveTo>
                  <a:pt x="268135" y="743089"/>
                </a:moveTo>
                <a:lnTo>
                  <a:pt x="205676" y="690384"/>
                </a:lnTo>
                <a:lnTo>
                  <a:pt x="120383" y="677976"/>
                </a:lnTo>
                <a:lnTo>
                  <a:pt x="95110" y="625957"/>
                </a:lnTo>
                <a:lnTo>
                  <a:pt x="0" y="760196"/>
                </a:lnTo>
                <a:lnTo>
                  <a:pt x="109893" y="754507"/>
                </a:lnTo>
                <a:lnTo>
                  <a:pt x="170484" y="880948"/>
                </a:lnTo>
                <a:lnTo>
                  <a:pt x="268135" y="743089"/>
                </a:lnTo>
                <a:close/>
              </a:path>
              <a:path w="701675" h="881380">
                <a:moveTo>
                  <a:pt x="504037" y="309130"/>
                </a:moveTo>
                <a:lnTo>
                  <a:pt x="401015" y="294170"/>
                </a:lnTo>
                <a:lnTo>
                  <a:pt x="354939" y="200812"/>
                </a:lnTo>
                <a:lnTo>
                  <a:pt x="308864" y="294157"/>
                </a:lnTo>
                <a:lnTo>
                  <a:pt x="205828" y="309130"/>
                </a:lnTo>
                <a:lnTo>
                  <a:pt x="280390" y="381800"/>
                </a:lnTo>
                <a:lnTo>
                  <a:pt x="262775" y="484428"/>
                </a:lnTo>
                <a:lnTo>
                  <a:pt x="354939" y="435978"/>
                </a:lnTo>
                <a:lnTo>
                  <a:pt x="447065" y="484428"/>
                </a:lnTo>
                <a:lnTo>
                  <a:pt x="429475" y="381800"/>
                </a:lnTo>
                <a:lnTo>
                  <a:pt x="504037" y="309130"/>
                </a:lnTo>
                <a:close/>
              </a:path>
              <a:path w="701675" h="881380">
                <a:moveTo>
                  <a:pt x="701103" y="388950"/>
                </a:moveTo>
                <a:lnTo>
                  <a:pt x="673138" y="318300"/>
                </a:lnTo>
                <a:lnTo>
                  <a:pt x="685965" y="243319"/>
                </a:lnTo>
                <a:lnTo>
                  <a:pt x="632002" y="190271"/>
                </a:lnTo>
                <a:lnTo>
                  <a:pt x="613600" y="116522"/>
                </a:lnTo>
                <a:lnTo>
                  <a:pt x="600900" y="111810"/>
                </a:lnTo>
                <a:lnTo>
                  <a:pt x="600900" y="347713"/>
                </a:lnTo>
                <a:lnTo>
                  <a:pt x="595909" y="397281"/>
                </a:lnTo>
                <a:lnTo>
                  <a:pt x="581583" y="443458"/>
                </a:lnTo>
                <a:lnTo>
                  <a:pt x="558901" y="485241"/>
                </a:lnTo>
                <a:lnTo>
                  <a:pt x="528878" y="521639"/>
                </a:lnTo>
                <a:lnTo>
                  <a:pt x="492480" y="551675"/>
                </a:lnTo>
                <a:lnTo>
                  <a:pt x="450697" y="574344"/>
                </a:lnTo>
                <a:lnTo>
                  <a:pt x="404520" y="588670"/>
                </a:lnTo>
                <a:lnTo>
                  <a:pt x="354939" y="593674"/>
                </a:lnTo>
                <a:lnTo>
                  <a:pt x="305384" y="588670"/>
                </a:lnTo>
                <a:lnTo>
                  <a:pt x="259207" y="574344"/>
                </a:lnTo>
                <a:lnTo>
                  <a:pt x="217436" y="551675"/>
                </a:lnTo>
                <a:lnTo>
                  <a:pt x="181025" y="521639"/>
                </a:lnTo>
                <a:lnTo>
                  <a:pt x="150990" y="485241"/>
                </a:lnTo>
                <a:lnTo>
                  <a:pt x="128320" y="443458"/>
                </a:lnTo>
                <a:lnTo>
                  <a:pt x="113982" y="397281"/>
                </a:lnTo>
                <a:lnTo>
                  <a:pt x="108978" y="347713"/>
                </a:lnTo>
                <a:lnTo>
                  <a:pt x="113982" y="298145"/>
                </a:lnTo>
                <a:lnTo>
                  <a:pt x="128320" y="251980"/>
                </a:lnTo>
                <a:lnTo>
                  <a:pt x="150990" y="210210"/>
                </a:lnTo>
                <a:lnTo>
                  <a:pt x="181025" y="173812"/>
                </a:lnTo>
                <a:lnTo>
                  <a:pt x="217436" y="143776"/>
                </a:lnTo>
                <a:lnTo>
                  <a:pt x="259207" y="121107"/>
                </a:lnTo>
                <a:lnTo>
                  <a:pt x="305384" y="106768"/>
                </a:lnTo>
                <a:lnTo>
                  <a:pt x="354939" y="101777"/>
                </a:lnTo>
                <a:lnTo>
                  <a:pt x="404520" y="106768"/>
                </a:lnTo>
                <a:lnTo>
                  <a:pt x="450697" y="121107"/>
                </a:lnTo>
                <a:lnTo>
                  <a:pt x="492480" y="143776"/>
                </a:lnTo>
                <a:lnTo>
                  <a:pt x="528878" y="173812"/>
                </a:lnTo>
                <a:lnTo>
                  <a:pt x="558901" y="210210"/>
                </a:lnTo>
                <a:lnTo>
                  <a:pt x="581583" y="251980"/>
                </a:lnTo>
                <a:lnTo>
                  <a:pt x="595909" y="298145"/>
                </a:lnTo>
                <a:lnTo>
                  <a:pt x="600900" y="347713"/>
                </a:lnTo>
                <a:lnTo>
                  <a:pt x="600900" y="111810"/>
                </a:lnTo>
                <a:lnTo>
                  <a:pt x="573963" y="101777"/>
                </a:lnTo>
                <a:lnTo>
                  <a:pt x="543013" y="90271"/>
                </a:lnTo>
                <a:lnTo>
                  <a:pt x="500456" y="35509"/>
                </a:lnTo>
                <a:lnTo>
                  <a:pt x="496519" y="30441"/>
                </a:lnTo>
                <a:lnTo>
                  <a:pt x="421449" y="35509"/>
                </a:lnTo>
                <a:lnTo>
                  <a:pt x="354939" y="0"/>
                </a:lnTo>
                <a:lnTo>
                  <a:pt x="288429" y="35509"/>
                </a:lnTo>
                <a:lnTo>
                  <a:pt x="213372" y="30441"/>
                </a:lnTo>
                <a:lnTo>
                  <a:pt x="166878" y="90271"/>
                </a:lnTo>
                <a:lnTo>
                  <a:pt x="96266" y="116522"/>
                </a:lnTo>
                <a:lnTo>
                  <a:pt x="77863" y="190271"/>
                </a:lnTo>
                <a:lnTo>
                  <a:pt x="23901" y="243319"/>
                </a:lnTo>
                <a:lnTo>
                  <a:pt x="36728" y="318300"/>
                </a:lnTo>
                <a:lnTo>
                  <a:pt x="8775" y="388950"/>
                </a:lnTo>
                <a:lnTo>
                  <a:pt x="50647" y="452132"/>
                </a:lnTo>
                <a:lnTo>
                  <a:pt x="53517" y="528193"/>
                </a:lnTo>
                <a:lnTo>
                  <a:pt x="117182" y="568706"/>
                </a:lnTo>
                <a:lnTo>
                  <a:pt x="150355" y="636993"/>
                </a:lnTo>
                <a:lnTo>
                  <a:pt x="224802" y="647839"/>
                </a:lnTo>
                <a:lnTo>
                  <a:pt x="282562" y="696569"/>
                </a:lnTo>
                <a:lnTo>
                  <a:pt x="354939" y="675817"/>
                </a:lnTo>
                <a:lnTo>
                  <a:pt x="427304" y="696569"/>
                </a:lnTo>
                <a:lnTo>
                  <a:pt x="451916" y="675817"/>
                </a:lnTo>
                <a:lnTo>
                  <a:pt x="485076" y="647839"/>
                </a:lnTo>
                <a:lnTo>
                  <a:pt x="559536" y="636993"/>
                </a:lnTo>
                <a:lnTo>
                  <a:pt x="580580" y="593674"/>
                </a:lnTo>
                <a:lnTo>
                  <a:pt x="592696" y="568706"/>
                </a:lnTo>
                <a:lnTo>
                  <a:pt x="656348" y="528193"/>
                </a:lnTo>
                <a:lnTo>
                  <a:pt x="659231" y="452132"/>
                </a:lnTo>
                <a:lnTo>
                  <a:pt x="701103" y="388950"/>
                </a:lnTo>
                <a:close/>
              </a:path>
            </a:pathLst>
          </a:custGeom>
          <a:solidFill>
            <a:srgbClr val="F477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65710" y="630322"/>
            <a:ext cx="7646670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90" dirty="0">
                <a:solidFill>
                  <a:srgbClr val="722B63"/>
                </a:solidFill>
              </a:rPr>
              <a:t>E</a:t>
            </a:r>
            <a:r>
              <a:rPr spc="-1375" dirty="0">
                <a:solidFill>
                  <a:srgbClr val="722B63"/>
                </a:solidFill>
              </a:rPr>
              <a:t>X</a:t>
            </a:r>
            <a:r>
              <a:rPr spc="-690" dirty="0">
                <a:solidFill>
                  <a:srgbClr val="722B63"/>
                </a:solidFill>
              </a:rPr>
              <a:t>C</a:t>
            </a:r>
            <a:r>
              <a:rPr spc="-1115" dirty="0">
                <a:solidFill>
                  <a:srgbClr val="722B63"/>
                </a:solidFill>
              </a:rPr>
              <a:t>E</a:t>
            </a:r>
            <a:r>
              <a:rPr spc="-720" dirty="0">
                <a:solidFill>
                  <a:srgbClr val="722B63"/>
                </a:solidFill>
              </a:rPr>
              <a:t>LL</a:t>
            </a:r>
            <a:r>
              <a:rPr spc="-900" dirty="0">
                <a:solidFill>
                  <a:srgbClr val="722B63"/>
                </a:solidFill>
              </a:rPr>
              <a:t>E</a:t>
            </a:r>
            <a:r>
              <a:rPr spc="-800" dirty="0">
                <a:solidFill>
                  <a:srgbClr val="722B63"/>
                </a:solidFill>
              </a:rPr>
              <a:t>N</a:t>
            </a:r>
            <a:r>
              <a:rPr spc="-475" dirty="0">
                <a:solidFill>
                  <a:srgbClr val="722B63"/>
                </a:solidFill>
              </a:rPr>
              <a:t>C</a:t>
            </a:r>
            <a:r>
              <a:rPr spc="-260" dirty="0">
                <a:solidFill>
                  <a:srgbClr val="722B63"/>
                </a:solidFill>
              </a:rPr>
              <a:t>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59183" y="3796741"/>
            <a:ext cx="3667760" cy="2471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80010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research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best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practices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my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area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expertise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proactively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seek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opportunities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for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continued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growth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improvement.</a:t>
            </a:r>
            <a:endParaRPr sz="1150">
              <a:latin typeface="Avenir Book"/>
              <a:cs typeface="Avenir Book"/>
            </a:endParaRPr>
          </a:p>
          <a:p>
            <a:pPr marL="241300" marR="30480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care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for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myself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so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can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bring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positive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helpful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attitude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my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daily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work.</a:t>
            </a:r>
            <a:endParaRPr sz="1150">
              <a:latin typeface="Avenir Book"/>
              <a:cs typeface="Avenir Book"/>
            </a:endParaRPr>
          </a:p>
          <a:p>
            <a:pPr marL="241300" marR="866775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accept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coaching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as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part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continuous improvement.</a:t>
            </a:r>
            <a:endParaRPr sz="1150">
              <a:latin typeface="Avenir Book"/>
              <a:cs typeface="Avenir Book"/>
            </a:endParaRPr>
          </a:p>
          <a:p>
            <a:pPr marL="241300" marR="223520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deliver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high-quality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outcomes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while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maintaining integrity.</a:t>
            </a:r>
            <a:endParaRPr sz="1150">
              <a:latin typeface="Avenir Book"/>
              <a:cs typeface="Avenir Book"/>
            </a:endParaRPr>
          </a:p>
          <a:p>
            <a:pPr marL="241300" marR="5080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 assess my own competence and seek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consultations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help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from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qualified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resources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when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appropriate.</a:t>
            </a:r>
            <a:endParaRPr sz="1150">
              <a:latin typeface="Avenir Book"/>
              <a:cs typeface="Avenir Book"/>
            </a:endParaRPr>
          </a:p>
          <a:p>
            <a:pPr marL="240665" indent="-227965">
              <a:lnSpc>
                <a:spcPct val="100000"/>
              </a:lnSpc>
              <a:spcBef>
                <a:spcPts val="540"/>
              </a:spcBef>
              <a:buChar char="•"/>
              <a:tabLst>
                <a:tab pos="240665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commit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being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accountable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for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zero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harm.</a:t>
            </a:r>
            <a:endParaRPr sz="1150">
              <a:latin typeface="Avenir Book"/>
              <a:cs typeface="Avenir Book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445977" y="3577235"/>
            <a:ext cx="5382260" cy="3666490"/>
            <a:chOff x="4445977" y="3577235"/>
            <a:chExt cx="5382260" cy="366649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23845" y="5657037"/>
              <a:ext cx="100761" cy="9554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57844" y="5656540"/>
              <a:ext cx="100990" cy="9603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61150" y="5420789"/>
              <a:ext cx="260985" cy="262890"/>
            </a:xfrm>
            <a:custGeom>
              <a:avLst/>
              <a:gdLst/>
              <a:ahLst/>
              <a:cxnLst/>
              <a:rect l="l" t="t" r="r" b="b"/>
              <a:pathLst>
                <a:path w="260984" h="262889">
                  <a:moveTo>
                    <a:pt x="77063" y="11468"/>
                  </a:moveTo>
                  <a:lnTo>
                    <a:pt x="59550" y="34010"/>
                  </a:lnTo>
                  <a:lnTo>
                    <a:pt x="32956" y="43891"/>
                  </a:lnTo>
                  <a:lnTo>
                    <a:pt x="26022" y="71666"/>
                  </a:lnTo>
                  <a:lnTo>
                    <a:pt x="5702" y="91643"/>
                  </a:lnTo>
                  <a:lnTo>
                    <a:pt x="10540" y="119887"/>
                  </a:lnTo>
                  <a:lnTo>
                    <a:pt x="0" y="146481"/>
                  </a:lnTo>
                  <a:lnTo>
                    <a:pt x="15773" y="170294"/>
                  </a:lnTo>
                  <a:lnTo>
                    <a:pt x="16759" y="196467"/>
                  </a:lnTo>
                  <a:lnTo>
                    <a:pt x="16852" y="198932"/>
                  </a:lnTo>
                  <a:lnTo>
                    <a:pt x="40830" y="214185"/>
                  </a:lnTo>
                  <a:lnTo>
                    <a:pt x="53327" y="239915"/>
                  </a:lnTo>
                  <a:lnTo>
                    <a:pt x="81368" y="243992"/>
                  </a:lnTo>
                  <a:lnTo>
                    <a:pt x="103111" y="262343"/>
                  </a:lnTo>
                  <a:lnTo>
                    <a:pt x="130378" y="254533"/>
                  </a:lnTo>
                  <a:lnTo>
                    <a:pt x="166884" y="254533"/>
                  </a:lnTo>
                  <a:lnTo>
                    <a:pt x="179387" y="243992"/>
                  </a:lnTo>
                  <a:lnTo>
                    <a:pt x="207429" y="239915"/>
                  </a:lnTo>
                  <a:lnTo>
                    <a:pt x="215347" y="223596"/>
                  </a:lnTo>
                  <a:lnTo>
                    <a:pt x="130378" y="223596"/>
                  </a:lnTo>
                  <a:lnTo>
                    <a:pt x="94317" y="216317"/>
                  </a:lnTo>
                  <a:lnTo>
                    <a:pt x="64873" y="196467"/>
                  </a:lnTo>
                  <a:lnTo>
                    <a:pt x="45022" y="167023"/>
                  </a:lnTo>
                  <a:lnTo>
                    <a:pt x="37744" y="130962"/>
                  </a:lnTo>
                  <a:lnTo>
                    <a:pt x="45022" y="94909"/>
                  </a:lnTo>
                  <a:lnTo>
                    <a:pt x="64873" y="65468"/>
                  </a:lnTo>
                  <a:lnTo>
                    <a:pt x="94317" y="45619"/>
                  </a:lnTo>
                  <a:lnTo>
                    <a:pt x="130378" y="38341"/>
                  </a:lnTo>
                  <a:lnTo>
                    <a:pt x="212856" y="38341"/>
                  </a:lnTo>
                  <a:lnTo>
                    <a:pt x="201206" y="34010"/>
                  </a:lnTo>
                  <a:lnTo>
                    <a:pt x="185182" y="13385"/>
                  </a:lnTo>
                  <a:lnTo>
                    <a:pt x="105321" y="13385"/>
                  </a:lnTo>
                  <a:lnTo>
                    <a:pt x="77063" y="11468"/>
                  </a:lnTo>
                  <a:close/>
                </a:path>
                <a:path w="260984" h="262889">
                  <a:moveTo>
                    <a:pt x="166884" y="254533"/>
                  </a:moveTo>
                  <a:lnTo>
                    <a:pt x="130378" y="254533"/>
                  </a:lnTo>
                  <a:lnTo>
                    <a:pt x="157619" y="262343"/>
                  </a:lnTo>
                  <a:lnTo>
                    <a:pt x="166884" y="254533"/>
                  </a:lnTo>
                  <a:close/>
                </a:path>
                <a:path w="260984" h="262889">
                  <a:moveTo>
                    <a:pt x="212856" y="38341"/>
                  </a:moveTo>
                  <a:lnTo>
                    <a:pt x="130378" y="38341"/>
                  </a:lnTo>
                  <a:lnTo>
                    <a:pt x="166438" y="45619"/>
                  </a:lnTo>
                  <a:lnTo>
                    <a:pt x="195883" y="65468"/>
                  </a:lnTo>
                  <a:lnTo>
                    <a:pt x="215733" y="94909"/>
                  </a:lnTo>
                  <a:lnTo>
                    <a:pt x="223011" y="130962"/>
                  </a:lnTo>
                  <a:lnTo>
                    <a:pt x="215733" y="167023"/>
                  </a:lnTo>
                  <a:lnTo>
                    <a:pt x="195883" y="196467"/>
                  </a:lnTo>
                  <a:lnTo>
                    <a:pt x="166438" y="216317"/>
                  </a:lnTo>
                  <a:lnTo>
                    <a:pt x="130378" y="223596"/>
                  </a:lnTo>
                  <a:lnTo>
                    <a:pt x="215347" y="223596"/>
                  </a:lnTo>
                  <a:lnTo>
                    <a:pt x="219913" y="214185"/>
                  </a:lnTo>
                  <a:lnTo>
                    <a:pt x="243890" y="198932"/>
                  </a:lnTo>
                  <a:lnTo>
                    <a:pt x="244970" y="170294"/>
                  </a:lnTo>
                  <a:lnTo>
                    <a:pt x="260743" y="146481"/>
                  </a:lnTo>
                  <a:lnTo>
                    <a:pt x="250215" y="119887"/>
                  </a:lnTo>
                  <a:lnTo>
                    <a:pt x="255041" y="91643"/>
                  </a:lnTo>
                  <a:lnTo>
                    <a:pt x="234721" y="71666"/>
                  </a:lnTo>
                  <a:lnTo>
                    <a:pt x="227787" y="43891"/>
                  </a:lnTo>
                  <a:lnTo>
                    <a:pt x="212856" y="38341"/>
                  </a:lnTo>
                  <a:close/>
                </a:path>
                <a:path w="260984" h="262889">
                  <a:moveTo>
                    <a:pt x="130378" y="0"/>
                  </a:moveTo>
                  <a:lnTo>
                    <a:pt x="105321" y="13385"/>
                  </a:lnTo>
                  <a:lnTo>
                    <a:pt x="155422" y="13385"/>
                  </a:lnTo>
                  <a:lnTo>
                    <a:pt x="130378" y="0"/>
                  </a:lnTo>
                  <a:close/>
                </a:path>
                <a:path w="260984" h="262889">
                  <a:moveTo>
                    <a:pt x="183692" y="11468"/>
                  </a:moveTo>
                  <a:lnTo>
                    <a:pt x="155422" y="13385"/>
                  </a:lnTo>
                  <a:lnTo>
                    <a:pt x="185182" y="13385"/>
                  </a:lnTo>
                  <a:lnTo>
                    <a:pt x="183692" y="11468"/>
                  </a:lnTo>
                  <a:close/>
                </a:path>
              </a:pathLst>
            </a:custGeom>
            <a:solidFill>
              <a:srgbClr val="F477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35373" y="5496434"/>
              <a:ext cx="112306" cy="10680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45977" y="3577235"/>
              <a:ext cx="5382234" cy="3666323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59183" y="3453303"/>
            <a:ext cx="32937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35" dirty="0">
                <a:solidFill>
                  <a:srgbClr val="722B63"/>
                </a:solidFill>
                <a:latin typeface="Arial"/>
                <a:cs typeface="Arial"/>
              </a:rPr>
              <a:t>EXCELLENCE</a:t>
            </a:r>
            <a:r>
              <a:rPr sz="1400" b="1" spc="-40" dirty="0">
                <a:solidFill>
                  <a:srgbClr val="722B63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722B63"/>
                </a:solidFill>
                <a:latin typeface="Arial"/>
                <a:cs typeface="Arial"/>
              </a:rPr>
              <a:t>BEHAVIOR</a:t>
            </a:r>
            <a:r>
              <a:rPr sz="1400" b="1" spc="-35" dirty="0">
                <a:solidFill>
                  <a:srgbClr val="722B63"/>
                </a:solidFill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722B63"/>
                </a:solidFill>
                <a:latin typeface="Arial"/>
                <a:cs typeface="Arial"/>
              </a:rPr>
              <a:t>STANDARDS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9183" y="2277516"/>
            <a:ext cx="1906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95" dirty="0">
                <a:solidFill>
                  <a:srgbClr val="F47720"/>
                </a:solidFill>
                <a:latin typeface="Arial"/>
                <a:cs typeface="Arial"/>
              </a:rPr>
              <a:t>Aspiring</a:t>
            </a:r>
            <a:r>
              <a:rPr sz="1800" i="1" spc="20" dirty="0">
                <a:solidFill>
                  <a:srgbClr val="F47720"/>
                </a:solidFill>
                <a:latin typeface="Arial"/>
                <a:cs typeface="Arial"/>
              </a:rPr>
              <a:t> </a:t>
            </a:r>
            <a:r>
              <a:rPr sz="1800" i="1" spc="-225" dirty="0">
                <a:solidFill>
                  <a:srgbClr val="F47720"/>
                </a:solidFill>
                <a:latin typeface="Arial"/>
                <a:cs typeface="Arial"/>
              </a:rPr>
              <a:t>to</a:t>
            </a:r>
            <a:r>
              <a:rPr sz="1800" i="1" spc="35" dirty="0">
                <a:solidFill>
                  <a:srgbClr val="F47720"/>
                </a:solidFill>
                <a:latin typeface="Arial"/>
                <a:cs typeface="Arial"/>
              </a:rPr>
              <a:t> </a:t>
            </a:r>
            <a:r>
              <a:rPr sz="1800" i="1" spc="-310" dirty="0">
                <a:solidFill>
                  <a:srgbClr val="F47720"/>
                </a:solidFill>
                <a:latin typeface="Arial"/>
                <a:cs typeface="Arial"/>
              </a:rPr>
              <a:t>be</a:t>
            </a:r>
            <a:r>
              <a:rPr sz="1800" i="1" spc="35" dirty="0">
                <a:solidFill>
                  <a:srgbClr val="F47720"/>
                </a:solidFill>
                <a:latin typeface="Arial"/>
                <a:cs typeface="Arial"/>
              </a:rPr>
              <a:t> </a:t>
            </a:r>
            <a:r>
              <a:rPr sz="1800" i="1" spc="-260" dirty="0">
                <a:solidFill>
                  <a:srgbClr val="F47720"/>
                </a:solidFill>
                <a:latin typeface="Arial"/>
                <a:cs typeface="Arial"/>
              </a:rPr>
              <a:t>the</a:t>
            </a:r>
            <a:r>
              <a:rPr sz="1800" i="1" spc="35" dirty="0">
                <a:solidFill>
                  <a:srgbClr val="F47720"/>
                </a:solidFill>
                <a:latin typeface="Arial"/>
                <a:cs typeface="Arial"/>
              </a:rPr>
              <a:t> </a:t>
            </a:r>
            <a:r>
              <a:rPr sz="1800" i="1" spc="-145" dirty="0">
                <a:solidFill>
                  <a:srgbClr val="F47720"/>
                </a:solidFill>
                <a:latin typeface="Arial"/>
                <a:cs typeface="Arial"/>
              </a:rPr>
              <a:t>best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23613" y="3577234"/>
            <a:ext cx="5405120" cy="2253822"/>
          </a:xfrm>
          <a:prstGeom prst="rect">
            <a:avLst/>
          </a:prstGeom>
          <a:ln w="3175">
            <a:solidFill>
              <a:srgbClr val="F47720"/>
            </a:solidFill>
          </a:ln>
        </p:spPr>
        <p:txBody>
          <a:bodyPr vert="horz" wrap="square" lIns="0" tIns="233045" rIns="0" bIns="0" rtlCol="0">
            <a:spAutoFit/>
          </a:bodyPr>
          <a:lstStyle/>
          <a:p>
            <a:pPr marL="162560" marR="3054350">
              <a:lnSpc>
                <a:spcPct val="100000"/>
              </a:lnSpc>
              <a:spcBef>
                <a:spcPts val="1835"/>
              </a:spcBef>
            </a:pPr>
            <a:r>
              <a:rPr sz="1800" dirty="0">
                <a:solidFill>
                  <a:srgbClr val="F47720"/>
                </a:solidFill>
                <a:latin typeface="Avenir Book"/>
                <a:cs typeface="Avenir Book"/>
              </a:rPr>
              <a:t>“Thank</a:t>
            </a:r>
            <a:r>
              <a:rPr sz="1800" spc="-35" dirty="0">
                <a:solidFill>
                  <a:srgbClr val="F47720"/>
                </a:solidFill>
                <a:latin typeface="Avenir Book"/>
                <a:cs typeface="Avenir Book"/>
              </a:rPr>
              <a:t> </a:t>
            </a:r>
            <a:r>
              <a:rPr sz="1800" dirty="0">
                <a:solidFill>
                  <a:srgbClr val="F47720"/>
                </a:solidFill>
                <a:latin typeface="Avenir Book"/>
                <a:cs typeface="Avenir Book"/>
              </a:rPr>
              <a:t>you</a:t>
            </a:r>
            <a:r>
              <a:rPr sz="1800" spc="-35" dirty="0">
                <a:solidFill>
                  <a:srgbClr val="F47720"/>
                </a:solidFill>
                <a:latin typeface="Avenir Book"/>
                <a:cs typeface="Avenir Book"/>
              </a:rPr>
              <a:t> </a:t>
            </a:r>
            <a:r>
              <a:rPr sz="1800" dirty="0">
                <a:solidFill>
                  <a:srgbClr val="F47720"/>
                </a:solidFill>
                <a:latin typeface="Avenir Book"/>
                <a:cs typeface="Avenir Book"/>
              </a:rPr>
              <a:t>again</a:t>
            </a:r>
            <a:r>
              <a:rPr sz="1800" spc="-35" dirty="0">
                <a:solidFill>
                  <a:srgbClr val="F47720"/>
                </a:solidFill>
                <a:latin typeface="Avenir Book"/>
                <a:cs typeface="Avenir Book"/>
              </a:rPr>
              <a:t> </a:t>
            </a:r>
            <a:r>
              <a:rPr sz="1800" spc="-25" dirty="0">
                <a:solidFill>
                  <a:srgbClr val="F47720"/>
                </a:solidFill>
                <a:latin typeface="Avenir Book"/>
                <a:cs typeface="Avenir Book"/>
              </a:rPr>
              <a:t>for </a:t>
            </a:r>
            <a:r>
              <a:rPr sz="1800" dirty="0">
                <a:solidFill>
                  <a:srgbClr val="F47720"/>
                </a:solidFill>
                <a:latin typeface="Avenir Book"/>
                <a:cs typeface="Avenir Book"/>
              </a:rPr>
              <a:t>all</a:t>
            </a:r>
            <a:r>
              <a:rPr sz="1800" spc="-15" dirty="0">
                <a:solidFill>
                  <a:srgbClr val="F47720"/>
                </a:solidFill>
                <a:latin typeface="Avenir Book"/>
                <a:cs typeface="Avenir Book"/>
              </a:rPr>
              <a:t> </a:t>
            </a:r>
            <a:r>
              <a:rPr sz="1800" dirty="0">
                <a:solidFill>
                  <a:srgbClr val="F47720"/>
                </a:solidFill>
                <a:latin typeface="Avenir Book"/>
                <a:cs typeface="Avenir Book"/>
              </a:rPr>
              <a:t>you</a:t>
            </a:r>
            <a:r>
              <a:rPr sz="1800" spc="-10" dirty="0">
                <a:solidFill>
                  <a:srgbClr val="F47720"/>
                </a:solidFill>
                <a:latin typeface="Avenir Book"/>
                <a:cs typeface="Avenir Book"/>
              </a:rPr>
              <a:t> </a:t>
            </a:r>
            <a:r>
              <a:rPr sz="1800" dirty="0">
                <a:solidFill>
                  <a:srgbClr val="F47720"/>
                </a:solidFill>
                <a:latin typeface="Avenir Book"/>
                <a:cs typeface="Avenir Book"/>
              </a:rPr>
              <a:t>did</a:t>
            </a:r>
            <a:r>
              <a:rPr sz="1800" spc="-10" dirty="0">
                <a:solidFill>
                  <a:srgbClr val="F47720"/>
                </a:solidFill>
                <a:latin typeface="Avenir Book"/>
                <a:cs typeface="Avenir Book"/>
              </a:rPr>
              <a:t> </a:t>
            </a:r>
            <a:r>
              <a:rPr sz="1800" dirty="0">
                <a:solidFill>
                  <a:srgbClr val="F47720"/>
                </a:solidFill>
                <a:latin typeface="Avenir Book"/>
                <a:cs typeface="Avenir Book"/>
              </a:rPr>
              <a:t>to</a:t>
            </a:r>
            <a:r>
              <a:rPr sz="1800" spc="-10" dirty="0">
                <a:solidFill>
                  <a:srgbClr val="F47720"/>
                </a:solidFill>
                <a:latin typeface="Avenir Book"/>
                <a:cs typeface="Avenir Book"/>
              </a:rPr>
              <a:t> provide </a:t>
            </a:r>
            <a:r>
              <a:rPr sz="1800" dirty="0">
                <a:solidFill>
                  <a:srgbClr val="F47720"/>
                </a:solidFill>
                <a:latin typeface="Avenir Book"/>
                <a:cs typeface="Avenir Book"/>
              </a:rPr>
              <a:t>the</a:t>
            </a:r>
            <a:r>
              <a:rPr sz="1800" spc="-30" dirty="0">
                <a:solidFill>
                  <a:srgbClr val="F47720"/>
                </a:solidFill>
                <a:latin typeface="Avenir Book"/>
                <a:cs typeface="Avenir Book"/>
              </a:rPr>
              <a:t> </a:t>
            </a:r>
            <a:r>
              <a:rPr sz="1800" dirty="0">
                <a:solidFill>
                  <a:srgbClr val="F47720"/>
                </a:solidFill>
                <a:latin typeface="Avenir Book"/>
                <a:cs typeface="Avenir Book"/>
              </a:rPr>
              <a:t>best</a:t>
            </a:r>
            <a:r>
              <a:rPr sz="1800" spc="-25" dirty="0">
                <a:solidFill>
                  <a:srgbClr val="F47720"/>
                </a:solidFill>
                <a:latin typeface="Avenir Book"/>
                <a:cs typeface="Avenir Book"/>
              </a:rPr>
              <a:t> </a:t>
            </a:r>
            <a:r>
              <a:rPr sz="1800" dirty="0">
                <a:solidFill>
                  <a:srgbClr val="F47720"/>
                </a:solidFill>
                <a:latin typeface="Avenir Book"/>
                <a:cs typeface="Avenir Book"/>
              </a:rPr>
              <a:t>health</a:t>
            </a:r>
            <a:r>
              <a:rPr sz="1800" spc="-25" dirty="0">
                <a:solidFill>
                  <a:srgbClr val="F47720"/>
                </a:solidFill>
                <a:latin typeface="Avenir Book"/>
                <a:cs typeface="Avenir Book"/>
              </a:rPr>
              <a:t> </a:t>
            </a:r>
            <a:r>
              <a:rPr sz="1800" spc="-20" dirty="0">
                <a:solidFill>
                  <a:srgbClr val="F47720"/>
                </a:solidFill>
                <a:latin typeface="Avenir Book"/>
                <a:cs typeface="Avenir Book"/>
              </a:rPr>
              <a:t>care </a:t>
            </a:r>
            <a:r>
              <a:rPr sz="1800" dirty="0">
                <a:solidFill>
                  <a:srgbClr val="F47720"/>
                </a:solidFill>
                <a:latin typeface="Avenir Book"/>
                <a:cs typeface="Avenir Book"/>
              </a:rPr>
              <a:t>at</a:t>
            </a:r>
            <a:r>
              <a:rPr sz="1800" spc="-10" dirty="0">
                <a:solidFill>
                  <a:srgbClr val="F47720"/>
                </a:solidFill>
                <a:latin typeface="Avenir Book"/>
                <a:cs typeface="Avenir Book"/>
              </a:rPr>
              <a:t> </a:t>
            </a:r>
            <a:r>
              <a:rPr sz="1800" dirty="0">
                <a:solidFill>
                  <a:srgbClr val="F47720"/>
                </a:solidFill>
                <a:latin typeface="Avenir Book"/>
                <a:cs typeface="Avenir Book"/>
              </a:rPr>
              <a:t>my</a:t>
            </a:r>
            <a:r>
              <a:rPr sz="1800" spc="-5" dirty="0">
                <a:solidFill>
                  <a:srgbClr val="F47720"/>
                </a:solidFill>
                <a:latin typeface="Avenir Book"/>
                <a:cs typeface="Avenir Book"/>
              </a:rPr>
              <a:t> </a:t>
            </a:r>
            <a:r>
              <a:rPr sz="1800" dirty="0">
                <a:solidFill>
                  <a:srgbClr val="F47720"/>
                </a:solidFill>
                <a:latin typeface="Avenir Book"/>
                <a:cs typeface="Avenir Book"/>
              </a:rPr>
              <a:t>most</a:t>
            </a:r>
            <a:r>
              <a:rPr sz="1800" spc="-5" dirty="0">
                <a:solidFill>
                  <a:srgbClr val="F47720"/>
                </a:solidFill>
                <a:latin typeface="Avenir Book"/>
                <a:cs typeface="Avenir Book"/>
              </a:rPr>
              <a:t> </a:t>
            </a:r>
            <a:r>
              <a:rPr sz="1800" spc="-10" dirty="0">
                <a:solidFill>
                  <a:srgbClr val="F47720"/>
                </a:solidFill>
                <a:latin typeface="Avenir Book"/>
                <a:cs typeface="Avenir Book"/>
              </a:rPr>
              <a:t>fragile </a:t>
            </a:r>
            <a:r>
              <a:rPr sz="1800" dirty="0">
                <a:solidFill>
                  <a:srgbClr val="F47720"/>
                </a:solidFill>
                <a:latin typeface="Avenir Book"/>
                <a:cs typeface="Avenir Book"/>
              </a:rPr>
              <a:t>moment.</a:t>
            </a:r>
            <a:r>
              <a:rPr sz="1800" spc="-40" dirty="0">
                <a:solidFill>
                  <a:srgbClr val="F47720"/>
                </a:solidFill>
                <a:latin typeface="Avenir Book"/>
                <a:cs typeface="Avenir Book"/>
              </a:rPr>
              <a:t> </a:t>
            </a:r>
            <a:r>
              <a:rPr sz="1800" dirty="0">
                <a:solidFill>
                  <a:srgbClr val="F47720"/>
                </a:solidFill>
                <a:latin typeface="Avenir Book"/>
                <a:cs typeface="Avenir Book"/>
              </a:rPr>
              <a:t>My</a:t>
            </a:r>
            <a:r>
              <a:rPr sz="1800" spc="-35" dirty="0">
                <a:solidFill>
                  <a:srgbClr val="F47720"/>
                </a:solidFill>
                <a:latin typeface="Avenir Book"/>
                <a:cs typeface="Avenir Book"/>
              </a:rPr>
              <a:t> </a:t>
            </a:r>
            <a:r>
              <a:rPr sz="1800" spc="-20" dirty="0">
                <a:solidFill>
                  <a:srgbClr val="F47720"/>
                </a:solidFill>
                <a:latin typeface="Avenir Book"/>
                <a:cs typeface="Avenir Book"/>
              </a:rPr>
              <a:t>life</a:t>
            </a:r>
            <a:endParaRPr sz="1800" dirty="0">
              <a:latin typeface="Avenir Book"/>
              <a:cs typeface="Avenir Book"/>
            </a:endParaRPr>
          </a:p>
          <a:p>
            <a:pPr marL="162560">
              <a:lnSpc>
                <a:spcPct val="100000"/>
              </a:lnSpc>
            </a:pPr>
            <a:r>
              <a:rPr sz="1800" dirty="0">
                <a:solidFill>
                  <a:srgbClr val="F47720"/>
                </a:solidFill>
                <a:latin typeface="Avenir Book"/>
                <a:cs typeface="Avenir Book"/>
              </a:rPr>
              <a:t>has changed </a:t>
            </a:r>
            <a:r>
              <a:rPr sz="1800" spc="-10" dirty="0">
                <a:solidFill>
                  <a:srgbClr val="F47720"/>
                </a:solidFill>
                <a:latin typeface="Avenir Book"/>
                <a:cs typeface="Avenir Book"/>
              </a:rPr>
              <a:t>forever.”</a:t>
            </a:r>
            <a:endParaRPr sz="1800" dirty="0">
              <a:latin typeface="Avenir Book"/>
              <a:cs typeface="Avenir Book"/>
            </a:endParaRPr>
          </a:p>
          <a:p>
            <a:pPr marL="162560">
              <a:lnSpc>
                <a:spcPct val="100000"/>
              </a:lnSpc>
              <a:spcBef>
                <a:spcPts val="1120"/>
              </a:spcBef>
            </a:pPr>
            <a:r>
              <a:rPr sz="1400" i="1" spc="90" dirty="0">
                <a:solidFill>
                  <a:srgbClr val="722B63"/>
                </a:solidFill>
                <a:latin typeface="Arial"/>
                <a:cs typeface="Arial"/>
              </a:rPr>
              <a:t>-</a:t>
            </a:r>
            <a:r>
              <a:rPr sz="1400" i="1" spc="185" dirty="0">
                <a:solidFill>
                  <a:srgbClr val="722B63"/>
                </a:solidFill>
                <a:latin typeface="Arial"/>
                <a:cs typeface="Arial"/>
              </a:rPr>
              <a:t>A</a:t>
            </a:r>
            <a:r>
              <a:rPr sz="1400" i="1" spc="50" dirty="0">
                <a:solidFill>
                  <a:srgbClr val="722B63"/>
                </a:solidFill>
                <a:latin typeface="Arial"/>
                <a:cs typeface="Arial"/>
              </a:rPr>
              <a:t> </a:t>
            </a:r>
            <a:r>
              <a:rPr sz="1400" i="1" spc="-120" dirty="0">
                <a:solidFill>
                  <a:srgbClr val="722B63"/>
                </a:solidFill>
                <a:latin typeface="Arial"/>
                <a:cs typeface="Arial"/>
              </a:rPr>
              <a:t>grateful</a:t>
            </a:r>
            <a:r>
              <a:rPr sz="1400" i="1" spc="55" dirty="0">
                <a:solidFill>
                  <a:srgbClr val="722B63"/>
                </a:solidFill>
                <a:latin typeface="Arial"/>
                <a:cs typeface="Arial"/>
              </a:rPr>
              <a:t> </a:t>
            </a:r>
            <a:r>
              <a:rPr lang="en-US" sz="1400" i="1" spc="-130" dirty="0">
                <a:solidFill>
                  <a:srgbClr val="722B63"/>
                </a:solidFill>
                <a:latin typeface="Arial"/>
                <a:cs typeface="Arial"/>
              </a:rPr>
              <a:t>Destiny Springs</a:t>
            </a:r>
            <a:r>
              <a:rPr sz="1400" i="1" spc="55" dirty="0">
                <a:solidFill>
                  <a:srgbClr val="722B63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722B63"/>
                </a:solidFill>
                <a:latin typeface="Arial"/>
                <a:cs typeface="Arial"/>
              </a:rPr>
              <a:t>patient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201606" y="7289692"/>
            <a:ext cx="164147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-45" dirty="0">
                <a:solidFill>
                  <a:srgbClr val="F47720"/>
                </a:solidFill>
                <a:latin typeface="Arial"/>
                <a:cs typeface="Arial"/>
              </a:rPr>
              <a:t>Living</a:t>
            </a:r>
            <a:r>
              <a:rPr sz="850" i="1" spc="-15" dirty="0">
                <a:solidFill>
                  <a:srgbClr val="F47720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F47720"/>
                </a:solidFill>
                <a:latin typeface="Arial"/>
                <a:cs typeface="Arial"/>
              </a:rPr>
              <a:t>our</a:t>
            </a:r>
            <a:r>
              <a:rPr sz="850" i="1" spc="15" dirty="0">
                <a:solidFill>
                  <a:srgbClr val="F47720"/>
                </a:solidFill>
                <a:latin typeface="Arial"/>
                <a:cs typeface="Arial"/>
              </a:rPr>
              <a:t> </a:t>
            </a:r>
            <a:r>
              <a:rPr sz="850" i="1" spc="-114" dirty="0">
                <a:solidFill>
                  <a:srgbClr val="F47720"/>
                </a:solidFill>
                <a:latin typeface="Arial"/>
                <a:cs typeface="Arial"/>
              </a:rPr>
              <a:t>Values</a:t>
            </a:r>
            <a:r>
              <a:rPr sz="850" i="1" spc="55" dirty="0">
                <a:solidFill>
                  <a:srgbClr val="F47720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47720"/>
                </a:solidFill>
                <a:latin typeface="Arial"/>
                <a:cs typeface="Arial"/>
              </a:rPr>
              <a:t>I</a:t>
            </a:r>
            <a:r>
              <a:rPr sz="850" b="1" spc="-25" dirty="0">
                <a:solidFill>
                  <a:srgbClr val="F47720"/>
                </a:solidFill>
                <a:latin typeface="Arial"/>
                <a:cs typeface="Arial"/>
              </a:rPr>
              <a:t> </a:t>
            </a:r>
            <a:r>
              <a:rPr sz="850" b="1" spc="-10" dirty="0">
                <a:solidFill>
                  <a:srgbClr val="722B63"/>
                </a:solidFill>
                <a:latin typeface="Arial"/>
                <a:cs typeface="Arial"/>
              </a:rPr>
              <a:t>EXCELLENCE</a:t>
            </a:r>
            <a:r>
              <a:rPr sz="850" b="1" spc="220" dirty="0">
                <a:solidFill>
                  <a:srgbClr val="722B63"/>
                </a:solidFill>
                <a:latin typeface="Arial"/>
                <a:cs typeface="Arial"/>
              </a:rPr>
              <a:t> </a:t>
            </a:r>
            <a:r>
              <a:rPr sz="850" b="1" spc="-50" dirty="0">
                <a:solidFill>
                  <a:srgbClr val="008BC0"/>
                </a:solidFill>
                <a:latin typeface="Arial"/>
                <a:cs typeface="Arial"/>
              </a:rPr>
              <a:t>6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27598" y="3008388"/>
            <a:ext cx="3551554" cy="3996690"/>
          </a:xfrm>
          <a:custGeom>
            <a:avLst/>
            <a:gdLst/>
            <a:ahLst/>
            <a:cxnLst/>
            <a:rect l="l" t="t" r="r" b="b"/>
            <a:pathLst>
              <a:path w="3551554" h="3996690">
                <a:moveTo>
                  <a:pt x="1203934" y="2281326"/>
                </a:moveTo>
                <a:lnTo>
                  <a:pt x="1200124" y="2239861"/>
                </a:lnTo>
                <a:lnTo>
                  <a:pt x="1183767" y="2201151"/>
                </a:lnTo>
                <a:lnTo>
                  <a:pt x="1155153" y="2168334"/>
                </a:lnTo>
                <a:lnTo>
                  <a:pt x="1095921" y="2116340"/>
                </a:lnTo>
                <a:lnTo>
                  <a:pt x="1041857" y="2063445"/>
                </a:lnTo>
                <a:lnTo>
                  <a:pt x="992708" y="2009902"/>
                </a:lnTo>
                <a:lnTo>
                  <a:pt x="948258" y="1955914"/>
                </a:lnTo>
                <a:lnTo>
                  <a:pt x="908278" y="1901736"/>
                </a:lnTo>
                <a:lnTo>
                  <a:pt x="872528" y="1847570"/>
                </a:lnTo>
                <a:lnTo>
                  <a:pt x="840790" y="1793671"/>
                </a:lnTo>
                <a:lnTo>
                  <a:pt x="812812" y="1740255"/>
                </a:lnTo>
                <a:lnTo>
                  <a:pt x="788403" y="1687563"/>
                </a:lnTo>
                <a:lnTo>
                  <a:pt x="767295" y="1635823"/>
                </a:lnTo>
                <a:lnTo>
                  <a:pt x="749274" y="1585252"/>
                </a:lnTo>
                <a:lnTo>
                  <a:pt x="734110" y="1536090"/>
                </a:lnTo>
                <a:lnTo>
                  <a:pt x="721563" y="1488567"/>
                </a:lnTo>
                <a:lnTo>
                  <a:pt x="711428" y="1442910"/>
                </a:lnTo>
                <a:lnTo>
                  <a:pt x="703440" y="1399349"/>
                </a:lnTo>
                <a:lnTo>
                  <a:pt x="697395" y="1358125"/>
                </a:lnTo>
                <a:lnTo>
                  <a:pt x="693064" y="1319453"/>
                </a:lnTo>
                <a:lnTo>
                  <a:pt x="688581" y="1250696"/>
                </a:lnTo>
                <a:lnTo>
                  <a:pt x="687971" y="1221079"/>
                </a:lnTo>
                <a:lnTo>
                  <a:pt x="688149" y="1194943"/>
                </a:lnTo>
                <a:lnTo>
                  <a:pt x="688886" y="1172502"/>
                </a:lnTo>
                <a:lnTo>
                  <a:pt x="689952" y="1154010"/>
                </a:lnTo>
                <a:lnTo>
                  <a:pt x="691108" y="1139685"/>
                </a:lnTo>
                <a:lnTo>
                  <a:pt x="692785" y="1124445"/>
                </a:lnTo>
                <a:lnTo>
                  <a:pt x="691959" y="1081036"/>
                </a:lnTo>
                <a:lnTo>
                  <a:pt x="678154" y="1041438"/>
                </a:lnTo>
                <a:lnTo>
                  <a:pt x="653249" y="1008189"/>
                </a:lnTo>
                <a:lnTo>
                  <a:pt x="619125" y="983805"/>
                </a:lnTo>
                <a:lnTo>
                  <a:pt x="577659" y="970800"/>
                </a:lnTo>
                <a:lnTo>
                  <a:pt x="534060" y="971499"/>
                </a:lnTo>
                <a:lnTo>
                  <a:pt x="494334" y="985240"/>
                </a:lnTo>
                <a:lnTo>
                  <a:pt x="460984" y="1010145"/>
                </a:lnTo>
                <a:lnTo>
                  <a:pt x="436537" y="1044308"/>
                </a:lnTo>
                <a:lnTo>
                  <a:pt x="423506" y="1085850"/>
                </a:lnTo>
                <a:lnTo>
                  <a:pt x="419239" y="1127582"/>
                </a:lnTo>
                <a:lnTo>
                  <a:pt x="417004" y="1169377"/>
                </a:lnTo>
                <a:lnTo>
                  <a:pt x="416331" y="1223492"/>
                </a:lnTo>
                <a:lnTo>
                  <a:pt x="416979" y="1254760"/>
                </a:lnTo>
                <a:lnTo>
                  <a:pt x="421005" y="1324965"/>
                </a:lnTo>
                <a:lnTo>
                  <a:pt x="424675" y="1363586"/>
                </a:lnTo>
                <a:lnTo>
                  <a:pt x="429679" y="1404353"/>
                </a:lnTo>
                <a:lnTo>
                  <a:pt x="432498" y="1423022"/>
                </a:lnTo>
                <a:lnTo>
                  <a:pt x="429425" y="1406702"/>
                </a:lnTo>
                <a:lnTo>
                  <a:pt x="420801" y="1357617"/>
                </a:lnTo>
                <a:lnTo>
                  <a:pt x="413258" y="1311503"/>
                </a:lnTo>
                <a:lnTo>
                  <a:pt x="406768" y="1268666"/>
                </a:lnTo>
                <a:lnTo>
                  <a:pt x="401269" y="1229410"/>
                </a:lnTo>
                <a:lnTo>
                  <a:pt x="393052" y="1162850"/>
                </a:lnTo>
                <a:lnTo>
                  <a:pt x="388239" y="1114272"/>
                </a:lnTo>
                <a:lnTo>
                  <a:pt x="386410" y="1086142"/>
                </a:lnTo>
                <a:lnTo>
                  <a:pt x="386486" y="1080465"/>
                </a:lnTo>
                <a:lnTo>
                  <a:pt x="400850" y="1032510"/>
                </a:lnTo>
                <a:lnTo>
                  <a:pt x="427558" y="991628"/>
                </a:lnTo>
                <a:lnTo>
                  <a:pt x="464223" y="959853"/>
                </a:lnTo>
                <a:lnTo>
                  <a:pt x="508482" y="939279"/>
                </a:lnTo>
                <a:lnTo>
                  <a:pt x="557923" y="931964"/>
                </a:lnTo>
                <a:lnTo>
                  <a:pt x="566267" y="931964"/>
                </a:lnTo>
                <a:lnTo>
                  <a:pt x="627570" y="946505"/>
                </a:lnTo>
                <a:lnTo>
                  <a:pt x="666051" y="969797"/>
                </a:lnTo>
                <a:lnTo>
                  <a:pt x="696798" y="1001509"/>
                </a:lnTo>
                <a:lnTo>
                  <a:pt x="718654" y="1040028"/>
                </a:lnTo>
                <a:lnTo>
                  <a:pt x="730135" y="1083386"/>
                </a:lnTo>
                <a:lnTo>
                  <a:pt x="730046" y="1097495"/>
                </a:lnTo>
                <a:lnTo>
                  <a:pt x="729932" y="1114272"/>
                </a:lnTo>
                <a:lnTo>
                  <a:pt x="729818" y="1129690"/>
                </a:lnTo>
                <a:lnTo>
                  <a:pt x="728395" y="1142479"/>
                </a:lnTo>
                <a:lnTo>
                  <a:pt x="726401" y="1170012"/>
                </a:lnTo>
                <a:lnTo>
                  <a:pt x="725271" y="1210881"/>
                </a:lnTo>
                <a:lnTo>
                  <a:pt x="726414" y="1263662"/>
                </a:lnTo>
                <a:lnTo>
                  <a:pt x="731240" y="1326959"/>
                </a:lnTo>
                <a:lnTo>
                  <a:pt x="741184" y="1399349"/>
                </a:lnTo>
                <a:lnTo>
                  <a:pt x="757643" y="1479410"/>
                </a:lnTo>
                <a:lnTo>
                  <a:pt x="766787" y="1430197"/>
                </a:lnTo>
                <a:lnTo>
                  <a:pt x="776287" y="1381226"/>
                </a:lnTo>
                <a:lnTo>
                  <a:pt x="785698" y="1334058"/>
                </a:lnTo>
                <a:lnTo>
                  <a:pt x="803821" y="1244498"/>
                </a:lnTo>
                <a:lnTo>
                  <a:pt x="812165" y="1202448"/>
                </a:lnTo>
                <a:lnTo>
                  <a:pt x="822706" y="1155623"/>
                </a:lnTo>
                <a:lnTo>
                  <a:pt x="827798" y="1108049"/>
                </a:lnTo>
                <a:lnTo>
                  <a:pt x="827684" y="1080465"/>
                </a:lnTo>
                <a:lnTo>
                  <a:pt x="822223" y="1014234"/>
                </a:lnTo>
                <a:lnTo>
                  <a:pt x="811834" y="969797"/>
                </a:lnTo>
                <a:lnTo>
                  <a:pt x="797953" y="931964"/>
                </a:lnTo>
                <a:lnTo>
                  <a:pt x="776566" y="890384"/>
                </a:lnTo>
                <a:lnTo>
                  <a:pt x="751967" y="857199"/>
                </a:lnTo>
                <a:lnTo>
                  <a:pt x="722922" y="829564"/>
                </a:lnTo>
                <a:lnTo>
                  <a:pt x="689546" y="808380"/>
                </a:lnTo>
                <a:lnTo>
                  <a:pt x="652005" y="794537"/>
                </a:lnTo>
                <a:lnTo>
                  <a:pt x="581075" y="786206"/>
                </a:lnTo>
                <a:lnTo>
                  <a:pt x="543433" y="788543"/>
                </a:lnTo>
                <a:lnTo>
                  <a:pt x="505028" y="795401"/>
                </a:lnTo>
                <a:lnTo>
                  <a:pt x="466382" y="806958"/>
                </a:lnTo>
                <a:lnTo>
                  <a:pt x="428015" y="823353"/>
                </a:lnTo>
                <a:lnTo>
                  <a:pt x="390448" y="844727"/>
                </a:lnTo>
                <a:lnTo>
                  <a:pt x="354203" y="871245"/>
                </a:lnTo>
                <a:lnTo>
                  <a:pt x="319786" y="903046"/>
                </a:lnTo>
                <a:lnTo>
                  <a:pt x="287731" y="940295"/>
                </a:lnTo>
                <a:lnTo>
                  <a:pt x="258533" y="983119"/>
                </a:lnTo>
                <a:lnTo>
                  <a:pt x="232740" y="1031684"/>
                </a:lnTo>
                <a:lnTo>
                  <a:pt x="210858" y="1086142"/>
                </a:lnTo>
                <a:lnTo>
                  <a:pt x="193344" y="1139342"/>
                </a:lnTo>
                <a:lnTo>
                  <a:pt x="177317" y="1190802"/>
                </a:lnTo>
                <a:lnTo>
                  <a:pt x="162763" y="1240739"/>
                </a:lnTo>
                <a:lnTo>
                  <a:pt x="149656" y="1289418"/>
                </a:lnTo>
                <a:lnTo>
                  <a:pt x="137985" y="1337056"/>
                </a:lnTo>
                <a:lnTo>
                  <a:pt x="127723" y="1383906"/>
                </a:lnTo>
                <a:lnTo>
                  <a:pt x="118948" y="1429727"/>
                </a:lnTo>
                <a:lnTo>
                  <a:pt x="111379" y="1476184"/>
                </a:lnTo>
                <a:lnTo>
                  <a:pt x="105244" y="1522095"/>
                </a:lnTo>
                <a:lnTo>
                  <a:pt x="100444" y="1568183"/>
                </a:lnTo>
                <a:lnTo>
                  <a:pt x="96964" y="1614678"/>
                </a:lnTo>
                <a:lnTo>
                  <a:pt x="94792" y="1661807"/>
                </a:lnTo>
                <a:lnTo>
                  <a:pt x="93891" y="1709839"/>
                </a:lnTo>
                <a:lnTo>
                  <a:pt x="94157" y="1746478"/>
                </a:lnTo>
                <a:lnTo>
                  <a:pt x="94246" y="1758988"/>
                </a:lnTo>
                <a:lnTo>
                  <a:pt x="95783" y="1807794"/>
                </a:lnTo>
                <a:lnTo>
                  <a:pt x="98666" y="1861642"/>
                </a:lnTo>
                <a:lnTo>
                  <a:pt x="102679" y="1915629"/>
                </a:lnTo>
                <a:lnTo>
                  <a:pt x="107886" y="1971687"/>
                </a:lnTo>
                <a:lnTo>
                  <a:pt x="114249" y="2030082"/>
                </a:lnTo>
                <a:lnTo>
                  <a:pt x="135813" y="2095182"/>
                </a:lnTo>
                <a:lnTo>
                  <a:pt x="156718" y="2155621"/>
                </a:lnTo>
                <a:lnTo>
                  <a:pt x="225450" y="2352497"/>
                </a:lnTo>
                <a:lnTo>
                  <a:pt x="240766" y="2396629"/>
                </a:lnTo>
                <a:lnTo>
                  <a:pt x="247497" y="2416670"/>
                </a:lnTo>
                <a:lnTo>
                  <a:pt x="311264" y="2898152"/>
                </a:lnTo>
                <a:lnTo>
                  <a:pt x="12026" y="3710305"/>
                </a:lnTo>
                <a:lnTo>
                  <a:pt x="457" y="3757980"/>
                </a:lnTo>
                <a:lnTo>
                  <a:pt x="0" y="3805478"/>
                </a:lnTo>
                <a:lnTo>
                  <a:pt x="9893" y="3851186"/>
                </a:lnTo>
                <a:lnTo>
                  <a:pt x="29400" y="3893451"/>
                </a:lnTo>
                <a:lnTo>
                  <a:pt x="57746" y="3930637"/>
                </a:lnTo>
                <a:lnTo>
                  <a:pt x="94195" y="3961104"/>
                </a:lnTo>
                <a:lnTo>
                  <a:pt x="137985" y="3983228"/>
                </a:lnTo>
                <a:lnTo>
                  <a:pt x="193078" y="3995572"/>
                </a:lnTo>
                <a:lnTo>
                  <a:pt x="211429" y="3996372"/>
                </a:lnTo>
                <a:lnTo>
                  <a:pt x="262356" y="3990149"/>
                </a:lnTo>
                <a:lnTo>
                  <a:pt x="309892" y="3972153"/>
                </a:lnTo>
                <a:lnTo>
                  <a:pt x="351917" y="3943350"/>
                </a:lnTo>
                <a:lnTo>
                  <a:pt x="386295" y="3904716"/>
                </a:lnTo>
                <a:lnTo>
                  <a:pt x="410883" y="3857269"/>
                </a:lnTo>
                <a:lnTo>
                  <a:pt x="618515" y="3293694"/>
                </a:lnTo>
                <a:lnTo>
                  <a:pt x="772071" y="3836035"/>
                </a:lnTo>
                <a:lnTo>
                  <a:pt x="789978" y="3879989"/>
                </a:lnTo>
                <a:lnTo>
                  <a:pt x="816241" y="3917734"/>
                </a:lnTo>
                <a:lnTo>
                  <a:pt x="849452" y="3948468"/>
                </a:lnTo>
                <a:lnTo>
                  <a:pt x="888161" y="3971404"/>
                </a:lnTo>
                <a:lnTo>
                  <a:pt x="930973" y="3985755"/>
                </a:lnTo>
                <a:lnTo>
                  <a:pt x="976452" y="3990708"/>
                </a:lnTo>
                <a:lnTo>
                  <a:pt x="990879" y="3990213"/>
                </a:lnTo>
                <a:lnTo>
                  <a:pt x="1034465" y="3982631"/>
                </a:lnTo>
                <a:lnTo>
                  <a:pt x="1079830" y="3963949"/>
                </a:lnTo>
                <a:lnTo>
                  <a:pt x="1118514" y="3936377"/>
                </a:lnTo>
                <a:lnTo>
                  <a:pt x="1149654" y="3901490"/>
                </a:lnTo>
                <a:lnTo>
                  <a:pt x="1172349" y="3860850"/>
                </a:lnTo>
                <a:lnTo>
                  <a:pt x="1185748" y="3816032"/>
                </a:lnTo>
                <a:lnTo>
                  <a:pt x="1188935" y="3768636"/>
                </a:lnTo>
                <a:lnTo>
                  <a:pt x="1181061" y="3720211"/>
                </a:lnTo>
                <a:lnTo>
                  <a:pt x="785279" y="2390127"/>
                </a:lnTo>
                <a:lnTo>
                  <a:pt x="791565" y="2399665"/>
                </a:lnTo>
                <a:lnTo>
                  <a:pt x="791565" y="2382659"/>
                </a:lnTo>
                <a:lnTo>
                  <a:pt x="783209" y="2383193"/>
                </a:lnTo>
                <a:lnTo>
                  <a:pt x="783069" y="2382672"/>
                </a:lnTo>
                <a:lnTo>
                  <a:pt x="780376" y="2382672"/>
                </a:lnTo>
                <a:lnTo>
                  <a:pt x="756767" y="2346807"/>
                </a:lnTo>
                <a:lnTo>
                  <a:pt x="723887" y="2291727"/>
                </a:lnTo>
                <a:lnTo>
                  <a:pt x="692912" y="2234730"/>
                </a:lnTo>
                <a:lnTo>
                  <a:pt x="663752" y="2176132"/>
                </a:lnTo>
                <a:lnTo>
                  <a:pt x="636397" y="2116213"/>
                </a:lnTo>
                <a:lnTo>
                  <a:pt x="610768" y="2055317"/>
                </a:lnTo>
                <a:lnTo>
                  <a:pt x="586841" y="1993709"/>
                </a:lnTo>
                <a:lnTo>
                  <a:pt x="564540" y="1931720"/>
                </a:lnTo>
                <a:lnTo>
                  <a:pt x="543826" y="1869643"/>
                </a:lnTo>
                <a:lnTo>
                  <a:pt x="524662" y="1807794"/>
                </a:lnTo>
                <a:lnTo>
                  <a:pt x="506984" y="1746478"/>
                </a:lnTo>
                <a:lnTo>
                  <a:pt x="490740" y="1685988"/>
                </a:lnTo>
                <a:lnTo>
                  <a:pt x="475894" y="1626628"/>
                </a:lnTo>
                <a:lnTo>
                  <a:pt x="467969" y="1592656"/>
                </a:lnTo>
                <a:lnTo>
                  <a:pt x="479907" y="1634756"/>
                </a:lnTo>
                <a:lnTo>
                  <a:pt x="496087" y="1685074"/>
                </a:lnTo>
                <a:lnTo>
                  <a:pt x="514654" y="1736432"/>
                </a:lnTo>
                <a:lnTo>
                  <a:pt x="535787" y="1788680"/>
                </a:lnTo>
                <a:lnTo>
                  <a:pt x="559638" y="1841652"/>
                </a:lnTo>
                <a:lnTo>
                  <a:pt x="586346" y="1895221"/>
                </a:lnTo>
                <a:lnTo>
                  <a:pt x="616077" y="1949196"/>
                </a:lnTo>
                <a:lnTo>
                  <a:pt x="648982" y="2003437"/>
                </a:lnTo>
                <a:lnTo>
                  <a:pt x="685215" y="2057793"/>
                </a:lnTo>
                <a:lnTo>
                  <a:pt x="724928" y="2112099"/>
                </a:lnTo>
                <a:lnTo>
                  <a:pt x="768286" y="2166213"/>
                </a:lnTo>
                <a:lnTo>
                  <a:pt x="815441" y="2219960"/>
                </a:lnTo>
                <a:lnTo>
                  <a:pt x="866533" y="2273185"/>
                </a:lnTo>
                <a:lnTo>
                  <a:pt x="921727" y="2325751"/>
                </a:lnTo>
                <a:lnTo>
                  <a:pt x="981189" y="2377478"/>
                </a:lnTo>
                <a:lnTo>
                  <a:pt x="1022680" y="2401125"/>
                </a:lnTo>
                <a:lnTo>
                  <a:pt x="1068108" y="2408910"/>
                </a:lnTo>
                <a:lnTo>
                  <a:pt x="1097127" y="2405799"/>
                </a:lnTo>
                <a:lnTo>
                  <a:pt x="1124966" y="2396528"/>
                </a:lnTo>
                <a:lnTo>
                  <a:pt x="1150531" y="2381186"/>
                </a:lnTo>
                <a:lnTo>
                  <a:pt x="1172743" y="2359863"/>
                </a:lnTo>
                <a:lnTo>
                  <a:pt x="1194904" y="2322372"/>
                </a:lnTo>
                <a:lnTo>
                  <a:pt x="1203934" y="2281326"/>
                </a:lnTo>
                <a:close/>
              </a:path>
              <a:path w="3551554" h="3996690">
                <a:moveTo>
                  <a:pt x="1306969" y="382549"/>
                </a:moveTo>
                <a:lnTo>
                  <a:pt x="1303997" y="334568"/>
                </a:lnTo>
                <a:lnTo>
                  <a:pt x="1295298" y="288353"/>
                </a:lnTo>
                <a:lnTo>
                  <a:pt x="1281226" y="244284"/>
                </a:lnTo>
                <a:lnTo>
                  <a:pt x="1262164" y="202704"/>
                </a:lnTo>
                <a:lnTo>
                  <a:pt x="1238440" y="163995"/>
                </a:lnTo>
                <a:lnTo>
                  <a:pt x="1210437" y="128485"/>
                </a:lnTo>
                <a:lnTo>
                  <a:pt x="1178509" y="96545"/>
                </a:lnTo>
                <a:lnTo>
                  <a:pt x="1143000" y="68541"/>
                </a:lnTo>
                <a:lnTo>
                  <a:pt x="1104277" y="44818"/>
                </a:lnTo>
                <a:lnTo>
                  <a:pt x="1062697" y="25755"/>
                </a:lnTo>
                <a:lnTo>
                  <a:pt x="1018628" y="11684"/>
                </a:lnTo>
                <a:lnTo>
                  <a:pt x="972413" y="2984"/>
                </a:lnTo>
                <a:lnTo>
                  <a:pt x="924420" y="0"/>
                </a:lnTo>
                <a:lnTo>
                  <a:pt x="876439" y="2984"/>
                </a:lnTo>
                <a:lnTo>
                  <a:pt x="830237" y="11684"/>
                </a:lnTo>
                <a:lnTo>
                  <a:pt x="786168" y="25755"/>
                </a:lnTo>
                <a:lnTo>
                  <a:pt x="744588" y="44818"/>
                </a:lnTo>
                <a:lnTo>
                  <a:pt x="705866" y="68541"/>
                </a:lnTo>
                <a:lnTo>
                  <a:pt x="670356" y="96545"/>
                </a:lnTo>
                <a:lnTo>
                  <a:pt x="638429" y="128485"/>
                </a:lnTo>
                <a:lnTo>
                  <a:pt x="610412" y="163995"/>
                </a:lnTo>
                <a:lnTo>
                  <a:pt x="586701" y="202704"/>
                </a:lnTo>
                <a:lnTo>
                  <a:pt x="567626" y="244284"/>
                </a:lnTo>
                <a:lnTo>
                  <a:pt x="553554" y="288353"/>
                </a:lnTo>
                <a:lnTo>
                  <a:pt x="544855" y="334568"/>
                </a:lnTo>
                <a:lnTo>
                  <a:pt x="541870" y="382549"/>
                </a:lnTo>
                <a:lnTo>
                  <a:pt x="544855" y="430542"/>
                </a:lnTo>
                <a:lnTo>
                  <a:pt x="553554" y="476758"/>
                </a:lnTo>
                <a:lnTo>
                  <a:pt x="567626" y="520827"/>
                </a:lnTo>
                <a:lnTo>
                  <a:pt x="586701" y="562394"/>
                </a:lnTo>
                <a:lnTo>
                  <a:pt x="610412" y="601116"/>
                </a:lnTo>
                <a:lnTo>
                  <a:pt x="638429" y="636625"/>
                </a:lnTo>
                <a:lnTo>
                  <a:pt x="670356" y="668566"/>
                </a:lnTo>
                <a:lnTo>
                  <a:pt x="705866" y="696569"/>
                </a:lnTo>
                <a:lnTo>
                  <a:pt x="744588" y="720280"/>
                </a:lnTo>
                <a:lnTo>
                  <a:pt x="786168" y="739355"/>
                </a:lnTo>
                <a:lnTo>
                  <a:pt x="830237" y="753427"/>
                </a:lnTo>
                <a:lnTo>
                  <a:pt x="876439" y="762127"/>
                </a:lnTo>
                <a:lnTo>
                  <a:pt x="924420" y="765098"/>
                </a:lnTo>
                <a:lnTo>
                  <a:pt x="972413" y="762127"/>
                </a:lnTo>
                <a:lnTo>
                  <a:pt x="1018628" y="753427"/>
                </a:lnTo>
                <a:lnTo>
                  <a:pt x="1062697" y="739355"/>
                </a:lnTo>
                <a:lnTo>
                  <a:pt x="1104277" y="720280"/>
                </a:lnTo>
                <a:lnTo>
                  <a:pt x="1143000" y="696569"/>
                </a:lnTo>
                <a:lnTo>
                  <a:pt x="1178509" y="668566"/>
                </a:lnTo>
                <a:lnTo>
                  <a:pt x="1210437" y="636625"/>
                </a:lnTo>
                <a:lnTo>
                  <a:pt x="1238440" y="601116"/>
                </a:lnTo>
                <a:lnTo>
                  <a:pt x="1262164" y="562394"/>
                </a:lnTo>
                <a:lnTo>
                  <a:pt x="1281226" y="520827"/>
                </a:lnTo>
                <a:lnTo>
                  <a:pt x="1295298" y="476758"/>
                </a:lnTo>
                <a:lnTo>
                  <a:pt x="1303997" y="430542"/>
                </a:lnTo>
                <a:lnTo>
                  <a:pt x="1306969" y="382549"/>
                </a:lnTo>
                <a:close/>
              </a:path>
              <a:path w="3551554" h="3996690">
                <a:moveTo>
                  <a:pt x="2262962" y="515747"/>
                </a:moveTo>
                <a:lnTo>
                  <a:pt x="2259990" y="467766"/>
                </a:lnTo>
                <a:lnTo>
                  <a:pt x="2251278" y="421551"/>
                </a:lnTo>
                <a:lnTo>
                  <a:pt x="2237219" y="377482"/>
                </a:lnTo>
                <a:lnTo>
                  <a:pt x="2218144" y="335902"/>
                </a:lnTo>
                <a:lnTo>
                  <a:pt x="2194433" y="297180"/>
                </a:lnTo>
                <a:lnTo>
                  <a:pt x="2166429" y="261683"/>
                </a:lnTo>
                <a:lnTo>
                  <a:pt x="2134489" y="229743"/>
                </a:lnTo>
                <a:lnTo>
                  <a:pt x="2098979" y="201739"/>
                </a:lnTo>
                <a:lnTo>
                  <a:pt x="2060270" y="178015"/>
                </a:lnTo>
                <a:lnTo>
                  <a:pt x="2018690" y="158953"/>
                </a:lnTo>
                <a:lnTo>
                  <a:pt x="1974621" y="144881"/>
                </a:lnTo>
                <a:lnTo>
                  <a:pt x="1928406" y="136182"/>
                </a:lnTo>
                <a:lnTo>
                  <a:pt x="1880412" y="133197"/>
                </a:lnTo>
                <a:lnTo>
                  <a:pt x="1832432" y="136182"/>
                </a:lnTo>
                <a:lnTo>
                  <a:pt x="1786216" y="144881"/>
                </a:lnTo>
                <a:lnTo>
                  <a:pt x="1742147" y="158953"/>
                </a:lnTo>
                <a:lnTo>
                  <a:pt x="1700580" y="178015"/>
                </a:lnTo>
                <a:lnTo>
                  <a:pt x="1661858" y="201739"/>
                </a:lnTo>
                <a:lnTo>
                  <a:pt x="1626349" y="229743"/>
                </a:lnTo>
                <a:lnTo>
                  <a:pt x="1594408" y="261683"/>
                </a:lnTo>
                <a:lnTo>
                  <a:pt x="1566405" y="297180"/>
                </a:lnTo>
                <a:lnTo>
                  <a:pt x="1542681" y="335902"/>
                </a:lnTo>
                <a:lnTo>
                  <a:pt x="1523619" y="377482"/>
                </a:lnTo>
                <a:lnTo>
                  <a:pt x="1509547" y="421551"/>
                </a:lnTo>
                <a:lnTo>
                  <a:pt x="1500847" y="467766"/>
                </a:lnTo>
                <a:lnTo>
                  <a:pt x="1497863" y="515747"/>
                </a:lnTo>
                <a:lnTo>
                  <a:pt x="1500847" y="563740"/>
                </a:lnTo>
                <a:lnTo>
                  <a:pt x="1509547" y="609942"/>
                </a:lnTo>
                <a:lnTo>
                  <a:pt x="1523619" y="654011"/>
                </a:lnTo>
                <a:lnTo>
                  <a:pt x="1542681" y="695591"/>
                </a:lnTo>
                <a:lnTo>
                  <a:pt x="1566405" y="734314"/>
                </a:lnTo>
                <a:lnTo>
                  <a:pt x="1594408" y="769823"/>
                </a:lnTo>
                <a:lnTo>
                  <a:pt x="1626349" y="801751"/>
                </a:lnTo>
                <a:lnTo>
                  <a:pt x="1661858" y="829754"/>
                </a:lnTo>
                <a:lnTo>
                  <a:pt x="1700580" y="853478"/>
                </a:lnTo>
                <a:lnTo>
                  <a:pt x="1742147" y="872553"/>
                </a:lnTo>
                <a:lnTo>
                  <a:pt x="1786216" y="886612"/>
                </a:lnTo>
                <a:lnTo>
                  <a:pt x="1832432" y="895324"/>
                </a:lnTo>
                <a:lnTo>
                  <a:pt x="1880412" y="898296"/>
                </a:lnTo>
                <a:lnTo>
                  <a:pt x="1928406" y="895324"/>
                </a:lnTo>
                <a:lnTo>
                  <a:pt x="1974621" y="886612"/>
                </a:lnTo>
                <a:lnTo>
                  <a:pt x="2018690" y="872553"/>
                </a:lnTo>
                <a:lnTo>
                  <a:pt x="2060270" y="853478"/>
                </a:lnTo>
                <a:lnTo>
                  <a:pt x="2098979" y="829754"/>
                </a:lnTo>
                <a:lnTo>
                  <a:pt x="2134489" y="801751"/>
                </a:lnTo>
                <a:lnTo>
                  <a:pt x="2166429" y="769823"/>
                </a:lnTo>
                <a:lnTo>
                  <a:pt x="2194433" y="734314"/>
                </a:lnTo>
                <a:lnTo>
                  <a:pt x="2218144" y="695591"/>
                </a:lnTo>
                <a:lnTo>
                  <a:pt x="2237219" y="654011"/>
                </a:lnTo>
                <a:lnTo>
                  <a:pt x="2251278" y="609942"/>
                </a:lnTo>
                <a:lnTo>
                  <a:pt x="2259990" y="563740"/>
                </a:lnTo>
                <a:lnTo>
                  <a:pt x="2262962" y="515747"/>
                </a:lnTo>
                <a:close/>
              </a:path>
              <a:path w="3551554" h="3996690">
                <a:moveTo>
                  <a:pt x="3550945" y="1598168"/>
                </a:moveTo>
                <a:lnTo>
                  <a:pt x="3539502" y="1556169"/>
                </a:lnTo>
                <a:lnTo>
                  <a:pt x="3516363" y="1521104"/>
                </a:lnTo>
                <a:lnTo>
                  <a:pt x="3483978" y="1494955"/>
                </a:lnTo>
                <a:lnTo>
                  <a:pt x="3444798" y="1479715"/>
                </a:lnTo>
                <a:lnTo>
                  <a:pt x="3401276" y="1477340"/>
                </a:lnTo>
                <a:lnTo>
                  <a:pt x="3347275" y="1480908"/>
                </a:lnTo>
                <a:lnTo>
                  <a:pt x="3294557" y="1480134"/>
                </a:lnTo>
                <a:lnTo>
                  <a:pt x="3243122" y="1475308"/>
                </a:lnTo>
                <a:lnTo>
                  <a:pt x="3192996" y="1466723"/>
                </a:lnTo>
                <a:lnTo>
                  <a:pt x="3144164" y="1454645"/>
                </a:lnTo>
                <a:lnTo>
                  <a:pt x="3096653" y="1439379"/>
                </a:lnTo>
                <a:lnTo>
                  <a:pt x="3050476" y="1421193"/>
                </a:lnTo>
                <a:lnTo>
                  <a:pt x="3005632" y="1400378"/>
                </a:lnTo>
                <a:lnTo>
                  <a:pt x="2962135" y="1377226"/>
                </a:lnTo>
                <a:lnTo>
                  <a:pt x="2919996" y="1352003"/>
                </a:lnTo>
                <a:lnTo>
                  <a:pt x="2879229" y="1325029"/>
                </a:lnTo>
                <a:lnTo>
                  <a:pt x="2839847" y="1296555"/>
                </a:lnTo>
                <a:lnTo>
                  <a:pt x="2801836" y="1266875"/>
                </a:lnTo>
                <a:lnTo>
                  <a:pt x="2765234" y="1236281"/>
                </a:lnTo>
                <a:lnTo>
                  <a:pt x="2730042" y="1205052"/>
                </a:lnTo>
                <a:lnTo>
                  <a:pt x="2696260" y="1173480"/>
                </a:lnTo>
                <a:lnTo>
                  <a:pt x="2663914" y="1141844"/>
                </a:lnTo>
                <a:lnTo>
                  <a:pt x="2633002" y="1110437"/>
                </a:lnTo>
                <a:lnTo>
                  <a:pt x="2603550" y="1079525"/>
                </a:lnTo>
                <a:lnTo>
                  <a:pt x="2575547" y="1049413"/>
                </a:lnTo>
                <a:lnTo>
                  <a:pt x="2482824" y="947470"/>
                </a:lnTo>
                <a:lnTo>
                  <a:pt x="2446083" y="909027"/>
                </a:lnTo>
                <a:lnTo>
                  <a:pt x="2412250" y="877570"/>
                </a:lnTo>
                <a:lnTo>
                  <a:pt x="2379802" y="853338"/>
                </a:lnTo>
                <a:lnTo>
                  <a:pt x="2334691" y="831697"/>
                </a:lnTo>
                <a:lnTo>
                  <a:pt x="2293848" y="825157"/>
                </a:lnTo>
                <a:lnTo>
                  <a:pt x="2168944" y="825157"/>
                </a:lnTo>
                <a:lnTo>
                  <a:pt x="2129028" y="858113"/>
                </a:lnTo>
                <a:lnTo>
                  <a:pt x="2085251" y="886079"/>
                </a:lnTo>
                <a:lnTo>
                  <a:pt x="2038070" y="908608"/>
                </a:lnTo>
                <a:lnTo>
                  <a:pt x="1987918" y="925245"/>
                </a:lnTo>
                <a:lnTo>
                  <a:pt x="1935213" y="935558"/>
                </a:lnTo>
                <a:lnTo>
                  <a:pt x="1880425" y="939088"/>
                </a:lnTo>
                <a:lnTo>
                  <a:pt x="1826437" y="935672"/>
                </a:lnTo>
                <a:lnTo>
                  <a:pt x="1774482" y="925677"/>
                </a:lnTo>
                <a:lnTo>
                  <a:pt x="1724977" y="909535"/>
                </a:lnTo>
                <a:lnTo>
                  <a:pt x="1678330" y="887666"/>
                </a:lnTo>
                <a:lnTo>
                  <a:pt x="1634972" y="860488"/>
                </a:lnTo>
                <a:lnTo>
                  <a:pt x="1595335" y="828433"/>
                </a:lnTo>
                <a:lnTo>
                  <a:pt x="1562303" y="834986"/>
                </a:lnTo>
                <a:lnTo>
                  <a:pt x="1524800" y="846861"/>
                </a:lnTo>
                <a:lnTo>
                  <a:pt x="1483817" y="865479"/>
                </a:lnTo>
                <a:lnTo>
                  <a:pt x="1440395" y="892276"/>
                </a:lnTo>
                <a:lnTo>
                  <a:pt x="1395564" y="928662"/>
                </a:lnTo>
                <a:lnTo>
                  <a:pt x="1367929" y="956259"/>
                </a:lnTo>
                <a:lnTo>
                  <a:pt x="1341704" y="986802"/>
                </a:lnTo>
                <a:lnTo>
                  <a:pt x="1316888" y="1020267"/>
                </a:lnTo>
                <a:lnTo>
                  <a:pt x="1293482" y="1056640"/>
                </a:lnTo>
                <a:lnTo>
                  <a:pt x="1271511" y="1095921"/>
                </a:lnTo>
                <a:lnTo>
                  <a:pt x="1250950" y="1138072"/>
                </a:lnTo>
                <a:lnTo>
                  <a:pt x="1231836" y="1183106"/>
                </a:lnTo>
                <a:lnTo>
                  <a:pt x="1214158" y="1231011"/>
                </a:lnTo>
                <a:lnTo>
                  <a:pt x="1197914" y="1281747"/>
                </a:lnTo>
                <a:lnTo>
                  <a:pt x="1183119" y="1335316"/>
                </a:lnTo>
                <a:lnTo>
                  <a:pt x="1169771" y="1391716"/>
                </a:lnTo>
                <a:lnTo>
                  <a:pt x="1157897" y="1450924"/>
                </a:lnTo>
                <a:lnTo>
                  <a:pt x="1147470" y="1512925"/>
                </a:lnTo>
                <a:lnTo>
                  <a:pt x="1138516" y="1577695"/>
                </a:lnTo>
                <a:lnTo>
                  <a:pt x="1116418" y="1591919"/>
                </a:lnTo>
                <a:lnTo>
                  <a:pt x="1037894" y="1617586"/>
                </a:lnTo>
                <a:lnTo>
                  <a:pt x="986269" y="1628063"/>
                </a:lnTo>
                <a:lnTo>
                  <a:pt x="929601" y="1636318"/>
                </a:lnTo>
                <a:lnTo>
                  <a:pt x="870305" y="1641868"/>
                </a:lnTo>
                <a:lnTo>
                  <a:pt x="810780" y="1644218"/>
                </a:lnTo>
                <a:lnTo>
                  <a:pt x="829119" y="1687055"/>
                </a:lnTo>
                <a:lnTo>
                  <a:pt x="849845" y="1730514"/>
                </a:lnTo>
                <a:lnTo>
                  <a:pt x="873074" y="1774469"/>
                </a:lnTo>
                <a:lnTo>
                  <a:pt x="898956" y="1818779"/>
                </a:lnTo>
                <a:lnTo>
                  <a:pt x="927595" y="1863305"/>
                </a:lnTo>
                <a:lnTo>
                  <a:pt x="959129" y="1907921"/>
                </a:lnTo>
                <a:lnTo>
                  <a:pt x="1002068" y="1902447"/>
                </a:lnTo>
                <a:lnTo>
                  <a:pt x="1046378" y="1895106"/>
                </a:lnTo>
                <a:lnTo>
                  <a:pt x="1091298" y="1885645"/>
                </a:lnTo>
                <a:lnTo>
                  <a:pt x="1136065" y="1873808"/>
                </a:lnTo>
                <a:lnTo>
                  <a:pt x="1179931" y="1859343"/>
                </a:lnTo>
                <a:lnTo>
                  <a:pt x="1222133" y="1841995"/>
                </a:lnTo>
                <a:lnTo>
                  <a:pt x="1261922" y="1821497"/>
                </a:lnTo>
                <a:lnTo>
                  <a:pt x="1298536" y="1797621"/>
                </a:lnTo>
                <a:lnTo>
                  <a:pt x="1331226" y="1770087"/>
                </a:lnTo>
                <a:lnTo>
                  <a:pt x="1359242" y="1738642"/>
                </a:lnTo>
                <a:lnTo>
                  <a:pt x="1381810" y="1703031"/>
                </a:lnTo>
                <a:lnTo>
                  <a:pt x="1398181" y="1663014"/>
                </a:lnTo>
                <a:lnTo>
                  <a:pt x="1407617" y="1618310"/>
                </a:lnTo>
                <a:lnTo>
                  <a:pt x="1416558" y="1552854"/>
                </a:lnTo>
                <a:lnTo>
                  <a:pt x="1426756" y="1492834"/>
                </a:lnTo>
                <a:lnTo>
                  <a:pt x="1438059" y="1438046"/>
                </a:lnTo>
                <a:lnTo>
                  <a:pt x="1450314" y="1388275"/>
                </a:lnTo>
                <a:lnTo>
                  <a:pt x="1463344" y="1343317"/>
                </a:lnTo>
                <a:lnTo>
                  <a:pt x="1477010" y="1302931"/>
                </a:lnTo>
                <a:lnTo>
                  <a:pt x="1491132" y="1266913"/>
                </a:lnTo>
                <a:lnTo>
                  <a:pt x="1505585" y="1235049"/>
                </a:lnTo>
                <a:lnTo>
                  <a:pt x="1505585" y="2381085"/>
                </a:lnTo>
                <a:lnTo>
                  <a:pt x="1505585" y="2398103"/>
                </a:lnTo>
                <a:lnTo>
                  <a:pt x="1505585" y="3785603"/>
                </a:lnTo>
                <a:lnTo>
                  <a:pt x="1511134" y="3833812"/>
                </a:lnTo>
                <a:lnTo>
                  <a:pt x="1526959" y="3878059"/>
                </a:lnTo>
                <a:lnTo>
                  <a:pt x="1551774" y="3917099"/>
                </a:lnTo>
                <a:lnTo>
                  <a:pt x="1584325" y="3949636"/>
                </a:lnTo>
                <a:lnTo>
                  <a:pt x="1623352" y="3974452"/>
                </a:lnTo>
                <a:lnTo>
                  <a:pt x="1667598" y="3990251"/>
                </a:lnTo>
                <a:lnTo>
                  <a:pt x="1715782" y="3995801"/>
                </a:lnTo>
                <a:lnTo>
                  <a:pt x="1763979" y="3990251"/>
                </a:lnTo>
                <a:lnTo>
                  <a:pt x="1808226" y="3974452"/>
                </a:lnTo>
                <a:lnTo>
                  <a:pt x="1847265" y="3949636"/>
                </a:lnTo>
                <a:lnTo>
                  <a:pt x="1879828" y="3917099"/>
                </a:lnTo>
                <a:lnTo>
                  <a:pt x="1904657" y="3878059"/>
                </a:lnTo>
                <a:lnTo>
                  <a:pt x="1920468" y="3833812"/>
                </a:lnTo>
                <a:lnTo>
                  <a:pt x="1926031" y="3785603"/>
                </a:lnTo>
                <a:lnTo>
                  <a:pt x="1926031" y="2398103"/>
                </a:lnTo>
                <a:lnTo>
                  <a:pt x="2004796" y="2398103"/>
                </a:lnTo>
                <a:lnTo>
                  <a:pt x="2004796" y="3785603"/>
                </a:lnTo>
                <a:lnTo>
                  <a:pt x="2010346" y="3833812"/>
                </a:lnTo>
                <a:lnTo>
                  <a:pt x="2026170" y="3878059"/>
                </a:lnTo>
                <a:lnTo>
                  <a:pt x="2050986" y="3917099"/>
                </a:lnTo>
                <a:lnTo>
                  <a:pt x="2083549" y="3949636"/>
                </a:lnTo>
                <a:lnTo>
                  <a:pt x="2122589" y="3974452"/>
                </a:lnTo>
                <a:lnTo>
                  <a:pt x="2166836" y="3990251"/>
                </a:lnTo>
                <a:lnTo>
                  <a:pt x="2215032" y="3995801"/>
                </a:lnTo>
                <a:lnTo>
                  <a:pt x="2263229" y="3990251"/>
                </a:lnTo>
                <a:lnTo>
                  <a:pt x="2307475" y="3974452"/>
                </a:lnTo>
                <a:lnTo>
                  <a:pt x="2346515" y="3949636"/>
                </a:lnTo>
                <a:lnTo>
                  <a:pt x="2379078" y="3917099"/>
                </a:lnTo>
                <a:lnTo>
                  <a:pt x="2403894" y="3878059"/>
                </a:lnTo>
                <a:lnTo>
                  <a:pt x="2419718" y="3833812"/>
                </a:lnTo>
                <a:lnTo>
                  <a:pt x="2425268" y="3785603"/>
                </a:lnTo>
                <a:lnTo>
                  <a:pt x="2425268" y="2398103"/>
                </a:lnTo>
                <a:lnTo>
                  <a:pt x="2425268" y="2381085"/>
                </a:lnTo>
                <a:lnTo>
                  <a:pt x="2425268" y="1286522"/>
                </a:lnTo>
                <a:lnTo>
                  <a:pt x="2453551" y="1315542"/>
                </a:lnTo>
                <a:lnTo>
                  <a:pt x="2483421" y="1345234"/>
                </a:lnTo>
                <a:lnTo>
                  <a:pt x="2514841" y="1375410"/>
                </a:lnTo>
                <a:lnTo>
                  <a:pt x="2547810" y="1405826"/>
                </a:lnTo>
                <a:lnTo>
                  <a:pt x="2582316" y="1436293"/>
                </a:lnTo>
                <a:lnTo>
                  <a:pt x="2618333" y="1466583"/>
                </a:lnTo>
                <a:lnTo>
                  <a:pt x="2655862" y="1496479"/>
                </a:lnTo>
                <a:lnTo>
                  <a:pt x="2694876" y="1525765"/>
                </a:lnTo>
                <a:lnTo>
                  <a:pt x="2735364" y="1554226"/>
                </a:lnTo>
                <a:lnTo>
                  <a:pt x="2777312" y="1581645"/>
                </a:lnTo>
                <a:lnTo>
                  <a:pt x="2820708" y="1607820"/>
                </a:lnTo>
                <a:lnTo>
                  <a:pt x="2865551" y="1632521"/>
                </a:lnTo>
                <a:lnTo>
                  <a:pt x="2911805" y="1655533"/>
                </a:lnTo>
                <a:lnTo>
                  <a:pt x="2959455" y="1676654"/>
                </a:lnTo>
                <a:lnTo>
                  <a:pt x="3008515" y="1695653"/>
                </a:lnTo>
                <a:lnTo>
                  <a:pt x="3058947" y="1712315"/>
                </a:lnTo>
                <a:lnTo>
                  <a:pt x="3110750" y="1726438"/>
                </a:lnTo>
                <a:lnTo>
                  <a:pt x="3163887" y="1737791"/>
                </a:lnTo>
                <a:lnTo>
                  <a:pt x="3218383" y="1746173"/>
                </a:lnTo>
                <a:lnTo>
                  <a:pt x="3274187" y="1751355"/>
                </a:lnTo>
                <a:lnTo>
                  <a:pt x="3331311" y="1753133"/>
                </a:lnTo>
                <a:lnTo>
                  <a:pt x="3355670" y="1752815"/>
                </a:lnTo>
                <a:lnTo>
                  <a:pt x="3405073" y="1750187"/>
                </a:lnTo>
                <a:lnTo>
                  <a:pt x="3472129" y="1736394"/>
                </a:lnTo>
                <a:lnTo>
                  <a:pt x="3507206" y="1713230"/>
                </a:lnTo>
                <a:lnTo>
                  <a:pt x="3533368" y="1680832"/>
                </a:lnTo>
                <a:lnTo>
                  <a:pt x="3548608" y="1641652"/>
                </a:lnTo>
                <a:lnTo>
                  <a:pt x="3550945" y="1598168"/>
                </a:lnTo>
                <a:close/>
              </a:path>
            </a:pathLst>
          </a:custGeom>
          <a:solidFill>
            <a:srgbClr val="F477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44500" y="2999892"/>
            <a:ext cx="2729865" cy="2646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3975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Create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inclusive,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safe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environment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for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patients,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visitors,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customers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and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colleagues.</a:t>
            </a:r>
            <a:endParaRPr sz="1150">
              <a:latin typeface="Avenir Book"/>
              <a:cs typeface="Avenir Book"/>
            </a:endParaRPr>
          </a:p>
          <a:p>
            <a:pPr marL="241300" marR="76200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Always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treat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others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with</a:t>
            </a:r>
            <a:r>
              <a:rPr sz="1150" spc="50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compassion,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respect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dignity.</a:t>
            </a:r>
            <a:endParaRPr sz="1150">
              <a:latin typeface="Avenir Book"/>
              <a:cs typeface="Avenir Book"/>
            </a:endParaRPr>
          </a:p>
          <a:p>
            <a:pPr marL="240665" indent="-227965">
              <a:lnSpc>
                <a:spcPct val="100000"/>
              </a:lnSpc>
              <a:spcBef>
                <a:spcPts val="540"/>
              </a:spcBef>
              <a:buChar char="•"/>
              <a:tabLst>
                <a:tab pos="240665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Be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honest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fair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all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actions.</a:t>
            </a:r>
            <a:endParaRPr sz="1150">
              <a:latin typeface="Avenir Book"/>
              <a:cs typeface="Avenir Book"/>
            </a:endParaRPr>
          </a:p>
          <a:p>
            <a:pPr marL="241300" marR="5080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Make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clinical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decisions based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on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each patient’s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identified needs, not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their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financial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circumstances.</a:t>
            </a:r>
            <a:endParaRPr sz="1150">
              <a:latin typeface="Avenir Book"/>
              <a:cs typeface="Avenir Book"/>
            </a:endParaRPr>
          </a:p>
          <a:p>
            <a:pPr marL="241300" marR="30480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Look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for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opportunities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improve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the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patient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experience.</a:t>
            </a:r>
            <a:endParaRPr sz="1150">
              <a:latin typeface="Avenir Book"/>
              <a:cs typeface="Avenir Book"/>
            </a:endParaRPr>
          </a:p>
          <a:p>
            <a:pPr marL="241300" marR="648970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Speak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up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about concerns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or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suspected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misconduct.</a:t>
            </a:r>
            <a:endParaRPr sz="1150">
              <a:latin typeface="Avenir Book"/>
              <a:cs typeface="Avenir Boo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06571" y="3013608"/>
            <a:ext cx="2737485" cy="2227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13335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Safeguard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patient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business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information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from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inappropriate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access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and/or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use.</a:t>
            </a:r>
            <a:endParaRPr sz="1150" dirty="0">
              <a:latin typeface="Avenir Book"/>
              <a:cs typeface="Avenir Book"/>
            </a:endParaRPr>
          </a:p>
          <a:p>
            <a:pPr marL="241300" marR="373380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Document and bill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appropriately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accurately.</a:t>
            </a:r>
            <a:endParaRPr sz="1150" dirty="0">
              <a:latin typeface="Avenir Book"/>
              <a:cs typeface="Avenir Book"/>
            </a:endParaRPr>
          </a:p>
          <a:p>
            <a:pPr marL="241300" marR="548640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Use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lang="en-US" sz="1150" dirty="0">
                <a:solidFill>
                  <a:srgbClr val="231F20"/>
                </a:solidFill>
                <a:latin typeface="Avenir Book"/>
                <a:cs typeface="Avenir Book"/>
              </a:rPr>
              <a:t>Destiny Springs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resources responsibly.</a:t>
            </a:r>
            <a:endParaRPr sz="1150" dirty="0">
              <a:latin typeface="Avenir Book"/>
              <a:cs typeface="Avenir Book"/>
            </a:endParaRPr>
          </a:p>
          <a:p>
            <a:pPr marL="240665" indent="-227965">
              <a:lnSpc>
                <a:spcPct val="100000"/>
              </a:lnSpc>
              <a:spcBef>
                <a:spcPts val="540"/>
              </a:spcBef>
              <a:buChar char="•"/>
              <a:tabLst>
                <a:tab pos="240665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Report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potential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conflicts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interest.</a:t>
            </a:r>
            <a:endParaRPr sz="1150" dirty="0">
              <a:latin typeface="Avenir Book"/>
              <a:cs typeface="Avenir Book"/>
            </a:endParaRPr>
          </a:p>
          <a:p>
            <a:pPr marL="241300" marR="5080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Do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not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accept,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offer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give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anything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value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exchange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for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referral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of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patients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personal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gain.</a:t>
            </a:r>
            <a:endParaRPr sz="1150" dirty="0">
              <a:latin typeface="Avenir Book"/>
              <a:cs typeface="Avenir Boo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4500" y="2624988"/>
            <a:ext cx="21101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14" dirty="0">
                <a:solidFill>
                  <a:srgbClr val="F47720"/>
                </a:solidFill>
                <a:latin typeface="Arial"/>
                <a:cs typeface="Arial"/>
              </a:rPr>
              <a:t>What</a:t>
            </a:r>
            <a:r>
              <a:rPr sz="1800" i="1" spc="15" dirty="0">
                <a:solidFill>
                  <a:srgbClr val="F47720"/>
                </a:solidFill>
                <a:latin typeface="Arial"/>
                <a:cs typeface="Arial"/>
              </a:rPr>
              <a:t> </a:t>
            </a:r>
            <a:r>
              <a:rPr sz="1800" i="1" spc="-240" dirty="0">
                <a:solidFill>
                  <a:srgbClr val="F47720"/>
                </a:solidFill>
                <a:latin typeface="Arial"/>
                <a:cs typeface="Arial"/>
              </a:rPr>
              <a:t>You</a:t>
            </a:r>
            <a:r>
              <a:rPr sz="1800" i="1" spc="35" dirty="0">
                <a:solidFill>
                  <a:srgbClr val="F47720"/>
                </a:solidFill>
                <a:latin typeface="Arial"/>
                <a:cs typeface="Arial"/>
              </a:rPr>
              <a:t> </a:t>
            </a:r>
            <a:r>
              <a:rPr sz="1800" i="1" spc="-185" dirty="0">
                <a:solidFill>
                  <a:srgbClr val="F47720"/>
                </a:solidFill>
                <a:latin typeface="Arial"/>
                <a:cs typeface="Arial"/>
              </a:rPr>
              <a:t>Need</a:t>
            </a:r>
            <a:r>
              <a:rPr sz="1800" i="1" spc="35" dirty="0">
                <a:solidFill>
                  <a:srgbClr val="F47720"/>
                </a:solidFill>
                <a:latin typeface="Arial"/>
                <a:cs typeface="Arial"/>
              </a:rPr>
              <a:t> </a:t>
            </a:r>
            <a:r>
              <a:rPr sz="1800" i="1" spc="-225" dirty="0">
                <a:solidFill>
                  <a:srgbClr val="F47720"/>
                </a:solidFill>
                <a:latin typeface="Arial"/>
                <a:cs typeface="Arial"/>
              </a:rPr>
              <a:t>to</a:t>
            </a:r>
            <a:r>
              <a:rPr sz="1800" i="1" spc="35" dirty="0">
                <a:solidFill>
                  <a:srgbClr val="F47720"/>
                </a:solidFill>
                <a:latin typeface="Arial"/>
                <a:cs typeface="Arial"/>
              </a:rPr>
              <a:t> </a:t>
            </a:r>
            <a:r>
              <a:rPr sz="1800" i="1" spc="-305" dirty="0">
                <a:solidFill>
                  <a:srgbClr val="F47720"/>
                </a:solidFill>
                <a:latin typeface="Arial"/>
                <a:cs typeface="Arial"/>
              </a:rPr>
              <a:t>Know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26212" y="1085696"/>
            <a:ext cx="4359910" cy="117602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4500"/>
              </a:lnSpc>
              <a:spcBef>
                <a:spcPts val="260"/>
              </a:spcBef>
            </a:pPr>
            <a:r>
              <a:rPr sz="3800" spc="-20" dirty="0">
                <a:solidFill>
                  <a:srgbClr val="722B63"/>
                </a:solidFill>
              </a:rPr>
              <a:t>Providing</a:t>
            </a:r>
            <a:r>
              <a:rPr sz="3800" spc="-180" dirty="0">
                <a:solidFill>
                  <a:srgbClr val="722B63"/>
                </a:solidFill>
              </a:rPr>
              <a:t> </a:t>
            </a:r>
            <a:r>
              <a:rPr sz="3800" spc="-10" dirty="0">
                <a:solidFill>
                  <a:srgbClr val="722B63"/>
                </a:solidFill>
              </a:rPr>
              <a:t>Safe, </a:t>
            </a:r>
            <a:r>
              <a:rPr sz="3800" dirty="0">
                <a:solidFill>
                  <a:srgbClr val="722B63"/>
                </a:solidFill>
              </a:rPr>
              <a:t>Extraordinary</a:t>
            </a:r>
            <a:r>
              <a:rPr sz="3800" spc="-100" dirty="0">
                <a:solidFill>
                  <a:srgbClr val="722B63"/>
                </a:solidFill>
              </a:rPr>
              <a:t> </a:t>
            </a:r>
            <a:r>
              <a:rPr sz="3800" spc="-20" dirty="0">
                <a:solidFill>
                  <a:srgbClr val="722B63"/>
                </a:solidFill>
              </a:rPr>
              <a:t>Care</a:t>
            </a:r>
            <a:endParaRPr sz="3800"/>
          </a:p>
        </p:txBody>
      </p:sp>
      <p:sp>
        <p:nvSpPr>
          <p:cNvPr id="7" name="object 7"/>
          <p:cNvSpPr txBox="1"/>
          <p:nvPr/>
        </p:nvSpPr>
        <p:spPr>
          <a:xfrm>
            <a:off x="8368329" y="7289692"/>
            <a:ext cx="1474470" cy="1436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25" dirty="0">
                <a:solidFill>
                  <a:srgbClr val="722B63"/>
                </a:solidFill>
                <a:latin typeface="Arial"/>
                <a:cs typeface="Arial"/>
              </a:rPr>
              <a:t>VALUES</a:t>
            </a:r>
            <a:r>
              <a:rPr sz="850" b="1" spc="-15" dirty="0">
                <a:solidFill>
                  <a:srgbClr val="722B63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722B63"/>
                </a:solidFill>
                <a:latin typeface="Arial"/>
                <a:cs typeface="Arial"/>
              </a:rPr>
              <a:t>LINE</a:t>
            </a:r>
            <a:r>
              <a:rPr sz="850" b="1" spc="-15" dirty="0">
                <a:solidFill>
                  <a:srgbClr val="722B63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008BC0"/>
                </a:solidFill>
                <a:latin typeface="Arial"/>
                <a:cs typeface="Arial"/>
              </a:rPr>
              <a:t>I</a:t>
            </a:r>
            <a:r>
              <a:rPr sz="850" b="1" spc="-15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lang="en-US" sz="850" i="1" spc="-90" dirty="0">
                <a:solidFill>
                  <a:srgbClr val="008BC0"/>
                </a:solidFill>
                <a:latin typeface="Arial"/>
                <a:cs typeface="Arial"/>
              </a:rPr>
              <a:t>833.290.0001   </a:t>
            </a:r>
            <a:r>
              <a:rPr lang="en-US" sz="850" b="1" i="1" spc="-90" dirty="0">
                <a:solidFill>
                  <a:srgbClr val="008BC0"/>
                </a:solidFill>
                <a:latin typeface="Arial"/>
                <a:cs typeface="Arial"/>
              </a:rPr>
              <a:t>7</a:t>
            </a:r>
            <a:endParaRPr sz="850" b="1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83112" y="3546830"/>
            <a:ext cx="5345099" cy="3683152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7230" rIns="0" bIns="0" rtlCol="0">
            <a:spAutoFit/>
          </a:bodyPr>
          <a:lstStyle/>
          <a:p>
            <a:pPr marL="125095">
              <a:lnSpc>
                <a:spcPct val="100000"/>
              </a:lnSpc>
              <a:spcBef>
                <a:spcPts val="5490"/>
              </a:spcBef>
            </a:pPr>
            <a:r>
              <a:rPr spc="-350" dirty="0">
                <a:solidFill>
                  <a:srgbClr val="FFC425"/>
                </a:solidFill>
              </a:rPr>
              <a:t>TE</a:t>
            </a:r>
            <a:r>
              <a:rPr spc="-145" dirty="0">
                <a:solidFill>
                  <a:srgbClr val="FFC425"/>
                </a:solidFill>
              </a:rPr>
              <a:t>A</a:t>
            </a:r>
            <a:r>
              <a:rPr spc="-290" dirty="0">
                <a:solidFill>
                  <a:srgbClr val="FFC425"/>
                </a:solidFill>
              </a:rPr>
              <a:t>M</a:t>
            </a:r>
            <a:r>
              <a:rPr spc="-700" dirty="0">
                <a:solidFill>
                  <a:srgbClr val="FFC425"/>
                </a:solidFill>
              </a:rPr>
              <a:t>W</a:t>
            </a:r>
            <a:r>
              <a:rPr spc="-500" dirty="0">
                <a:solidFill>
                  <a:srgbClr val="FFC425"/>
                </a:solidFill>
              </a:rPr>
              <a:t>O</a:t>
            </a:r>
            <a:r>
              <a:rPr spc="-385" dirty="0">
                <a:solidFill>
                  <a:srgbClr val="FFC425"/>
                </a:solidFill>
              </a:rPr>
              <a:t>R</a:t>
            </a:r>
            <a:r>
              <a:rPr spc="-340" dirty="0">
                <a:solidFill>
                  <a:srgbClr val="FFC425"/>
                </a:solidFill>
              </a:rPr>
              <a:t>K</a:t>
            </a:r>
          </a:p>
          <a:p>
            <a:pPr marL="218440">
              <a:lnSpc>
                <a:spcPct val="100000"/>
              </a:lnSpc>
              <a:spcBef>
                <a:spcPts val="970"/>
              </a:spcBef>
            </a:pPr>
            <a:r>
              <a:rPr sz="1800" b="0" i="1" spc="-185" dirty="0">
                <a:solidFill>
                  <a:srgbClr val="008BC0"/>
                </a:solidFill>
                <a:latin typeface="Arial"/>
                <a:cs typeface="Arial"/>
              </a:rPr>
              <a:t>Working</a:t>
            </a:r>
            <a:r>
              <a:rPr sz="1800" b="0" i="1" spc="85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sz="1800" b="0" i="1" spc="-235" dirty="0">
                <a:solidFill>
                  <a:srgbClr val="008BC0"/>
                </a:solidFill>
                <a:latin typeface="Arial"/>
                <a:cs typeface="Arial"/>
              </a:rPr>
              <a:t>together</a:t>
            </a:r>
            <a:r>
              <a:rPr sz="1800" b="0" i="1" spc="85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sz="1800" b="0" i="1" spc="-195" dirty="0">
                <a:solidFill>
                  <a:srgbClr val="008BC0"/>
                </a:solidFill>
                <a:latin typeface="Arial"/>
                <a:cs typeface="Arial"/>
              </a:rPr>
              <a:t>toward</a:t>
            </a:r>
            <a:r>
              <a:rPr sz="1800" b="0" i="1" spc="90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sz="1800" b="0" i="1" spc="-220" dirty="0">
                <a:solidFill>
                  <a:srgbClr val="008BC0"/>
                </a:solidFill>
                <a:latin typeface="Arial"/>
                <a:cs typeface="Arial"/>
              </a:rPr>
              <a:t>shared</a:t>
            </a:r>
            <a:r>
              <a:rPr sz="1800" b="0" i="1" spc="85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sz="1800" b="0" i="1" spc="-35" dirty="0">
                <a:solidFill>
                  <a:srgbClr val="008BC0"/>
                </a:solidFill>
                <a:latin typeface="Arial"/>
                <a:cs typeface="Arial"/>
              </a:rPr>
              <a:t>goals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4500" y="3697346"/>
            <a:ext cx="3595370" cy="324104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243840" indent="-231140" algn="just">
              <a:lnSpc>
                <a:spcPct val="100000"/>
              </a:lnSpc>
              <a:spcBef>
                <a:spcPts val="640"/>
              </a:spcBef>
              <a:buChar char="•"/>
              <a:tabLst>
                <a:tab pos="24384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treat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co-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workers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with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courtesy,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honesty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respect.</a:t>
            </a:r>
            <a:endParaRPr sz="1150" dirty="0">
              <a:latin typeface="Avenir Book"/>
              <a:cs typeface="Avenir Book"/>
            </a:endParaRPr>
          </a:p>
          <a:p>
            <a:pPr marL="241300" marR="24130" indent="-228600" algn="just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  <a:tab pos="24384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	I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am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team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player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work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collaboratively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toward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solutions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help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others,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including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those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outside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of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my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department.</a:t>
            </a:r>
            <a:endParaRPr sz="1150" dirty="0">
              <a:latin typeface="Avenir Book"/>
              <a:cs typeface="Avenir Book"/>
            </a:endParaRPr>
          </a:p>
          <a:p>
            <a:pPr marL="241300" marR="25400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speak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highly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others,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promoting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their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strengths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rather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than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talking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negatively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about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their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character.</a:t>
            </a:r>
            <a:endParaRPr sz="1150" dirty="0">
              <a:latin typeface="Avenir Book"/>
              <a:cs typeface="Avenir Book"/>
            </a:endParaRPr>
          </a:p>
          <a:p>
            <a:pPr marL="241300" marR="101600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provide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my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team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members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honest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feedback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and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address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disagreements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directly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respectful manner.</a:t>
            </a:r>
            <a:endParaRPr sz="1150" dirty="0">
              <a:latin typeface="Avenir Book"/>
              <a:cs typeface="Avenir Book"/>
            </a:endParaRPr>
          </a:p>
          <a:p>
            <a:pPr marL="241300" marR="127635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take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time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each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shift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read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hospital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communications (</a:t>
            </a:r>
            <a:r>
              <a:rPr lang="en-US" sz="1150" dirty="0" err="1">
                <a:solidFill>
                  <a:srgbClr val="231F20"/>
                </a:solidFill>
                <a:latin typeface="Avenir Book"/>
                <a:cs typeface="Avenir Book"/>
              </a:rPr>
              <a:t>emails,</a:t>
            </a:r>
            <a:r>
              <a:rPr sz="1150" dirty="0" err="1">
                <a:solidFill>
                  <a:srgbClr val="231F20"/>
                </a:solidFill>
                <a:latin typeface="Avenir Book"/>
                <a:cs typeface="Avenir Book"/>
              </a:rPr>
              <a:t>flyers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, bulletins,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policies,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electronic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boards,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etc.)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know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what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is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expected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me.</a:t>
            </a:r>
            <a:endParaRPr sz="1150" dirty="0">
              <a:latin typeface="Avenir Book"/>
              <a:cs typeface="Avenir Book"/>
            </a:endParaRPr>
          </a:p>
          <a:p>
            <a:pPr marL="241300" marR="5080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read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respond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emails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calendar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requests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timely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manner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attend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mandatory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staff meetings.</a:t>
            </a:r>
            <a:endParaRPr sz="1150" dirty="0">
              <a:latin typeface="Avenir Book"/>
              <a:cs typeface="Avenir Boo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4500" y="3429937"/>
            <a:ext cx="32213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C425"/>
                </a:solidFill>
                <a:latin typeface="Arial"/>
                <a:cs typeface="Arial"/>
              </a:rPr>
              <a:t>TEAMWORK</a:t>
            </a:r>
            <a:r>
              <a:rPr sz="1400" b="1" spc="15" dirty="0">
                <a:solidFill>
                  <a:srgbClr val="FFC425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C425"/>
                </a:solidFill>
                <a:latin typeface="Arial"/>
                <a:cs typeface="Arial"/>
              </a:rPr>
              <a:t>BEHAVIOR</a:t>
            </a:r>
            <a:r>
              <a:rPr sz="1400" b="1" spc="20" dirty="0">
                <a:solidFill>
                  <a:srgbClr val="FFC425"/>
                </a:solidFill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FFC425"/>
                </a:solidFill>
                <a:latin typeface="Arial"/>
                <a:cs typeface="Arial"/>
              </a:rPr>
              <a:t>STANDARDS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005890" y="790224"/>
            <a:ext cx="718185" cy="718185"/>
            <a:chOff x="8005890" y="790224"/>
            <a:chExt cx="718185" cy="71818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05890" y="1197848"/>
              <a:ext cx="99466" cy="17089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45524" y="790224"/>
              <a:ext cx="170903" cy="9946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24569" y="929864"/>
              <a:ext cx="99479" cy="17089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13521" y="1408908"/>
              <a:ext cx="170891" cy="9946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120430" y="904773"/>
              <a:ext cx="489584" cy="489584"/>
            </a:xfrm>
            <a:custGeom>
              <a:avLst/>
              <a:gdLst/>
              <a:ahLst/>
              <a:cxnLst/>
              <a:rect l="l" t="t" r="r" b="b"/>
              <a:pathLst>
                <a:path w="489584" h="489584">
                  <a:moveTo>
                    <a:pt x="232664" y="445579"/>
                  </a:moveTo>
                  <a:lnTo>
                    <a:pt x="231851" y="425780"/>
                  </a:lnTo>
                  <a:lnTo>
                    <a:pt x="229323" y="406425"/>
                  </a:lnTo>
                  <a:lnTo>
                    <a:pt x="208127" y="290588"/>
                  </a:lnTo>
                  <a:lnTo>
                    <a:pt x="201104" y="249605"/>
                  </a:lnTo>
                  <a:lnTo>
                    <a:pt x="200964" y="246938"/>
                  </a:lnTo>
                  <a:lnTo>
                    <a:pt x="200685" y="247002"/>
                  </a:lnTo>
                  <a:lnTo>
                    <a:pt x="198335" y="231330"/>
                  </a:lnTo>
                  <a:lnTo>
                    <a:pt x="198323" y="229133"/>
                  </a:lnTo>
                  <a:lnTo>
                    <a:pt x="137680" y="250126"/>
                  </a:lnTo>
                  <a:lnTo>
                    <a:pt x="100050" y="259359"/>
                  </a:lnTo>
                  <a:lnTo>
                    <a:pt x="69748" y="258838"/>
                  </a:lnTo>
                  <a:lnTo>
                    <a:pt x="31089" y="250583"/>
                  </a:lnTo>
                  <a:lnTo>
                    <a:pt x="29514" y="249389"/>
                  </a:lnTo>
                  <a:lnTo>
                    <a:pt x="24155" y="271767"/>
                  </a:lnTo>
                  <a:lnTo>
                    <a:pt x="11315" y="327012"/>
                  </a:lnTo>
                  <a:lnTo>
                    <a:pt x="4203" y="383730"/>
                  </a:lnTo>
                  <a:lnTo>
                    <a:pt x="1308" y="428104"/>
                  </a:lnTo>
                  <a:lnTo>
                    <a:pt x="3898" y="442645"/>
                  </a:lnTo>
                  <a:lnTo>
                    <a:pt x="9601" y="453834"/>
                  </a:lnTo>
                  <a:lnTo>
                    <a:pt x="17716" y="461162"/>
                  </a:lnTo>
                  <a:lnTo>
                    <a:pt x="27520" y="464146"/>
                  </a:lnTo>
                  <a:lnTo>
                    <a:pt x="30175" y="464172"/>
                  </a:lnTo>
                  <a:lnTo>
                    <a:pt x="36588" y="463791"/>
                  </a:lnTo>
                  <a:lnTo>
                    <a:pt x="35890" y="462788"/>
                  </a:lnTo>
                  <a:lnTo>
                    <a:pt x="42748" y="464172"/>
                  </a:lnTo>
                  <a:lnTo>
                    <a:pt x="50215" y="468236"/>
                  </a:lnTo>
                  <a:lnTo>
                    <a:pt x="55587" y="473570"/>
                  </a:lnTo>
                  <a:lnTo>
                    <a:pt x="61963" y="478536"/>
                  </a:lnTo>
                  <a:lnTo>
                    <a:pt x="72415" y="481507"/>
                  </a:lnTo>
                  <a:lnTo>
                    <a:pt x="82118" y="481304"/>
                  </a:lnTo>
                  <a:lnTo>
                    <a:pt x="99796" y="476999"/>
                  </a:lnTo>
                  <a:lnTo>
                    <a:pt x="110032" y="477266"/>
                  </a:lnTo>
                  <a:lnTo>
                    <a:pt x="115239" y="479412"/>
                  </a:lnTo>
                  <a:lnTo>
                    <a:pt x="120294" y="482879"/>
                  </a:lnTo>
                  <a:lnTo>
                    <a:pt x="126784" y="486486"/>
                  </a:lnTo>
                  <a:lnTo>
                    <a:pt x="136296" y="489077"/>
                  </a:lnTo>
                  <a:lnTo>
                    <a:pt x="147904" y="488010"/>
                  </a:lnTo>
                  <a:lnTo>
                    <a:pt x="159092" y="483577"/>
                  </a:lnTo>
                  <a:lnTo>
                    <a:pt x="168986" y="478955"/>
                  </a:lnTo>
                  <a:lnTo>
                    <a:pt x="176745" y="477342"/>
                  </a:lnTo>
                  <a:lnTo>
                    <a:pt x="180454" y="477888"/>
                  </a:lnTo>
                  <a:lnTo>
                    <a:pt x="187642" y="481088"/>
                  </a:lnTo>
                  <a:lnTo>
                    <a:pt x="196723" y="481330"/>
                  </a:lnTo>
                  <a:lnTo>
                    <a:pt x="211886" y="480225"/>
                  </a:lnTo>
                  <a:lnTo>
                    <a:pt x="220713" y="476110"/>
                  </a:lnTo>
                  <a:lnTo>
                    <a:pt x="225844" y="469442"/>
                  </a:lnTo>
                  <a:lnTo>
                    <a:pt x="229946" y="460667"/>
                  </a:lnTo>
                  <a:lnTo>
                    <a:pt x="232664" y="445579"/>
                  </a:lnTo>
                  <a:close/>
                </a:path>
                <a:path w="489584" h="489584">
                  <a:moveTo>
                    <a:pt x="259943" y="198348"/>
                  </a:moveTo>
                  <a:lnTo>
                    <a:pt x="238950" y="137680"/>
                  </a:lnTo>
                  <a:lnTo>
                    <a:pt x="229717" y="100037"/>
                  </a:lnTo>
                  <a:lnTo>
                    <a:pt x="230187" y="72415"/>
                  </a:lnTo>
                  <a:lnTo>
                    <a:pt x="230238" y="69735"/>
                  </a:lnTo>
                  <a:lnTo>
                    <a:pt x="237464" y="35890"/>
                  </a:lnTo>
                  <a:lnTo>
                    <a:pt x="238493" y="31089"/>
                  </a:lnTo>
                  <a:lnTo>
                    <a:pt x="239687" y="29514"/>
                  </a:lnTo>
                  <a:lnTo>
                    <a:pt x="217309" y="24155"/>
                  </a:lnTo>
                  <a:lnTo>
                    <a:pt x="162064" y="11315"/>
                  </a:lnTo>
                  <a:lnTo>
                    <a:pt x="105346" y="4203"/>
                  </a:lnTo>
                  <a:lnTo>
                    <a:pt x="63652" y="1409"/>
                  </a:lnTo>
                  <a:lnTo>
                    <a:pt x="60350" y="1409"/>
                  </a:lnTo>
                  <a:lnTo>
                    <a:pt x="46418" y="3898"/>
                  </a:lnTo>
                  <a:lnTo>
                    <a:pt x="35229" y="9601"/>
                  </a:lnTo>
                  <a:lnTo>
                    <a:pt x="27901" y="17716"/>
                  </a:lnTo>
                  <a:lnTo>
                    <a:pt x="24930" y="27520"/>
                  </a:lnTo>
                  <a:lnTo>
                    <a:pt x="24955" y="31089"/>
                  </a:lnTo>
                  <a:lnTo>
                    <a:pt x="25247" y="35890"/>
                  </a:lnTo>
                  <a:lnTo>
                    <a:pt x="25285" y="36588"/>
                  </a:lnTo>
                  <a:lnTo>
                    <a:pt x="26289" y="35890"/>
                  </a:lnTo>
                  <a:lnTo>
                    <a:pt x="24892" y="42748"/>
                  </a:lnTo>
                  <a:lnTo>
                    <a:pt x="20815" y="50215"/>
                  </a:lnTo>
                  <a:lnTo>
                    <a:pt x="15494" y="55600"/>
                  </a:lnTo>
                  <a:lnTo>
                    <a:pt x="10528" y="61963"/>
                  </a:lnTo>
                  <a:lnTo>
                    <a:pt x="7569" y="72415"/>
                  </a:lnTo>
                  <a:lnTo>
                    <a:pt x="7759" y="82118"/>
                  </a:lnTo>
                  <a:lnTo>
                    <a:pt x="9994" y="90881"/>
                  </a:lnTo>
                  <a:lnTo>
                    <a:pt x="12077" y="99809"/>
                  </a:lnTo>
                  <a:lnTo>
                    <a:pt x="11811" y="110045"/>
                  </a:lnTo>
                  <a:lnTo>
                    <a:pt x="9652" y="115239"/>
                  </a:lnTo>
                  <a:lnTo>
                    <a:pt x="6197" y="120294"/>
                  </a:lnTo>
                  <a:lnTo>
                    <a:pt x="2578" y="126784"/>
                  </a:lnTo>
                  <a:lnTo>
                    <a:pt x="0" y="136309"/>
                  </a:lnTo>
                  <a:lnTo>
                    <a:pt x="1054" y="147916"/>
                  </a:lnTo>
                  <a:lnTo>
                    <a:pt x="5486" y="159105"/>
                  </a:lnTo>
                  <a:lnTo>
                    <a:pt x="10109" y="168998"/>
                  </a:lnTo>
                  <a:lnTo>
                    <a:pt x="11734" y="176745"/>
                  </a:lnTo>
                  <a:lnTo>
                    <a:pt x="11188" y="180454"/>
                  </a:lnTo>
                  <a:lnTo>
                    <a:pt x="7988" y="187642"/>
                  </a:lnTo>
                  <a:lnTo>
                    <a:pt x="7734" y="196723"/>
                  </a:lnTo>
                  <a:lnTo>
                    <a:pt x="28409" y="229946"/>
                  </a:lnTo>
                  <a:lnTo>
                    <a:pt x="43484" y="232664"/>
                  </a:lnTo>
                  <a:lnTo>
                    <a:pt x="63271" y="231851"/>
                  </a:lnTo>
                  <a:lnTo>
                    <a:pt x="82626" y="229323"/>
                  </a:lnTo>
                  <a:lnTo>
                    <a:pt x="198450" y="208140"/>
                  </a:lnTo>
                  <a:lnTo>
                    <a:pt x="239458" y="201104"/>
                  </a:lnTo>
                  <a:lnTo>
                    <a:pt x="242138" y="200964"/>
                  </a:lnTo>
                  <a:lnTo>
                    <a:pt x="242100" y="200799"/>
                  </a:lnTo>
                  <a:lnTo>
                    <a:pt x="251218" y="199237"/>
                  </a:lnTo>
                  <a:lnTo>
                    <a:pt x="257746" y="198348"/>
                  </a:lnTo>
                  <a:lnTo>
                    <a:pt x="259943" y="198348"/>
                  </a:lnTo>
                  <a:close/>
                </a:path>
                <a:path w="489584" h="489584">
                  <a:moveTo>
                    <a:pt x="487781" y="61061"/>
                  </a:moveTo>
                  <a:lnTo>
                    <a:pt x="485165" y="46418"/>
                  </a:lnTo>
                  <a:lnTo>
                    <a:pt x="479463" y="35242"/>
                  </a:lnTo>
                  <a:lnTo>
                    <a:pt x="471347" y="27901"/>
                  </a:lnTo>
                  <a:lnTo>
                    <a:pt x="466026" y="26289"/>
                  </a:lnTo>
                  <a:lnTo>
                    <a:pt x="461556" y="24930"/>
                  </a:lnTo>
                  <a:lnTo>
                    <a:pt x="458470" y="24930"/>
                  </a:lnTo>
                  <a:lnTo>
                    <a:pt x="452488" y="25285"/>
                  </a:lnTo>
                  <a:lnTo>
                    <a:pt x="453186" y="26289"/>
                  </a:lnTo>
                  <a:lnTo>
                    <a:pt x="446443" y="24930"/>
                  </a:lnTo>
                  <a:lnTo>
                    <a:pt x="438848" y="20828"/>
                  </a:lnTo>
                  <a:lnTo>
                    <a:pt x="433476" y="15494"/>
                  </a:lnTo>
                  <a:lnTo>
                    <a:pt x="429082" y="12077"/>
                  </a:lnTo>
                  <a:lnTo>
                    <a:pt x="427113" y="10541"/>
                  </a:lnTo>
                  <a:lnTo>
                    <a:pt x="416661" y="7569"/>
                  </a:lnTo>
                  <a:lnTo>
                    <a:pt x="406933" y="7759"/>
                  </a:lnTo>
                  <a:lnTo>
                    <a:pt x="397675" y="10109"/>
                  </a:lnTo>
                  <a:lnTo>
                    <a:pt x="389267" y="12077"/>
                  </a:lnTo>
                  <a:lnTo>
                    <a:pt x="379031" y="11823"/>
                  </a:lnTo>
                  <a:lnTo>
                    <a:pt x="373824" y="9664"/>
                  </a:lnTo>
                  <a:lnTo>
                    <a:pt x="368769" y="6197"/>
                  </a:lnTo>
                  <a:lnTo>
                    <a:pt x="362280" y="2590"/>
                  </a:lnTo>
                  <a:lnTo>
                    <a:pt x="352767" y="0"/>
                  </a:lnTo>
                  <a:lnTo>
                    <a:pt x="341147" y="1054"/>
                  </a:lnTo>
                  <a:lnTo>
                    <a:pt x="329971" y="5499"/>
                  </a:lnTo>
                  <a:lnTo>
                    <a:pt x="320065" y="10109"/>
                  </a:lnTo>
                  <a:lnTo>
                    <a:pt x="312305" y="11734"/>
                  </a:lnTo>
                  <a:lnTo>
                    <a:pt x="308610" y="11188"/>
                  </a:lnTo>
                  <a:lnTo>
                    <a:pt x="301434" y="7988"/>
                  </a:lnTo>
                  <a:lnTo>
                    <a:pt x="293001" y="7759"/>
                  </a:lnTo>
                  <a:lnTo>
                    <a:pt x="292112" y="7759"/>
                  </a:lnTo>
                  <a:lnTo>
                    <a:pt x="277190" y="8851"/>
                  </a:lnTo>
                  <a:lnTo>
                    <a:pt x="268363" y="12954"/>
                  </a:lnTo>
                  <a:lnTo>
                    <a:pt x="263220" y="19621"/>
                  </a:lnTo>
                  <a:lnTo>
                    <a:pt x="259130" y="28409"/>
                  </a:lnTo>
                  <a:lnTo>
                    <a:pt x="256413" y="43472"/>
                  </a:lnTo>
                  <a:lnTo>
                    <a:pt x="257124" y="61061"/>
                  </a:lnTo>
                  <a:lnTo>
                    <a:pt x="257213" y="63258"/>
                  </a:lnTo>
                  <a:lnTo>
                    <a:pt x="259727" y="82613"/>
                  </a:lnTo>
                  <a:lnTo>
                    <a:pt x="262204" y="96405"/>
                  </a:lnTo>
                  <a:lnTo>
                    <a:pt x="265226" y="112534"/>
                  </a:lnTo>
                  <a:lnTo>
                    <a:pt x="272402" y="151295"/>
                  </a:lnTo>
                  <a:lnTo>
                    <a:pt x="280911" y="198374"/>
                  </a:lnTo>
                  <a:lnTo>
                    <a:pt x="287794" y="238506"/>
                  </a:lnTo>
                  <a:lnTo>
                    <a:pt x="287883" y="238950"/>
                  </a:lnTo>
                  <a:lnTo>
                    <a:pt x="287972" y="239471"/>
                  </a:lnTo>
                  <a:lnTo>
                    <a:pt x="288099" y="242138"/>
                  </a:lnTo>
                  <a:lnTo>
                    <a:pt x="288277" y="242138"/>
                  </a:lnTo>
                  <a:lnTo>
                    <a:pt x="289839" y="251218"/>
                  </a:lnTo>
                  <a:lnTo>
                    <a:pt x="290741" y="257746"/>
                  </a:lnTo>
                  <a:lnTo>
                    <a:pt x="290753" y="259943"/>
                  </a:lnTo>
                  <a:lnTo>
                    <a:pt x="351383" y="238950"/>
                  </a:lnTo>
                  <a:lnTo>
                    <a:pt x="389026" y="229730"/>
                  </a:lnTo>
                  <a:lnTo>
                    <a:pt x="419328" y="230238"/>
                  </a:lnTo>
                  <a:lnTo>
                    <a:pt x="457987" y="238506"/>
                  </a:lnTo>
                  <a:lnTo>
                    <a:pt x="459562" y="239687"/>
                  </a:lnTo>
                  <a:lnTo>
                    <a:pt x="461810" y="230238"/>
                  </a:lnTo>
                  <a:lnTo>
                    <a:pt x="461937" y="229730"/>
                  </a:lnTo>
                  <a:lnTo>
                    <a:pt x="464921" y="217297"/>
                  </a:lnTo>
                  <a:lnTo>
                    <a:pt x="467525" y="207746"/>
                  </a:lnTo>
                  <a:lnTo>
                    <a:pt x="477761" y="162077"/>
                  </a:lnTo>
                  <a:lnTo>
                    <a:pt x="484860" y="105333"/>
                  </a:lnTo>
                  <a:lnTo>
                    <a:pt x="487667" y="63665"/>
                  </a:lnTo>
                  <a:lnTo>
                    <a:pt x="487781" y="61061"/>
                  </a:lnTo>
                  <a:close/>
                </a:path>
                <a:path w="489584" h="489584">
                  <a:moveTo>
                    <a:pt x="489077" y="352755"/>
                  </a:moveTo>
                  <a:lnTo>
                    <a:pt x="488010" y="341147"/>
                  </a:lnTo>
                  <a:lnTo>
                    <a:pt x="483577" y="329971"/>
                  </a:lnTo>
                  <a:lnTo>
                    <a:pt x="478955" y="320078"/>
                  </a:lnTo>
                  <a:lnTo>
                    <a:pt x="477342" y="312318"/>
                  </a:lnTo>
                  <a:lnTo>
                    <a:pt x="477888" y="308610"/>
                  </a:lnTo>
                  <a:lnTo>
                    <a:pt x="481076" y="301421"/>
                  </a:lnTo>
                  <a:lnTo>
                    <a:pt x="481342" y="292341"/>
                  </a:lnTo>
                  <a:lnTo>
                    <a:pt x="460667" y="259130"/>
                  </a:lnTo>
                  <a:lnTo>
                    <a:pt x="445579" y="256413"/>
                  </a:lnTo>
                  <a:lnTo>
                    <a:pt x="425792" y="257213"/>
                  </a:lnTo>
                  <a:lnTo>
                    <a:pt x="406425" y="259740"/>
                  </a:lnTo>
                  <a:lnTo>
                    <a:pt x="249605" y="287959"/>
                  </a:lnTo>
                  <a:lnTo>
                    <a:pt x="246938" y="288099"/>
                  </a:lnTo>
                  <a:lnTo>
                    <a:pt x="246976" y="288264"/>
                  </a:lnTo>
                  <a:lnTo>
                    <a:pt x="237845" y="289826"/>
                  </a:lnTo>
                  <a:lnTo>
                    <a:pt x="231228" y="290741"/>
                  </a:lnTo>
                  <a:lnTo>
                    <a:pt x="229120" y="290741"/>
                  </a:lnTo>
                  <a:lnTo>
                    <a:pt x="250113" y="351383"/>
                  </a:lnTo>
                  <a:lnTo>
                    <a:pt x="259359" y="389026"/>
                  </a:lnTo>
                  <a:lnTo>
                    <a:pt x="258876" y="416648"/>
                  </a:lnTo>
                  <a:lnTo>
                    <a:pt x="258838" y="419328"/>
                  </a:lnTo>
                  <a:lnTo>
                    <a:pt x="250571" y="457974"/>
                  </a:lnTo>
                  <a:lnTo>
                    <a:pt x="249389" y="459549"/>
                  </a:lnTo>
                  <a:lnTo>
                    <a:pt x="271767" y="464908"/>
                  </a:lnTo>
                  <a:lnTo>
                    <a:pt x="326999" y="477748"/>
                  </a:lnTo>
                  <a:lnTo>
                    <a:pt x="383717" y="484873"/>
                  </a:lnTo>
                  <a:lnTo>
                    <a:pt x="427672" y="487781"/>
                  </a:lnTo>
                  <a:lnTo>
                    <a:pt x="428015" y="487781"/>
                  </a:lnTo>
                  <a:lnTo>
                    <a:pt x="442633" y="485178"/>
                  </a:lnTo>
                  <a:lnTo>
                    <a:pt x="453821" y="479463"/>
                  </a:lnTo>
                  <a:lnTo>
                    <a:pt x="461162" y="471347"/>
                  </a:lnTo>
                  <a:lnTo>
                    <a:pt x="464146" y="461543"/>
                  </a:lnTo>
                  <a:lnTo>
                    <a:pt x="464108" y="457974"/>
                  </a:lnTo>
                  <a:lnTo>
                    <a:pt x="463816" y="453174"/>
                  </a:lnTo>
                  <a:lnTo>
                    <a:pt x="463778" y="452475"/>
                  </a:lnTo>
                  <a:lnTo>
                    <a:pt x="462788" y="453174"/>
                  </a:lnTo>
                  <a:lnTo>
                    <a:pt x="464185" y="446328"/>
                  </a:lnTo>
                  <a:lnTo>
                    <a:pt x="468249" y="438861"/>
                  </a:lnTo>
                  <a:lnTo>
                    <a:pt x="473570" y="433476"/>
                  </a:lnTo>
                  <a:lnTo>
                    <a:pt x="478536" y="427113"/>
                  </a:lnTo>
                  <a:lnTo>
                    <a:pt x="481507" y="416648"/>
                  </a:lnTo>
                  <a:lnTo>
                    <a:pt x="481304" y="406946"/>
                  </a:lnTo>
                  <a:lnTo>
                    <a:pt x="479069" y="398183"/>
                  </a:lnTo>
                  <a:lnTo>
                    <a:pt x="476986" y="389255"/>
                  </a:lnTo>
                  <a:lnTo>
                    <a:pt x="477253" y="379018"/>
                  </a:lnTo>
                  <a:lnTo>
                    <a:pt x="479412" y="373824"/>
                  </a:lnTo>
                  <a:lnTo>
                    <a:pt x="482879" y="368769"/>
                  </a:lnTo>
                  <a:lnTo>
                    <a:pt x="486486" y="362280"/>
                  </a:lnTo>
                  <a:lnTo>
                    <a:pt x="489077" y="352755"/>
                  </a:lnTo>
                  <a:close/>
                </a:path>
              </a:pathLst>
            </a:custGeom>
            <a:solidFill>
              <a:srgbClr val="008B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483112" y="3546830"/>
            <a:ext cx="5345430" cy="2627642"/>
          </a:xfrm>
          <a:prstGeom prst="rect">
            <a:avLst/>
          </a:prstGeom>
          <a:ln w="3175">
            <a:solidFill>
              <a:srgbClr val="008BC0"/>
            </a:solidFill>
          </a:ln>
        </p:spPr>
        <p:txBody>
          <a:bodyPr vert="horz" wrap="square" lIns="0" tIns="546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30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191770" marR="2981960">
              <a:lnSpc>
                <a:spcPct val="100000"/>
              </a:lnSpc>
            </a:pPr>
            <a:r>
              <a:rPr sz="1800" dirty="0">
                <a:solidFill>
                  <a:srgbClr val="008BC0"/>
                </a:solidFill>
                <a:latin typeface="Avenir Book"/>
                <a:cs typeface="Avenir Book"/>
              </a:rPr>
              <a:t>“Since</a:t>
            </a:r>
            <a:r>
              <a:rPr sz="1800" spc="-40" dirty="0">
                <a:solidFill>
                  <a:srgbClr val="008BC0"/>
                </a:solidFill>
                <a:latin typeface="Avenir Book"/>
                <a:cs typeface="Avenir Book"/>
              </a:rPr>
              <a:t> </a:t>
            </a:r>
            <a:r>
              <a:rPr sz="1800" dirty="0">
                <a:solidFill>
                  <a:srgbClr val="008BC0"/>
                </a:solidFill>
                <a:latin typeface="Avenir Book"/>
                <a:cs typeface="Avenir Book"/>
              </a:rPr>
              <a:t>my</a:t>
            </a:r>
            <a:r>
              <a:rPr sz="1800" spc="-35" dirty="0">
                <a:solidFill>
                  <a:srgbClr val="008BC0"/>
                </a:solidFill>
                <a:latin typeface="Avenir Book"/>
                <a:cs typeface="Avenir Book"/>
              </a:rPr>
              <a:t> </a:t>
            </a:r>
            <a:r>
              <a:rPr sz="1800" dirty="0">
                <a:solidFill>
                  <a:srgbClr val="008BC0"/>
                </a:solidFill>
                <a:latin typeface="Avenir Book"/>
                <a:cs typeface="Avenir Book"/>
              </a:rPr>
              <a:t>arrival,</a:t>
            </a:r>
            <a:r>
              <a:rPr sz="1800" spc="-35" dirty="0">
                <a:solidFill>
                  <a:srgbClr val="008BC0"/>
                </a:solidFill>
                <a:latin typeface="Avenir Book"/>
                <a:cs typeface="Avenir Book"/>
              </a:rPr>
              <a:t> </a:t>
            </a:r>
            <a:r>
              <a:rPr sz="1800" spc="-25" dirty="0">
                <a:solidFill>
                  <a:srgbClr val="008BC0"/>
                </a:solidFill>
                <a:latin typeface="Avenir Book"/>
                <a:cs typeface="Avenir Book"/>
              </a:rPr>
              <a:t>the </a:t>
            </a:r>
            <a:r>
              <a:rPr sz="1800" dirty="0">
                <a:solidFill>
                  <a:srgbClr val="008BC0"/>
                </a:solidFill>
                <a:latin typeface="Avenir Book"/>
                <a:cs typeface="Avenir Book"/>
              </a:rPr>
              <a:t>patient</a:t>
            </a:r>
            <a:r>
              <a:rPr sz="1800" spc="-45" dirty="0">
                <a:solidFill>
                  <a:srgbClr val="008BC0"/>
                </a:solidFill>
                <a:latin typeface="Avenir Book"/>
                <a:cs typeface="Avenir Book"/>
              </a:rPr>
              <a:t> </a:t>
            </a:r>
            <a:r>
              <a:rPr sz="1800" dirty="0">
                <a:solidFill>
                  <a:srgbClr val="008BC0"/>
                </a:solidFill>
                <a:latin typeface="Avenir Book"/>
                <a:cs typeface="Avenir Book"/>
              </a:rPr>
              <a:t>care</a:t>
            </a:r>
            <a:r>
              <a:rPr sz="1800" spc="-45" dirty="0">
                <a:solidFill>
                  <a:srgbClr val="008BC0"/>
                </a:solidFill>
                <a:latin typeface="Avenir Book"/>
                <a:cs typeface="Avenir Book"/>
              </a:rPr>
              <a:t> </a:t>
            </a:r>
            <a:r>
              <a:rPr sz="1800" dirty="0">
                <a:solidFill>
                  <a:srgbClr val="008BC0"/>
                </a:solidFill>
                <a:latin typeface="Avenir Book"/>
                <a:cs typeface="Avenir Book"/>
              </a:rPr>
              <a:t>at</a:t>
            </a:r>
            <a:r>
              <a:rPr sz="1800" spc="-45" dirty="0">
                <a:solidFill>
                  <a:srgbClr val="008BC0"/>
                </a:solidFill>
                <a:latin typeface="Avenir Book"/>
                <a:cs typeface="Avenir Book"/>
              </a:rPr>
              <a:t> </a:t>
            </a:r>
            <a:r>
              <a:rPr lang="en-US" sz="1800" spc="-25" dirty="0">
                <a:solidFill>
                  <a:srgbClr val="008BC0"/>
                </a:solidFill>
                <a:latin typeface="Avenir Book"/>
                <a:cs typeface="Avenir Book"/>
              </a:rPr>
              <a:t>Destiny Springs</a:t>
            </a:r>
            <a:r>
              <a:rPr sz="1800" spc="-25" dirty="0">
                <a:solidFill>
                  <a:srgbClr val="008BC0"/>
                </a:solidFill>
                <a:latin typeface="Avenir Book"/>
                <a:cs typeface="Avenir Book"/>
              </a:rPr>
              <a:t> was </a:t>
            </a:r>
            <a:r>
              <a:rPr sz="1800" dirty="0">
                <a:solidFill>
                  <a:srgbClr val="008BC0"/>
                </a:solidFill>
                <a:latin typeface="Avenir Book"/>
                <a:cs typeface="Avenir Book"/>
              </a:rPr>
              <a:t>incomparable</a:t>
            </a:r>
            <a:r>
              <a:rPr sz="1800" spc="-60" dirty="0">
                <a:solidFill>
                  <a:srgbClr val="008BC0"/>
                </a:solidFill>
                <a:latin typeface="Avenir Book"/>
                <a:cs typeface="Avenir Book"/>
              </a:rPr>
              <a:t> </a:t>
            </a:r>
            <a:r>
              <a:rPr sz="1800" dirty="0">
                <a:solidFill>
                  <a:srgbClr val="008BC0"/>
                </a:solidFill>
                <a:latin typeface="Avenir Book"/>
                <a:cs typeface="Avenir Book"/>
              </a:rPr>
              <a:t>due</a:t>
            </a:r>
            <a:r>
              <a:rPr sz="1800" spc="-55" dirty="0">
                <a:solidFill>
                  <a:srgbClr val="008BC0"/>
                </a:solidFill>
                <a:latin typeface="Avenir Book"/>
                <a:cs typeface="Avenir Book"/>
              </a:rPr>
              <a:t> </a:t>
            </a:r>
            <a:r>
              <a:rPr sz="1800" spc="-25" dirty="0">
                <a:solidFill>
                  <a:srgbClr val="008BC0"/>
                </a:solidFill>
                <a:latin typeface="Avenir Book"/>
                <a:cs typeface="Avenir Book"/>
              </a:rPr>
              <a:t>to </a:t>
            </a:r>
            <a:r>
              <a:rPr sz="1800" dirty="0">
                <a:solidFill>
                  <a:srgbClr val="008BC0"/>
                </a:solidFill>
                <a:latin typeface="Avenir Book"/>
                <a:cs typeface="Avenir Book"/>
              </a:rPr>
              <a:t>the</a:t>
            </a:r>
            <a:r>
              <a:rPr sz="1800" spc="-15" dirty="0">
                <a:solidFill>
                  <a:srgbClr val="008BC0"/>
                </a:solidFill>
                <a:latin typeface="Avenir Book"/>
                <a:cs typeface="Avenir Book"/>
              </a:rPr>
              <a:t> </a:t>
            </a:r>
            <a:r>
              <a:rPr sz="1800" dirty="0">
                <a:solidFill>
                  <a:srgbClr val="008BC0"/>
                </a:solidFill>
                <a:latin typeface="Avenir Book"/>
                <a:cs typeface="Avenir Book"/>
              </a:rPr>
              <a:t>competency</a:t>
            </a:r>
            <a:r>
              <a:rPr sz="1800" spc="-15" dirty="0">
                <a:solidFill>
                  <a:srgbClr val="008BC0"/>
                </a:solidFill>
                <a:latin typeface="Avenir Book"/>
                <a:cs typeface="Avenir Book"/>
              </a:rPr>
              <a:t> </a:t>
            </a:r>
            <a:r>
              <a:rPr sz="1800" spc="-25" dirty="0">
                <a:solidFill>
                  <a:srgbClr val="008BC0"/>
                </a:solidFill>
                <a:latin typeface="Avenir Book"/>
                <a:cs typeface="Avenir Book"/>
              </a:rPr>
              <a:t>and </a:t>
            </a:r>
            <a:r>
              <a:rPr sz="1800" dirty="0">
                <a:solidFill>
                  <a:srgbClr val="008BC0"/>
                </a:solidFill>
                <a:latin typeface="Avenir Book"/>
                <a:cs typeface="Avenir Book"/>
              </a:rPr>
              <a:t>kindness</a:t>
            </a:r>
            <a:r>
              <a:rPr sz="1800" spc="-25" dirty="0">
                <a:solidFill>
                  <a:srgbClr val="008BC0"/>
                </a:solidFill>
                <a:latin typeface="Avenir Book"/>
                <a:cs typeface="Avenir Book"/>
              </a:rPr>
              <a:t> </a:t>
            </a:r>
            <a:r>
              <a:rPr sz="1800" dirty="0">
                <a:solidFill>
                  <a:srgbClr val="008BC0"/>
                </a:solidFill>
                <a:latin typeface="Avenir Book"/>
                <a:cs typeface="Avenir Book"/>
              </a:rPr>
              <a:t>from</a:t>
            </a:r>
            <a:r>
              <a:rPr sz="1800" spc="-25" dirty="0">
                <a:solidFill>
                  <a:srgbClr val="008BC0"/>
                </a:solidFill>
                <a:latin typeface="Avenir Book"/>
                <a:cs typeface="Avenir Book"/>
              </a:rPr>
              <a:t> the </a:t>
            </a:r>
            <a:r>
              <a:rPr sz="1800" dirty="0">
                <a:solidFill>
                  <a:srgbClr val="008BC0"/>
                </a:solidFill>
                <a:latin typeface="Avenir Book"/>
                <a:cs typeface="Avenir Book"/>
              </a:rPr>
              <a:t>nursing</a:t>
            </a:r>
            <a:r>
              <a:rPr sz="1800" spc="-60" dirty="0">
                <a:solidFill>
                  <a:srgbClr val="008BC0"/>
                </a:solidFill>
                <a:latin typeface="Avenir Book"/>
                <a:cs typeface="Avenir Book"/>
              </a:rPr>
              <a:t> </a:t>
            </a:r>
            <a:r>
              <a:rPr sz="1800" spc="-10" dirty="0">
                <a:solidFill>
                  <a:srgbClr val="008BC0"/>
                </a:solidFill>
                <a:latin typeface="Avenir Book"/>
                <a:cs typeface="Avenir Book"/>
              </a:rPr>
              <a:t>staff.”</a:t>
            </a:r>
            <a:endParaRPr sz="1800" dirty="0">
              <a:latin typeface="Avenir Book"/>
              <a:cs typeface="Avenir Book"/>
            </a:endParaRPr>
          </a:p>
          <a:p>
            <a:pPr marL="191770">
              <a:lnSpc>
                <a:spcPct val="100000"/>
              </a:lnSpc>
              <a:spcBef>
                <a:spcPts val="1120"/>
              </a:spcBef>
            </a:pPr>
            <a:r>
              <a:rPr sz="1400" i="1" spc="90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1400" i="1" spc="18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400" i="1" spc="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i="1" spc="-120" dirty="0">
                <a:solidFill>
                  <a:srgbClr val="FFFFFF"/>
                </a:solidFill>
                <a:latin typeface="Arial"/>
                <a:cs typeface="Arial"/>
              </a:rPr>
              <a:t>grateful</a:t>
            </a:r>
            <a:r>
              <a:rPr sz="1400" i="1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400" i="1" spc="-130" dirty="0">
                <a:solidFill>
                  <a:srgbClr val="FFFFFF"/>
                </a:solidFill>
                <a:latin typeface="Arial"/>
                <a:cs typeface="Arial"/>
              </a:rPr>
              <a:t>Destiny Springs</a:t>
            </a:r>
            <a:r>
              <a:rPr sz="1400" i="1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Arial"/>
                <a:cs typeface="Arial"/>
              </a:rPr>
              <a:t>patient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245863" y="7291279"/>
            <a:ext cx="159702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-45" dirty="0">
                <a:solidFill>
                  <a:srgbClr val="008BC0"/>
                </a:solidFill>
                <a:latin typeface="Arial"/>
                <a:cs typeface="Arial"/>
              </a:rPr>
              <a:t>Living</a:t>
            </a:r>
            <a:r>
              <a:rPr sz="850" i="1" spc="20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008BC0"/>
                </a:solidFill>
                <a:latin typeface="Arial"/>
                <a:cs typeface="Arial"/>
              </a:rPr>
              <a:t>our</a:t>
            </a:r>
            <a:r>
              <a:rPr sz="850" i="1" spc="20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sz="850" i="1" spc="-114" dirty="0">
                <a:solidFill>
                  <a:srgbClr val="008BC0"/>
                </a:solidFill>
                <a:latin typeface="Arial"/>
                <a:cs typeface="Arial"/>
              </a:rPr>
              <a:t>Values</a:t>
            </a:r>
            <a:r>
              <a:rPr sz="850" i="1" spc="90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47720"/>
                </a:solidFill>
                <a:latin typeface="Arial"/>
                <a:cs typeface="Arial"/>
              </a:rPr>
              <a:t>I</a:t>
            </a:r>
            <a:r>
              <a:rPr sz="850" b="1" spc="20" dirty="0">
                <a:solidFill>
                  <a:srgbClr val="F47720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FC425"/>
                </a:solidFill>
                <a:latin typeface="Arial"/>
                <a:cs typeface="Arial"/>
              </a:rPr>
              <a:t>TEAMWORK</a:t>
            </a:r>
            <a:r>
              <a:rPr sz="850" b="1" spc="280" dirty="0">
                <a:solidFill>
                  <a:srgbClr val="FFC425"/>
                </a:solidFill>
                <a:latin typeface="Arial"/>
                <a:cs typeface="Arial"/>
              </a:rPr>
              <a:t> </a:t>
            </a:r>
            <a:r>
              <a:rPr sz="850" b="1" spc="-50" dirty="0">
                <a:solidFill>
                  <a:srgbClr val="008BC0"/>
                </a:solidFill>
                <a:latin typeface="Arial"/>
                <a:cs typeface="Arial"/>
              </a:rPr>
              <a:t>8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1783717"/>
            <a:ext cx="3208655" cy="1787525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40"/>
              </a:spcBef>
            </a:pPr>
            <a:r>
              <a:rPr sz="3800" b="1" spc="-10" dirty="0">
                <a:solidFill>
                  <a:srgbClr val="FFC425"/>
                </a:solidFill>
                <a:latin typeface="Arial"/>
                <a:cs typeface="Arial"/>
              </a:rPr>
              <a:t>Employee </a:t>
            </a:r>
            <a:r>
              <a:rPr sz="3800" b="1" spc="-75" dirty="0">
                <a:solidFill>
                  <a:srgbClr val="FFC425"/>
                </a:solidFill>
                <a:latin typeface="Arial"/>
                <a:cs typeface="Arial"/>
              </a:rPr>
              <a:t>Responsibility</a:t>
            </a:r>
            <a:endParaRPr sz="3800" dirty="0">
              <a:latin typeface="Arial"/>
              <a:cs typeface="Arial"/>
            </a:endParaRPr>
          </a:p>
          <a:p>
            <a:pPr marL="12700" marR="734695">
              <a:lnSpc>
                <a:spcPct val="100000"/>
              </a:lnSpc>
              <a:spcBef>
                <a:spcPts val="2275"/>
              </a:spcBef>
            </a:pP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At</a:t>
            </a:r>
            <a:r>
              <a:rPr sz="1150" b="1" spc="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lang="en-US" sz="1150" b="1" spc="-10" dirty="0">
                <a:solidFill>
                  <a:srgbClr val="231F20"/>
                </a:solidFill>
                <a:latin typeface="Arial"/>
                <a:cs typeface="Arial"/>
              </a:rPr>
              <a:t>Destiny Springs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1150" b="1" spc="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we</a:t>
            </a:r>
            <a:r>
              <a:rPr sz="1150" b="1" spc="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maintain</a:t>
            </a:r>
            <a:r>
              <a:rPr sz="1150" b="1" spc="5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highest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20" dirty="0">
                <a:solidFill>
                  <a:srgbClr val="231F20"/>
                </a:solidFill>
                <a:latin typeface="Arial"/>
                <a:cs typeface="Arial"/>
              </a:rPr>
              <a:t>professional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 and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ethical</a:t>
            </a:r>
            <a:endParaRPr sz="11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4500" y="3545777"/>
            <a:ext cx="2552065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50" b="1" spc="-20" dirty="0">
                <a:solidFill>
                  <a:srgbClr val="231F20"/>
                </a:solidFill>
                <a:latin typeface="Arial"/>
                <a:cs typeface="Arial"/>
              </a:rPr>
              <a:t>standards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when</a:t>
            </a:r>
            <a:r>
              <a:rPr sz="1150" b="1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conducting</a:t>
            </a:r>
            <a:r>
              <a:rPr sz="1150" b="1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55" dirty="0">
                <a:solidFill>
                  <a:srgbClr val="231F20"/>
                </a:solidFill>
                <a:latin typeface="Arial"/>
                <a:cs typeface="Arial"/>
              </a:rPr>
              <a:t>business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and providing</a:t>
            </a:r>
            <a:r>
              <a:rPr sz="115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extraordinary</a:t>
            </a:r>
            <a:r>
              <a:rPr sz="115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20" dirty="0">
                <a:solidFill>
                  <a:srgbClr val="231F20"/>
                </a:solidFill>
                <a:latin typeface="Arial"/>
                <a:cs typeface="Arial"/>
              </a:rPr>
              <a:t>care.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All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employees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are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required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to:</a:t>
            </a:r>
            <a:endParaRPr sz="1150">
              <a:latin typeface="Avenir Book"/>
              <a:cs typeface="Avenir Boo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4500" y="4208717"/>
            <a:ext cx="2433955" cy="1377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Read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our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Code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Conduct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and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understand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how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it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applies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you.</a:t>
            </a:r>
            <a:endParaRPr sz="1150" dirty="0">
              <a:latin typeface="Avenir Book"/>
              <a:cs typeface="Avenir Book"/>
            </a:endParaRPr>
          </a:p>
          <a:p>
            <a:pPr marL="241300" marR="31750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Demonstrate</a:t>
            </a:r>
            <a:r>
              <a:rPr sz="1150" spc="-6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behavior</a:t>
            </a:r>
            <a:r>
              <a:rPr sz="1150" spc="-5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consistent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with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our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Code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Conduct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and </a:t>
            </a:r>
            <a:r>
              <a:rPr lang="en-US" sz="1150" dirty="0">
                <a:solidFill>
                  <a:srgbClr val="231F20"/>
                </a:solidFill>
                <a:latin typeface="Avenir Book"/>
                <a:cs typeface="Avenir Book"/>
              </a:rPr>
              <a:t>Destiny Springs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’s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procedures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in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your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daily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work.</a:t>
            </a:r>
            <a:endParaRPr sz="1150" dirty="0">
              <a:latin typeface="Avenir Book"/>
              <a:cs typeface="Avenir Book"/>
            </a:endParaRPr>
          </a:p>
          <a:p>
            <a:pPr marL="240665" indent="-227965">
              <a:lnSpc>
                <a:spcPct val="100000"/>
              </a:lnSpc>
              <a:spcBef>
                <a:spcPts val="450"/>
              </a:spcBef>
              <a:buChar char="•"/>
              <a:tabLst>
                <a:tab pos="240665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Ask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questions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report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issues.</a:t>
            </a:r>
            <a:endParaRPr sz="1150" dirty="0">
              <a:latin typeface="Avenir Book"/>
              <a:cs typeface="Avenir Boo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4500" y="5629847"/>
            <a:ext cx="2644140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Your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adherence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our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Code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Conduct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will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be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evaluated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as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part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your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performance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reviews.</a:t>
            </a:r>
            <a:endParaRPr sz="1150">
              <a:latin typeface="Avenir Book"/>
              <a:cs typeface="Avenir Boo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06571" y="3438345"/>
            <a:ext cx="2438400" cy="55245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400" b="1" dirty="0">
                <a:solidFill>
                  <a:srgbClr val="008BC0"/>
                </a:solidFill>
                <a:latin typeface="Arial"/>
                <a:cs typeface="Arial"/>
              </a:rPr>
              <a:t>OUR</a:t>
            </a:r>
            <a:r>
              <a:rPr sz="1400" b="1" spc="-25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sz="1400" b="1" spc="-30" dirty="0">
                <a:solidFill>
                  <a:srgbClr val="008BC0"/>
                </a:solidFill>
                <a:latin typeface="Arial"/>
                <a:cs typeface="Arial"/>
              </a:rPr>
              <a:t>LEADERSHIP</a:t>
            </a:r>
            <a:r>
              <a:rPr sz="1400" b="1" spc="-20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008BC0"/>
                </a:solidFill>
                <a:latin typeface="Arial"/>
                <a:cs typeface="Arial"/>
              </a:rPr>
              <a:t>PROMISE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Our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leaders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are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expected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to:</a:t>
            </a:r>
            <a:endParaRPr sz="1150">
              <a:latin typeface="Avenir Book"/>
              <a:cs typeface="Avenir Boo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06571" y="4033534"/>
            <a:ext cx="2639695" cy="2159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394335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Create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culture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that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promotes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highest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standard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ethics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compliance.</a:t>
            </a:r>
            <a:endParaRPr sz="1150" dirty="0">
              <a:latin typeface="Avenir Book"/>
              <a:cs typeface="Avenir Book"/>
            </a:endParaRPr>
          </a:p>
          <a:p>
            <a:pPr marL="241300" marR="418465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Encourage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employees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raise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concerns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propose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ideas.</a:t>
            </a:r>
            <a:endParaRPr sz="1150" dirty="0">
              <a:latin typeface="Avenir Book"/>
              <a:cs typeface="Avenir Book"/>
            </a:endParaRPr>
          </a:p>
          <a:p>
            <a:pPr marL="241300" marR="53975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Ensure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that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no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one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subject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to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retaliation</a:t>
            </a: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for</a:t>
            </a: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reporting</a:t>
            </a: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</a:t>
            </a: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suspected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violation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law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lang="en-US" sz="1150" dirty="0">
                <a:solidFill>
                  <a:srgbClr val="231F20"/>
                </a:solidFill>
                <a:latin typeface="Avenir Book"/>
                <a:cs typeface="Avenir Book"/>
              </a:rPr>
              <a:t>Destiny Springs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procedure.</a:t>
            </a:r>
            <a:endParaRPr sz="1150" dirty="0">
              <a:latin typeface="Avenir Book"/>
              <a:cs typeface="Avenir Book"/>
            </a:endParaRPr>
          </a:p>
          <a:p>
            <a:pPr marL="241300" marR="5080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Take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prompt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action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when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potential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violation</a:t>
            </a: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arises.</a:t>
            </a:r>
            <a:endParaRPr sz="1150" dirty="0">
              <a:latin typeface="Avenir Book"/>
              <a:cs typeface="Avenir Boo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39585" y="166471"/>
            <a:ext cx="3490595" cy="7065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25"/>
              </a:spcBef>
            </a:pPr>
            <a:endParaRPr sz="1800">
              <a:latin typeface="Times New Roman"/>
              <a:cs typeface="Times New Roman"/>
            </a:endParaRPr>
          </a:p>
          <a:p>
            <a:pPr marL="316865">
              <a:lnSpc>
                <a:spcPct val="100000"/>
              </a:lnSpc>
              <a:spcBef>
                <a:spcPts val="5"/>
              </a:spcBef>
            </a:pPr>
            <a:r>
              <a:rPr sz="1800" i="1" spc="-170" dirty="0">
                <a:solidFill>
                  <a:srgbClr val="FFFFFF"/>
                </a:solidFill>
                <a:latin typeface="Arial"/>
                <a:cs typeface="Arial"/>
              </a:rPr>
              <a:t>Culture</a:t>
            </a:r>
            <a:r>
              <a:rPr sz="1800" i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i="1" spc="-114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800" i="1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i="1" spc="-10" dirty="0">
                <a:solidFill>
                  <a:srgbClr val="FFFFFF"/>
                </a:solidFill>
                <a:latin typeface="Arial"/>
                <a:cs typeface="Arial"/>
              </a:rPr>
              <a:t>Safety:</a:t>
            </a:r>
            <a:endParaRPr sz="1800">
              <a:latin typeface="Arial"/>
              <a:cs typeface="Arial"/>
            </a:endParaRPr>
          </a:p>
          <a:p>
            <a:pPr marL="316865">
              <a:lnSpc>
                <a:spcPct val="100000"/>
              </a:lnSpc>
            </a:pPr>
            <a:r>
              <a:rPr sz="1800" i="1" spc="-145" dirty="0">
                <a:solidFill>
                  <a:srgbClr val="FFFFFF"/>
                </a:solidFill>
                <a:latin typeface="Arial"/>
                <a:cs typeface="Arial"/>
              </a:rPr>
              <a:t>Every</a:t>
            </a:r>
            <a:r>
              <a:rPr sz="1800" i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i="1" spc="-180" dirty="0">
                <a:solidFill>
                  <a:srgbClr val="FFFFFF"/>
                </a:solidFill>
                <a:latin typeface="Arial"/>
                <a:cs typeface="Arial"/>
              </a:rPr>
              <a:t>Patient,</a:t>
            </a:r>
            <a:r>
              <a:rPr sz="1800" i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i="1" spc="-145" dirty="0">
                <a:solidFill>
                  <a:srgbClr val="FFFFFF"/>
                </a:solidFill>
                <a:latin typeface="Arial"/>
                <a:cs typeface="Arial"/>
              </a:rPr>
              <a:t>Every</a:t>
            </a:r>
            <a:r>
              <a:rPr sz="1800" i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i="1" spc="-330" dirty="0">
                <a:solidFill>
                  <a:srgbClr val="FFFFFF"/>
                </a:solidFill>
                <a:latin typeface="Arial"/>
                <a:cs typeface="Arial"/>
              </a:rPr>
              <a:t>Time</a:t>
            </a:r>
            <a:endParaRPr sz="1800">
              <a:latin typeface="Arial"/>
              <a:cs typeface="Arial"/>
            </a:endParaRPr>
          </a:p>
          <a:p>
            <a:pPr marL="316865" marR="300355">
              <a:lnSpc>
                <a:spcPct val="100000"/>
              </a:lnSpc>
              <a:spcBef>
                <a:spcPts val="409"/>
              </a:spcBef>
            </a:pP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We</a:t>
            </a:r>
            <a:r>
              <a:rPr sz="1150" spc="-3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all</a:t>
            </a:r>
            <a:r>
              <a:rPr sz="1150" spc="-3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contribute</a:t>
            </a:r>
            <a:r>
              <a:rPr sz="1150" spc="-3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to</a:t>
            </a:r>
            <a:r>
              <a:rPr sz="1150" spc="-3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the</a:t>
            </a:r>
            <a:r>
              <a:rPr sz="1150" spc="-3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patient</a:t>
            </a:r>
            <a:r>
              <a:rPr sz="1150" spc="-2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experience.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Our</a:t>
            </a:r>
            <a:r>
              <a:rPr sz="1150" spc="-3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written</a:t>
            </a:r>
            <a:r>
              <a:rPr sz="1150" spc="-2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procedures</a:t>
            </a:r>
            <a:r>
              <a:rPr sz="1150" spc="-2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support</a:t>
            </a:r>
            <a:r>
              <a:rPr sz="1150" spc="-2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a</a:t>
            </a:r>
            <a:r>
              <a:rPr sz="1150" spc="-2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culture</a:t>
            </a:r>
            <a:r>
              <a:rPr sz="1150" spc="-25" dirty="0">
                <a:solidFill>
                  <a:srgbClr val="FFFFFF"/>
                </a:solidFill>
                <a:latin typeface="Avenir Book"/>
                <a:cs typeface="Avenir Book"/>
              </a:rPr>
              <a:t> of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safety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for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our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patients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and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staff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by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defining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standardized</a:t>
            </a:r>
            <a:r>
              <a:rPr sz="1150" spc="-5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practices.</a:t>
            </a:r>
            <a:r>
              <a:rPr sz="1150" spc="-5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Your</a:t>
            </a:r>
            <a:r>
              <a:rPr sz="1150" spc="-4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co-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workers</a:t>
            </a:r>
            <a:r>
              <a:rPr sz="1150" spc="-5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FFFFFF"/>
                </a:solidFill>
                <a:latin typeface="Avenir Book"/>
                <a:cs typeface="Avenir Book"/>
              </a:rPr>
              <a:t>and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the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communities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that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we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serve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are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counting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on</a:t>
            </a:r>
            <a:r>
              <a:rPr sz="1150" spc="-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you</a:t>
            </a:r>
            <a:r>
              <a:rPr sz="1150" spc="-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to</a:t>
            </a:r>
            <a:r>
              <a:rPr sz="1150" spc="-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live</a:t>
            </a:r>
            <a:r>
              <a:rPr sz="1150" spc="-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these</a:t>
            </a:r>
            <a:r>
              <a:rPr sz="1150" spc="-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procedures</a:t>
            </a:r>
            <a:r>
              <a:rPr sz="1150" spc="-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every</a:t>
            </a:r>
            <a:r>
              <a:rPr sz="1150" spc="-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day,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for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every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patient,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every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time.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It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is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everyone’s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responsibility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to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speak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up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–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and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Stop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FFFFFF"/>
                </a:solidFill>
                <a:latin typeface="Avenir Book"/>
                <a:cs typeface="Avenir Book"/>
              </a:rPr>
              <a:t>the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Line</a:t>
            </a:r>
            <a:r>
              <a:rPr sz="1150" spc="-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–</a:t>
            </a:r>
            <a:r>
              <a:rPr sz="1150" spc="-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in</a:t>
            </a:r>
            <a:r>
              <a:rPr sz="1150" spc="-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the</a:t>
            </a:r>
            <a:r>
              <a:rPr sz="1150" spc="-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event of</a:t>
            </a:r>
            <a:r>
              <a:rPr sz="1150" spc="-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non-compliance</a:t>
            </a:r>
            <a:r>
              <a:rPr sz="1150" spc="-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with 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procedures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or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if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there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is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any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potential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FFFFFF"/>
                </a:solidFill>
                <a:latin typeface="Avenir Book"/>
                <a:cs typeface="Avenir Book"/>
              </a:rPr>
              <a:t>for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patient</a:t>
            </a:r>
            <a:r>
              <a:rPr sz="1150" spc="-4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harm.</a:t>
            </a:r>
            <a:endParaRPr sz="1150">
              <a:latin typeface="Avenir Book"/>
              <a:cs typeface="Avenir Boo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00874" y="7232116"/>
            <a:ext cx="1529306" cy="1436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25" dirty="0">
                <a:solidFill>
                  <a:srgbClr val="FFC425"/>
                </a:solidFill>
                <a:latin typeface="Arial"/>
                <a:cs typeface="Arial"/>
              </a:rPr>
              <a:t>VALUES</a:t>
            </a:r>
            <a:r>
              <a:rPr sz="850" b="1" spc="-5" dirty="0">
                <a:solidFill>
                  <a:srgbClr val="FFC425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FC425"/>
                </a:solidFill>
                <a:latin typeface="Arial"/>
                <a:cs typeface="Arial"/>
              </a:rPr>
              <a:t>LINE</a:t>
            </a:r>
            <a:r>
              <a:rPr sz="850" b="1" spc="-5" dirty="0">
                <a:solidFill>
                  <a:srgbClr val="FFC425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47720"/>
                </a:solidFill>
                <a:latin typeface="Arial"/>
                <a:cs typeface="Arial"/>
              </a:rPr>
              <a:t>I</a:t>
            </a:r>
            <a:r>
              <a:rPr sz="850" b="1" spc="-5" dirty="0">
                <a:solidFill>
                  <a:srgbClr val="F47720"/>
                </a:solidFill>
                <a:latin typeface="Arial"/>
                <a:cs typeface="Arial"/>
              </a:rPr>
              <a:t> </a:t>
            </a:r>
            <a:r>
              <a:rPr sz="850" i="1" spc="-95" dirty="0">
                <a:solidFill>
                  <a:srgbClr val="008BC0"/>
                </a:solidFill>
                <a:latin typeface="Arial"/>
                <a:cs typeface="Arial"/>
              </a:rPr>
              <a:t>8</a:t>
            </a:r>
            <a:r>
              <a:rPr lang="en-US" sz="850" i="1" spc="-90" dirty="0">
                <a:solidFill>
                  <a:srgbClr val="008BC0"/>
                </a:solidFill>
                <a:latin typeface="Arial"/>
                <a:cs typeface="Arial"/>
              </a:rPr>
              <a:t> 33.290.0001</a:t>
            </a:r>
            <a:r>
              <a:rPr sz="850" i="1" spc="290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sz="850" b="1" spc="-50" dirty="0">
                <a:solidFill>
                  <a:srgbClr val="008BC0"/>
                </a:solidFill>
                <a:latin typeface="Arial"/>
                <a:cs typeface="Arial"/>
              </a:rPr>
              <a:t>9</a:t>
            </a:r>
            <a:endParaRPr sz="8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5302" y="326744"/>
            <a:ext cx="2671445" cy="167132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40"/>
              </a:spcBef>
            </a:pPr>
            <a:r>
              <a:rPr sz="3800" spc="-10" dirty="0">
                <a:solidFill>
                  <a:srgbClr val="FFC425"/>
                </a:solidFill>
              </a:rPr>
              <a:t>Reporting </a:t>
            </a:r>
            <a:r>
              <a:rPr sz="3800" spc="-80" dirty="0">
                <a:solidFill>
                  <a:srgbClr val="FFC425"/>
                </a:solidFill>
              </a:rPr>
              <a:t>Compliance </a:t>
            </a:r>
            <a:r>
              <a:rPr sz="3800" spc="-25" dirty="0">
                <a:solidFill>
                  <a:srgbClr val="FFC425"/>
                </a:solidFill>
              </a:rPr>
              <a:t>Issues</a:t>
            </a:r>
            <a:endParaRPr sz="3800"/>
          </a:p>
        </p:txBody>
      </p:sp>
      <p:sp>
        <p:nvSpPr>
          <p:cNvPr id="3" name="object 3"/>
          <p:cNvSpPr/>
          <p:nvPr/>
        </p:nvSpPr>
        <p:spPr>
          <a:xfrm>
            <a:off x="148412" y="5982401"/>
            <a:ext cx="2648585" cy="1790064"/>
          </a:xfrm>
          <a:custGeom>
            <a:avLst/>
            <a:gdLst/>
            <a:ahLst/>
            <a:cxnLst/>
            <a:rect l="l" t="t" r="r" b="b"/>
            <a:pathLst>
              <a:path w="2648585" h="1790065">
                <a:moveTo>
                  <a:pt x="1788191" y="234041"/>
                </a:moveTo>
                <a:lnTo>
                  <a:pt x="910269" y="234041"/>
                </a:lnTo>
                <a:lnTo>
                  <a:pt x="958664" y="239863"/>
                </a:lnTo>
                <a:lnTo>
                  <a:pt x="1003104" y="256603"/>
                </a:lnTo>
                <a:lnTo>
                  <a:pt x="1041999" y="283172"/>
                </a:lnTo>
                <a:lnTo>
                  <a:pt x="1073759" y="318483"/>
                </a:lnTo>
                <a:lnTo>
                  <a:pt x="1096794" y="361448"/>
                </a:lnTo>
                <a:lnTo>
                  <a:pt x="1107531" y="399510"/>
                </a:lnTo>
                <a:lnTo>
                  <a:pt x="1110572" y="438356"/>
                </a:lnTo>
                <a:lnTo>
                  <a:pt x="1105944" y="477044"/>
                </a:lnTo>
                <a:lnTo>
                  <a:pt x="1093670" y="514635"/>
                </a:lnTo>
                <a:lnTo>
                  <a:pt x="1074350" y="549135"/>
                </a:lnTo>
                <a:lnTo>
                  <a:pt x="1049034" y="578759"/>
                </a:lnTo>
                <a:lnTo>
                  <a:pt x="1018402" y="602851"/>
                </a:lnTo>
                <a:lnTo>
                  <a:pt x="983129" y="620756"/>
                </a:lnTo>
                <a:lnTo>
                  <a:pt x="446084" y="830509"/>
                </a:lnTo>
                <a:lnTo>
                  <a:pt x="446066" y="1421072"/>
                </a:lnTo>
                <a:lnTo>
                  <a:pt x="424693" y="1789998"/>
                </a:lnTo>
                <a:lnTo>
                  <a:pt x="906112" y="1789998"/>
                </a:lnTo>
                <a:lnTo>
                  <a:pt x="915400" y="1629632"/>
                </a:lnTo>
                <a:lnTo>
                  <a:pt x="1509472" y="1629632"/>
                </a:lnTo>
                <a:lnTo>
                  <a:pt x="1497390" y="1421072"/>
                </a:lnTo>
                <a:lnTo>
                  <a:pt x="1497390" y="373729"/>
                </a:lnTo>
                <a:lnTo>
                  <a:pt x="1872152" y="373729"/>
                </a:lnTo>
                <a:lnTo>
                  <a:pt x="1851160" y="331622"/>
                </a:lnTo>
                <a:lnTo>
                  <a:pt x="1816153" y="273166"/>
                </a:lnTo>
                <a:lnTo>
                  <a:pt x="1788191" y="234041"/>
                </a:lnTo>
                <a:close/>
              </a:path>
              <a:path w="2648585" h="1790065">
                <a:moveTo>
                  <a:pt x="1509472" y="1629632"/>
                </a:moveTo>
                <a:lnTo>
                  <a:pt x="1028049" y="1629632"/>
                </a:lnTo>
                <a:lnTo>
                  <a:pt x="1037340" y="1789998"/>
                </a:lnTo>
                <a:lnTo>
                  <a:pt x="1518762" y="1789998"/>
                </a:lnTo>
                <a:lnTo>
                  <a:pt x="1509472" y="1629632"/>
                </a:lnTo>
                <a:close/>
              </a:path>
              <a:path w="2648585" h="1790065">
                <a:moveTo>
                  <a:pt x="1368273" y="0"/>
                </a:moveTo>
                <a:lnTo>
                  <a:pt x="594047" y="0"/>
                </a:lnTo>
                <a:lnTo>
                  <a:pt x="587606" y="201"/>
                </a:lnTo>
                <a:lnTo>
                  <a:pt x="577817" y="1100"/>
                </a:lnTo>
                <a:lnTo>
                  <a:pt x="578298" y="1100"/>
                </a:lnTo>
                <a:lnTo>
                  <a:pt x="570675" y="2239"/>
                </a:lnTo>
                <a:lnTo>
                  <a:pt x="562429" y="3917"/>
                </a:lnTo>
                <a:lnTo>
                  <a:pt x="530877" y="8961"/>
                </a:lnTo>
                <a:lnTo>
                  <a:pt x="497670" y="16239"/>
                </a:lnTo>
                <a:lnTo>
                  <a:pt x="427641" y="37999"/>
                </a:lnTo>
                <a:lnTo>
                  <a:pt x="391492" y="52732"/>
                </a:lnTo>
                <a:lnTo>
                  <a:pt x="355036" y="70201"/>
                </a:lnTo>
                <a:lnTo>
                  <a:pt x="318611" y="90531"/>
                </a:lnTo>
                <a:lnTo>
                  <a:pt x="282553" y="113849"/>
                </a:lnTo>
                <a:lnTo>
                  <a:pt x="247200" y="140278"/>
                </a:lnTo>
                <a:lnTo>
                  <a:pt x="212888" y="169946"/>
                </a:lnTo>
                <a:lnTo>
                  <a:pt x="179954" y="202977"/>
                </a:lnTo>
                <a:lnTo>
                  <a:pt x="148736" y="239496"/>
                </a:lnTo>
                <a:lnTo>
                  <a:pt x="119570" y="279630"/>
                </a:lnTo>
                <a:lnTo>
                  <a:pt x="92794" y="323504"/>
                </a:lnTo>
                <a:lnTo>
                  <a:pt x="68744" y="371242"/>
                </a:lnTo>
                <a:lnTo>
                  <a:pt x="47750" y="422995"/>
                </a:lnTo>
                <a:lnTo>
                  <a:pt x="30172" y="478817"/>
                </a:lnTo>
                <a:lnTo>
                  <a:pt x="16324" y="538904"/>
                </a:lnTo>
                <a:lnTo>
                  <a:pt x="6627" y="602851"/>
                </a:lnTo>
                <a:lnTo>
                  <a:pt x="6550" y="603357"/>
                </a:lnTo>
                <a:lnTo>
                  <a:pt x="3529" y="633868"/>
                </a:lnTo>
                <a:lnTo>
                  <a:pt x="1394" y="665260"/>
                </a:lnTo>
                <a:lnTo>
                  <a:pt x="221" y="697591"/>
                </a:lnTo>
                <a:lnTo>
                  <a:pt x="0" y="730916"/>
                </a:lnTo>
                <a:lnTo>
                  <a:pt x="5100" y="768290"/>
                </a:lnTo>
                <a:lnTo>
                  <a:pt x="40141" y="833259"/>
                </a:lnTo>
                <a:lnTo>
                  <a:pt x="88892" y="869533"/>
                </a:lnTo>
                <a:lnTo>
                  <a:pt x="132752" y="882856"/>
                </a:lnTo>
                <a:lnTo>
                  <a:pt x="155572" y="884535"/>
                </a:lnTo>
                <a:lnTo>
                  <a:pt x="169878" y="883878"/>
                </a:lnTo>
                <a:lnTo>
                  <a:pt x="212087" y="873905"/>
                </a:lnTo>
                <a:lnTo>
                  <a:pt x="966861" y="579126"/>
                </a:lnTo>
                <a:lnTo>
                  <a:pt x="1009761" y="553857"/>
                </a:lnTo>
                <a:lnTo>
                  <a:pt x="1041495" y="517767"/>
                </a:lnTo>
                <a:lnTo>
                  <a:pt x="1057353" y="481590"/>
                </a:lnTo>
                <a:lnTo>
                  <a:pt x="361795" y="481590"/>
                </a:lnTo>
                <a:lnTo>
                  <a:pt x="372324" y="463091"/>
                </a:lnTo>
                <a:lnTo>
                  <a:pt x="395259" y="430226"/>
                </a:lnTo>
                <a:lnTo>
                  <a:pt x="426482" y="396296"/>
                </a:lnTo>
                <a:lnTo>
                  <a:pt x="446084" y="379418"/>
                </a:lnTo>
                <a:lnTo>
                  <a:pt x="500478" y="379418"/>
                </a:lnTo>
                <a:lnTo>
                  <a:pt x="837473" y="247783"/>
                </a:lnTo>
                <a:lnTo>
                  <a:pt x="855222" y="241799"/>
                </a:lnTo>
                <a:lnTo>
                  <a:pt x="873314" y="237502"/>
                </a:lnTo>
                <a:lnTo>
                  <a:pt x="891685" y="234910"/>
                </a:lnTo>
                <a:lnTo>
                  <a:pt x="910269" y="234041"/>
                </a:lnTo>
                <a:lnTo>
                  <a:pt x="1788191" y="234041"/>
                </a:lnTo>
                <a:lnTo>
                  <a:pt x="1779537" y="221933"/>
                </a:lnTo>
                <a:lnTo>
                  <a:pt x="1741735" y="177455"/>
                </a:lnTo>
                <a:lnTo>
                  <a:pt x="1703169" y="139263"/>
                </a:lnTo>
                <a:lnTo>
                  <a:pt x="1664259" y="106888"/>
                </a:lnTo>
                <a:lnTo>
                  <a:pt x="1625429" y="79863"/>
                </a:lnTo>
                <a:lnTo>
                  <a:pt x="1587100" y="57718"/>
                </a:lnTo>
                <a:lnTo>
                  <a:pt x="1549694" y="39985"/>
                </a:lnTo>
                <a:lnTo>
                  <a:pt x="1513633" y="26195"/>
                </a:lnTo>
                <a:lnTo>
                  <a:pt x="1447235" y="8572"/>
                </a:lnTo>
                <a:lnTo>
                  <a:pt x="1418457" y="3917"/>
                </a:lnTo>
                <a:lnTo>
                  <a:pt x="1418876" y="3917"/>
                </a:lnTo>
                <a:lnTo>
                  <a:pt x="1391280" y="1100"/>
                </a:lnTo>
                <a:lnTo>
                  <a:pt x="1368273" y="0"/>
                </a:lnTo>
                <a:close/>
              </a:path>
              <a:path w="2648585" h="1790065">
                <a:moveTo>
                  <a:pt x="1872152" y="373729"/>
                </a:moveTo>
                <a:lnTo>
                  <a:pt x="1497390" y="373729"/>
                </a:lnTo>
                <a:lnTo>
                  <a:pt x="1518983" y="396037"/>
                </a:lnTo>
                <a:lnTo>
                  <a:pt x="1540868" y="422995"/>
                </a:lnTo>
                <a:lnTo>
                  <a:pt x="1562742" y="455047"/>
                </a:lnTo>
                <a:lnTo>
                  <a:pt x="1584301" y="492636"/>
                </a:lnTo>
                <a:lnTo>
                  <a:pt x="1605244" y="536205"/>
                </a:lnTo>
                <a:lnTo>
                  <a:pt x="1625265" y="586198"/>
                </a:lnTo>
                <a:lnTo>
                  <a:pt x="1644063" y="643059"/>
                </a:lnTo>
                <a:lnTo>
                  <a:pt x="1661335" y="707231"/>
                </a:lnTo>
                <a:lnTo>
                  <a:pt x="1672147" y="737747"/>
                </a:lnTo>
                <a:lnTo>
                  <a:pt x="1710803" y="788412"/>
                </a:lnTo>
                <a:lnTo>
                  <a:pt x="1755267" y="815337"/>
                </a:lnTo>
                <a:lnTo>
                  <a:pt x="1793045" y="825013"/>
                </a:lnTo>
                <a:lnTo>
                  <a:pt x="1812465" y="826230"/>
                </a:lnTo>
                <a:lnTo>
                  <a:pt x="1825041" y="825725"/>
                </a:lnTo>
                <a:lnTo>
                  <a:pt x="2542537" y="588066"/>
                </a:lnTo>
                <a:lnTo>
                  <a:pt x="2586542" y="564813"/>
                </a:lnTo>
                <a:lnTo>
                  <a:pt x="2619903" y="530228"/>
                </a:lnTo>
                <a:lnTo>
                  <a:pt x="2641008" y="487558"/>
                </a:lnTo>
                <a:lnTo>
                  <a:pt x="2643367" y="472077"/>
                </a:lnTo>
                <a:lnTo>
                  <a:pt x="1914662" y="472077"/>
                </a:lnTo>
                <a:lnTo>
                  <a:pt x="1884137" y="397769"/>
                </a:lnTo>
                <a:lnTo>
                  <a:pt x="1872152" y="373729"/>
                </a:lnTo>
                <a:close/>
              </a:path>
              <a:path w="2648585" h="1790065">
                <a:moveTo>
                  <a:pt x="902418" y="278951"/>
                </a:moveTo>
                <a:lnTo>
                  <a:pt x="853742" y="289439"/>
                </a:lnTo>
                <a:lnTo>
                  <a:pt x="361795" y="481590"/>
                </a:lnTo>
                <a:lnTo>
                  <a:pt x="1057353" y="481590"/>
                </a:lnTo>
                <a:lnTo>
                  <a:pt x="1060606" y="474170"/>
                </a:lnTo>
                <a:lnTo>
                  <a:pt x="1065639" y="426381"/>
                </a:lnTo>
                <a:lnTo>
                  <a:pt x="1055138" y="377716"/>
                </a:lnTo>
                <a:lnTo>
                  <a:pt x="1029883" y="334815"/>
                </a:lnTo>
                <a:lnTo>
                  <a:pt x="993802" y="303088"/>
                </a:lnTo>
                <a:lnTo>
                  <a:pt x="950209" y="283984"/>
                </a:lnTo>
                <a:lnTo>
                  <a:pt x="902418" y="278951"/>
                </a:lnTo>
                <a:close/>
              </a:path>
              <a:path w="2648585" h="1790065">
                <a:moveTo>
                  <a:pt x="2492022" y="285224"/>
                </a:moveTo>
                <a:lnTo>
                  <a:pt x="2442918" y="293452"/>
                </a:lnTo>
                <a:lnTo>
                  <a:pt x="1914662" y="472077"/>
                </a:lnTo>
                <a:lnTo>
                  <a:pt x="2643367" y="472077"/>
                </a:lnTo>
                <a:lnTo>
                  <a:pt x="2648247" y="440050"/>
                </a:lnTo>
                <a:lnTo>
                  <a:pt x="2640009" y="390950"/>
                </a:lnTo>
                <a:lnTo>
                  <a:pt x="2616747" y="346935"/>
                </a:lnTo>
                <a:lnTo>
                  <a:pt x="2582171" y="313571"/>
                </a:lnTo>
                <a:lnTo>
                  <a:pt x="2539518" y="292466"/>
                </a:lnTo>
                <a:lnTo>
                  <a:pt x="2492022" y="285224"/>
                </a:lnTo>
                <a:close/>
              </a:path>
              <a:path w="2648585" h="1790065">
                <a:moveTo>
                  <a:pt x="500478" y="379418"/>
                </a:moveTo>
                <a:lnTo>
                  <a:pt x="446084" y="379418"/>
                </a:lnTo>
                <a:lnTo>
                  <a:pt x="446084" y="400665"/>
                </a:lnTo>
                <a:lnTo>
                  <a:pt x="500478" y="379418"/>
                </a:lnTo>
                <a:close/>
              </a:path>
            </a:pathLst>
          </a:custGeom>
          <a:solidFill>
            <a:srgbClr val="008B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82825" y="4996986"/>
            <a:ext cx="875030" cy="875030"/>
          </a:xfrm>
          <a:custGeom>
            <a:avLst/>
            <a:gdLst/>
            <a:ahLst/>
            <a:cxnLst/>
            <a:rect l="l" t="t" r="r" b="b"/>
            <a:pathLst>
              <a:path w="875030" h="875029">
                <a:moveTo>
                  <a:pt x="437311" y="0"/>
                </a:moveTo>
                <a:lnTo>
                  <a:pt x="389667" y="2565"/>
                </a:lnTo>
                <a:lnTo>
                  <a:pt x="343507" y="10085"/>
                </a:lnTo>
                <a:lnTo>
                  <a:pt x="299099" y="22292"/>
                </a:lnTo>
                <a:lnTo>
                  <a:pt x="256709" y="38919"/>
                </a:lnTo>
                <a:lnTo>
                  <a:pt x="216605" y="59701"/>
                </a:lnTo>
                <a:lnTo>
                  <a:pt x="179054" y="84369"/>
                </a:lnTo>
                <a:lnTo>
                  <a:pt x="144322" y="112658"/>
                </a:lnTo>
                <a:lnTo>
                  <a:pt x="112676" y="144301"/>
                </a:lnTo>
                <a:lnTo>
                  <a:pt x="84384" y="179032"/>
                </a:lnTo>
                <a:lnTo>
                  <a:pt x="59712" y="216582"/>
                </a:lnTo>
                <a:lnTo>
                  <a:pt x="38927" y="256687"/>
                </a:lnTo>
                <a:lnTo>
                  <a:pt x="22297" y="299079"/>
                </a:lnTo>
                <a:lnTo>
                  <a:pt x="10087" y="343491"/>
                </a:lnTo>
                <a:lnTo>
                  <a:pt x="2566" y="389658"/>
                </a:lnTo>
                <a:lnTo>
                  <a:pt x="0" y="437311"/>
                </a:lnTo>
                <a:lnTo>
                  <a:pt x="2566" y="484960"/>
                </a:lnTo>
                <a:lnTo>
                  <a:pt x="10087" y="531124"/>
                </a:lnTo>
                <a:lnTo>
                  <a:pt x="22297" y="575534"/>
                </a:lnTo>
                <a:lnTo>
                  <a:pt x="38927" y="617925"/>
                </a:lnTo>
                <a:lnTo>
                  <a:pt x="59712" y="658029"/>
                </a:lnTo>
                <a:lnTo>
                  <a:pt x="84384" y="695580"/>
                </a:lnTo>
                <a:lnTo>
                  <a:pt x="112676" y="730311"/>
                </a:lnTo>
                <a:lnTo>
                  <a:pt x="144322" y="761955"/>
                </a:lnTo>
                <a:lnTo>
                  <a:pt x="179054" y="790246"/>
                </a:lnTo>
                <a:lnTo>
                  <a:pt x="216605" y="814916"/>
                </a:lnTo>
                <a:lnTo>
                  <a:pt x="256709" y="835699"/>
                </a:lnTo>
                <a:lnTo>
                  <a:pt x="299099" y="852328"/>
                </a:lnTo>
                <a:lnTo>
                  <a:pt x="343507" y="864536"/>
                </a:lnTo>
                <a:lnTo>
                  <a:pt x="389667" y="872057"/>
                </a:lnTo>
                <a:lnTo>
                  <a:pt x="437311" y="874623"/>
                </a:lnTo>
                <a:lnTo>
                  <a:pt x="484965" y="872057"/>
                </a:lnTo>
                <a:lnTo>
                  <a:pt x="531131" y="864536"/>
                </a:lnTo>
                <a:lnTo>
                  <a:pt x="575544" y="852328"/>
                </a:lnTo>
                <a:lnTo>
                  <a:pt x="617935" y="835699"/>
                </a:lnTo>
                <a:lnTo>
                  <a:pt x="658040" y="814916"/>
                </a:lnTo>
                <a:lnTo>
                  <a:pt x="695591" y="790246"/>
                </a:lnTo>
                <a:lnTo>
                  <a:pt x="730321" y="761955"/>
                </a:lnTo>
                <a:lnTo>
                  <a:pt x="761964" y="730311"/>
                </a:lnTo>
                <a:lnTo>
                  <a:pt x="790253" y="695580"/>
                </a:lnTo>
                <a:lnTo>
                  <a:pt x="794334" y="689369"/>
                </a:lnTo>
                <a:lnTo>
                  <a:pt x="444506" y="689369"/>
                </a:lnTo>
                <a:lnTo>
                  <a:pt x="383566" y="688154"/>
                </a:lnTo>
                <a:lnTo>
                  <a:pt x="333694" y="677894"/>
                </a:lnTo>
                <a:lnTo>
                  <a:pt x="298686" y="659369"/>
                </a:lnTo>
                <a:lnTo>
                  <a:pt x="282333" y="633361"/>
                </a:lnTo>
                <a:lnTo>
                  <a:pt x="287947" y="607590"/>
                </a:lnTo>
                <a:lnTo>
                  <a:pt x="357093" y="572492"/>
                </a:lnTo>
                <a:lnTo>
                  <a:pt x="413706" y="559161"/>
                </a:lnTo>
                <a:lnTo>
                  <a:pt x="548360" y="532867"/>
                </a:lnTo>
                <a:lnTo>
                  <a:pt x="608693" y="523363"/>
                </a:lnTo>
                <a:lnTo>
                  <a:pt x="657840" y="520831"/>
                </a:lnTo>
                <a:lnTo>
                  <a:pt x="866214" y="520831"/>
                </a:lnTo>
                <a:lnTo>
                  <a:pt x="872057" y="484960"/>
                </a:lnTo>
                <a:lnTo>
                  <a:pt x="874623" y="437311"/>
                </a:lnTo>
                <a:lnTo>
                  <a:pt x="872057" y="389658"/>
                </a:lnTo>
                <a:lnTo>
                  <a:pt x="864538" y="343491"/>
                </a:lnTo>
                <a:lnTo>
                  <a:pt x="852331" y="299079"/>
                </a:lnTo>
                <a:lnTo>
                  <a:pt x="835703" y="256687"/>
                </a:lnTo>
                <a:lnTo>
                  <a:pt x="814922" y="216582"/>
                </a:lnTo>
                <a:lnTo>
                  <a:pt x="790253" y="179032"/>
                </a:lnTo>
                <a:lnTo>
                  <a:pt x="761964" y="144301"/>
                </a:lnTo>
                <a:lnTo>
                  <a:pt x="730321" y="112658"/>
                </a:lnTo>
                <a:lnTo>
                  <a:pt x="695591" y="84369"/>
                </a:lnTo>
                <a:lnTo>
                  <a:pt x="658040" y="59701"/>
                </a:lnTo>
                <a:lnTo>
                  <a:pt x="617935" y="38919"/>
                </a:lnTo>
                <a:lnTo>
                  <a:pt x="575544" y="22292"/>
                </a:lnTo>
                <a:lnTo>
                  <a:pt x="531131" y="10085"/>
                </a:lnTo>
                <a:lnTo>
                  <a:pt x="484965" y="2565"/>
                </a:lnTo>
                <a:lnTo>
                  <a:pt x="437311" y="0"/>
                </a:lnTo>
                <a:close/>
              </a:path>
              <a:path w="875030" h="875029">
                <a:moveTo>
                  <a:pt x="866214" y="520831"/>
                </a:moveTo>
                <a:lnTo>
                  <a:pt x="657840" y="520831"/>
                </a:lnTo>
                <a:lnTo>
                  <a:pt x="692243" y="528638"/>
                </a:lnTo>
                <a:lnTo>
                  <a:pt x="708342" y="550151"/>
                </a:lnTo>
                <a:lnTo>
                  <a:pt x="677509" y="610751"/>
                </a:lnTo>
                <a:lnTo>
                  <a:pt x="635162" y="639021"/>
                </a:lnTo>
                <a:lnTo>
                  <a:pt x="579159" y="663073"/>
                </a:lnTo>
                <a:lnTo>
                  <a:pt x="512724" y="680758"/>
                </a:lnTo>
                <a:lnTo>
                  <a:pt x="444506" y="689369"/>
                </a:lnTo>
                <a:lnTo>
                  <a:pt x="794334" y="689369"/>
                </a:lnTo>
                <a:lnTo>
                  <a:pt x="814922" y="658029"/>
                </a:lnTo>
                <a:lnTo>
                  <a:pt x="835703" y="617925"/>
                </a:lnTo>
                <a:lnTo>
                  <a:pt x="852331" y="575534"/>
                </a:lnTo>
                <a:lnTo>
                  <a:pt x="864538" y="531124"/>
                </a:lnTo>
                <a:lnTo>
                  <a:pt x="866214" y="520831"/>
                </a:lnTo>
                <a:close/>
              </a:path>
            </a:pathLst>
          </a:custGeom>
          <a:solidFill>
            <a:srgbClr val="008B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76114" y="3813449"/>
            <a:ext cx="2047239" cy="1671955"/>
          </a:xfrm>
          <a:custGeom>
            <a:avLst/>
            <a:gdLst/>
            <a:ahLst/>
            <a:cxnLst/>
            <a:rect l="l" t="t" r="r" b="b"/>
            <a:pathLst>
              <a:path w="2047239" h="1671954">
                <a:moveTo>
                  <a:pt x="1023594" y="0"/>
                </a:moveTo>
                <a:lnTo>
                  <a:pt x="969231" y="1095"/>
                </a:lnTo>
                <a:lnTo>
                  <a:pt x="915607" y="4345"/>
                </a:lnTo>
                <a:lnTo>
                  <a:pt x="862793" y="9696"/>
                </a:lnTo>
                <a:lnTo>
                  <a:pt x="810860" y="17092"/>
                </a:lnTo>
                <a:lnTo>
                  <a:pt x="759877" y="26479"/>
                </a:lnTo>
                <a:lnTo>
                  <a:pt x="709917" y="37802"/>
                </a:lnTo>
                <a:lnTo>
                  <a:pt x="661050" y="51007"/>
                </a:lnTo>
                <a:lnTo>
                  <a:pt x="613347" y="66039"/>
                </a:lnTo>
                <a:lnTo>
                  <a:pt x="566878" y="82843"/>
                </a:lnTo>
                <a:lnTo>
                  <a:pt x="521713" y="101366"/>
                </a:lnTo>
                <a:lnTo>
                  <a:pt x="477925" y="121551"/>
                </a:lnTo>
                <a:lnTo>
                  <a:pt x="435583" y="143345"/>
                </a:lnTo>
                <a:lnTo>
                  <a:pt x="394758" y="166692"/>
                </a:lnTo>
                <a:lnTo>
                  <a:pt x="355522" y="191539"/>
                </a:lnTo>
                <a:lnTo>
                  <a:pt x="317944" y="217831"/>
                </a:lnTo>
                <a:lnTo>
                  <a:pt x="282095" y="245513"/>
                </a:lnTo>
                <a:lnTo>
                  <a:pt x="248047" y="274530"/>
                </a:lnTo>
                <a:lnTo>
                  <a:pt x="215869" y="304828"/>
                </a:lnTo>
                <a:lnTo>
                  <a:pt x="185634" y="336352"/>
                </a:lnTo>
                <a:lnTo>
                  <a:pt x="157410" y="369047"/>
                </a:lnTo>
                <a:lnTo>
                  <a:pt x="131270" y="402860"/>
                </a:lnTo>
                <a:lnTo>
                  <a:pt x="107283" y="437734"/>
                </a:lnTo>
                <a:lnTo>
                  <a:pt x="85522" y="473617"/>
                </a:lnTo>
                <a:lnTo>
                  <a:pt x="66055" y="510452"/>
                </a:lnTo>
                <a:lnTo>
                  <a:pt x="48954" y="548186"/>
                </a:lnTo>
                <a:lnTo>
                  <a:pt x="34291" y="586764"/>
                </a:lnTo>
                <a:lnTo>
                  <a:pt x="22135" y="626130"/>
                </a:lnTo>
                <a:lnTo>
                  <a:pt x="12557" y="666232"/>
                </a:lnTo>
                <a:lnTo>
                  <a:pt x="5628" y="707013"/>
                </a:lnTo>
                <a:lnTo>
                  <a:pt x="1418" y="748420"/>
                </a:lnTo>
                <a:lnTo>
                  <a:pt x="0" y="790397"/>
                </a:lnTo>
                <a:lnTo>
                  <a:pt x="1830" y="838016"/>
                </a:lnTo>
                <a:lnTo>
                  <a:pt x="7251" y="884886"/>
                </a:lnTo>
                <a:lnTo>
                  <a:pt x="16158" y="930928"/>
                </a:lnTo>
                <a:lnTo>
                  <a:pt x="28448" y="976061"/>
                </a:lnTo>
                <a:lnTo>
                  <a:pt x="44014" y="1020206"/>
                </a:lnTo>
                <a:lnTo>
                  <a:pt x="62754" y="1063285"/>
                </a:lnTo>
                <a:lnTo>
                  <a:pt x="84562" y="1105219"/>
                </a:lnTo>
                <a:lnTo>
                  <a:pt x="109335" y="1145926"/>
                </a:lnTo>
                <a:lnTo>
                  <a:pt x="136967" y="1185330"/>
                </a:lnTo>
                <a:lnTo>
                  <a:pt x="167353" y="1223350"/>
                </a:lnTo>
                <a:lnTo>
                  <a:pt x="200391" y="1259906"/>
                </a:lnTo>
                <a:lnTo>
                  <a:pt x="235975" y="1294920"/>
                </a:lnTo>
                <a:lnTo>
                  <a:pt x="274000" y="1328313"/>
                </a:lnTo>
                <a:lnTo>
                  <a:pt x="314363" y="1360004"/>
                </a:lnTo>
                <a:lnTo>
                  <a:pt x="12928" y="1671485"/>
                </a:lnTo>
                <a:lnTo>
                  <a:pt x="473265" y="1456677"/>
                </a:lnTo>
                <a:lnTo>
                  <a:pt x="664079" y="1456677"/>
                </a:lnTo>
                <a:lnTo>
                  <a:pt x="647138" y="1451721"/>
                </a:lnTo>
                <a:lnTo>
                  <a:pt x="600338" y="1435718"/>
                </a:lnTo>
                <a:lnTo>
                  <a:pt x="554968" y="1417858"/>
                </a:lnTo>
                <a:lnTo>
                  <a:pt x="511114" y="1398208"/>
                </a:lnTo>
                <a:lnTo>
                  <a:pt x="468865" y="1376834"/>
                </a:lnTo>
                <a:lnTo>
                  <a:pt x="428308" y="1353800"/>
                </a:lnTo>
                <a:lnTo>
                  <a:pt x="389530" y="1329173"/>
                </a:lnTo>
                <a:lnTo>
                  <a:pt x="352620" y="1303018"/>
                </a:lnTo>
                <a:lnTo>
                  <a:pt x="317664" y="1275400"/>
                </a:lnTo>
                <a:lnTo>
                  <a:pt x="284751" y="1246385"/>
                </a:lnTo>
                <a:lnTo>
                  <a:pt x="253967" y="1216038"/>
                </a:lnTo>
                <a:lnTo>
                  <a:pt x="225401" y="1184425"/>
                </a:lnTo>
                <a:lnTo>
                  <a:pt x="199140" y="1151612"/>
                </a:lnTo>
                <a:lnTo>
                  <a:pt x="175271" y="1117664"/>
                </a:lnTo>
                <a:lnTo>
                  <a:pt x="153882" y="1082646"/>
                </a:lnTo>
                <a:lnTo>
                  <a:pt x="135062" y="1046624"/>
                </a:lnTo>
                <a:lnTo>
                  <a:pt x="118896" y="1009664"/>
                </a:lnTo>
                <a:lnTo>
                  <a:pt x="105473" y="971831"/>
                </a:lnTo>
                <a:lnTo>
                  <a:pt x="94881" y="933190"/>
                </a:lnTo>
                <a:lnTo>
                  <a:pt x="87207" y="893808"/>
                </a:lnTo>
                <a:lnTo>
                  <a:pt x="82538" y="853749"/>
                </a:lnTo>
                <a:lnTo>
                  <a:pt x="80962" y="813079"/>
                </a:lnTo>
                <a:lnTo>
                  <a:pt x="82538" y="772408"/>
                </a:lnTo>
                <a:lnTo>
                  <a:pt x="87207" y="732348"/>
                </a:lnTo>
                <a:lnTo>
                  <a:pt x="94881" y="692964"/>
                </a:lnTo>
                <a:lnTo>
                  <a:pt x="105473" y="654322"/>
                </a:lnTo>
                <a:lnTo>
                  <a:pt x="118896" y="616488"/>
                </a:lnTo>
                <a:lnTo>
                  <a:pt x="135062" y="579527"/>
                </a:lnTo>
                <a:lnTo>
                  <a:pt x="153882" y="543504"/>
                </a:lnTo>
                <a:lnTo>
                  <a:pt x="175271" y="508486"/>
                </a:lnTo>
                <a:lnTo>
                  <a:pt x="199140" y="474537"/>
                </a:lnTo>
                <a:lnTo>
                  <a:pt x="225401" y="441723"/>
                </a:lnTo>
                <a:lnTo>
                  <a:pt x="253967" y="410110"/>
                </a:lnTo>
                <a:lnTo>
                  <a:pt x="284751" y="379763"/>
                </a:lnTo>
                <a:lnTo>
                  <a:pt x="317664" y="350747"/>
                </a:lnTo>
                <a:lnTo>
                  <a:pt x="352620" y="323129"/>
                </a:lnTo>
                <a:lnTo>
                  <a:pt x="389530" y="296973"/>
                </a:lnTo>
                <a:lnTo>
                  <a:pt x="428308" y="272346"/>
                </a:lnTo>
                <a:lnTo>
                  <a:pt x="468865" y="249312"/>
                </a:lnTo>
                <a:lnTo>
                  <a:pt x="511114" y="227937"/>
                </a:lnTo>
                <a:lnTo>
                  <a:pt x="554968" y="208287"/>
                </a:lnTo>
                <a:lnTo>
                  <a:pt x="600338" y="190428"/>
                </a:lnTo>
                <a:lnTo>
                  <a:pt x="647138" y="174424"/>
                </a:lnTo>
                <a:lnTo>
                  <a:pt x="695280" y="160342"/>
                </a:lnTo>
                <a:lnTo>
                  <a:pt x="744675" y="148246"/>
                </a:lnTo>
                <a:lnTo>
                  <a:pt x="795238" y="138202"/>
                </a:lnTo>
                <a:lnTo>
                  <a:pt x="846879" y="130277"/>
                </a:lnTo>
                <a:lnTo>
                  <a:pt x="899512" y="124535"/>
                </a:lnTo>
                <a:lnTo>
                  <a:pt x="953049" y="121041"/>
                </a:lnTo>
                <a:lnTo>
                  <a:pt x="1007402" y="119862"/>
                </a:lnTo>
                <a:lnTo>
                  <a:pt x="1565616" y="119862"/>
                </a:lnTo>
                <a:lnTo>
                  <a:pt x="1525490" y="101366"/>
                </a:lnTo>
                <a:lnTo>
                  <a:pt x="1480324" y="82843"/>
                </a:lnTo>
                <a:lnTo>
                  <a:pt x="1433853" y="66039"/>
                </a:lnTo>
                <a:lnTo>
                  <a:pt x="1386148" y="51007"/>
                </a:lnTo>
                <a:lnTo>
                  <a:pt x="1337279" y="37802"/>
                </a:lnTo>
                <a:lnTo>
                  <a:pt x="1287318" y="26479"/>
                </a:lnTo>
                <a:lnTo>
                  <a:pt x="1236334" y="17092"/>
                </a:lnTo>
                <a:lnTo>
                  <a:pt x="1184399" y="9696"/>
                </a:lnTo>
                <a:lnTo>
                  <a:pt x="1131584" y="4345"/>
                </a:lnTo>
                <a:lnTo>
                  <a:pt x="1077959" y="1095"/>
                </a:lnTo>
                <a:lnTo>
                  <a:pt x="1023594" y="0"/>
                </a:lnTo>
                <a:close/>
              </a:path>
              <a:path w="2047239" h="1671954">
                <a:moveTo>
                  <a:pt x="664079" y="1456677"/>
                </a:moveTo>
                <a:lnTo>
                  <a:pt x="473265" y="1456677"/>
                </a:lnTo>
                <a:lnTo>
                  <a:pt x="517342" y="1477249"/>
                </a:lnTo>
                <a:lnTo>
                  <a:pt x="562824" y="1496138"/>
                </a:lnTo>
                <a:lnTo>
                  <a:pt x="609639" y="1513286"/>
                </a:lnTo>
                <a:lnTo>
                  <a:pt x="657716" y="1528633"/>
                </a:lnTo>
                <a:lnTo>
                  <a:pt x="706984" y="1542123"/>
                </a:lnTo>
                <a:lnTo>
                  <a:pt x="757371" y="1553697"/>
                </a:lnTo>
                <a:lnTo>
                  <a:pt x="808805" y="1563297"/>
                </a:lnTo>
                <a:lnTo>
                  <a:pt x="861216" y="1570865"/>
                </a:lnTo>
                <a:lnTo>
                  <a:pt x="915560" y="1576448"/>
                </a:lnTo>
                <a:lnTo>
                  <a:pt x="916250" y="1576448"/>
                </a:lnTo>
                <a:lnTo>
                  <a:pt x="969121" y="1579698"/>
                </a:lnTo>
                <a:lnTo>
                  <a:pt x="970002" y="1579698"/>
                </a:lnTo>
                <a:lnTo>
                  <a:pt x="1023594" y="1580794"/>
                </a:lnTo>
                <a:lnTo>
                  <a:pt x="1077959" y="1579698"/>
                </a:lnTo>
                <a:lnTo>
                  <a:pt x="1131584" y="1576448"/>
                </a:lnTo>
                <a:lnTo>
                  <a:pt x="1184399" y="1571097"/>
                </a:lnTo>
                <a:lnTo>
                  <a:pt x="1236334" y="1563701"/>
                </a:lnTo>
                <a:lnTo>
                  <a:pt x="1287318" y="1554314"/>
                </a:lnTo>
                <a:lnTo>
                  <a:pt x="1337279" y="1542990"/>
                </a:lnTo>
                <a:lnTo>
                  <a:pt x="1386148" y="1529785"/>
                </a:lnTo>
                <a:lnTo>
                  <a:pt x="1433853" y="1514752"/>
                </a:lnTo>
                <a:lnTo>
                  <a:pt x="1457274" y="1506283"/>
                </a:lnTo>
                <a:lnTo>
                  <a:pt x="1007402" y="1506283"/>
                </a:lnTo>
                <a:lnTo>
                  <a:pt x="953049" y="1505104"/>
                </a:lnTo>
                <a:lnTo>
                  <a:pt x="899512" y="1501611"/>
                </a:lnTo>
                <a:lnTo>
                  <a:pt x="846879" y="1495868"/>
                </a:lnTo>
                <a:lnTo>
                  <a:pt x="795238" y="1487943"/>
                </a:lnTo>
                <a:lnTo>
                  <a:pt x="744675" y="1477899"/>
                </a:lnTo>
                <a:lnTo>
                  <a:pt x="695280" y="1465804"/>
                </a:lnTo>
                <a:lnTo>
                  <a:pt x="664079" y="1456677"/>
                </a:lnTo>
                <a:close/>
              </a:path>
              <a:path w="2047239" h="1671954">
                <a:moveTo>
                  <a:pt x="1565616" y="119862"/>
                </a:moveTo>
                <a:lnTo>
                  <a:pt x="1007402" y="119862"/>
                </a:lnTo>
                <a:lnTo>
                  <a:pt x="1061755" y="121041"/>
                </a:lnTo>
                <a:lnTo>
                  <a:pt x="1115291" y="124535"/>
                </a:lnTo>
                <a:lnTo>
                  <a:pt x="1167924" y="130277"/>
                </a:lnTo>
                <a:lnTo>
                  <a:pt x="1219566" y="138202"/>
                </a:lnTo>
                <a:lnTo>
                  <a:pt x="1270128" y="148246"/>
                </a:lnTo>
                <a:lnTo>
                  <a:pt x="1319524" y="160342"/>
                </a:lnTo>
                <a:lnTo>
                  <a:pt x="1367665" y="174424"/>
                </a:lnTo>
                <a:lnTo>
                  <a:pt x="1414465" y="190428"/>
                </a:lnTo>
                <a:lnTo>
                  <a:pt x="1459835" y="208287"/>
                </a:lnTo>
                <a:lnTo>
                  <a:pt x="1503689" y="227937"/>
                </a:lnTo>
                <a:lnTo>
                  <a:pt x="1545938" y="249312"/>
                </a:lnTo>
                <a:lnTo>
                  <a:pt x="1586495" y="272346"/>
                </a:lnTo>
                <a:lnTo>
                  <a:pt x="1625273" y="296973"/>
                </a:lnTo>
                <a:lnTo>
                  <a:pt x="1662183" y="323129"/>
                </a:lnTo>
                <a:lnTo>
                  <a:pt x="1697139" y="350747"/>
                </a:lnTo>
                <a:lnTo>
                  <a:pt x="1730053" y="379763"/>
                </a:lnTo>
                <a:lnTo>
                  <a:pt x="1760836" y="410110"/>
                </a:lnTo>
                <a:lnTo>
                  <a:pt x="1789402" y="441723"/>
                </a:lnTo>
                <a:lnTo>
                  <a:pt x="1815664" y="474537"/>
                </a:lnTo>
                <a:lnTo>
                  <a:pt x="1839532" y="508486"/>
                </a:lnTo>
                <a:lnTo>
                  <a:pt x="1860921" y="543504"/>
                </a:lnTo>
                <a:lnTo>
                  <a:pt x="1879742" y="579527"/>
                </a:lnTo>
                <a:lnTo>
                  <a:pt x="1895907" y="616488"/>
                </a:lnTo>
                <a:lnTo>
                  <a:pt x="1909330" y="654322"/>
                </a:lnTo>
                <a:lnTo>
                  <a:pt x="1919922" y="692964"/>
                </a:lnTo>
                <a:lnTo>
                  <a:pt x="1927597" y="732348"/>
                </a:lnTo>
                <a:lnTo>
                  <a:pt x="1932265" y="772408"/>
                </a:lnTo>
                <a:lnTo>
                  <a:pt x="1933841" y="813079"/>
                </a:lnTo>
                <a:lnTo>
                  <a:pt x="1932265" y="853749"/>
                </a:lnTo>
                <a:lnTo>
                  <a:pt x="1927597" y="893808"/>
                </a:lnTo>
                <a:lnTo>
                  <a:pt x="1919922" y="933190"/>
                </a:lnTo>
                <a:lnTo>
                  <a:pt x="1909330" y="971831"/>
                </a:lnTo>
                <a:lnTo>
                  <a:pt x="1895907" y="1009664"/>
                </a:lnTo>
                <a:lnTo>
                  <a:pt x="1879742" y="1046624"/>
                </a:lnTo>
                <a:lnTo>
                  <a:pt x="1860921" y="1082646"/>
                </a:lnTo>
                <a:lnTo>
                  <a:pt x="1839532" y="1117664"/>
                </a:lnTo>
                <a:lnTo>
                  <a:pt x="1815664" y="1151612"/>
                </a:lnTo>
                <a:lnTo>
                  <a:pt x="1789402" y="1184425"/>
                </a:lnTo>
                <a:lnTo>
                  <a:pt x="1760836" y="1216038"/>
                </a:lnTo>
                <a:lnTo>
                  <a:pt x="1730053" y="1246385"/>
                </a:lnTo>
                <a:lnTo>
                  <a:pt x="1697139" y="1275400"/>
                </a:lnTo>
                <a:lnTo>
                  <a:pt x="1662183" y="1303018"/>
                </a:lnTo>
                <a:lnTo>
                  <a:pt x="1625273" y="1329173"/>
                </a:lnTo>
                <a:lnTo>
                  <a:pt x="1586495" y="1353800"/>
                </a:lnTo>
                <a:lnTo>
                  <a:pt x="1545938" y="1376834"/>
                </a:lnTo>
                <a:lnTo>
                  <a:pt x="1503689" y="1398208"/>
                </a:lnTo>
                <a:lnTo>
                  <a:pt x="1459835" y="1417858"/>
                </a:lnTo>
                <a:lnTo>
                  <a:pt x="1414465" y="1435718"/>
                </a:lnTo>
                <a:lnTo>
                  <a:pt x="1367665" y="1451721"/>
                </a:lnTo>
                <a:lnTo>
                  <a:pt x="1319524" y="1465804"/>
                </a:lnTo>
                <a:lnTo>
                  <a:pt x="1270128" y="1477899"/>
                </a:lnTo>
                <a:lnTo>
                  <a:pt x="1219566" y="1487943"/>
                </a:lnTo>
                <a:lnTo>
                  <a:pt x="1167924" y="1495868"/>
                </a:lnTo>
                <a:lnTo>
                  <a:pt x="1115291" y="1501611"/>
                </a:lnTo>
                <a:lnTo>
                  <a:pt x="1061755" y="1505104"/>
                </a:lnTo>
                <a:lnTo>
                  <a:pt x="1007402" y="1506283"/>
                </a:lnTo>
                <a:lnTo>
                  <a:pt x="1457274" y="1506283"/>
                </a:lnTo>
                <a:lnTo>
                  <a:pt x="1525490" y="1479425"/>
                </a:lnTo>
                <a:lnTo>
                  <a:pt x="1569280" y="1459239"/>
                </a:lnTo>
                <a:lnTo>
                  <a:pt x="1611623" y="1437445"/>
                </a:lnTo>
                <a:lnTo>
                  <a:pt x="1652450" y="1414097"/>
                </a:lnTo>
                <a:lnTo>
                  <a:pt x="1691688" y="1389250"/>
                </a:lnTo>
                <a:lnTo>
                  <a:pt x="1729267" y="1362958"/>
                </a:lnTo>
                <a:lnTo>
                  <a:pt x="1765118" y="1335276"/>
                </a:lnTo>
                <a:lnTo>
                  <a:pt x="1799167" y="1306259"/>
                </a:lnTo>
                <a:lnTo>
                  <a:pt x="1831346" y="1275960"/>
                </a:lnTo>
                <a:lnTo>
                  <a:pt x="1861583" y="1244436"/>
                </a:lnTo>
                <a:lnTo>
                  <a:pt x="1889808" y="1211741"/>
                </a:lnTo>
                <a:lnTo>
                  <a:pt x="1915950" y="1177928"/>
                </a:lnTo>
                <a:lnTo>
                  <a:pt x="1939937" y="1143053"/>
                </a:lnTo>
                <a:lnTo>
                  <a:pt x="1961700" y="1107171"/>
                </a:lnTo>
                <a:lnTo>
                  <a:pt x="1981168" y="1070336"/>
                </a:lnTo>
                <a:lnTo>
                  <a:pt x="1998269" y="1032603"/>
                </a:lnTo>
                <a:lnTo>
                  <a:pt x="2012934" y="994025"/>
                </a:lnTo>
                <a:lnTo>
                  <a:pt x="2025091" y="954659"/>
                </a:lnTo>
                <a:lnTo>
                  <a:pt x="2034669" y="914559"/>
                </a:lnTo>
                <a:lnTo>
                  <a:pt x="2041598" y="873778"/>
                </a:lnTo>
                <a:lnTo>
                  <a:pt x="2045808" y="832373"/>
                </a:lnTo>
                <a:lnTo>
                  <a:pt x="2047227" y="790397"/>
                </a:lnTo>
                <a:lnTo>
                  <a:pt x="2045808" y="748420"/>
                </a:lnTo>
                <a:lnTo>
                  <a:pt x="2041598" y="707013"/>
                </a:lnTo>
                <a:lnTo>
                  <a:pt x="2034669" y="666232"/>
                </a:lnTo>
                <a:lnTo>
                  <a:pt x="2025091" y="626130"/>
                </a:lnTo>
                <a:lnTo>
                  <a:pt x="2012934" y="586764"/>
                </a:lnTo>
                <a:lnTo>
                  <a:pt x="1998269" y="548186"/>
                </a:lnTo>
                <a:lnTo>
                  <a:pt x="1981168" y="510452"/>
                </a:lnTo>
                <a:lnTo>
                  <a:pt x="1961700" y="473617"/>
                </a:lnTo>
                <a:lnTo>
                  <a:pt x="1939937" y="437734"/>
                </a:lnTo>
                <a:lnTo>
                  <a:pt x="1915950" y="402860"/>
                </a:lnTo>
                <a:lnTo>
                  <a:pt x="1889808" y="369047"/>
                </a:lnTo>
                <a:lnTo>
                  <a:pt x="1861583" y="336352"/>
                </a:lnTo>
                <a:lnTo>
                  <a:pt x="1831346" y="304828"/>
                </a:lnTo>
                <a:lnTo>
                  <a:pt x="1799167" y="274530"/>
                </a:lnTo>
                <a:lnTo>
                  <a:pt x="1765118" y="245513"/>
                </a:lnTo>
                <a:lnTo>
                  <a:pt x="1729267" y="217831"/>
                </a:lnTo>
                <a:lnTo>
                  <a:pt x="1691688" y="191539"/>
                </a:lnTo>
                <a:lnTo>
                  <a:pt x="1652450" y="166692"/>
                </a:lnTo>
                <a:lnTo>
                  <a:pt x="1611623" y="143345"/>
                </a:lnTo>
                <a:lnTo>
                  <a:pt x="1569280" y="121551"/>
                </a:lnTo>
                <a:lnTo>
                  <a:pt x="1565616" y="119862"/>
                </a:lnTo>
                <a:close/>
              </a:path>
            </a:pathLst>
          </a:custGeom>
          <a:solidFill>
            <a:srgbClr val="008B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059684" y="4366150"/>
            <a:ext cx="1243330" cy="4451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50" i="1" spc="-275" dirty="0">
                <a:solidFill>
                  <a:srgbClr val="008BC0"/>
                </a:solidFill>
                <a:latin typeface="Arial"/>
                <a:cs typeface="Arial"/>
              </a:rPr>
              <a:t>Reporting</a:t>
            </a:r>
            <a:endParaRPr sz="27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2024" y="1988869"/>
            <a:ext cx="3195320" cy="1145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At</a:t>
            </a:r>
            <a:r>
              <a:rPr sz="1150" b="1" spc="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lang="en-US" sz="1150" b="1" spc="-10" dirty="0">
                <a:solidFill>
                  <a:srgbClr val="231F20"/>
                </a:solidFill>
                <a:latin typeface="Arial"/>
                <a:cs typeface="Arial"/>
              </a:rPr>
              <a:t>Destiny Springs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1150" b="1" spc="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we</a:t>
            </a:r>
            <a:r>
              <a:rPr sz="1150" b="1" spc="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report</a:t>
            </a:r>
            <a:r>
              <a:rPr sz="1150" b="1" spc="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35" dirty="0">
                <a:solidFill>
                  <a:srgbClr val="231F20"/>
                </a:solidFill>
                <a:latin typeface="Arial"/>
                <a:cs typeface="Arial"/>
              </a:rPr>
              <a:t>concerns</a:t>
            </a:r>
            <a:r>
              <a:rPr sz="1150" b="1" spc="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25" dirty="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suspected</a:t>
            </a:r>
            <a:r>
              <a:rPr sz="115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30" dirty="0">
                <a:solidFill>
                  <a:srgbClr val="231F20"/>
                </a:solidFill>
                <a:latin typeface="Arial"/>
                <a:cs typeface="Arial"/>
              </a:rPr>
              <a:t>misconduct</a:t>
            </a:r>
            <a:r>
              <a:rPr sz="115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that</a:t>
            </a:r>
            <a:r>
              <a:rPr sz="115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20" dirty="0">
                <a:solidFill>
                  <a:srgbClr val="231F20"/>
                </a:solidFill>
                <a:latin typeface="Arial"/>
                <a:cs typeface="Arial"/>
              </a:rPr>
              <a:t>could</a:t>
            </a:r>
            <a:r>
              <a:rPr sz="115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violate</a:t>
            </a:r>
            <a:r>
              <a:rPr sz="115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state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or</a:t>
            </a:r>
            <a:r>
              <a:rPr sz="115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federal</a:t>
            </a:r>
            <a:r>
              <a:rPr sz="115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laws,</a:t>
            </a:r>
            <a:r>
              <a:rPr sz="115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lang="en-US" sz="1150" b="1" spc="-10" dirty="0">
                <a:solidFill>
                  <a:srgbClr val="231F20"/>
                </a:solidFill>
                <a:latin typeface="Arial"/>
                <a:cs typeface="Arial"/>
              </a:rPr>
              <a:t>Destiny Springs</a:t>
            </a:r>
            <a:r>
              <a:rPr sz="115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25" dirty="0">
                <a:solidFill>
                  <a:srgbClr val="231F20"/>
                </a:solidFill>
                <a:latin typeface="Arial"/>
                <a:cs typeface="Arial"/>
              </a:rPr>
              <a:t>policies</a:t>
            </a:r>
            <a:r>
              <a:rPr sz="115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25" dirty="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procedures</a:t>
            </a:r>
            <a:r>
              <a:rPr sz="1150" b="1" spc="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or</a:t>
            </a:r>
            <a:r>
              <a:rPr sz="1150" b="1" spc="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sz="1150" b="1" spc="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Code</a:t>
            </a:r>
            <a:r>
              <a:rPr sz="1150" b="1" spc="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sz="1150" b="1" spc="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Conduct.</a:t>
            </a:r>
            <a:endParaRPr sz="1150" dirty="0">
              <a:latin typeface="Arial"/>
              <a:cs typeface="Arial"/>
            </a:endParaRPr>
          </a:p>
          <a:p>
            <a:pPr marL="12700" marR="291465">
              <a:lnSpc>
                <a:spcPct val="100000"/>
              </a:lnSpc>
              <a:spcBef>
                <a:spcPts val="540"/>
              </a:spcBef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There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are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several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ways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report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concerns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or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suspected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violations:</a:t>
            </a:r>
            <a:endParaRPr sz="1150" dirty="0">
              <a:latin typeface="Avenir Book"/>
              <a:cs typeface="Avenir Book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93452" y="3252380"/>
            <a:ext cx="1071245" cy="3717925"/>
          </a:xfrm>
          <a:custGeom>
            <a:avLst/>
            <a:gdLst/>
            <a:ahLst/>
            <a:cxnLst/>
            <a:rect l="l" t="t" r="r" b="b"/>
            <a:pathLst>
              <a:path w="1071245" h="3717925">
                <a:moveTo>
                  <a:pt x="1053553" y="2348700"/>
                </a:moveTo>
                <a:lnTo>
                  <a:pt x="1052753" y="2299563"/>
                </a:lnTo>
                <a:lnTo>
                  <a:pt x="1046708" y="2250795"/>
                </a:lnTo>
                <a:lnTo>
                  <a:pt x="1035659" y="2203907"/>
                </a:lnTo>
                <a:lnTo>
                  <a:pt x="1019937" y="2159165"/>
                </a:lnTo>
                <a:lnTo>
                  <a:pt x="999807" y="2116810"/>
                </a:lnTo>
                <a:lnTo>
                  <a:pt x="975575" y="2077110"/>
                </a:lnTo>
                <a:lnTo>
                  <a:pt x="947534" y="2040305"/>
                </a:lnTo>
                <a:lnTo>
                  <a:pt x="915974" y="2006663"/>
                </a:lnTo>
                <a:lnTo>
                  <a:pt x="881202" y="1976424"/>
                </a:lnTo>
                <a:lnTo>
                  <a:pt x="843495" y="1949869"/>
                </a:lnTo>
                <a:lnTo>
                  <a:pt x="803148" y="1927225"/>
                </a:lnTo>
                <a:lnTo>
                  <a:pt x="760450" y="1908759"/>
                </a:lnTo>
                <a:lnTo>
                  <a:pt x="715708" y="1894713"/>
                </a:lnTo>
                <a:lnTo>
                  <a:pt x="669213" y="1885365"/>
                </a:lnTo>
                <a:lnTo>
                  <a:pt x="621245" y="1880958"/>
                </a:lnTo>
                <a:lnTo>
                  <a:pt x="572122" y="1881759"/>
                </a:lnTo>
                <a:lnTo>
                  <a:pt x="520725" y="1888286"/>
                </a:lnTo>
                <a:lnTo>
                  <a:pt x="471436" y="1900364"/>
                </a:lnTo>
                <a:lnTo>
                  <a:pt x="424573" y="1917623"/>
                </a:lnTo>
                <a:lnTo>
                  <a:pt x="380428" y="1939721"/>
                </a:lnTo>
                <a:lnTo>
                  <a:pt x="339280" y="1966315"/>
                </a:lnTo>
                <a:lnTo>
                  <a:pt x="301447" y="1997062"/>
                </a:lnTo>
                <a:lnTo>
                  <a:pt x="267220" y="2031619"/>
                </a:lnTo>
                <a:lnTo>
                  <a:pt x="236893" y="2069630"/>
                </a:lnTo>
                <a:lnTo>
                  <a:pt x="210769" y="2110752"/>
                </a:lnTo>
                <a:lnTo>
                  <a:pt x="43497" y="2072030"/>
                </a:lnTo>
                <a:lnTo>
                  <a:pt x="164401" y="2230983"/>
                </a:lnTo>
                <a:lnTo>
                  <a:pt x="158343" y="2262898"/>
                </a:lnTo>
                <a:lnTo>
                  <a:pt x="154571" y="2295487"/>
                </a:lnTo>
                <a:lnTo>
                  <a:pt x="153200" y="2328684"/>
                </a:lnTo>
                <a:lnTo>
                  <a:pt x="154305" y="2362390"/>
                </a:lnTo>
                <a:lnTo>
                  <a:pt x="160362" y="2411158"/>
                </a:lnTo>
                <a:lnTo>
                  <a:pt x="171399" y="2458047"/>
                </a:lnTo>
                <a:lnTo>
                  <a:pt x="187134" y="2502789"/>
                </a:lnTo>
                <a:lnTo>
                  <a:pt x="207264" y="2545143"/>
                </a:lnTo>
                <a:lnTo>
                  <a:pt x="231495" y="2584843"/>
                </a:lnTo>
                <a:lnTo>
                  <a:pt x="259537" y="2621635"/>
                </a:lnTo>
                <a:lnTo>
                  <a:pt x="291084" y="2655290"/>
                </a:lnTo>
                <a:lnTo>
                  <a:pt x="325869" y="2685516"/>
                </a:lnTo>
                <a:lnTo>
                  <a:pt x="363575" y="2712085"/>
                </a:lnTo>
                <a:lnTo>
                  <a:pt x="403923" y="2734729"/>
                </a:lnTo>
                <a:lnTo>
                  <a:pt x="446620" y="2753195"/>
                </a:lnTo>
                <a:lnTo>
                  <a:pt x="491350" y="2767228"/>
                </a:lnTo>
                <a:lnTo>
                  <a:pt x="537857" y="2776575"/>
                </a:lnTo>
                <a:lnTo>
                  <a:pt x="585812" y="2780982"/>
                </a:lnTo>
                <a:lnTo>
                  <a:pt x="634949" y="2780207"/>
                </a:lnTo>
                <a:lnTo>
                  <a:pt x="683704" y="2774137"/>
                </a:lnTo>
                <a:lnTo>
                  <a:pt x="730592" y="2763101"/>
                </a:lnTo>
                <a:lnTo>
                  <a:pt x="775335" y="2747365"/>
                </a:lnTo>
                <a:lnTo>
                  <a:pt x="817689" y="2727236"/>
                </a:lnTo>
                <a:lnTo>
                  <a:pt x="857389" y="2703017"/>
                </a:lnTo>
                <a:lnTo>
                  <a:pt x="894194" y="2674975"/>
                </a:lnTo>
                <a:lnTo>
                  <a:pt x="927836" y="2643428"/>
                </a:lnTo>
                <a:lnTo>
                  <a:pt x="958075" y="2608643"/>
                </a:lnTo>
                <a:lnTo>
                  <a:pt x="984631" y="2570937"/>
                </a:lnTo>
                <a:lnTo>
                  <a:pt x="1007287" y="2530589"/>
                </a:lnTo>
                <a:lnTo>
                  <a:pt x="1025753" y="2487904"/>
                </a:lnTo>
                <a:lnTo>
                  <a:pt x="1039787" y="2443162"/>
                </a:lnTo>
                <a:lnTo>
                  <a:pt x="1049134" y="2396667"/>
                </a:lnTo>
                <a:lnTo>
                  <a:pt x="1053553" y="2348700"/>
                </a:lnTo>
                <a:close/>
              </a:path>
              <a:path w="1071245" h="3717925">
                <a:moveTo>
                  <a:pt x="1063447" y="471855"/>
                </a:moveTo>
                <a:lnTo>
                  <a:pt x="1063320" y="425729"/>
                </a:lnTo>
                <a:lnTo>
                  <a:pt x="1058506" y="379907"/>
                </a:lnTo>
                <a:lnTo>
                  <a:pt x="1049045" y="334759"/>
                </a:lnTo>
                <a:lnTo>
                  <a:pt x="1034986" y="290677"/>
                </a:lnTo>
                <a:lnTo>
                  <a:pt x="1016355" y="248056"/>
                </a:lnTo>
                <a:lnTo>
                  <a:pt x="993203" y="207276"/>
                </a:lnTo>
                <a:lnTo>
                  <a:pt x="965581" y="168732"/>
                </a:lnTo>
                <a:lnTo>
                  <a:pt x="933513" y="132791"/>
                </a:lnTo>
                <a:lnTo>
                  <a:pt x="897039" y="99860"/>
                </a:lnTo>
                <a:lnTo>
                  <a:pt x="857237" y="71031"/>
                </a:lnTo>
                <a:lnTo>
                  <a:pt x="815416" y="47129"/>
                </a:lnTo>
                <a:lnTo>
                  <a:pt x="771969" y="28117"/>
                </a:lnTo>
                <a:lnTo>
                  <a:pt x="727265" y="13957"/>
                </a:lnTo>
                <a:lnTo>
                  <a:pt x="681697" y="4597"/>
                </a:lnTo>
                <a:lnTo>
                  <a:pt x="635660" y="0"/>
                </a:lnTo>
                <a:lnTo>
                  <a:pt x="589534" y="139"/>
                </a:lnTo>
                <a:lnTo>
                  <a:pt x="543712" y="4953"/>
                </a:lnTo>
                <a:lnTo>
                  <a:pt x="498563" y="14414"/>
                </a:lnTo>
                <a:lnTo>
                  <a:pt x="454482" y="28473"/>
                </a:lnTo>
                <a:lnTo>
                  <a:pt x="411861" y="47104"/>
                </a:lnTo>
                <a:lnTo>
                  <a:pt x="371094" y="70256"/>
                </a:lnTo>
                <a:lnTo>
                  <a:pt x="332536" y="97878"/>
                </a:lnTo>
                <a:lnTo>
                  <a:pt x="296608" y="129946"/>
                </a:lnTo>
                <a:lnTo>
                  <a:pt x="263677" y="166420"/>
                </a:lnTo>
                <a:lnTo>
                  <a:pt x="233400" y="208470"/>
                </a:lnTo>
                <a:lnTo>
                  <a:pt x="208622" y="252755"/>
                </a:lnTo>
                <a:lnTo>
                  <a:pt x="189280" y="298792"/>
                </a:lnTo>
                <a:lnTo>
                  <a:pt x="175336" y="346163"/>
                </a:lnTo>
                <a:lnTo>
                  <a:pt x="166725" y="394385"/>
                </a:lnTo>
                <a:lnTo>
                  <a:pt x="163410" y="443026"/>
                </a:lnTo>
                <a:lnTo>
                  <a:pt x="165328" y="491629"/>
                </a:lnTo>
                <a:lnTo>
                  <a:pt x="172440" y="539737"/>
                </a:lnTo>
                <a:lnTo>
                  <a:pt x="184708" y="586892"/>
                </a:lnTo>
                <a:lnTo>
                  <a:pt x="42316" y="682802"/>
                </a:lnTo>
                <a:lnTo>
                  <a:pt x="241020" y="702792"/>
                </a:lnTo>
                <a:lnTo>
                  <a:pt x="260223" y="728980"/>
                </a:lnTo>
                <a:lnTo>
                  <a:pt x="281495" y="753973"/>
                </a:lnTo>
                <a:lnTo>
                  <a:pt x="330238" y="799795"/>
                </a:lnTo>
                <a:lnTo>
                  <a:pt x="370027" y="828624"/>
                </a:lnTo>
                <a:lnTo>
                  <a:pt x="411848" y="852525"/>
                </a:lnTo>
                <a:lnTo>
                  <a:pt x="455307" y="871524"/>
                </a:lnTo>
                <a:lnTo>
                  <a:pt x="499999" y="885698"/>
                </a:lnTo>
                <a:lnTo>
                  <a:pt x="545566" y="895045"/>
                </a:lnTo>
                <a:lnTo>
                  <a:pt x="591604" y="899642"/>
                </a:lnTo>
                <a:lnTo>
                  <a:pt x="637730" y="899502"/>
                </a:lnTo>
                <a:lnTo>
                  <a:pt x="683564" y="894689"/>
                </a:lnTo>
                <a:lnTo>
                  <a:pt x="728700" y="885228"/>
                </a:lnTo>
                <a:lnTo>
                  <a:pt x="772782" y="871156"/>
                </a:lnTo>
                <a:lnTo>
                  <a:pt x="815403" y="852538"/>
                </a:lnTo>
                <a:lnTo>
                  <a:pt x="856183" y="829386"/>
                </a:lnTo>
                <a:lnTo>
                  <a:pt x="894727" y="801751"/>
                </a:lnTo>
                <a:lnTo>
                  <a:pt x="930668" y="769683"/>
                </a:lnTo>
                <a:lnTo>
                  <a:pt x="963599" y="733221"/>
                </a:lnTo>
                <a:lnTo>
                  <a:pt x="992416" y="693420"/>
                </a:lnTo>
                <a:lnTo>
                  <a:pt x="1016317" y="651611"/>
                </a:lnTo>
                <a:lnTo>
                  <a:pt x="1035329" y="608152"/>
                </a:lnTo>
                <a:lnTo>
                  <a:pt x="1049502" y="563460"/>
                </a:lnTo>
                <a:lnTo>
                  <a:pt x="1058849" y="517893"/>
                </a:lnTo>
                <a:lnTo>
                  <a:pt x="1063447" y="471855"/>
                </a:lnTo>
                <a:close/>
              </a:path>
              <a:path w="1071245" h="3717925">
                <a:moveTo>
                  <a:pt x="1066520" y="1375524"/>
                </a:moveTo>
                <a:lnTo>
                  <a:pt x="1062774" y="1328775"/>
                </a:lnTo>
                <a:lnTo>
                  <a:pt x="1054023" y="1282166"/>
                </a:lnTo>
                <a:lnTo>
                  <a:pt x="1040142" y="1236040"/>
                </a:lnTo>
                <a:lnTo>
                  <a:pt x="1021016" y="1190777"/>
                </a:lnTo>
                <a:lnTo>
                  <a:pt x="997127" y="1147838"/>
                </a:lnTo>
                <a:lnTo>
                  <a:pt x="969327" y="1108506"/>
                </a:lnTo>
                <a:lnTo>
                  <a:pt x="937983" y="1072908"/>
                </a:lnTo>
                <a:lnTo>
                  <a:pt x="903452" y="1041184"/>
                </a:lnTo>
                <a:lnTo>
                  <a:pt x="866114" y="1013447"/>
                </a:lnTo>
                <a:lnTo>
                  <a:pt x="826325" y="989825"/>
                </a:lnTo>
                <a:lnTo>
                  <a:pt x="784466" y="970445"/>
                </a:lnTo>
                <a:lnTo>
                  <a:pt x="740892" y="955446"/>
                </a:lnTo>
                <a:lnTo>
                  <a:pt x="695985" y="944943"/>
                </a:lnTo>
                <a:lnTo>
                  <a:pt x="650087" y="939063"/>
                </a:lnTo>
                <a:lnTo>
                  <a:pt x="603592" y="937933"/>
                </a:lnTo>
                <a:lnTo>
                  <a:pt x="556844" y="941679"/>
                </a:lnTo>
                <a:lnTo>
                  <a:pt x="510235" y="950417"/>
                </a:lnTo>
                <a:lnTo>
                  <a:pt x="464108" y="964298"/>
                </a:lnTo>
                <a:lnTo>
                  <a:pt x="418846" y="983437"/>
                </a:lnTo>
                <a:lnTo>
                  <a:pt x="373646" y="1008761"/>
                </a:lnTo>
                <a:lnTo>
                  <a:pt x="332473" y="1038415"/>
                </a:lnTo>
                <a:lnTo>
                  <a:pt x="295490" y="1071968"/>
                </a:lnTo>
                <a:lnTo>
                  <a:pt x="262839" y="1109002"/>
                </a:lnTo>
                <a:lnTo>
                  <a:pt x="234645" y="1149070"/>
                </a:lnTo>
                <a:lnTo>
                  <a:pt x="211086" y="1191755"/>
                </a:lnTo>
                <a:lnTo>
                  <a:pt x="192290" y="1236611"/>
                </a:lnTo>
                <a:lnTo>
                  <a:pt x="178422" y="1283220"/>
                </a:lnTo>
                <a:lnTo>
                  <a:pt x="169595" y="1331137"/>
                </a:lnTo>
                <a:lnTo>
                  <a:pt x="0" y="1357884"/>
                </a:lnTo>
                <a:lnTo>
                  <a:pt x="171640" y="1459979"/>
                </a:lnTo>
                <a:lnTo>
                  <a:pt x="177977" y="1491830"/>
                </a:lnTo>
                <a:lnTo>
                  <a:pt x="186702" y="1523466"/>
                </a:lnTo>
                <a:lnTo>
                  <a:pt x="211505" y="1585595"/>
                </a:lnTo>
                <a:lnTo>
                  <a:pt x="235394" y="1628546"/>
                </a:lnTo>
                <a:lnTo>
                  <a:pt x="263194" y="1667878"/>
                </a:lnTo>
                <a:lnTo>
                  <a:pt x="294538" y="1703476"/>
                </a:lnTo>
                <a:lnTo>
                  <a:pt x="329069" y="1735201"/>
                </a:lnTo>
                <a:lnTo>
                  <a:pt x="366407" y="1762937"/>
                </a:lnTo>
                <a:lnTo>
                  <a:pt x="406196" y="1786559"/>
                </a:lnTo>
                <a:lnTo>
                  <a:pt x="448056" y="1805927"/>
                </a:lnTo>
                <a:lnTo>
                  <a:pt x="491629" y="1820926"/>
                </a:lnTo>
                <a:lnTo>
                  <a:pt x="536549" y="1831428"/>
                </a:lnTo>
                <a:lnTo>
                  <a:pt x="582434" y="1837309"/>
                </a:lnTo>
                <a:lnTo>
                  <a:pt x="628929" y="1838439"/>
                </a:lnTo>
                <a:lnTo>
                  <a:pt x="675678" y="1834692"/>
                </a:lnTo>
                <a:lnTo>
                  <a:pt x="722287" y="1825942"/>
                </a:lnTo>
                <a:lnTo>
                  <a:pt x="768413" y="1812074"/>
                </a:lnTo>
                <a:lnTo>
                  <a:pt x="813663" y="1792935"/>
                </a:lnTo>
                <a:lnTo>
                  <a:pt x="856615" y="1769046"/>
                </a:lnTo>
                <a:lnTo>
                  <a:pt x="895946" y="1741246"/>
                </a:lnTo>
                <a:lnTo>
                  <a:pt x="931532" y="1709902"/>
                </a:lnTo>
                <a:lnTo>
                  <a:pt x="963269" y="1675384"/>
                </a:lnTo>
                <a:lnTo>
                  <a:pt x="991006" y="1638046"/>
                </a:lnTo>
                <a:lnTo>
                  <a:pt x="1014628" y="1598256"/>
                </a:lnTo>
                <a:lnTo>
                  <a:pt x="1033995" y="1556397"/>
                </a:lnTo>
                <a:lnTo>
                  <a:pt x="1049007" y="1512824"/>
                </a:lnTo>
                <a:lnTo>
                  <a:pt x="1059510" y="1467904"/>
                </a:lnTo>
                <a:lnTo>
                  <a:pt x="1065390" y="1422019"/>
                </a:lnTo>
                <a:lnTo>
                  <a:pt x="1066520" y="1375524"/>
                </a:lnTo>
                <a:close/>
              </a:path>
              <a:path w="1071245" h="3717925">
                <a:moveTo>
                  <a:pt x="1070737" y="3285528"/>
                </a:moveTo>
                <a:lnTo>
                  <a:pt x="1069949" y="3236404"/>
                </a:lnTo>
                <a:lnTo>
                  <a:pt x="1063891" y="3187636"/>
                </a:lnTo>
                <a:lnTo>
                  <a:pt x="1052855" y="3140748"/>
                </a:lnTo>
                <a:lnTo>
                  <a:pt x="1037120" y="3096006"/>
                </a:lnTo>
                <a:lnTo>
                  <a:pt x="1016990" y="3053651"/>
                </a:lnTo>
                <a:lnTo>
                  <a:pt x="992759" y="3013938"/>
                </a:lnTo>
                <a:lnTo>
                  <a:pt x="964730" y="2977146"/>
                </a:lnTo>
                <a:lnTo>
                  <a:pt x="933170" y="2943491"/>
                </a:lnTo>
                <a:lnTo>
                  <a:pt x="898385" y="2913265"/>
                </a:lnTo>
                <a:lnTo>
                  <a:pt x="860679" y="2886697"/>
                </a:lnTo>
                <a:lnTo>
                  <a:pt x="820331" y="2864053"/>
                </a:lnTo>
                <a:lnTo>
                  <a:pt x="777646" y="2845587"/>
                </a:lnTo>
                <a:lnTo>
                  <a:pt x="732904" y="2831554"/>
                </a:lnTo>
                <a:lnTo>
                  <a:pt x="686396" y="2822206"/>
                </a:lnTo>
                <a:lnTo>
                  <a:pt x="638441" y="2817799"/>
                </a:lnTo>
                <a:lnTo>
                  <a:pt x="589305" y="2818587"/>
                </a:lnTo>
                <a:lnTo>
                  <a:pt x="537908" y="2825127"/>
                </a:lnTo>
                <a:lnTo>
                  <a:pt x="488632" y="2837192"/>
                </a:lnTo>
                <a:lnTo>
                  <a:pt x="441769" y="2854452"/>
                </a:lnTo>
                <a:lnTo>
                  <a:pt x="397611" y="2876562"/>
                </a:lnTo>
                <a:lnTo>
                  <a:pt x="356463" y="2903156"/>
                </a:lnTo>
                <a:lnTo>
                  <a:pt x="318630" y="2933903"/>
                </a:lnTo>
                <a:lnTo>
                  <a:pt x="284403" y="2968447"/>
                </a:lnTo>
                <a:lnTo>
                  <a:pt x="254076" y="3006458"/>
                </a:lnTo>
                <a:lnTo>
                  <a:pt x="227952" y="3047581"/>
                </a:lnTo>
                <a:lnTo>
                  <a:pt x="60693" y="3008858"/>
                </a:lnTo>
                <a:lnTo>
                  <a:pt x="181584" y="3167811"/>
                </a:lnTo>
                <a:lnTo>
                  <a:pt x="175526" y="3199727"/>
                </a:lnTo>
                <a:lnTo>
                  <a:pt x="171767" y="3232327"/>
                </a:lnTo>
                <a:lnTo>
                  <a:pt x="170383" y="3265525"/>
                </a:lnTo>
                <a:lnTo>
                  <a:pt x="171488" y="3299218"/>
                </a:lnTo>
                <a:lnTo>
                  <a:pt x="177546" y="3347986"/>
                </a:lnTo>
                <a:lnTo>
                  <a:pt x="188595" y="3394875"/>
                </a:lnTo>
                <a:lnTo>
                  <a:pt x="204317" y="3439617"/>
                </a:lnTo>
                <a:lnTo>
                  <a:pt x="224447" y="3481971"/>
                </a:lnTo>
                <a:lnTo>
                  <a:pt x="248678" y="3521672"/>
                </a:lnTo>
                <a:lnTo>
                  <a:pt x="276720" y="3558476"/>
                </a:lnTo>
                <a:lnTo>
                  <a:pt x="308279" y="3592118"/>
                </a:lnTo>
                <a:lnTo>
                  <a:pt x="343052" y="3622344"/>
                </a:lnTo>
                <a:lnTo>
                  <a:pt x="380771" y="3648913"/>
                </a:lnTo>
                <a:lnTo>
                  <a:pt x="421119" y="3671557"/>
                </a:lnTo>
                <a:lnTo>
                  <a:pt x="463804" y="3690023"/>
                </a:lnTo>
                <a:lnTo>
                  <a:pt x="508546" y="3704056"/>
                </a:lnTo>
                <a:lnTo>
                  <a:pt x="555040" y="3713403"/>
                </a:lnTo>
                <a:lnTo>
                  <a:pt x="602996" y="3717810"/>
                </a:lnTo>
                <a:lnTo>
                  <a:pt x="652132" y="3717036"/>
                </a:lnTo>
                <a:lnTo>
                  <a:pt x="700900" y="3710965"/>
                </a:lnTo>
                <a:lnTo>
                  <a:pt x="747776" y="3699929"/>
                </a:lnTo>
                <a:lnTo>
                  <a:pt x="792518" y="3684206"/>
                </a:lnTo>
                <a:lnTo>
                  <a:pt x="834872" y="3664077"/>
                </a:lnTo>
                <a:lnTo>
                  <a:pt x="874572" y="3639845"/>
                </a:lnTo>
                <a:lnTo>
                  <a:pt x="911377" y="3611816"/>
                </a:lnTo>
                <a:lnTo>
                  <a:pt x="945019" y="3580257"/>
                </a:lnTo>
                <a:lnTo>
                  <a:pt x="975258" y="3545484"/>
                </a:lnTo>
                <a:lnTo>
                  <a:pt x="1001826" y="3507778"/>
                </a:lnTo>
                <a:lnTo>
                  <a:pt x="1024470" y="3467430"/>
                </a:lnTo>
                <a:lnTo>
                  <a:pt x="1042936" y="3424732"/>
                </a:lnTo>
                <a:lnTo>
                  <a:pt x="1056982" y="3379990"/>
                </a:lnTo>
                <a:lnTo>
                  <a:pt x="1066330" y="3333496"/>
                </a:lnTo>
                <a:lnTo>
                  <a:pt x="1070737" y="3285528"/>
                </a:lnTo>
                <a:close/>
              </a:path>
            </a:pathLst>
          </a:custGeom>
          <a:solidFill>
            <a:srgbClr val="008B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920451" y="2302091"/>
            <a:ext cx="955040" cy="901065"/>
          </a:xfrm>
          <a:custGeom>
            <a:avLst/>
            <a:gdLst/>
            <a:ahLst/>
            <a:cxnLst/>
            <a:rect l="l" t="t" r="r" b="b"/>
            <a:pathLst>
              <a:path w="955039" h="901064">
                <a:moveTo>
                  <a:pt x="516936" y="0"/>
                </a:moveTo>
                <a:lnTo>
                  <a:pt x="470437" y="1130"/>
                </a:lnTo>
                <a:lnTo>
                  <a:pt x="424546" y="7012"/>
                </a:lnTo>
                <a:lnTo>
                  <a:pt x="379631" y="17518"/>
                </a:lnTo>
                <a:lnTo>
                  <a:pt x="336060" y="32521"/>
                </a:lnTo>
                <a:lnTo>
                  <a:pt x="294200" y="51896"/>
                </a:lnTo>
                <a:lnTo>
                  <a:pt x="254418" y="75516"/>
                </a:lnTo>
                <a:lnTo>
                  <a:pt x="217080" y="103253"/>
                </a:lnTo>
                <a:lnTo>
                  <a:pt x="182556" y="134983"/>
                </a:lnTo>
                <a:lnTo>
                  <a:pt x="151211" y="170577"/>
                </a:lnTo>
                <a:lnTo>
                  <a:pt x="123414" y="209910"/>
                </a:lnTo>
                <a:lnTo>
                  <a:pt x="99520" y="252850"/>
                </a:lnTo>
                <a:lnTo>
                  <a:pt x="79497" y="300637"/>
                </a:lnTo>
                <a:lnTo>
                  <a:pt x="65312" y="349350"/>
                </a:lnTo>
                <a:lnTo>
                  <a:pt x="56826" y="398565"/>
                </a:lnTo>
                <a:lnTo>
                  <a:pt x="53889" y="447852"/>
                </a:lnTo>
                <a:lnTo>
                  <a:pt x="56349" y="496780"/>
                </a:lnTo>
                <a:lnTo>
                  <a:pt x="64058" y="544919"/>
                </a:lnTo>
                <a:lnTo>
                  <a:pt x="76865" y="591839"/>
                </a:lnTo>
                <a:lnTo>
                  <a:pt x="94619" y="637109"/>
                </a:lnTo>
                <a:lnTo>
                  <a:pt x="117171" y="680299"/>
                </a:lnTo>
                <a:lnTo>
                  <a:pt x="0" y="805791"/>
                </a:lnTo>
                <a:lnTo>
                  <a:pt x="198108" y="780566"/>
                </a:lnTo>
                <a:lnTo>
                  <a:pt x="222716" y="801764"/>
                </a:lnTo>
                <a:lnTo>
                  <a:pt x="249064" y="821323"/>
                </a:lnTo>
                <a:lnTo>
                  <a:pt x="306858" y="855013"/>
                </a:lnTo>
                <a:lnTo>
                  <a:pt x="352120" y="874151"/>
                </a:lnTo>
                <a:lnTo>
                  <a:pt x="398242" y="888031"/>
                </a:lnTo>
                <a:lnTo>
                  <a:pt x="444857" y="896780"/>
                </a:lnTo>
                <a:lnTo>
                  <a:pt x="491598" y="900525"/>
                </a:lnTo>
                <a:lnTo>
                  <a:pt x="538098" y="899392"/>
                </a:lnTo>
                <a:lnTo>
                  <a:pt x="583989" y="893509"/>
                </a:lnTo>
                <a:lnTo>
                  <a:pt x="628904" y="883001"/>
                </a:lnTo>
                <a:lnTo>
                  <a:pt x="672476" y="867995"/>
                </a:lnTo>
                <a:lnTo>
                  <a:pt x="714337" y="848619"/>
                </a:lnTo>
                <a:lnTo>
                  <a:pt x="754120" y="824998"/>
                </a:lnTo>
                <a:lnTo>
                  <a:pt x="791459" y="797259"/>
                </a:lnTo>
                <a:lnTo>
                  <a:pt x="825985" y="765530"/>
                </a:lnTo>
                <a:lnTo>
                  <a:pt x="857331" y="729936"/>
                </a:lnTo>
                <a:lnTo>
                  <a:pt x="885131" y="690604"/>
                </a:lnTo>
                <a:lnTo>
                  <a:pt x="909020" y="647663"/>
                </a:lnTo>
                <a:lnTo>
                  <a:pt x="928152" y="602401"/>
                </a:lnTo>
                <a:lnTo>
                  <a:pt x="942031" y="556281"/>
                </a:lnTo>
                <a:lnTo>
                  <a:pt x="950781" y="509668"/>
                </a:lnTo>
                <a:lnTo>
                  <a:pt x="954528" y="462928"/>
                </a:lnTo>
                <a:lnTo>
                  <a:pt x="953398" y="416430"/>
                </a:lnTo>
                <a:lnTo>
                  <a:pt x="947518" y="370540"/>
                </a:lnTo>
                <a:lnTo>
                  <a:pt x="937013" y="325626"/>
                </a:lnTo>
                <a:lnTo>
                  <a:pt x="922011" y="282054"/>
                </a:lnTo>
                <a:lnTo>
                  <a:pt x="902637" y="240194"/>
                </a:lnTo>
                <a:lnTo>
                  <a:pt x="879019" y="200411"/>
                </a:lnTo>
                <a:lnTo>
                  <a:pt x="851281" y="163072"/>
                </a:lnTo>
                <a:lnTo>
                  <a:pt x="819552" y="128547"/>
                </a:lnTo>
                <a:lnTo>
                  <a:pt x="783957" y="97200"/>
                </a:lnTo>
                <a:lnTo>
                  <a:pt x="744623" y="69401"/>
                </a:lnTo>
                <a:lnTo>
                  <a:pt x="701676" y="45516"/>
                </a:lnTo>
                <a:lnTo>
                  <a:pt x="656414" y="26378"/>
                </a:lnTo>
                <a:lnTo>
                  <a:pt x="610292" y="12497"/>
                </a:lnTo>
                <a:lnTo>
                  <a:pt x="563677" y="3746"/>
                </a:lnTo>
                <a:lnTo>
                  <a:pt x="516936" y="0"/>
                </a:lnTo>
                <a:close/>
              </a:path>
            </a:pathLst>
          </a:custGeom>
          <a:solidFill>
            <a:srgbClr val="008B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49940" y="1356738"/>
            <a:ext cx="901065" cy="901065"/>
          </a:xfrm>
          <a:custGeom>
            <a:avLst/>
            <a:gdLst/>
            <a:ahLst/>
            <a:cxnLst/>
            <a:rect l="l" t="t" r="r" b="b"/>
            <a:pathLst>
              <a:path w="901064" h="901064">
                <a:moveTo>
                  <a:pt x="446978" y="0"/>
                </a:moveTo>
                <a:lnTo>
                  <a:pt x="400171" y="2796"/>
                </a:lnTo>
                <a:lnTo>
                  <a:pt x="354282" y="10388"/>
                </a:lnTo>
                <a:lnTo>
                  <a:pt x="309657" y="22599"/>
                </a:lnTo>
                <a:lnTo>
                  <a:pt x="266642" y="39254"/>
                </a:lnTo>
                <a:lnTo>
                  <a:pt x="225583" y="60175"/>
                </a:lnTo>
                <a:lnTo>
                  <a:pt x="186826" y="85186"/>
                </a:lnTo>
                <a:lnTo>
                  <a:pt x="150717" y="114111"/>
                </a:lnTo>
                <a:lnTo>
                  <a:pt x="117602" y="146774"/>
                </a:lnTo>
                <a:lnTo>
                  <a:pt x="87827" y="182998"/>
                </a:lnTo>
                <a:lnTo>
                  <a:pt x="61739" y="222608"/>
                </a:lnTo>
                <a:lnTo>
                  <a:pt x="39684" y="265425"/>
                </a:lnTo>
                <a:lnTo>
                  <a:pt x="22009" y="311276"/>
                </a:lnTo>
                <a:lnTo>
                  <a:pt x="8819" y="361384"/>
                </a:lnTo>
                <a:lnTo>
                  <a:pt x="1553" y="411600"/>
                </a:lnTo>
                <a:lnTo>
                  <a:pt x="0" y="461519"/>
                </a:lnTo>
                <a:lnTo>
                  <a:pt x="3950" y="510736"/>
                </a:lnTo>
                <a:lnTo>
                  <a:pt x="13197" y="558845"/>
                </a:lnTo>
                <a:lnTo>
                  <a:pt x="27530" y="605443"/>
                </a:lnTo>
                <a:lnTo>
                  <a:pt x="46743" y="650124"/>
                </a:lnTo>
                <a:lnTo>
                  <a:pt x="70625" y="692483"/>
                </a:lnTo>
                <a:lnTo>
                  <a:pt x="98969" y="732115"/>
                </a:lnTo>
                <a:lnTo>
                  <a:pt x="406" y="872686"/>
                </a:lnTo>
                <a:lnTo>
                  <a:pt x="193076" y="820139"/>
                </a:lnTo>
                <a:lnTo>
                  <a:pt x="220395" y="837707"/>
                </a:lnTo>
                <a:lnTo>
                  <a:pt x="249210" y="853408"/>
                </a:lnTo>
                <a:lnTo>
                  <a:pt x="311135" y="878724"/>
                </a:lnTo>
                <a:lnTo>
                  <a:pt x="358621" y="891375"/>
                </a:lnTo>
                <a:lnTo>
                  <a:pt x="406226" y="898700"/>
                </a:lnTo>
                <a:lnTo>
                  <a:pt x="453605" y="900876"/>
                </a:lnTo>
                <a:lnTo>
                  <a:pt x="500413" y="898079"/>
                </a:lnTo>
                <a:lnTo>
                  <a:pt x="546302" y="890486"/>
                </a:lnTo>
                <a:lnTo>
                  <a:pt x="590927" y="878274"/>
                </a:lnTo>
                <a:lnTo>
                  <a:pt x="633942" y="861618"/>
                </a:lnTo>
                <a:lnTo>
                  <a:pt x="675000" y="840696"/>
                </a:lnTo>
                <a:lnTo>
                  <a:pt x="713757" y="815684"/>
                </a:lnTo>
                <a:lnTo>
                  <a:pt x="749865" y="786757"/>
                </a:lnTo>
                <a:lnTo>
                  <a:pt x="782979" y="754094"/>
                </a:lnTo>
                <a:lnTo>
                  <a:pt x="812752" y="717869"/>
                </a:lnTo>
                <a:lnTo>
                  <a:pt x="838840" y="678261"/>
                </a:lnTo>
                <a:lnTo>
                  <a:pt x="860895" y="635444"/>
                </a:lnTo>
                <a:lnTo>
                  <a:pt x="878566" y="589594"/>
                </a:lnTo>
                <a:lnTo>
                  <a:pt x="891220" y="542113"/>
                </a:lnTo>
                <a:lnTo>
                  <a:pt x="898544" y="494508"/>
                </a:lnTo>
                <a:lnTo>
                  <a:pt x="900720" y="447130"/>
                </a:lnTo>
                <a:lnTo>
                  <a:pt x="897925" y="400322"/>
                </a:lnTo>
                <a:lnTo>
                  <a:pt x="890333" y="354432"/>
                </a:lnTo>
                <a:lnTo>
                  <a:pt x="878123" y="309806"/>
                </a:lnTo>
                <a:lnTo>
                  <a:pt x="861469" y="266789"/>
                </a:lnTo>
                <a:lnTo>
                  <a:pt x="840549" y="225729"/>
                </a:lnTo>
                <a:lnTo>
                  <a:pt x="815538" y="186970"/>
                </a:lnTo>
                <a:lnTo>
                  <a:pt x="786613" y="150860"/>
                </a:lnTo>
                <a:lnTo>
                  <a:pt x="753950" y="117744"/>
                </a:lnTo>
                <a:lnTo>
                  <a:pt x="717725" y="87969"/>
                </a:lnTo>
                <a:lnTo>
                  <a:pt x="678115" y="61880"/>
                </a:lnTo>
                <a:lnTo>
                  <a:pt x="635296" y="39824"/>
                </a:lnTo>
                <a:lnTo>
                  <a:pt x="589440" y="22156"/>
                </a:lnTo>
                <a:lnTo>
                  <a:pt x="541960" y="9499"/>
                </a:lnTo>
                <a:lnTo>
                  <a:pt x="494356" y="2175"/>
                </a:lnTo>
                <a:lnTo>
                  <a:pt x="446978" y="0"/>
                </a:lnTo>
                <a:close/>
              </a:path>
            </a:pathLst>
          </a:custGeom>
          <a:solidFill>
            <a:srgbClr val="008B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950925" y="407287"/>
            <a:ext cx="901065" cy="901065"/>
          </a:xfrm>
          <a:custGeom>
            <a:avLst/>
            <a:gdLst/>
            <a:ahLst/>
            <a:cxnLst/>
            <a:rect l="l" t="t" r="r" b="b"/>
            <a:pathLst>
              <a:path w="901064" h="901065">
                <a:moveTo>
                  <a:pt x="446978" y="0"/>
                </a:moveTo>
                <a:lnTo>
                  <a:pt x="400171" y="2796"/>
                </a:lnTo>
                <a:lnTo>
                  <a:pt x="354282" y="10388"/>
                </a:lnTo>
                <a:lnTo>
                  <a:pt x="309657" y="22599"/>
                </a:lnTo>
                <a:lnTo>
                  <a:pt x="266642" y="39254"/>
                </a:lnTo>
                <a:lnTo>
                  <a:pt x="225583" y="60175"/>
                </a:lnTo>
                <a:lnTo>
                  <a:pt x="186826" y="85186"/>
                </a:lnTo>
                <a:lnTo>
                  <a:pt x="150717" y="114111"/>
                </a:lnTo>
                <a:lnTo>
                  <a:pt x="117602" y="146774"/>
                </a:lnTo>
                <a:lnTo>
                  <a:pt x="87827" y="182998"/>
                </a:lnTo>
                <a:lnTo>
                  <a:pt x="61739" y="222608"/>
                </a:lnTo>
                <a:lnTo>
                  <a:pt x="39684" y="265425"/>
                </a:lnTo>
                <a:lnTo>
                  <a:pt x="22013" y="311278"/>
                </a:lnTo>
                <a:lnTo>
                  <a:pt x="8819" y="361384"/>
                </a:lnTo>
                <a:lnTo>
                  <a:pt x="1553" y="411600"/>
                </a:lnTo>
                <a:lnTo>
                  <a:pt x="0" y="461519"/>
                </a:lnTo>
                <a:lnTo>
                  <a:pt x="3950" y="510736"/>
                </a:lnTo>
                <a:lnTo>
                  <a:pt x="13197" y="558845"/>
                </a:lnTo>
                <a:lnTo>
                  <a:pt x="27530" y="605443"/>
                </a:lnTo>
                <a:lnTo>
                  <a:pt x="46743" y="650124"/>
                </a:lnTo>
                <a:lnTo>
                  <a:pt x="70625" y="692483"/>
                </a:lnTo>
                <a:lnTo>
                  <a:pt x="98969" y="732115"/>
                </a:lnTo>
                <a:lnTo>
                  <a:pt x="407" y="872685"/>
                </a:lnTo>
                <a:lnTo>
                  <a:pt x="193076" y="820139"/>
                </a:lnTo>
                <a:lnTo>
                  <a:pt x="220395" y="837707"/>
                </a:lnTo>
                <a:lnTo>
                  <a:pt x="249210" y="853408"/>
                </a:lnTo>
                <a:lnTo>
                  <a:pt x="311135" y="878724"/>
                </a:lnTo>
                <a:lnTo>
                  <a:pt x="358621" y="891375"/>
                </a:lnTo>
                <a:lnTo>
                  <a:pt x="406226" y="898700"/>
                </a:lnTo>
                <a:lnTo>
                  <a:pt x="453605" y="900876"/>
                </a:lnTo>
                <a:lnTo>
                  <a:pt x="500413" y="898079"/>
                </a:lnTo>
                <a:lnTo>
                  <a:pt x="546302" y="890486"/>
                </a:lnTo>
                <a:lnTo>
                  <a:pt x="590927" y="878274"/>
                </a:lnTo>
                <a:lnTo>
                  <a:pt x="633942" y="861618"/>
                </a:lnTo>
                <a:lnTo>
                  <a:pt x="675000" y="840696"/>
                </a:lnTo>
                <a:lnTo>
                  <a:pt x="713757" y="815684"/>
                </a:lnTo>
                <a:lnTo>
                  <a:pt x="749865" y="786757"/>
                </a:lnTo>
                <a:lnTo>
                  <a:pt x="782979" y="754094"/>
                </a:lnTo>
                <a:lnTo>
                  <a:pt x="812752" y="717869"/>
                </a:lnTo>
                <a:lnTo>
                  <a:pt x="838840" y="678261"/>
                </a:lnTo>
                <a:lnTo>
                  <a:pt x="860895" y="635444"/>
                </a:lnTo>
                <a:lnTo>
                  <a:pt x="878578" y="589598"/>
                </a:lnTo>
                <a:lnTo>
                  <a:pt x="891220" y="542113"/>
                </a:lnTo>
                <a:lnTo>
                  <a:pt x="898544" y="494508"/>
                </a:lnTo>
                <a:lnTo>
                  <a:pt x="900720" y="447130"/>
                </a:lnTo>
                <a:lnTo>
                  <a:pt x="897925" y="400322"/>
                </a:lnTo>
                <a:lnTo>
                  <a:pt x="890333" y="354432"/>
                </a:lnTo>
                <a:lnTo>
                  <a:pt x="878123" y="309806"/>
                </a:lnTo>
                <a:lnTo>
                  <a:pt x="861469" y="266789"/>
                </a:lnTo>
                <a:lnTo>
                  <a:pt x="840549" y="225729"/>
                </a:lnTo>
                <a:lnTo>
                  <a:pt x="815538" y="186970"/>
                </a:lnTo>
                <a:lnTo>
                  <a:pt x="786613" y="150860"/>
                </a:lnTo>
                <a:lnTo>
                  <a:pt x="753950" y="117744"/>
                </a:lnTo>
                <a:lnTo>
                  <a:pt x="717725" y="87969"/>
                </a:lnTo>
                <a:lnTo>
                  <a:pt x="678115" y="61880"/>
                </a:lnTo>
                <a:lnTo>
                  <a:pt x="635296" y="39824"/>
                </a:lnTo>
                <a:lnTo>
                  <a:pt x="589441" y="22153"/>
                </a:lnTo>
                <a:lnTo>
                  <a:pt x="541960" y="9499"/>
                </a:lnTo>
                <a:lnTo>
                  <a:pt x="494356" y="2175"/>
                </a:lnTo>
                <a:lnTo>
                  <a:pt x="446978" y="0"/>
                </a:lnTo>
                <a:close/>
              </a:path>
            </a:pathLst>
          </a:custGeom>
          <a:solidFill>
            <a:srgbClr val="008B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071813" y="1582512"/>
            <a:ext cx="668020" cy="432434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 algn="ctr">
              <a:lnSpc>
                <a:spcPts val="1000"/>
              </a:lnSpc>
              <a:spcBef>
                <a:spcPts val="300"/>
              </a:spcBef>
            </a:pPr>
            <a:r>
              <a:rPr sz="1000" b="1" spc="-10" dirty="0">
                <a:solidFill>
                  <a:srgbClr val="FFFFFF"/>
                </a:solidFill>
                <a:latin typeface="Arial"/>
                <a:cs typeface="Arial"/>
              </a:rPr>
              <a:t>Contact </a:t>
            </a: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Your </a:t>
            </a:r>
            <a:r>
              <a:rPr sz="1000" b="1" spc="-25" dirty="0">
                <a:solidFill>
                  <a:srgbClr val="FFFFFF"/>
                </a:solidFill>
                <a:latin typeface="Arial"/>
                <a:cs typeface="Arial"/>
              </a:rPr>
              <a:t>Supervisor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52022" y="696592"/>
            <a:ext cx="721995" cy="30543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87630" marR="5080" indent="-75565">
              <a:lnSpc>
                <a:spcPts val="1000"/>
              </a:lnSpc>
              <a:spcBef>
                <a:spcPts val="3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Compliance </a:t>
            </a:r>
            <a:r>
              <a:rPr sz="1000" b="1" dirty="0">
                <a:solidFill>
                  <a:srgbClr val="FFFFFF"/>
                </a:solidFill>
                <a:latin typeface="Arial"/>
                <a:cs typeface="Arial"/>
              </a:rPr>
              <a:t>QR</a:t>
            </a:r>
            <a:r>
              <a:rPr sz="100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Code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02845" y="2533334"/>
            <a:ext cx="632460" cy="432434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 algn="ctr">
              <a:lnSpc>
                <a:spcPts val="1000"/>
              </a:lnSpc>
              <a:spcBef>
                <a:spcPts val="300"/>
              </a:spcBef>
            </a:pPr>
            <a:r>
              <a:rPr sz="1000" b="1" spc="-10" dirty="0">
                <a:solidFill>
                  <a:srgbClr val="FFFFFF"/>
                </a:solidFill>
                <a:latin typeface="Arial"/>
                <a:cs typeface="Arial"/>
              </a:rPr>
              <a:t>Contact Human </a:t>
            </a:r>
            <a:r>
              <a:rPr sz="1000" b="1" spc="-45" dirty="0">
                <a:solidFill>
                  <a:srgbClr val="FFFFFF"/>
                </a:solidFill>
                <a:latin typeface="Arial"/>
                <a:cs typeface="Arial"/>
              </a:rPr>
              <a:t>Resources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44051" y="3488114"/>
            <a:ext cx="731520" cy="432434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 algn="ctr">
              <a:lnSpc>
                <a:spcPts val="1000"/>
              </a:lnSpc>
              <a:spcBef>
                <a:spcPts val="300"/>
              </a:spcBef>
            </a:pPr>
            <a:r>
              <a:rPr sz="1000" b="1" dirty="0">
                <a:solidFill>
                  <a:srgbClr val="FFFFFF"/>
                </a:solidFill>
                <a:latin typeface="Arial"/>
                <a:cs typeface="Arial"/>
              </a:rPr>
              <a:t>Contact</a:t>
            </a:r>
            <a:r>
              <a:rPr sz="1000" b="1" spc="-25" dirty="0">
                <a:solidFill>
                  <a:srgbClr val="FFFFFF"/>
                </a:solidFill>
                <a:latin typeface="Arial"/>
                <a:cs typeface="Arial"/>
              </a:rPr>
              <a:t> the </a:t>
            </a: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Compliance </a:t>
            </a:r>
            <a:r>
              <a:rPr sz="1000" b="1" spc="-10" dirty="0">
                <a:solidFill>
                  <a:srgbClr val="FFFFFF"/>
                </a:solidFill>
                <a:latin typeface="Arial"/>
                <a:cs typeface="Arial"/>
              </a:rPr>
              <a:t>Office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014607" y="4411979"/>
            <a:ext cx="788670" cy="432434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 indent="4445" algn="ctr">
              <a:lnSpc>
                <a:spcPts val="1000"/>
              </a:lnSpc>
              <a:spcBef>
                <a:spcPts val="300"/>
              </a:spcBef>
            </a:pPr>
            <a:r>
              <a:rPr sz="1000" b="1" spc="-10" dirty="0">
                <a:solidFill>
                  <a:srgbClr val="FFFFFF"/>
                </a:solidFill>
                <a:latin typeface="Arial"/>
                <a:cs typeface="Arial"/>
              </a:rPr>
              <a:t>Report </a:t>
            </a:r>
            <a:r>
              <a:rPr sz="1000" b="1" spc="-65" dirty="0">
                <a:solidFill>
                  <a:srgbClr val="FFFFFF"/>
                </a:solidFill>
                <a:latin typeface="Arial"/>
                <a:cs typeface="Arial"/>
              </a:rPr>
              <a:t>Anonymously </a:t>
            </a:r>
            <a:r>
              <a:rPr sz="1000" b="1" dirty="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sz="100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Arial"/>
                <a:cs typeface="Arial"/>
              </a:rPr>
              <a:t>Phone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02189" y="5363624"/>
            <a:ext cx="788670" cy="432434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 indent="4445" algn="ctr">
              <a:lnSpc>
                <a:spcPts val="1000"/>
              </a:lnSpc>
              <a:spcBef>
                <a:spcPts val="300"/>
              </a:spcBef>
            </a:pPr>
            <a:r>
              <a:rPr sz="1000" b="1" spc="-10" dirty="0">
                <a:solidFill>
                  <a:srgbClr val="FFFFFF"/>
                </a:solidFill>
                <a:latin typeface="Arial"/>
                <a:cs typeface="Arial"/>
              </a:rPr>
              <a:t>Report </a:t>
            </a:r>
            <a:r>
              <a:rPr sz="1000" b="1" spc="-65" dirty="0">
                <a:solidFill>
                  <a:srgbClr val="FFFFFF"/>
                </a:solidFill>
                <a:latin typeface="Arial"/>
                <a:cs typeface="Arial"/>
              </a:rPr>
              <a:t>Anonymously </a:t>
            </a:r>
            <a:r>
              <a:rPr sz="1000" b="1" spc="-10" dirty="0">
                <a:solidFill>
                  <a:srgbClr val="FFFFFF"/>
                </a:solidFill>
                <a:latin typeface="Arial"/>
                <a:cs typeface="Arial"/>
              </a:rPr>
              <a:t>Online</a:t>
            </a:r>
            <a:endParaRPr sz="1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47906" y="6232892"/>
            <a:ext cx="726440" cy="55943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 indent="37465" algn="ctr">
              <a:lnSpc>
                <a:spcPts val="1000"/>
              </a:lnSpc>
              <a:spcBef>
                <a:spcPts val="300"/>
              </a:spcBef>
            </a:pPr>
            <a:r>
              <a:rPr sz="1000" b="1" spc="-10" dirty="0">
                <a:solidFill>
                  <a:srgbClr val="FFFFFF"/>
                </a:solidFill>
                <a:latin typeface="Arial"/>
                <a:cs typeface="Arial"/>
              </a:rPr>
              <a:t>Contact Privacy/ Information Security</a:t>
            </a:r>
            <a:endParaRPr sz="1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979923" y="1520341"/>
            <a:ext cx="42799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solidFill>
                  <a:srgbClr val="231F20"/>
                </a:solidFill>
                <a:latin typeface="Avenir Book"/>
                <a:cs typeface="Avenir Book"/>
              </a:rPr>
              <a:t>You</a:t>
            </a:r>
            <a:r>
              <a:rPr sz="100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are</a:t>
            </a:r>
            <a:r>
              <a:rPr sz="100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encouraged</a:t>
            </a:r>
            <a:r>
              <a:rPr sz="100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00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talk</a:t>
            </a:r>
            <a:r>
              <a:rPr sz="100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00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your</a:t>
            </a:r>
            <a:r>
              <a:rPr sz="100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supervisor</a:t>
            </a:r>
            <a:r>
              <a:rPr sz="100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about</a:t>
            </a:r>
            <a:r>
              <a:rPr sz="100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concerns</a:t>
            </a:r>
            <a:r>
              <a:rPr sz="100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00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Avenir Book"/>
                <a:cs typeface="Avenir Book"/>
              </a:rPr>
              <a:t>suspected violations.</a:t>
            </a:r>
            <a:endParaRPr sz="1000">
              <a:latin typeface="Avenir Book"/>
              <a:cs typeface="Avenir Book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822696" y="730299"/>
            <a:ext cx="30473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Scan</a:t>
            </a:r>
            <a:r>
              <a:rPr sz="100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this</a:t>
            </a:r>
            <a:r>
              <a:rPr sz="100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QR</a:t>
            </a:r>
            <a:r>
              <a:rPr sz="100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code</a:t>
            </a:r>
            <a:r>
              <a:rPr sz="100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00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conveniently</a:t>
            </a:r>
            <a:r>
              <a:rPr sz="100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report</a:t>
            </a:r>
            <a:r>
              <a:rPr sz="100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concerns</a:t>
            </a:r>
            <a:r>
              <a:rPr sz="100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25" dirty="0">
                <a:solidFill>
                  <a:srgbClr val="231F20"/>
                </a:solidFill>
                <a:latin typeface="Avenir Book"/>
                <a:cs typeface="Avenir Book"/>
              </a:rPr>
              <a:t>or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suspected </a:t>
            </a:r>
            <a:r>
              <a:rPr sz="1000" spc="-10" dirty="0">
                <a:solidFill>
                  <a:srgbClr val="231F20"/>
                </a:solidFill>
                <a:latin typeface="Avenir Book"/>
                <a:cs typeface="Avenir Book"/>
              </a:rPr>
              <a:t>violations.</a:t>
            </a:r>
            <a:endParaRPr sz="1000">
              <a:latin typeface="Avenir Book"/>
              <a:cs typeface="Avenir Book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948994" y="2201496"/>
            <a:ext cx="4759960" cy="755015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1000" b="1" spc="-10" dirty="0">
                <a:solidFill>
                  <a:srgbClr val="008BC0"/>
                </a:solidFill>
                <a:latin typeface="Arial"/>
                <a:cs typeface="Arial"/>
              </a:rPr>
              <a:t>Phone</a:t>
            </a:r>
            <a:r>
              <a:rPr sz="1000" b="1" spc="-30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lang="en-US" sz="1000" b="1" spc="-10" dirty="0">
                <a:solidFill>
                  <a:srgbClr val="231F20"/>
                </a:solidFill>
                <a:latin typeface="Arial"/>
                <a:cs typeface="Arial"/>
              </a:rPr>
              <a:t>480.977.3985</a:t>
            </a:r>
            <a:endParaRPr sz="10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470"/>
              </a:spcBef>
            </a:pP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If</a:t>
            </a:r>
            <a:r>
              <a:rPr sz="100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you</a:t>
            </a:r>
            <a:r>
              <a:rPr sz="100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cannot</a:t>
            </a:r>
            <a:r>
              <a:rPr sz="100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speak</a:t>
            </a:r>
            <a:r>
              <a:rPr sz="100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with</a:t>
            </a:r>
            <a:r>
              <a:rPr sz="100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your</a:t>
            </a:r>
            <a:r>
              <a:rPr sz="100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Avenir Book"/>
                <a:cs typeface="Avenir Book"/>
              </a:rPr>
              <a:t>supervisor,</a:t>
            </a:r>
            <a:r>
              <a:rPr sz="100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Human Resources</a:t>
            </a:r>
            <a:r>
              <a:rPr sz="100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may</a:t>
            </a:r>
            <a:r>
              <a:rPr sz="100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be</a:t>
            </a:r>
            <a:r>
              <a:rPr sz="100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an</a:t>
            </a:r>
            <a:r>
              <a:rPr sz="100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Avenir Book"/>
                <a:cs typeface="Avenir Book"/>
              </a:rPr>
              <a:t>additional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resource.</a:t>
            </a:r>
            <a:r>
              <a:rPr sz="100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Contact</a:t>
            </a:r>
            <a:r>
              <a:rPr sz="100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Human</a:t>
            </a:r>
            <a:r>
              <a:rPr sz="100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Resources</a:t>
            </a:r>
            <a:r>
              <a:rPr sz="100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if</a:t>
            </a:r>
            <a:r>
              <a:rPr sz="100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00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situation</a:t>
            </a:r>
            <a:r>
              <a:rPr sz="100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involves</a:t>
            </a:r>
            <a:r>
              <a:rPr sz="100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Avenir Book"/>
                <a:cs typeface="Avenir Book"/>
              </a:rPr>
              <a:t>inappropriate</a:t>
            </a:r>
            <a:r>
              <a:rPr sz="100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Avenir Book"/>
                <a:cs typeface="Avenir Book"/>
              </a:rPr>
              <a:t>behavior,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harassment,</a:t>
            </a:r>
            <a:r>
              <a:rPr sz="100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fair</a:t>
            </a:r>
            <a:r>
              <a:rPr sz="100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treatment,</a:t>
            </a:r>
            <a:r>
              <a:rPr sz="100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payroll</a:t>
            </a:r>
            <a:r>
              <a:rPr sz="100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00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disciplinary</a:t>
            </a:r>
            <a:r>
              <a:rPr sz="100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Avenir Book"/>
                <a:cs typeface="Avenir Book"/>
              </a:rPr>
              <a:t>issues.</a:t>
            </a:r>
            <a:endParaRPr sz="1000" dirty="0">
              <a:latin typeface="Avenir Book"/>
              <a:cs typeface="Avenir Book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48994" y="3265187"/>
            <a:ext cx="4711700" cy="695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008BC0"/>
                </a:solidFill>
                <a:latin typeface="Arial"/>
                <a:cs typeface="Arial"/>
              </a:rPr>
              <a:t>Phone</a:t>
            </a:r>
            <a:r>
              <a:rPr sz="1000" b="1" spc="-30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lang="en-US" sz="1000" b="1" spc="-10" dirty="0">
                <a:solidFill>
                  <a:srgbClr val="231F20"/>
                </a:solidFill>
                <a:latin typeface="Arial"/>
                <a:cs typeface="Arial"/>
              </a:rPr>
              <a:t>480.719.6305</a:t>
            </a:r>
            <a:endParaRPr sz="1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000" b="1" spc="-10" dirty="0">
                <a:solidFill>
                  <a:srgbClr val="008BC0"/>
                </a:solidFill>
                <a:latin typeface="Arial"/>
                <a:cs typeface="Arial"/>
              </a:rPr>
              <a:t>Email</a:t>
            </a:r>
            <a:r>
              <a:rPr sz="1000" b="1" spc="-45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sz="1000" b="1" spc="-10" dirty="0" err="1">
                <a:solidFill>
                  <a:srgbClr val="231F20"/>
                </a:solidFill>
                <a:latin typeface="Arial"/>
                <a:cs typeface="Arial"/>
                <a:hlinkClick r:id="rId3"/>
              </a:rPr>
              <a:t>Compliancer@</a:t>
            </a:r>
            <a:r>
              <a:rPr lang="en-US" sz="1000" b="1" spc="-10" dirty="0" err="1">
                <a:solidFill>
                  <a:srgbClr val="231F20"/>
                </a:solidFill>
                <a:latin typeface="Arial"/>
                <a:cs typeface="Arial"/>
                <a:hlinkClick r:id="rId3"/>
              </a:rPr>
              <a:t>destinysprings</a:t>
            </a:r>
            <a:r>
              <a:rPr sz="1000" b="1" spc="-10" dirty="0" err="1">
                <a:solidFill>
                  <a:srgbClr val="231F20"/>
                </a:solidFill>
                <a:latin typeface="Arial"/>
                <a:cs typeface="Arial"/>
                <a:hlinkClick r:id="rId3"/>
              </a:rPr>
              <a:t>.</a:t>
            </a:r>
            <a:r>
              <a:rPr lang="en-US" sz="1000" b="1" spc="-10" dirty="0" err="1">
                <a:solidFill>
                  <a:srgbClr val="231F20"/>
                </a:solidFill>
                <a:latin typeface="Arial"/>
                <a:cs typeface="Arial"/>
                <a:hlinkClick r:id="rId3"/>
              </a:rPr>
              <a:t>com</a:t>
            </a:r>
            <a:endParaRPr sz="10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470"/>
              </a:spcBef>
            </a:pPr>
            <a:r>
              <a:rPr sz="1000" spc="-30" dirty="0">
                <a:solidFill>
                  <a:srgbClr val="231F20"/>
                </a:solidFill>
                <a:latin typeface="Avenir Book"/>
                <a:cs typeface="Avenir Book"/>
              </a:rPr>
              <a:t>Contact</a:t>
            </a:r>
            <a:r>
              <a:rPr sz="1000" spc="-20" dirty="0">
                <a:solidFill>
                  <a:srgbClr val="231F20"/>
                </a:solidFill>
                <a:latin typeface="Avenir Book"/>
                <a:cs typeface="Avenir Book"/>
              </a:rPr>
              <a:t> the</a:t>
            </a:r>
            <a:r>
              <a:rPr sz="100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30" dirty="0">
                <a:solidFill>
                  <a:srgbClr val="231F20"/>
                </a:solidFill>
                <a:latin typeface="Avenir Book"/>
                <a:cs typeface="Avenir Book"/>
              </a:rPr>
              <a:t>Compliance</a:t>
            </a:r>
            <a:r>
              <a:rPr sz="100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35" dirty="0">
                <a:solidFill>
                  <a:srgbClr val="231F20"/>
                </a:solidFill>
                <a:latin typeface="Avenir Book"/>
                <a:cs typeface="Avenir Book"/>
              </a:rPr>
              <a:t>department</a:t>
            </a:r>
            <a:r>
              <a:rPr sz="100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20" dirty="0">
                <a:solidFill>
                  <a:srgbClr val="231F20"/>
                </a:solidFill>
                <a:latin typeface="Avenir Book"/>
                <a:cs typeface="Avenir Book"/>
              </a:rPr>
              <a:t>if</a:t>
            </a:r>
            <a:r>
              <a:rPr sz="100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2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00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30" dirty="0">
                <a:solidFill>
                  <a:srgbClr val="231F20"/>
                </a:solidFill>
                <a:latin typeface="Avenir Book"/>
                <a:cs typeface="Avenir Book"/>
              </a:rPr>
              <a:t>situation</a:t>
            </a:r>
            <a:r>
              <a:rPr sz="100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25" dirty="0">
                <a:solidFill>
                  <a:srgbClr val="231F20"/>
                </a:solidFill>
                <a:latin typeface="Avenir Book"/>
                <a:cs typeface="Avenir Book"/>
              </a:rPr>
              <a:t>involves</a:t>
            </a:r>
            <a:r>
              <a:rPr sz="100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30" dirty="0">
                <a:solidFill>
                  <a:srgbClr val="231F20"/>
                </a:solidFill>
                <a:latin typeface="Avenir Book"/>
                <a:cs typeface="Avenir Book"/>
              </a:rPr>
              <a:t>privacy</a:t>
            </a:r>
            <a:r>
              <a:rPr sz="100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25" dirty="0">
                <a:solidFill>
                  <a:srgbClr val="231F20"/>
                </a:solidFill>
                <a:latin typeface="Avenir Book"/>
                <a:cs typeface="Avenir Book"/>
              </a:rPr>
              <a:t>issues,</a:t>
            </a:r>
            <a:r>
              <a:rPr sz="100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30" dirty="0">
                <a:solidFill>
                  <a:srgbClr val="231F20"/>
                </a:solidFill>
                <a:latin typeface="Avenir Book"/>
                <a:cs typeface="Avenir Book"/>
              </a:rPr>
              <a:t>patient</a:t>
            </a:r>
            <a:r>
              <a:rPr sz="100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20" dirty="0">
                <a:solidFill>
                  <a:srgbClr val="231F20"/>
                </a:solidFill>
                <a:latin typeface="Avenir Book"/>
                <a:cs typeface="Avenir Book"/>
              </a:rPr>
              <a:t>care </a:t>
            </a:r>
            <a:r>
              <a:rPr sz="1000" spc="-25" dirty="0">
                <a:solidFill>
                  <a:srgbClr val="231F20"/>
                </a:solidFill>
                <a:latin typeface="Avenir Book"/>
                <a:cs typeface="Avenir Book"/>
              </a:rPr>
              <a:t>concerns, </a:t>
            </a:r>
            <a:r>
              <a:rPr sz="1000" spc="-30" dirty="0">
                <a:solidFill>
                  <a:srgbClr val="231F20"/>
                </a:solidFill>
                <a:latin typeface="Avenir Book"/>
                <a:cs typeface="Avenir Book"/>
              </a:rPr>
              <a:t>fraud,</a:t>
            </a:r>
            <a:r>
              <a:rPr sz="100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25" dirty="0">
                <a:solidFill>
                  <a:srgbClr val="231F20"/>
                </a:solidFill>
                <a:latin typeface="Avenir Book"/>
                <a:cs typeface="Avenir Book"/>
              </a:rPr>
              <a:t>billing concerns</a:t>
            </a:r>
            <a:r>
              <a:rPr sz="100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00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30" dirty="0">
                <a:solidFill>
                  <a:srgbClr val="231F20"/>
                </a:solidFill>
                <a:latin typeface="Avenir Book"/>
                <a:cs typeface="Avenir Book"/>
              </a:rPr>
              <a:t>conflicts</a:t>
            </a:r>
            <a:r>
              <a:rPr sz="100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00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Avenir Book"/>
                <a:cs typeface="Avenir Book"/>
              </a:rPr>
              <a:t>interest.</a:t>
            </a:r>
            <a:endParaRPr sz="1000" dirty="0">
              <a:latin typeface="Avenir Book"/>
              <a:cs typeface="Avenir Book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948994" y="4069470"/>
            <a:ext cx="5109406" cy="3390928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1000" b="1" spc="-20" dirty="0">
                <a:solidFill>
                  <a:srgbClr val="008BC0"/>
                </a:solidFill>
                <a:latin typeface="Arial"/>
                <a:cs typeface="Arial"/>
              </a:rPr>
              <a:t>Values</a:t>
            </a:r>
            <a:r>
              <a:rPr sz="1000" b="1" spc="-35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sz="1000" b="1" spc="-20" dirty="0">
                <a:solidFill>
                  <a:srgbClr val="008BC0"/>
                </a:solidFill>
                <a:latin typeface="Arial"/>
                <a:cs typeface="Arial"/>
              </a:rPr>
              <a:t>Line</a:t>
            </a:r>
            <a:r>
              <a:rPr sz="1000" b="1" spc="-30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lang="en-US" sz="1000" b="1" spc="-10" dirty="0">
                <a:solidFill>
                  <a:srgbClr val="231F20"/>
                </a:solidFill>
                <a:latin typeface="Arial"/>
                <a:cs typeface="Arial"/>
              </a:rPr>
              <a:t>833.290.0001</a:t>
            </a:r>
            <a:endParaRPr sz="1000" dirty="0">
              <a:latin typeface="Arial"/>
              <a:cs typeface="Arial"/>
            </a:endParaRPr>
          </a:p>
          <a:p>
            <a:pPr marL="12700" marR="160655">
              <a:lnSpc>
                <a:spcPct val="100000"/>
              </a:lnSpc>
              <a:spcBef>
                <a:spcPts val="470"/>
              </a:spcBef>
            </a:pPr>
            <a:r>
              <a:rPr sz="1000" spc="-20" dirty="0">
                <a:solidFill>
                  <a:srgbClr val="231F20"/>
                </a:solidFill>
                <a:latin typeface="Avenir Book"/>
                <a:cs typeface="Avenir Book"/>
              </a:rPr>
              <a:t>This</a:t>
            </a:r>
            <a:r>
              <a:rPr sz="100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20" dirty="0">
                <a:solidFill>
                  <a:srgbClr val="231F20"/>
                </a:solidFill>
                <a:latin typeface="Avenir Book"/>
                <a:cs typeface="Avenir Book"/>
              </a:rPr>
              <a:t>line</a:t>
            </a:r>
            <a:r>
              <a:rPr sz="100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Avenir Book"/>
                <a:cs typeface="Avenir Book"/>
              </a:rPr>
              <a:t>is</a:t>
            </a:r>
            <a:r>
              <a:rPr sz="100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20" dirty="0">
                <a:solidFill>
                  <a:srgbClr val="231F20"/>
                </a:solidFill>
                <a:latin typeface="Avenir Book"/>
                <a:cs typeface="Avenir Book"/>
              </a:rPr>
              <a:t>not</a:t>
            </a:r>
            <a:r>
              <a:rPr sz="100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25" dirty="0">
                <a:solidFill>
                  <a:srgbClr val="231F20"/>
                </a:solidFill>
                <a:latin typeface="Avenir Book"/>
                <a:cs typeface="Avenir Book"/>
              </a:rPr>
              <a:t>intended</a:t>
            </a:r>
            <a:r>
              <a:rPr sz="100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00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30" dirty="0">
                <a:solidFill>
                  <a:srgbClr val="231F20"/>
                </a:solidFill>
                <a:latin typeface="Avenir Book"/>
                <a:cs typeface="Avenir Book"/>
              </a:rPr>
              <a:t>replace</a:t>
            </a:r>
            <a:r>
              <a:rPr sz="100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20" dirty="0">
                <a:solidFill>
                  <a:srgbClr val="231F20"/>
                </a:solidFill>
                <a:latin typeface="Avenir Book"/>
                <a:cs typeface="Avenir Book"/>
              </a:rPr>
              <a:t>your</a:t>
            </a:r>
            <a:r>
              <a:rPr sz="100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25" dirty="0">
                <a:solidFill>
                  <a:srgbClr val="231F20"/>
                </a:solidFill>
                <a:latin typeface="Avenir Book"/>
                <a:cs typeface="Avenir Book"/>
              </a:rPr>
              <a:t>normal</a:t>
            </a:r>
            <a:r>
              <a:rPr sz="100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30" dirty="0">
                <a:solidFill>
                  <a:srgbClr val="231F20"/>
                </a:solidFill>
                <a:latin typeface="Avenir Book"/>
                <a:cs typeface="Avenir Book"/>
              </a:rPr>
              <a:t>reporting</a:t>
            </a:r>
            <a:r>
              <a:rPr sz="100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30" dirty="0">
                <a:solidFill>
                  <a:srgbClr val="231F20"/>
                </a:solidFill>
                <a:latin typeface="Avenir Book"/>
                <a:cs typeface="Avenir Book"/>
              </a:rPr>
              <a:t>process,</a:t>
            </a:r>
            <a:r>
              <a:rPr sz="100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25" dirty="0">
                <a:solidFill>
                  <a:srgbClr val="231F20"/>
                </a:solidFill>
                <a:latin typeface="Avenir Book"/>
                <a:cs typeface="Avenir Book"/>
              </a:rPr>
              <a:t>but</a:t>
            </a:r>
            <a:r>
              <a:rPr sz="100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20" dirty="0">
                <a:solidFill>
                  <a:srgbClr val="231F20"/>
                </a:solidFill>
                <a:latin typeface="Avenir Book"/>
                <a:cs typeface="Avenir Book"/>
              </a:rPr>
              <a:t>it</a:t>
            </a:r>
            <a:r>
              <a:rPr sz="100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Avenir Book"/>
                <a:cs typeface="Avenir Book"/>
              </a:rPr>
              <a:t>is</a:t>
            </a:r>
            <a:r>
              <a:rPr sz="100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Avenir Book"/>
                <a:cs typeface="Avenir Book"/>
              </a:rPr>
              <a:t>another </a:t>
            </a:r>
            <a:r>
              <a:rPr sz="1000" spc="-35" dirty="0">
                <a:solidFill>
                  <a:srgbClr val="231F20"/>
                </a:solidFill>
                <a:latin typeface="Avenir Book"/>
                <a:cs typeface="Avenir Book"/>
              </a:rPr>
              <a:t>resource</a:t>
            </a:r>
            <a:r>
              <a:rPr sz="1000" spc="-30" dirty="0">
                <a:solidFill>
                  <a:srgbClr val="231F20"/>
                </a:solidFill>
                <a:latin typeface="Avenir Book"/>
                <a:cs typeface="Avenir Book"/>
              </a:rPr>
              <a:t> available </a:t>
            </a:r>
            <a:r>
              <a:rPr sz="1000" spc="-1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00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20" dirty="0">
                <a:solidFill>
                  <a:srgbClr val="231F20"/>
                </a:solidFill>
                <a:latin typeface="Avenir Book"/>
                <a:cs typeface="Avenir Book"/>
              </a:rPr>
              <a:t>you.</a:t>
            </a:r>
            <a:r>
              <a:rPr sz="100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2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00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35" dirty="0">
                <a:solidFill>
                  <a:srgbClr val="231F20"/>
                </a:solidFill>
                <a:latin typeface="Avenir Book"/>
                <a:cs typeface="Avenir Book"/>
              </a:rPr>
              <a:t>Values</a:t>
            </a:r>
            <a:r>
              <a:rPr sz="100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20" dirty="0">
                <a:solidFill>
                  <a:srgbClr val="231F20"/>
                </a:solidFill>
                <a:latin typeface="Avenir Book"/>
                <a:cs typeface="Avenir Book"/>
              </a:rPr>
              <a:t>Line</a:t>
            </a:r>
            <a:r>
              <a:rPr sz="100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Avenir Book"/>
                <a:cs typeface="Avenir Book"/>
              </a:rPr>
              <a:t>is</a:t>
            </a:r>
            <a:r>
              <a:rPr sz="100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30" dirty="0">
                <a:solidFill>
                  <a:srgbClr val="231F20"/>
                </a:solidFill>
                <a:latin typeface="Avenir Book"/>
                <a:cs typeface="Avenir Book"/>
              </a:rPr>
              <a:t>staffed </a:t>
            </a:r>
            <a:r>
              <a:rPr sz="1000" spc="-20" dirty="0">
                <a:solidFill>
                  <a:srgbClr val="231F20"/>
                </a:solidFill>
                <a:latin typeface="Avenir Book"/>
                <a:cs typeface="Avenir Book"/>
              </a:rPr>
              <a:t>by</a:t>
            </a:r>
            <a:r>
              <a:rPr sz="100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Avenir Book"/>
                <a:cs typeface="Avenir Book"/>
              </a:rPr>
              <a:t>an</a:t>
            </a:r>
            <a:r>
              <a:rPr sz="1000" spc="-30" dirty="0">
                <a:solidFill>
                  <a:srgbClr val="231F20"/>
                </a:solidFill>
                <a:latin typeface="Avenir Book"/>
                <a:cs typeface="Avenir Book"/>
              </a:rPr>
              <a:t> independent</a:t>
            </a:r>
            <a:r>
              <a:rPr sz="100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45" dirty="0">
                <a:solidFill>
                  <a:srgbClr val="231F20"/>
                </a:solidFill>
                <a:latin typeface="Avenir Book"/>
                <a:cs typeface="Avenir Book"/>
              </a:rPr>
              <a:t>company</a:t>
            </a:r>
            <a:r>
              <a:rPr lang="en-US" sz="1000" spc="-45" dirty="0">
                <a:solidFill>
                  <a:srgbClr val="231F20"/>
                </a:solidFill>
                <a:latin typeface="Avenir Book"/>
                <a:cs typeface="Avenir Book"/>
              </a:rPr>
              <a:t> (</a:t>
            </a:r>
            <a:r>
              <a:rPr lang="en-US" sz="1000" spc="-45" dirty="0" err="1">
                <a:solidFill>
                  <a:srgbClr val="231F20"/>
                </a:solidFill>
                <a:latin typeface="Avenir Book"/>
                <a:cs typeface="Avenir Book"/>
              </a:rPr>
              <a:t>Syntrio</a:t>
            </a:r>
            <a:r>
              <a:rPr lang="en-US" sz="1000" spc="-45" dirty="0">
                <a:solidFill>
                  <a:srgbClr val="231F20"/>
                </a:solidFill>
                <a:latin typeface="Avenir Book"/>
                <a:cs typeface="Avenir Book"/>
              </a:rPr>
              <a:t>).</a:t>
            </a:r>
            <a:r>
              <a:rPr sz="100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Avenir Book"/>
                <a:cs typeface="Avenir Book"/>
              </a:rPr>
              <a:t>Calls </a:t>
            </a:r>
            <a:r>
              <a:rPr sz="1000" spc="-30" dirty="0">
                <a:solidFill>
                  <a:srgbClr val="231F20"/>
                </a:solidFill>
                <a:latin typeface="Avenir Book"/>
                <a:cs typeface="Avenir Book"/>
              </a:rPr>
              <a:t>are</a:t>
            </a:r>
            <a:r>
              <a:rPr sz="100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20" dirty="0">
                <a:solidFill>
                  <a:srgbClr val="231F20"/>
                </a:solidFill>
                <a:latin typeface="Avenir Book"/>
                <a:cs typeface="Avenir Book"/>
              </a:rPr>
              <a:t>not</a:t>
            </a:r>
            <a:r>
              <a:rPr sz="100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30" dirty="0">
                <a:solidFill>
                  <a:srgbClr val="231F20"/>
                </a:solidFill>
                <a:latin typeface="Avenir Book"/>
                <a:cs typeface="Avenir Book"/>
              </a:rPr>
              <a:t>traced</a:t>
            </a:r>
            <a:r>
              <a:rPr sz="100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00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35" dirty="0">
                <a:solidFill>
                  <a:srgbClr val="231F20"/>
                </a:solidFill>
                <a:latin typeface="Avenir Book"/>
                <a:cs typeface="Avenir Book"/>
              </a:rPr>
              <a:t>recorded, </a:t>
            </a:r>
            <a:r>
              <a:rPr sz="1000" spc="-25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000" spc="-35" dirty="0">
                <a:solidFill>
                  <a:srgbClr val="231F20"/>
                </a:solidFill>
                <a:latin typeface="Avenir Book"/>
                <a:cs typeface="Avenir Book"/>
              </a:rPr>
              <a:t> anonymity </a:t>
            </a:r>
            <a:r>
              <a:rPr sz="1000" spc="-10" dirty="0">
                <a:solidFill>
                  <a:srgbClr val="231F20"/>
                </a:solidFill>
                <a:latin typeface="Avenir Book"/>
                <a:cs typeface="Avenir Book"/>
              </a:rPr>
              <a:t>is</a:t>
            </a:r>
            <a:r>
              <a:rPr sz="100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35" dirty="0">
                <a:solidFill>
                  <a:srgbClr val="231F20"/>
                </a:solidFill>
                <a:latin typeface="Avenir Book"/>
                <a:cs typeface="Avenir Book"/>
              </a:rPr>
              <a:t>protected </a:t>
            </a:r>
            <a:r>
              <a:rPr sz="1000" spc="-10" dirty="0">
                <a:solidFill>
                  <a:srgbClr val="231F20"/>
                </a:solidFill>
                <a:latin typeface="Avenir Book"/>
                <a:cs typeface="Avenir Book"/>
              </a:rPr>
              <a:t>up</a:t>
            </a:r>
            <a:r>
              <a:rPr sz="100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00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2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00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25" dirty="0">
                <a:solidFill>
                  <a:srgbClr val="231F20"/>
                </a:solidFill>
                <a:latin typeface="Avenir Book"/>
                <a:cs typeface="Avenir Book"/>
              </a:rPr>
              <a:t>limits</a:t>
            </a:r>
            <a:r>
              <a:rPr sz="100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00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2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00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25" dirty="0">
                <a:solidFill>
                  <a:srgbClr val="231F20"/>
                </a:solidFill>
                <a:latin typeface="Avenir Book"/>
                <a:cs typeface="Avenir Book"/>
              </a:rPr>
              <a:t>law</a:t>
            </a:r>
            <a:r>
              <a:rPr sz="100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25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00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25" dirty="0">
                <a:solidFill>
                  <a:srgbClr val="231F20"/>
                </a:solidFill>
                <a:latin typeface="Avenir Book"/>
                <a:cs typeface="Avenir Book"/>
              </a:rPr>
              <a:t>to </a:t>
            </a:r>
            <a:r>
              <a:rPr sz="1000" spc="-2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00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25" dirty="0">
                <a:solidFill>
                  <a:srgbClr val="231F20"/>
                </a:solidFill>
                <a:latin typeface="Avenir Book"/>
                <a:cs typeface="Avenir Book"/>
              </a:rPr>
              <a:t>extent</a:t>
            </a:r>
            <a:r>
              <a:rPr sz="100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Avenir Book"/>
                <a:cs typeface="Avenir Book"/>
              </a:rPr>
              <a:t>possible.</a:t>
            </a:r>
            <a:endParaRPr sz="1000" dirty="0">
              <a:latin typeface="Avenir Book"/>
              <a:cs typeface="Avenir Book"/>
            </a:endParaRPr>
          </a:p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sz="1000" b="1" dirty="0">
                <a:solidFill>
                  <a:srgbClr val="008BC0"/>
                </a:solidFill>
                <a:latin typeface="Arial"/>
                <a:cs typeface="Arial"/>
              </a:rPr>
              <a:t>Visit</a:t>
            </a:r>
            <a:r>
              <a:rPr lang="en-US" sz="1000" b="1" spc="5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lang="en-US" sz="1000" b="1" spc="-10" dirty="0">
                <a:solidFill>
                  <a:srgbClr val="231F20"/>
                </a:solidFill>
                <a:latin typeface="Arial"/>
                <a:cs typeface="Arial"/>
              </a:rPr>
              <a:t> http://</a:t>
            </a:r>
            <a:r>
              <a:rPr lang="en-US" sz="1000" b="1" spc="-10" dirty="0" err="1">
                <a:solidFill>
                  <a:srgbClr val="231F20"/>
                </a:solidFill>
                <a:latin typeface="Arial"/>
                <a:cs typeface="Arial"/>
              </a:rPr>
              <a:t>report.syntrio.com</a:t>
            </a:r>
            <a:r>
              <a:rPr lang="en-US" sz="1000" b="1" spc="-10" dirty="0">
                <a:solidFill>
                  <a:srgbClr val="231F20"/>
                </a:solidFill>
                <a:latin typeface="Arial"/>
                <a:cs typeface="Arial"/>
              </a:rPr>
              <a:t>/</a:t>
            </a:r>
            <a:r>
              <a:rPr lang="en-US" sz="1000" b="1" spc="-10" dirty="0" err="1">
                <a:solidFill>
                  <a:srgbClr val="231F20"/>
                </a:solidFill>
                <a:latin typeface="Arial"/>
                <a:cs typeface="Arial"/>
              </a:rPr>
              <a:t>destinysprings</a:t>
            </a:r>
            <a:endParaRPr sz="1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This</a:t>
            </a:r>
            <a:r>
              <a:rPr sz="100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website</a:t>
            </a:r>
            <a:r>
              <a:rPr sz="100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allows</a:t>
            </a:r>
            <a:r>
              <a:rPr sz="100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you</a:t>
            </a:r>
            <a:r>
              <a:rPr sz="100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to report</a:t>
            </a:r>
            <a:r>
              <a:rPr sz="100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your</a:t>
            </a:r>
            <a:r>
              <a:rPr sz="100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concern</a:t>
            </a:r>
            <a:r>
              <a:rPr sz="100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Avenir Book"/>
                <a:cs typeface="Avenir Book"/>
              </a:rPr>
              <a:t>confidentially.</a:t>
            </a:r>
            <a:endParaRPr sz="1000" dirty="0">
              <a:latin typeface="Avenir Book"/>
              <a:cs typeface="Avenir Book"/>
            </a:endParaRPr>
          </a:p>
          <a:p>
            <a:pPr marL="12700" marR="245110">
              <a:lnSpc>
                <a:spcPct val="100000"/>
              </a:lnSpc>
            </a:pP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When</a:t>
            </a:r>
            <a:r>
              <a:rPr sz="100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submitting</a:t>
            </a:r>
            <a:r>
              <a:rPr sz="100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a</a:t>
            </a:r>
            <a:r>
              <a:rPr sz="100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report</a:t>
            </a:r>
            <a:r>
              <a:rPr sz="100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online,</a:t>
            </a:r>
            <a:r>
              <a:rPr sz="100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you</a:t>
            </a:r>
            <a:r>
              <a:rPr sz="100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may</a:t>
            </a:r>
            <a:r>
              <a:rPr sz="100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remain</a:t>
            </a:r>
            <a:r>
              <a:rPr sz="100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anonymous</a:t>
            </a:r>
            <a:r>
              <a:rPr sz="100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00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identify</a:t>
            </a:r>
            <a:r>
              <a:rPr sz="1000" spc="-10" dirty="0">
                <a:solidFill>
                  <a:srgbClr val="231F20"/>
                </a:solidFill>
                <a:latin typeface="Avenir Book"/>
                <a:cs typeface="Avenir Book"/>
              </a:rPr>
              <a:t> yourself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00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be</a:t>
            </a:r>
            <a:r>
              <a:rPr sz="100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contacted</a:t>
            </a:r>
            <a:r>
              <a:rPr sz="100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directly</a:t>
            </a:r>
            <a:r>
              <a:rPr sz="100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by</a:t>
            </a:r>
            <a:r>
              <a:rPr sz="100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lang="en-US" sz="1000" dirty="0">
                <a:solidFill>
                  <a:srgbClr val="231F20"/>
                </a:solidFill>
                <a:latin typeface="Avenir Book"/>
                <a:cs typeface="Avenir Book"/>
              </a:rPr>
              <a:t>Destiny Springs</a:t>
            </a:r>
            <a:r>
              <a:rPr sz="1000" spc="-10" dirty="0">
                <a:solidFill>
                  <a:srgbClr val="231F20"/>
                </a:solidFill>
                <a:latin typeface="Avenir Book"/>
                <a:cs typeface="Avenir Book"/>
              </a:rPr>
              <a:t>’s</a:t>
            </a:r>
            <a:r>
              <a:rPr sz="100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Compliance</a:t>
            </a:r>
            <a:r>
              <a:rPr sz="100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department</a:t>
            </a:r>
            <a:r>
              <a:rPr sz="100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if</a:t>
            </a:r>
            <a:r>
              <a:rPr sz="100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Avenir Book"/>
                <a:cs typeface="Avenir Book"/>
              </a:rPr>
              <a:t>additional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details</a:t>
            </a:r>
            <a:r>
              <a:rPr sz="100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are</a:t>
            </a:r>
            <a:r>
              <a:rPr sz="100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Avenir Book"/>
                <a:cs typeface="Avenir Book"/>
              </a:rPr>
              <a:t>needed.</a:t>
            </a:r>
            <a:endParaRPr sz="1000" dirty="0">
              <a:latin typeface="Avenir Book"/>
              <a:cs typeface="Avenir Book"/>
            </a:endParaRPr>
          </a:p>
          <a:p>
            <a:pPr marL="12700" marR="1139190">
              <a:lnSpc>
                <a:spcPct val="122500"/>
              </a:lnSpc>
              <a:spcBef>
                <a:spcPts val="885"/>
              </a:spcBef>
            </a:pPr>
            <a:r>
              <a:rPr sz="1000" b="1" spc="-40" dirty="0">
                <a:solidFill>
                  <a:srgbClr val="008BC0"/>
                </a:solidFill>
                <a:latin typeface="Arial"/>
                <a:cs typeface="Arial"/>
              </a:rPr>
              <a:t>Privacy</a:t>
            </a:r>
            <a:r>
              <a:rPr lang="en-US" sz="1000" b="1" spc="15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lang="en-US" sz="1000" b="1" dirty="0">
                <a:solidFill>
                  <a:srgbClr val="231F20"/>
                </a:solidFill>
                <a:latin typeface="Arial"/>
                <a:cs typeface="Arial"/>
              </a:rPr>
              <a:t>623.207.9343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or</a:t>
            </a:r>
            <a:r>
              <a:rPr sz="1000" b="1" spc="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10" dirty="0" err="1">
                <a:solidFill>
                  <a:srgbClr val="231F20"/>
                </a:solidFill>
                <a:latin typeface="Arial"/>
                <a:cs typeface="Arial"/>
                <a:hlinkClick r:id="rId4"/>
              </a:rPr>
              <a:t>PrivacyOffice</a:t>
            </a:r>
            <a:r>
              <a:rPr lang="en-US" sz="1000" b="1" spc="-10" dirty="0" err="1">
                <a:solidFill>
                  <a:srgbClr val="231F20"/>
                </a:solidFill>
                <a:latin typeface="Arial"/>
                <a:cs typeface="Arial"/>
                <a:hlinkClick r:id="rId4"/>
              </a:rPr>
              <a:t>r</a:t>
            </a:r>
            <a:r>
              <a:rPr sz="1000" b="1" spc="-10" dirty="0" err="1">
                <a:solidFill>
                  <a:srgbClr val="231F20"/>
                </a:solidFill>
                <a:latin typeface="Arial"/>
                <a:cs typeface="Arial"/>
                <a:hlinkClick r:id="rId4"/>
              </a:rPr>
              <a:t>@</a:t>
            </a:r>
            <a:r>
              <a:rPr lang="en-US" sz="1000" b="1" spc="-10" dirty="0" err="1">
                <a:solidFill>
                  <a:srgbClr val="231F20"/>
                </a:solidFill>
                <a:latin typeface="Arial"/>
                <a:cs typeface="Arial"/>
                <a:hlinkClick r:id="rId4"/>
              </a:rPr>
              <a:t>destinysprings</a:t>
            </a:r>
            <a:r>
              <a:rPr sz="1000" b="1" spc="-10" dirty="0" err="1">
                <a:solidFill>
                  <a:srgbClr val="231F20"/>
                </a:solidFill>
                <a:latin typeface="Arial"/>
                <a:cs typeface="Arial"/>
                <a:hlinkClick r:id="rId4"/>
              </a:rPr>
              <a:t>.</a:t>
            </a:r>
            <a:r>
              <a:rPr lang="en-US" sz="1000" b="1" spc="-10" dirty="0" err="1">
                <a:solidFill>
                  <a:srgbClr val="231F20"/>
                </a:solidFill>
                <a:latin typeface="Arial"/>
                <a:cs typeface="Arial"/>
                <a:hlinkClick r:id="rId4"/>
              </a:rPr>
              <a:t>com</a:t>
            </a:r>
            <a:r>
              <a:rPr sz="1000" b="1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35" dirty="0">
                <a:solidFill>
                  <a:srgbClr val="008BC0"/>
                </a:solidFill>
                <a:latin typeface="Arial"/>
                <a:cs typeface="Arial"/>
              </a:rPr>
              <a:t>Information</a:t>
            </a:r>
            <a:r>
              <a:rPr sz="1000" b="1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sz="1000" b="1" spc="-45" dirty="0">
                <a:solidFill>
                  <a:srgbClr val="008BC0"/>
                </a:solidFill>
                <a:latin typeface="Arial"/>
                <a:cs typeface="Arial"/>
              </a:rPr>
              <a:t>Security</a:t>
            </a:r>
            <a:r>
              <a:rPr sz="1000" b="1" spc="5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lang="en-US" sz="1000" b="1" dirty="0">
                <a:solidFill>
                  <a:srgbClr val="231F20"/>
                </a:solidFill>
                <a:latin typeface="Arial"/>
                <a:cs typeface="Arial"/>
              </a:rPr>
              <a:t>602.714.7729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or</a:t>
            </a:r>
            <a:r>
              <a:rPr sz="100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45" dirty="0" err="1">
                <a:solidFill>
                  <a:srgbClr val="231F20"/>
                </a:solidFill>
                <a:latin typeface="Arial"/>
                <a:cs typeface="Arial"/>
                <a:hlinkClick r:id="rId5"/>
              </a:rPr>
              <a:t>InfoSec@</a:t>
            </a:r>
            <a:r>
              <a:rPr lang="en-US" sz="1000" b="1" spc="-45" dirty="0" err="1">
                <a:solidFill>
                  <a:srgbClr val="231F20"/>
                </a:solidFill>
                <a:latin typeface="Arial"/>
                <a:cs typeface="Arial"/>
                <a:hlinkClick r:id="rId5"/>
              </a:rPr>
              <a:t>Destinysprings</a:t>
            </a:r>
            <a:r>
              <a:rPr sz="1000" b="1" spc="-45" dirty="0" err="1">
                <a:solidFill>
                  <a:srgbClr val="231F20"/>
                </a:solidFill>
                <a:latin typeface="Arial"/>
                <a:cs typeface="Arial"/>
                <a:hlinkClick r:id="rId5"/>
              </a:rPr>
              <a:t>.</a:t>
            </a:r>
            <a:r>
              <a:rPr lang="en-US" sz="1000" b="1" spc="-45" dirty="0" err="1">
                <a:solidFill>
                  <a:srgbClr val="231F20"/>
                </a:solidFill>
                <a:latin typeface="Arial"/>
                <a:cs typeface="Arial"/>
                <a:hlinkClick r:id="rId5"/>
              </a:rPr>
              <a:t>com</a:t>
            </a:r>
            <a:endParaRPr sz="1000" dirty="0">
              <a:latin typeface="Arial"/>
              <a:cs typeface="Arial"/>
            </a:endParaRPr>
          </a:p>
          <a:p>
            <a:pPr marL="12700" marR="66040">
              <a:lnSpc>
                <a:spcPct val="100000"/>
              </a:lnSpc>
              <a:spcBef>
                <a:spcPts val="470"/>
              </a:spcBef>
            </a:pPr>
            <a:r>
              <a:rPr sz="1000" spc="-30" dirty="0">
                <a:solidFill>
                  <a:srgbClr val="231F20"/>
                </a:solidFill>
                <a:latin typeface="Avenir Book"/>
                <a:cs typeface="Avenir Book"/>
              </a:rPr>
              <a:t>Contact</a:t>
            </a:r>
            <a:r>
              <a:rPr sz="1000" spc="-20" dirty="0">
                <a:solidFill>
                  <a:srgbClr val="231F20"/>
                </a:solidFill>
                <a:latin typeface="Avenir Book"/>
                <a:cs typeface="Avenir Book"/>
              </a:rPr>
              <a:t> the</a:t>
            </a:r>
            <a:r>
              <a:rPr sz="100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30" dirty="0">
                <a:solidFill>
                  <a:srgbClr val="231F20"/>
                </a:solidFill>
                <a:latin typeface="Avenir Book"/>
                <a:cs typeface="Avenir Book"/>
              </a:rPr>
              <a:t>Privacy</a:t>
            </a:r>
            <a:r>
              <a:rPr sz="100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25" dirty="0">
                <a:solidFill>
                  <a:srgbClr val="231F20"/>
                </a:solidFill>
                <a:latin typeface="Avenir Book"/>
                <a:cs typeface="Avenir Book"/>
              </a:rPr>
              <a:t>Office</a:t>
            </a:r>
            <a:r>
              <a:rPr sz="100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20" dirty="0">
                <a:solidFill>
                  <a:srgbClr val="231F20"/>
                </a:solidFill>
                <a:latin typeface="Avenir Book"/>
                <a:cs typeface="Avenir Book"/>
              </a:rPr>
              <a:t>if the</a:t>
            </a:r>
            <a:r>
              <a:rPr sz="100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30" dirty="0">
                <a:solidFill>
                  <a:srgbClr val="231F20"/>
                </a:solidFill>
                <a:latin typeface="Avenir Book"/>
                <a:cs typeface="Avenir Book"/>
              </a:rPr>
              <a:t>situation</a:t>
            </a:r>
            <a:r>
              <a:rPr sz="100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25" dirty="0">
                <a:solidFill>
                  <a:srgbClr val="231F20"/>
                </a:solidFill>
                <a:latin typeface="Avenir Book"/>
                <a:cs typeface="Avenir Book"/>
              </a:rPr>
              <a:t>involves</a:t>
            </a:r>
            <a:r>
              <a:rPr sz="100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30" dirty="0">
                <a:solidFill>
                  <a:srgbClr val="231F20"/>
                </a:solidFill>
                <a:latin typeface="Avenir Book"/>
                <a:cs typeface="Avenir Book"/>
              </a:rPr>
              <a:t>potential</a:t>
            </a:r>
            <a:r>
              <a:rPr sz="100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30" dirty="0">
                <a:solidFill>
                  <a:srgbClr val="231F20"/>
                </a:solidFill>
                <a:latin typeface="Avenir Book"/>
                <a:cs typeface="Avenir Book"/>
              </a:rPr>
              <a:t>unauthorized</a:t>
            </a:r>
            <a:r>
              <a:rPr sz="100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30" dirty="0">
                <a:solidFill>
                  <a:srgbClr val="231F20"/>
                </a:solidFill>
                <a:latin typeface="Avenir Book"/>
                <a:cs typeface="Avenir Book"/>
              </a:rPr>
              <a:t>access,</a:t>
            </a:r>
            <a:r>
              <a:rPr sz="100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20" dirty="0">
                <a:solidFill>
                  <a:srgbClr val="231F20"/>
                </a:solidFill>
                <a:latin typeface="Avenir Book"/>
                <a:cs typeface="Avenir Book"/>
              </a:rPr>
              <a:t>use</a:t>
            </a:r>
            <a:r>
              <a:rPr sz="100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25" dirty="0">
                <a:solidFill>
                  <a:srgbClr val="231F20"/>
                </a:solidFill>
                <a:latin typeface="Avenir Book"/>
                <a:cs typeface="Avenir Book"/>
              </a:rPr>
              <a:t>or </a:t>
            </a:r>
            <a:r>
              <a:rPr sz="1000" spc="-30" dirty="0">
                <a:solidFill>
                  <a:srgbClr val="231F20"/>
                </a:solidFill>
                <a:latin typeface="Avenir Book"/>
                <a:cs typeface="Avenir Book"/>
              </a:rPr>
              <a:t>disclosure </a:t>
            </a:r>
            <a:r>
              <a:rPr sz="1000" spc="-1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00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45" dirty="0">
                <a:solidFill>
                  <a:srgbClr val="231F20"/>
                </a:solidFill>
                <a:latin typeface="Avenir Book"/>
                <a:cs typeface="Avenir Book"/>
              </a:rPr>
              <a:t>paper,</a:t>
            </a:r>
            <a:r>
              <a:rPr sz="100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30" dirty="0">
                <a:solidFill>
                  <a:srgbClr val="231F20"/>
                </a:solidFill>
                <a:latin typeface="Avenir Book"/>
                <a:cs typeface="Avenir Book"/>
              </a:rPr>
              <a:t>verbal</a:t>
            </a:r>
            <a:r>
              <a:rPr sz="100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000" spc="-25" dirty="0">
                <a:solidFill>
                  <a:srgbClr val="231F20"/>
                </a:solidFill>
                <a:latin typeface="Avenir Book"/>
                <a:cs typeface="Avenir Book"/>
              </a:rPr>
              <a:t> non-</a:t>
            </a:r>
            <a:r>
              <a:rPr sz="1000" spc="-30" dirty="0">
                <a:solidFill>
                  <a:srgbClr val="231F20"/>
                </a:solidFill>
                <a:latin typeface="Avenir Book"/>
                <a:cs typeface="Avenir Book"/>
              </a:rPr>
              <a:t>electronic</a:t>
            </a:r>
            <a:r>
              <a:rPr sz="1000" spc="-25" dirty="0">
                <a:solidFill>
                  <a:srgbClr val="231F20"/>
                </a:solidFill>
                <a:latin typeface="Avenir Book"/>
                <a:cs typeface="Avenir Book"/>
              </a:rPr>
              <a:t> PHI</a:t>
            </a:r>
            <a:r>
              <a:rPr sz="100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20" dirty="0">
                <a:solidFill>
                  <a:srgbClr val="231F20"/>
                </a:solidFill>
                <a:latin typeface="Avenir Book"/>
                <a:cs typeface="Avenir Book"/>
              </a:rPr>
              <a:t>such</a:t>
            </a:r>
            <a:r>
              <a:rPr sz="100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20" dirty="0">
                <a:solidFill>
                  <a:srgbClr val="231F20"/>
                </a:solidFill>
                <a:latin typeface="Avenir Book"/>
                <a:cs typeface="Avenir Book"/>
              </a:rPr>
              <a:t>as</a:t>
            </a:r>
            <a:r>
              <a:rPr sz="100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35" dirty="0">
                <a:solidFill>
                  <a:srgbClr val="231F20"/>
                </a:solidFill>
                <a:latin typeface="Avenir Book"/>
                <a:cs typeface="Avenir Book"/>
              </a:rPr>
              <a:t>misdirected</a:t>
            </a:r>
            <a:r>
              <a:rPr sz="100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30" dirty="0">
                <a:solidFill>
                  <a:srgbClr val="231F20"/>
                </a:solidFill>
                <a:latin typeface="Avenir Book"/>
                <a:cs typeface="Avenir Book"/>
              </a:rPr>
              <a:t>faxes</a:t>
            </a:r>
            <a:r>
              <a:rPr sz="100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00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Avenir Book"/>
                <a:cs typeface="Avenir Book"/>
              </a:rPr>
              <a:t>documents </a:t>
            </a:r>
            <a:r>
              <a:rPr sz="1000" spc="-25" dirty="0">
                <a:solidFill>
                  <a:srgbClr val="231F20"/>
                </a:solidFill>
                <a:latin typeface="Avenir Book"/>
                <a:cs typeface="Avenir Book"/>
              </a:rPr>
              <a:t>handed</a:t>
            </a:r>
            <a:r>
              <a:rPr sz="100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in</a:t>
            </a:r>
            <a:r>
              <a:rPr sz="100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20" dirty="0">
                <a:solidFill>
                  <a:srgbClr val="231F20"/>
                </a:solidFill>
                <a:latin typeface="Avenir Book"/>
                <a:cs typeface="Avenir Book"/>
              </a:rPr>
              <a:t>error.</a:t>
            </a:r>
            <a:r>
              <a:rPr sz="1000" spc="229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30" dirty="0">
                <a:solidFill>
                  <a:srgbClr val="231F20"/>
                </a:solidFill>
                <a:latin typeface="Avenir Book"/>
                <a:cs typeface="Avenir Book"/>
              </a:rPr>
              <a:t>Contact</a:t>
            </a:r>
            <a:r>
              <a:rPr sz="100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25" dirty="0">
                <a:solidFill>
                  <a:srgbClr val="231F20"/>
                </a:solidFill>
                <a:latin typeface="Avenir Book"/>
                <a:cs typeface="Avenir Book"/>
              </a:rPr>
              <a:t>Information</a:t>
            </a:r>
            <a:r>
              <a:rPr sz="100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30" dirty="0">
                <a:solidFill>
                  <a:srgbClr val="231F20"/>
                </a:solidFill>
                <a:latin typeface="Avenir Book"/>
                <a:cs typeface="Avenir Book"/>
              </a:rPr>
              <a:t>Security</a:t>
            </a:r>
            <a:r>
              <a:rPr sz="100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20" dirty="0">
                <a:solidFill>
                  <a:srgbClr val="231F20"/>
                </a:solidFill>
                <a:latin typeface="Avenir Book"/>
                <a:cs typeface="Avenir Book"/>
              </a:rPr>
              <a:t>if</a:t>
            </a:r>
            <a:r>
              <a:rPr sz="100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2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00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30" dirty="0">
                <a:solidFill>
                  <a:srgbClr val="231F20"/>
                </a:solidFill>
                <a:latin typeface="Avenir Book"/>
                <a:cs typeface="Avenir Book"/>
              </a:rPr>
              <a:t>situation</a:t>
            </a:r>
            <a:r>
              <a:rPr sz="100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25" dirty="0">
                <a:solidFill>
                  <a:srgbClr val="231F20"/>
                </a:solidFill>
                <a:latin typeface="Avenir Book"/>
                <a:cs typeface="Avenir Book"/>
              </a:rPr>
              <a:t>involves</a:t>
            </a:r>
            <a:r>
              <a:rPr sz="100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30" dirty="0">
                <a:solidFill>
                  <a:srgbClr val="231F20"/>
                </a:solidFill>
                <a:latin typeface="Avenir Book"/>
                <a:cs typeface="Avenir Book"/>
              </a:rPr>
              <a:t>unauthorized</a:t>
            </a:r>
            <a:r>
              <a:rPr sz="100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Avenir Book"/>
                <a:cs typeface="Avenir Book"/>
              </a:rPr>
              <a:t>access to</a:t>
            </a:r>
            <a:r>
              <a:rPr sz="100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35" dirty="0">
                <a:solidFill>
                  <a:srgbClr val="231F20"/>
                </a:solidFill>
                <a:latin typeface="Avenir Book"/>
                <a:cs typeface="Avenir Book"/>
              </a:rPr>
              <a:t>electronic</a:t>
            </a:r>
            <a:r>
              <a:rPr sz="1000" spc="-25" dirty="0">
                <a:solidFill>
                  <a:srgbClr val="231F20"/>
                </a:solidFill>
                <a:latin typeface="Avenir Book"/>
                <a:cs typeface="Avenir Book"/>
              </a:rPr>
              <a:t> systems </a:t>
            </a:r>
            <a:r>
              <a:rPr sz="1000" spc="-20" dirty="0">
                <a:solidFill>
                  <a:srgbClr val="231F20"/>
                </a:solidFill>
                <a:latin typeface="Avenir Book"/>
                <a:cs typeface="Avenir Book"/>
              </a:rPr>
              <a:t>such</a:t>
            </a:r>
            <a:r>
              <a:rPr sz="100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20" dirty="0">
                <a:solidFill>
                  <a:srgbClr val="231F20"/>
                </a:solidFill>
                <a:latin typeface="Avenir Book"/>
                <a:cs typeface="Avenir Book"/>
              </a:rPr>
              <a:t>as</a:t>
            </a:r>
            <a:r>
              <a:rPr sz="100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30" dirty="0">
                <a:solidFill>
                  <a:srgbClr val="231F20"/>
                </a:solidFill>
                <a:latin typeface="Avenir Book"/>
                <a:cs typeface="Avenir Book"/>
              </a:rPr>
              <a:t>snooping,</a:t>
            </a:r>
            <a:r>
              <a:rPr sz="100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35" dirty="0">
                <a:solidFill>
                  <a:srgbClr val="231F20"/>
                </a:solidFill>
                <a:latin typeface="Avenir Book"/>
                <a:cs typeface="Avenir Book"/>
              </a:rPr>
              <a:t>compromised</a:t>
            </a:r>
            <a:r>
              <a:rPr sz="100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25" dirty="0">
                <a:solidFill>
                  <a:srgbClr val="231F20"/>
                </a:solidFill>
                <a:latin typeface="Avenir Book"/>
                <a:cs typeface="Avenir Book"/>
              </a:rPr>
              <a:t>systems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(i.e.</a:t>
            </a:r>
            <a:r>
              <a:rPr sz="1000" spc="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viruses</a:t>
            </a:r>
            <a:r>
              <a:rPr sz="1000" spc="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000" spc="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Avenir Book"/>
                <a:cs typeface="Avenir Book"/>
              </a:rPr>
              <a:t>stolen passwords)</a:t>
            </a:r>
            <a:r>
              <a:rPr sz="1000" spc="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000" spc="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lost</a:t>
            </a:r>
            <a:r>
              <a:rPr sz="1000" spc="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000" spc="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dirty="0">
                <a:solidFill>
                  <a:srgbClr val="231F20"/>
                </a:solidFill>
                <a:latin typeface="Avenir Book"/>
                <a:cs typeface="Avenir Book"/>
              </a:rPr>
              <a:t>stolen</a:t>
            </a:r>
            <a:r>
              <a:rPr sz="1000" spc="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Avenir Book"/>
                <a:cs typeface="Avenir Book"/>
              </a:rPr>
              <a:t>equipment.</a:t>
            </a:r>
            <a:endParaRPr sz="1000" dirty="0">
              <a:latin typeface="Avenir Book"/>
              <a:cs typeface="Avenir Book"/>
            </a:endParaRPr>
          </a:p>
          <a:p>
            <a:pPr marL="3253740">
              <a:lnSpc>
                <a:spcPct val="100000"/>
              </a:lnSpc>
              <a:spcBef>
                <a:spcPts val="335"/>
              </a:spcBef>
            </a:pPr>
            <a:r>
              <a:rPr sz="850" i="1" spc="-45" dirty="0">
                <a:solidFill>
                  <a:srgbClr val="008BC0"/>
                </a:solidFill>
                <a:latin typeface="Arial"/>
                <a:cs typeface="Arial"/>
              </a:rPr>
              <a:t>Living</a:t>
            </a:r>
            <a:r>
              <a:rPr sz="850" i="1" spc="30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008BC0"/>
                </a:solidFill>
                <a:latin typeface="Arial"/>
                <a:cs typeface="Arial"/>
              </a:rPr>
              <a:t>our</a:t>
            </a:r>
            <a:r>
              <a:rPr sz="850" i="1" spc="30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sz="850" i="1" spc="-125" dirty="0">
                <a:solidFill>
                  <a:srgbClr val="008BC0"/>
                </a:solidFill>
                <a:latin typeface="Arial"/>
                <a:cs typeface="Arial"/>
              </a:rPr>
              <a:t>Values</a:t>
            </a:r>
            <a:r>
              <a:rPr sz="850" i="1" spc="35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47720"/>
                </a:solidFill>
                <a:latin typeface="Arial"/>
                <a:cs typeface="Arial"/>
              </a:rPr>
              <a:t>I</a:t>
            </a:r>
            <a:r>
              <a:rPr sz="850" b="1" spc="30" dirty="0">
                <a:solidFill>
                  <a:srgbClr val="F47720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FC425"/>
                </a:solidFill>
                <a:latin typeface="Arial"/>
                <a:cs typeface="Arial"/>
              </a:rPr>
              <a:t>TEAMWORK</a:t>
            </a:r>
            <a:r>
              <a:rPr sz="850" b="1" spc="300" dirty="0">
                <a:solidFill>
                  <a:srgbClr val="FFC425"/>
                </a:solidFill>
                <a:latin typeface="Arial"/>
                <a:cs typeface="Arial"/>
              </a:rPr>
              <a:t> </a:t>
            </a:r>
            <a:r>
              <a:rPr sz="850" b="1" spc="-25" dirty="0">
                <a:solidFill>
                  <a:srgbClr val="008BC0"/>
                </a:solidFill>
                <a:latin typeface="Arial"/>
                <a:cs typeface="Arial"/>
              </a:rPr>
              <a:t>10</a:t>
            </a:r>
            <a:endParaRPr sz="850" dirty="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124928" y="294595"/>
            <a:ext cx="357505" cy="335280"/>
          </a:xfrm>
          <a:custGeom>
            <a:avLst/>
            <a:gdLst/>
            <a:ahLst/>
            <a:cxnLst/>
            <a:rect l="l" t="t" r="r" b="b"/>
            <a:pathLst>
              <a:path w="357504" h="335280">
                <a:moveTo>
                  <a:pt x="299924" y="298869"/>
                </a:moveTo>
                <a:lnTo>
                  <a:pt x="231279" y="298869"/>
                </a:lnTo>
                <a:lnTo>
                  <a:pt x="304749" y="335089"/>
                </a:lnTo>
                <a:lnTo>
                  <a:pt x="299924" y="298869"/>
                </a:lnTo>
                <a:close/>
              </a:path>
              <a:path w="357504" h="335280">
                <a:moveTo>
                  <a:pt x="178434" y="0"/>
                </a:moveTo>
                <a:lnTo>
                  <a:pt x="131002" y="5459"/>
                </a:lnTo>
                <a:lnTo>
                  <a:pt x="88378" y="20867"/>
                </a:lnTo>
                <a:lnTo>
                  <a:pt x="52265" y="44765"/>
                </a:lnTo>
                <a:lnTo>
                  <a:pt x="24363" y="75699"/>
                </a:lnTo>
                <a:lnTo>
                  <a:pt x="6374" y="112211"/>
                </a:lnTo>
                <a:lnTo>
                  <a:pt x="0" y="152844"/>
                </a:lnTo>
                <a:lnTo>
                  <a:pt x="6374" y="193477"/>
                </a:lnTo>
                <a:lnTo>
                  <a:pt x="24363" y="229989"/>
                </a:lnTo>
                <a:lnTo>
                  <a:pt x="52265" y="260923"/>
                </a:lnTo>
                <a:lnTo>
                  <a:pt x="88378" y="284821"/>
                </a:lnTo>
                <a:lnTo>
                  <a:pt x="131002" y="300229"/>
                </a:lnTo>
                <a:lnTo>
                  <a:pt x="178434" y="305688"/>
                </a:lnTo>
                <a:lnTo>
                  <a:pt x="192112" y="305246"/>
                </a:lnTo>
                <a:lnTo>
                  <a:pt x="205500" y="303941"/>
                </a:lnTo>
                <a:lnTo>
                  <a:pt x="218566" y="301804"/>
                </a:lnTo>
                <a:lnTo>
                  <a:pt x="231279" y="298869"/>
                </a:lnTo>
                <a:lnTo>
                  <a:pt x="299924" y="298869"/>
                </a:lnTo>
                <a:lnTo>
                  <a:pt x="295808" y="267969"/>
                </a:lnTo>
                <a:lnTo>
                  <a:pt x="321140" y="244625"/>
                </a:lnTo>
                <a:lnTo>
                  <a:pt x="340380" y="217127"/>
                </a:lnTo>
                <a:lnTo>
                  <a:pt x="352602" y="186268"/>
                </a:lnTo>
                <a:lnTo>
                  <a:pt x="352768" y="184975"/>
                </a:lnTo>
                <a:lnTo>
                  <a:pt x="94399" y="184975"/>
                </a:lnTo>
                <a:lnTo>
                  <a:pt x="81942" y="182459"/>
                </a:lnTo>
                <a:lnTo>
                  <a:pt x="71774" y="175598"/>
                </a:lnTo>
                <a:lnTo>
                  <a:pt x="64920" y="165424"/>
                </a:lnTo>
                <a:lnTo>
                  <a:pt x="62407" y="152971"/>
                </a:lnTo>
                <a:lnTo>
                  <a:pt x="64920" y="140520"/>
                </a:lnTo>
                <a:lnTo>
                  <a:pt x="71774" y="130351"/>
                </a:lnTo>
                <a:lnTo>
                  <a:pt x="81942" y="123494"/>
                </a:lnTo>
                <a:lnTo>
                  <a:pt x="94399" y="120980"/>
                </a:lnTo>
                <a:lnTo>
                  <a:pt x="351884" y="120980"/>
                </a:lnTo>
                <a:lnTo>
                  <a:pt x="350509" y="112211"/>
                </a:lnTo>
                <a:lnTo>
                  <a:pt x="332521" y="75699"/>
                </a:lnTo>
                <a:lnTo>
                  <a:pt x="304620" y="44765"/>
                </a:lnTo>
                <a:lnTo>
                  <a:pt x="268505" y="20867"/>
                </a:lnTo>
                <a:lnTo>
                  <a:pt x="225877" y="5459"/>
                </a:lnTo>
                <a:lnTo>
                  <a:pt x="178434" y="0"/>
                </a:lnTo>
                <a:close/>
              </a:path>
              <a:path w="357504" h="335280">
                <a:moveTo>
                  <a:pt x="178434" y="120980"/>
                </a:moveTo>
                <a:lnTo>
                  <a:pt x="94399" y="120980"/>
                </a:lnTo>
                <a:lnTo>
                  <a:pt x="106843" y="123494"/>
                </a:lnTo>
                <a:lnTo>
                  <a:pt x="117008" y="130351"/>
                </a:lnTo>
                <a:lnTo>
                  <a:pt x="123863" y="140520"/>
                </a:lnTo>
                <a:lnTo>
                  <a:pt x="126352" y="152844"/>
                </a:lnTo>
                <a:lnTo>
                  <a:pt x="123863" y="165424"/>
                </a:lnTo>
                <a:lnTo>
                  <a:pt x="117008" y="175598"/>
                </a:lnTo>
                <a:lnTo>
                  <a:pt x="106843" y="182459"/>
                </a:lnTo>
                <a:lnTo>
                  <a:pt x="94399" y="184975"/>
                </a:lnTo>
                <a:lnTo>
                  <a:pt x="178434" y="184975"/>
                </a:lnTo>
                <a:lnTo>
                  <a:pt x="165988" y="182459"/>
                </a:lnTo>
                <a:lnTo>
                  <a:pt x="155819" y="175598"/>
                </a:lnTo>
                <a:lnTo>
                  <a:pt x="148959" y="165424"/>
                </a:lnTo>
                <a:lnTo>
                  <a:pt x="146443" y="152971"/>
                </a:lnTo>
                <a:lnTo>
                  <a:pt x="148959" y="140520"/>
                </a:lnTo>
                <a:lnTo>
                  <a:pt x="155819" y="130351"/>
                </a:lnTo>
                <a:lnTo>
                  <a:pt x="165988" y="123494"/>
                </a:lnTo>
                <a:lnTo>
                  <a:pt x="178434" y="120980"/>
                </a:lnTo>
                <a:close/>
              </a:path>
              <a:path w="357504" h="335280">
                <a:moveTo>
                  <a:pt x="262496" y="120980"/>
                </a:moveTo>
                <a:lnTo>
                  <a:pt x="178434" y="120980"/>
                </a:lnTo>
                <a:lnTo>
                  <a:pt x="190893" y="123494"/>
                </a:lnTo>
                <a:lnTo>
                  <a:pt x="201066" y="130351"/>
                </a:lnTo>
                <a:lnTo>
                  <a:pt x="207924" y="140520"/>
                </a:lnTo>
                <a:lnTo>
                  <a:pt x="210413" y="152844"/>
                </a:lnTo>
                <a:lnTo>
                  <a:pt x="207924" y="165424"/>
                </a:lnTo>
                <a:lnTo>
                  <a:pt x="201066" y="175598"/>
                </a:lnTo>
                <a:lnTo>
                  <a:pt x="190893" y="182459"/>
                </a:lnTo>
                <a:lnTo>
                  <a:pt x="178434" y="184975"/>
                </a:lnTo>
                <a:lnTo>
                  <a:pt x="262496" y="184975"/>
                </a:lnTo>
                <a:lnTo>
                  <a:pt x="250050" y="182459"/>
                </a:lnTo>
                <a:lnTo>
                  <a:pt x="239880" y="175598"/>
                </a:lnTo>
                <a:lnTo>
                  <a:pt x="233021" y="165424"/>
                </a:lnTo>
                <a:lnTo>
                  <a:pt x="230504" y="152971"/>
                </a:lnTo>
                <a:lnTo>
                  <a:pt x="233021" y="140520"/>
                </a:lnTo>
                <a:lnTo>
                  <a:pt x="239880" y="130351"/>
                </a:lnTo>
                <a:lnTo>
                  <a:pt x="250050" y="123494"/>
                </a:lnTo>
                <a:lnTo>
                  <a:pt x="262496" y="120980"/>
                </a:lnTo>
                <a:close/>
              </a:path>
              <a:path w="357504" h="335280">
                <a:moveTo>
                  <a:pt x="351884" y="120980"/>
                </a:moveTo>
                <a:lnTo>
                  <a:pt x="262496" y="120980"/>
                </a:lnTo>
                <a:lnTo>
                  <a:pt x="274953" y="123494"/>
                </a:lnTo>
                <a:lnTo>
                  <a:pt x="285121" y="130351"/>
                </a:lnTo>
                <a:lnTo>
                  <a:pt x="291974" y="140520"/>
                </a:lnTo>
                <a:lnTo>
                  <a:pt x="294461" y="152844"/>
                </a:lnTo>
                <a:lnTo>
                  <a:pt x="291974" y="165424"/>
                </a:lnTo>
                <a:lnTo>
                  <a:pt x="285121" y="175598"/>
                </a:lnTo>
                <a:lnTo>
                  <a:pt x="274953" y="182459"/>
                </a:lnTo>
                <a:lnTo>
                  <a:pt x="262496" y="184975"/>
                </a:lnTo>
                <a:lnTo>
                  <a:pt x="352768" y="184975"/>
                </a:lnTo>
                <a:lnTo>
                  <a:pt x="356866" y="152971"/>
                </a:lnTo>
                <a:lnTo>
                  <a:pt x="351884" y="120980"/>
                </a:lnTo>
                <a:close/>
              </a:path>
            </a:pathLst>
          </a:custGeom>
          <a:solidFill>
            <a:srgbClr val="008BC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8568827" y="341346"/>
            <a:ext cx="379095" cy="241935"/>
            <a:chOff x="8568827" y="341346"/>
            <a:chExt cx="379095" cy="241935"/>
          </a:xfrm>
        </p:grpSpPr>
        <p:sp>
          <p:nvSpPr>
            <p:cNvPr id="26" name="object 26"/>
            <p:cNvSpPr/>
            <p:nvPr/>
          </p:nvSpPr>
          <p:spPr>
            <a:xfrm>
              <a:off x="8588956" y="341346"/>
              <a:ext cx="339090" cy="142240"/>
            </a:xfrm>
            <a:custGeom>
              <a:avLst/>
              <a:gdLst/>
              <a:ahLst/>
              <a:cxnLst/>
              <a:rect l="l" t="t" r="r" b="b"/>
              <a:pathLst>
                <a:path w="339090" h="142240">
                  <a:moveTo>
                    <a:pt x="332892" y="0"/>
                  </a:moveTo>
                  <a:lnTo>
                    <a:pt x="9283" y="0"/>
                  </a:lnTo>
                  <a:lnTo>
                    <a:pt x="5930" y="0"/>
                  </a:lnTo>
                  <a:lnTo>
                    <a:pt x="2806" y="800"/>
                  </a:lnTo>
                  <a:lnTo>
                    <a:pt x="0" y="2197"/>
                  </a:lnTo>
                  <a:lnTo>
                    <a:pt x="169379" y="141706"/>
                  </a:lnTo>
                  <a:lnTo>
                    <a:pt x="338785" y="2197"/>
                  </a:lnTo>
                  <a:lnTo>
                    <a:pt x="336029" y="800"/>
                  </a:lnTo>
                  <a:lnTo>
                    <a:pt x="332892" y="0"/>
                  </a:lnTo>
                  <a:close/>
                </a:path>
              </a:pathLst>
            </a:custGeom>
            <a:solidFill>
              <a:srgbClr val="008B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68827" y="359798"/>
              <a:ext cx="127342" cy="20466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8589005" y="477998"/>
              <a:ext cx="339090" cy="105410"/>
            </a:xfrm>
            <a:custGeom>
              <a:avLst/>
              <a:gdLst/>
              <a:ahLst/>
              <a:cxnLst/>
              <a:rect l="l" t="t" r="r" b="b"/>
              <a:pathLst>
                <a:path w="339090" h="105409">
                  <a:moveTo>
                    <a:pt x="213995" y="0"/>
                  </a:moveTo>
                  <a:lnTo>
                    <a:pt x="171983" y="34607"/>
                  </a:lnTo>
                  <a:lnTo>
                    <a:pt x="170662" y="35052"/>
                  </a:lnTo>
                  <a:lnTo>
                    <a:pt x="167995" y="35052"/>
                  </a:lnTo>
                  <a:lnTo>
                    <a:pt x="166662" y="34607"/>
                  </a:lnTo>
                  <a:lnTo>
                    <a:pt x="124663" y="0"/>
                  </a:lnTo>
                  <a:lnTo>
                    <a:pt x="0" y="102704"/>
                  </a:lnTo>
                  <a:lnTo>
                    <a:pt x="2755" y="104114"/>
                  </a:lnTo>
                  <a:lnTo>
                    <a:pt x="5880" y="104927"/>
                  </a:lnTo>
                  <a:lnTo>
                    <a:pt x="329501" y="104927"/>
                  </a:lnTo>
                  <a:lnTo>
                    <a:pt x="332828" y="104927"/>
                  </a:lnTo>
                  <a:lnTo>
                    <a:pt x="335927" y="104076"/>
                  </a:lnTo>
                  <a:lnTo>
                    <a:pt x="338709" y="102692"/>
                  </a:lnTo>
                  <a:lnTo>
                    <a:pt x="213995" y="0"/>
                  </a:lnTo>
                  <a:close/>
                </a:path>
              </a:pathLst>
            </a:custGeom>
            <a:solidFill>
              <a:srgbClr val="008B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20515" y="359824"/>
              <a:ext cx="127406" cy="204635"/>
            </a:xfrm>
            <a:prstGeom prst="rect">
              <a:avLst/>
            </a:prstGeom>
          </p:spPr>
        </p:pic>
      </p:grpSp>
      <p:grpSp>
        <p:nvGrpSpPr>
          <p:cNvPr id="30" name="object 30"/>
          <p:cNvGrpSpPr/>
          <p:nvPr/>
        </p:nvGrpSpPr>
        <p:grpSpPr>
          <a:xfrm>
            <a:off x="9059408" y="294596"/>
            <a:ext cx="202565" cy="335280"/>
            <a:chOff x="9059408" y="294596"/>
            <a:chExt cx="202565" cy="335280"/>
          </a:xfrm>
        </p:grpSpPr>
        <p:sp>
          <p:nvSpPr>
            <p:cNvPr id="31" name="object 31"/>
            <p:cNvSpPr/>
            <p:nvPr/>
          </p:nvSpPr>
          <p:spPr>
            <a:xfrm>
              <a:off x="9059405" y="294601"/>
              <a:ext cx="166370" cy="335280"/>
            </a:xfrm>
            <a:custGeom>
              <a:avLst/>
              <a:gdLst/>
              <a:ahLst/>
              <a:cxnLst/>
              <a:rect l="l" t="t" r="r" b="b"/>
              <a:pathLst>
                <a:path w="166370" h="335280">
                  <a:moveTo>
                    <a:pt x="109601" y="78435"/>
                  </a:moveTo>
                  <a:lnTo>
                    <a:pt x="94665" y="23050"/>
                  </a:lnTo>
                  <a:lnTo>
                    <a:pt x="65760" y="0"/>
                  </a:lnTo>
                  <a:lnTo>
                    <a:pt x="64338" y="0"/>
                  </a:lnTo>
                  <a:lnTo>
                    <a:pt x="58839" y="749"/>
                  </a:lnTo>
                  <a:lnTo>
                    <a:pt x="50711" y="2832"/>
                  </a:lnTo>
                  <a:lnTo>
                    <a:pt x="48666" y="3390"/>
                  </a:lnTo>
                  <a:lnTo>
                    <a:pt x="81026" y="105943"/>
                  </a:lnTo>
                  <a:lnTo>
                    <a:pt x="109601" y="78435"/>
                  </a:lnTo>
                  <a:close/>
                </a:path>
                <a:path w="166370" h="335280">
                  <a:moveTo>
                    <a:pt x="165989" y="327190"/>
                  </a:moveTo>
                  <a:lnTo>
                    <a:pt x="121208" y="241706"/>
                  </a:lnTo>
                  <a:lnTo>
                    <a:pt x="116179" y="232105"/>
                  </a:lnTo>
                  <a:lnTo>
                    <a:pt x="99021" y="241706"/>
                  </a:lnTo>
                  <a:lnTo>
                    <a:pt x="73202" y="198462"/>
                  </a:lnTo>
                  <a:lnTo>
                    <a:pt x="54356" y="149225"/>
                  </a:lnTo>
                  <a:lnTo>
                    <a:pt x="47218" y="117081"/>
                  </a:lnTo>
                  <a:lnTo>
                    <a:pt x="63715" y="112280"/>
                  </a:lnTo>
                  <a:lnTo>
                    <a:pt x="65989" y="111328"/>
                  </a:lnTo>
                  <a:lnTo>
                    <a:pt x="33756" y="9105"/>
                  </a:lnTo>
                  <a:lnTo>
                    <a:pt x="29019" y="10579"/>
                  </a:lnTo>
                  <a:lnTo>
                    <a:pt x="15913" y="14871"/>
                  </a:lnTo>
                  <a:lnTo>
                    <a:pt x="10528" y="20294"/>
                  </a:lnTo>
                  <a:lnTo>
                    <a:pt x="6654" y="28765"/>
                  </a:lnTo>
                  <a:lnTo>
                    <a:pt x="0" y="59270"/>
                  </a:lnTo>
                  <a:lnTo>
                    <a:pt x="1816" y="100025"/>
                  </a:lnTo>
                  <a:lnTo>
                    <a:pt x="11620" y="147332"/>
                  </a:lnTo>
                  <a:lnTo>
                    <a:pt x="28917" y="197523"/>
                  </a:lnTo>
                  <a:lnTo>
                    <a:pt x="28917" y="198120"/>
                  </a:lnTo>
                  <a:lnTo>
                    <a:pt x="29324" y="198462"/>
                  </a:lnTo>
                  <a:lnTo>
                    <a:pt x="56248" y="252107"/>
                  </a:lnTo>
                  <a:lnTo>
                    <a:pt x="86817" y="295503"/>
                  </a:lnTo>
                  <a:lnTo>
                    <a:pt x="117576" y="324510"/>
                  </a:lnTo>
                  <a:lnTo>
                    <a:pt x="145110" y="335089"/>
                  </a:lnTo>
                  <a:lnTo>
                    <a:pt x="146126" y="335089"/>
                  </a:lnTo>
                  <a:lnTo>
                    <a:pt x="149771" y="334733"/>
                  </a:lnTo>
                  <a:lnTo>
                    <a:pt x="154266" y="333387"/>
                  </a:lnTo>
                  <a:lnTo>
                    <a:pt x="161645" y="329526"/>
                  </a:lnTo>
                  <a:lnTo>
                    <a:pt x="165989" y="327190"/>
                  </a:lnTo>
                  <a:close/>
                </a:path>
              </a:pathLst>
            </a:custGeom>
            <a:solidFill>
              <a:srgbClr val="008B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190045" y="511592"/>
              <a:ext cx="71872" cy="103416"/>
            </a:xfrm>
            <a:prstGeom prst="rect">
              <a:avLst/>
            </a:prstGeom>
          </p:spPr>
        </p:pic>
      </p:grpSp>
      <p:pic>
        <p:nvPicPr>
          <p:cNvPr id="33" name="object 3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401536" y="362317"/>
            <a:ext cx="203173" cy="20661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3511253D-79F0-3182-EAAD-5DF4BF38677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31023" y="422427"/>
            <a:ext cx="921863" cy="92186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282690" y="155447"/>
            <a:ext cx="3775710" cy="7617459"/>
            <a:chOff x="6282690" y="155447"/>
            <a:chExt cx="3775710" cy="7617459"/>
          </a:xfrm>
        </p:grpSpPr>
        <p:sp>
          <p:nvSpPr>
            <p:cNvPr id="3" name="object 3"/>
            <p:cNvSpPr/>
            <p:nvPr/>
          </p:nvSpPr>
          <p:spPr>
            <a:xfrm>
              <a:off x="6282690" y="155447"/>
              <a:ext cx="3547110" cy="7105015"/>
            </a:xfrm>
            <a:custGeom>
              <a:avLst/>
              <a:gdLst/>
              <a:ahLst/>
              <a:cxnLst/>
              <a:rect l="l" t="t" r="r" b="b"/>
              <a:pathLst>
                <a:path w="3547109" h="7105015">
                  <a:moveTo>
                    <a:pt x="3547110" y="0"/>
                  </a:moveTo>
                  <a:lnTo>
                    <a:pt x="0" y="0"/>
                  </a:lnTo>
                  <a:lnTo>
                    <a:pt x="0" y="7104888"/>
                  </a:lnTo>
                  <a:lnTo>
                    <a:pt x="3547110" y="7104888"/>
                  </a:lnTo>
                  <a:lnTo>
                    <a:pt x="3547110" y="0"/>
                  </a:lnTo>
                  <a:close/>
                </a:path>
              </a:pathLst>
            </a:custGeom>
            <a:solidFill>
              <a:srgbClr val="008D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47571" y="7178342"/>
              <a:ext cx="147345" cy="12819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033918" y="5515000"/>
              <a:ext cx="2025014" cy="2257425"/>
            </a:xfrm>
            <a:custGeom>
              <a:avLst/>
              <a:gdLst/>
              <a:ahLst/>
              <a:cxnLst/>
              <a:rect l="l" t="t" r="r" b="b"/>
              <a:pathLst>
                <a:path w="2025015" h="2257425">
                  <a:moveTo>
                    <a:pt x="1211897" y="1180503"/>
                  </a:moveTo>
                  <a:lnTo>
                    <a:pt x="1102296" y="1021080"/>
                  </a:lnTo>
                  <a:lnTo>
                    <a:pt x="1019670" y="900912"/>
                  </a:lnTo>
                  <a:lnTo>
                    <a:pt x="1047673" y="859358"/>
                  </a:lnTo>
                  <a:lnTo>
                    <a:pt x="1071981" y="815289"/>
                  </a:lnTo>
                  <a:lnTo>
                    <a:pt x="1092365" y="768934"/>
                  </a:lnTo>
                  <a:lnTo>
                    <a:pt x="1108608" y="720534"/>
                  </a:lnTo>
                  <a:lnTo>
                    <a:pt x="1120495" y="670280"/>
                  </a:lnTo>
                  <a:lnTo>
                    <a:pt x="1127785" y="618413"/>
                  </a:lnTo>
                  <a:lnTo>
                    <a:pt x="1130261" y="565137"/>
                  </a:lnTo>
                  <a:lnTo>
                    <a:pt x="1128191" y="516382"/>
                  </a:lnTo>
                  <a:lnTo>
                    <a:pt x="1122083" y="468769"/>
                  </a:lnTo>
                  <a:lnTo>
                    <a:pt x="1112100" y="422478"/>
                  </a:lnTo>
                  <a:lnTo>
                    <a:pt x="1098435" y="377685"/>
                  </a:lnTo>
                  <a:lnTo>
                    <a:pt x="1081239" y="334543"/>
                  </a:lnTo>
                  <a:lnTo>
                    <a:pt x="1060678" y="293243"/>
                  </a:lnTo>
                  <a:lnTo>
                    <a:pt x="1042352" y="262902"/>
                  </a:lnTo>
                  <a:lnTo>
                    <a:pt x="1042352" y="587095"/>
                  </a:lnTo>
                  <a:lnTo>
                    <a:pt x="1039977" y="634288"/>
                  </a:lnTo>
                  <a:lnTo>
                    <a:pt x="1032979" y="680110"/>
                  </a:lnTo>
                  <a:lnTo>
                    <a:pt x="1021613" y="724344"/>
                  </a:lnTo>
                  <a:lnTo>
                    <a:pt x="1006081" y="766749"/>
                  </a:lnTo>
                  <a:lnTo>
                    <a:pt x="986650" y="807097"/>
                  </a:lnTo>
                  <a:lnTo>
                    <a:pt x="963536" y="845146"/>
                  </a:lnTo>
                  <a:lnTo>
                    <a:pt x="936967" y="880681"/>
                  </a:lnTo>
                  <a:lnTo>
                    <a:pt x="907148" y="913485"/>
                  </a:lnTo>
                  <a:lnTo>
                    <a:pt x="874407" y="943254"/>
                  </a:lnTo>
                  <a:lnTo>
                    <a:pt x="838873" y="969822"/>
                  </a:lnTo>
                  <a:lnTo>
                    <a:pt x="800823" y="992936"/>
                  </a:lnTo>
                  <a:lnTo>
                    <a:pt x="760476" y="1012367"/>
                  </a:lnTo>
                  <a:lnTo>
                    <a:pt x="718070" y="1027887"/>
                  </a:lnTo>
                  <a:lnTo>
                    <a:pt x="673849" y="1039266"/>
                  </a:lnTo>
                  <a:lnTo>
                    <a:pt x="628027" y="1046264"/>
                  </a:lnTo>
                  <a:lnTo>
                    <a:pt x="580834" y="1048651"/>
                  </a:lnTo>
                  <a:lnTo>
                    <a:pt x="533654" y="1046264"/>
                  </a:lnTo>
                  <a:lnTo>
                    <a:pt x="487832" y="1039266"/>
                  </a:lnTo>
                  <a:lnTo>
                    <a:pt x="443598" y="1027887"/>
                  </a:lnTo>
                  <a:lnTo>
                    <a:pt x="401193" y="1012367"/>
                  </a:lnTo>
                  <a:lnTo>
                    <a:pt x="360845" y="992936"/>
                  </a:lnTo>
                  <a:lnTo>
                    <a:pt x="322795" y="969822"/>
                  </a:lnTo>
                  <a:lnTo>
                    <a:pt x="287261" y="943254"/>
                  </a:lnTo>
                  <a:lnTo>
                    <a:pt x="254520" y="913485"/>
                  </a:lnTo>
                  <a:lnTo>
                    <a:pt x="224701" y="880681"/>
                  </a:lnTo>
                  <a:lnTo>
                    <a:pt x="198120" y="845146"/>
                  </a:lnTo>
                  <a:lnTo>
                    <a:pt x="175006" y="807097"/>
                  </a:lnTo>
                  <a:lnTo>
                    <a:pt x="155562" y="766749"/>
                  </a:lnTo>
                  <a:lnTo>
                    <a:pt x="140042" y="724344"/>
                  </a:lnTo>
                  <a:lnTo>
                    <a:pt x="128676" y="680110"/>
                  </a:lnTo>
                  <a:lnTo>
                    <a:pt x="121678" y="634288"/>
                  </a:lnTo>
                  <a:lnTo>
                    <a:pt x="119291" y="587095"/>
                  </a:lnTo>
                  <a:lnTo>
                    <a:pt x="121678" y="539915"/>
                  </a:lnTo>
                  <a:lnTo>
                    <a:pt x="128676" y="494093"/>
                  </a:lnTo>
                  <a:lnTo>
                    <a:pt x="140042" y="449859"/>
                  </a:lnTo>
                  <a:lnTo>
                    <a:pt x="155562" y="407454"/>
                  </a:lnTo>
                  <a:lnTo>
                    <a:pt x="175006" y="367118"/>
                  </a:lnTo>
                  <a:lnTo>
                    <a:pt x="198120" y="329057"/>
                  </a:lnTo>
                  <a:lnTo>
                    <a:pt x="224701" y="293535"/>
                  </a:lnTo>
                  <a:lnTo>
                    <a:pt x="254482" y="260756"/>
                  </a:lnTo>
                  <a:lnTo>
                    <a:pt x="287261" y="230974"/>
                  </a:lnTo>
                  <a:lnTo>
                    <a:pt x="322795" y="204406"/>
                  </a:lnTo>
                  <a:lnTo>
                    <a:pt x="360845" y="181279"/>
                  </a:lnTo>
                  <a:lnTo>
                    <a:pt x="401193" y="161848"/>
                  </a:lnTo>
                  <a:lnTo>
                    <a:pt x="443598" y="146329"/>
                  </a:lnTo>
                  <a:lnTo>
                    <a:pt x="487832" y="134962"/>
                  </a:lnTo>
                  <a:lnTo>
                    <a:pt x="533654" y="127965"/>
                  </a:lnTo>
                  <a:lnTo>
                    <a:pt x="580834" y="125577"/>
                  </a:lnTo>
                  <a:lnTo>
                    <a:pt x="628027" y="127965"/>
                  </a:lnTo>
                  <a:lnTo>
                    <a:pt x="673849" y="134962"/>
                  </a:lnTo>
                  <a:lnTo>
                    <a:pt x="718070" y="146329"/>
                  </a:lnTo>
                  <a:lnTo>
                    <a:pt x="760476" y="161848"/>
                  </a:lnTo>
                  <a:lnTo>
                    <a:pt x="800823" y="181279"/>
                  </a:lnTo>
                  <a:lnTo>
                    <a:pt x="838873" y="204406"/>
                  </a:lnTo>
                  <a:lnTo>
                    <a:pt x="874407" y="230974"/>
                  </a:lnTo>
                  <a:lnTo>
                    <a:pt x="907173" y="260756"/>
                  </a:lnTo>
                  <a:lnTo>
                    <a:pt x="936967" y="293535"/>
                  </a:lnTo>
                  <a:lnTo>
                    <a:pt x="963536" y="329057"/>
                  </a:lnTo>
                  <a:lnTo>
                    <a:pt x="986650" y="367118"/>
                  </a:lnTo>
                  <a:lnTo>
                    <a:pt x="1006081" y="407454"/>
                  </a:lnTo>
                  <a:lnTo>
                    <a:pt x="1021613" y="449859"/>
                  </a:lnTo>
                  <a:lnTo>
                    <a:pt x="1032979" y="494093"/>
                  </a:lnTo>
                  <a:lnTo>
                    <a:pt x="1039977" y="539915"/>
                  </a:lnTo>
                  <a:lnTo>
                    <a:pt x="1042352" y="587095"/>
                  </a:lnTo>
                  <a:lnTo>
                    <a:pt x="1042352" y="262902"/>
                  </a:lnTo>
                  <a:lnTo>
                    <a:pt x="1010170" y="216801"/>
                  </a:lnTo>
                  <a:lnTo>
                    <a:pt x="980567" y="182003"/>
                  </a:lnTo>
                  <a:lnTo>
                    <a:pt x="948283" y="149707"/>
                  </a:lnTo>
                  <a:lnTo>
                    <a:pt x="913485" y="120103"/>
                  </a:lnTo>
                  <a:lnTo>
                    <a:pt x="876350" y="93332"/>
                  </a:lnTo>
                  <a:lnTo>
                    <a:pt x="837044" y="69596"/>
                  </a:lnTo>
                  <a:lnTo>
                    <a:pt x="795731" y="49034"/>
                  </a:lnTo>
                  <a:lnTo>
                    <a:pt x="752602" y="31838"/>
                  </a:lnTo>
                  <a:lnTo>
                    <a:pt x="707796" y="18161"/>
                  </a:lnTo>
                  <a:lnTo>
                    <a:pt x="661517" y="8191"/>
                  </a:lnTo>
                  <a:lnTo>
                    <a:pt x="613905" y="2082"/>
                  </a:lnTo>
                  <a:lnTo>
                    <a:pt x="565137" y="0"/>
                  </a:lnTo>
                  <a:lnTo>
                    <a:pt x="516382" y="2082"/>
                  </a:lnTo>
                  <a:lnTo>
                    <a:pt x="468769" y="8191"/>
                  </a:lnTo>
                  <a:lnTo>
                    <a:pt x="422478" y="18161"/>
                  </a:lnTo>
                  <a:lnTo>
                    <a:pt x="377685" y="31838"/>
                  </a:lnTo>
                  <a:lnTo>
                    <a:pt x="334543" y="49034"/>
                  </a:lnTo>
                  <a:lnTo>
                    <a:pt x="293243" y="69596"/>
                  </a:lnTo>
                  <a:lnTo>
                    <a:pt x="253936" y="93332"/>
                  </a:lnTo>
                  <a:lnTo>
                    <a:pt x="216801" y="120103"/>
                  </a:lnTo>
                  <a:lnTo>
                    <a:pt x="182003" y="149707"/>
                  </a:lnTo>
                  <a:lnTo>
                    <a:pt x="149707" y="182003"/>
                  </a:lnTo>
                  <a:lnTo>
                    <a:pt x="120103" y="216801"/>
                  </a:lnTo>
                  <a:lnTo>
                    <a:pt x="93332" y="253936"/>
                  </a:lnTo>
                  <a:lnTo>
                    <a:pt x="69596" y="293243"/>
                  </a:lnTo>
                  <a:lnTo>
                    <a:pt x="49034" y="334543"/>
                  </a:lnTo>
                  <a:lnTo>
                    <a:pt x="31838" y="377685"/>
                  </a:lnTo>
                  <a:lnTo>
                    <a:pt x="18161" y="422478"/>
                  </a:lnTo>
                  <a:lnTo>
                    <a:pt x="8191" y="468769"/>
                  </a:lnTo>
                  <a:lnTo>
                    <a:pt x="2082" y="516382"/>
                  </a:lnTo>
                  <a:lnTo>
                    <a:pt x="0" y="565137"/>
                  </a:lnTo>
                  <a:lnTo>
                    <a:pt x="2082" y="613905"/>
                  </a:lnTo>
                  <a:lnTo>
                    <a:pt x="8191" y="661517"/>
                  </a:lnTo>
                  <a:lnTo>
                    <a:pt x="18161" y="707796"/>
                  </a:lnTo>
                  <a:lnTo>
                    <a:pt x="31838" y="752602"/>
                  </a:lnTo>
                  <a:lnTo>
                    <a:pt x="49034" y="795731"/>
                  </a:lnTo>
                  <a:lnTo>
                    <a:pt x="69596" y="837044"/>
                  </a:lnTo>
                  <a:lnTo>
                    <a:pt x="93332" y="876350"/>
                  </a:lnTo>
                  <a:lnTo>
                    <a:pt x="120103" y="913485"/>
                  </a:lnTo>
                  <a:lnTo>
                    <a:pt x="149707" y="948283"/>
                  </a:lnTo>
                  <a:lnTo>
                    <a:pt x="182003" y="980567"/>
                  </a:lnTo>
                  <a:lnTo>
                    <a:pt x="216801" y="1010183"/>
                  </a:lnTo>
                  <a:lnTo>
                    <a:pt x="253936" y="1036942"/>
                  </a:lnTo>
                  <a:lnTo>
                    <a:pt x="293243" y="1060691"/>
                  </a:lnTo>
                  <a:lnTo>
                    <a:pt x="334543" y="1081239"/>
                  </a:lnTo>
                  <a:lnTo>
                    <a:pt x="377685" y="1098448"/>
                  </a:lnTo>
                  <a:lnTo>
                    <a:pt x="422478" y="1112113"/>
                  </a:lnTo>
                  <a:lnTo>
                    <a:pt x="468769" y="1122095"/>
                  </a:lnTo>
                  <a:lnTo>
                    <a:pt x="516382" y="1128204"/>
                  </a:lnTo>
                  <a:lnTo>
                    <a:pt x="565137" y="1130274"/>
                  </a:lnTo>
                  <a:lnTo>
                    <a:pt x="618045" y="1127823"/>
                  </a:lnTo>
                  <a:lnTo>
                    <a:pt x="669569" y="1120635"/>
                  </a:lnTo>
                  <a:lnTo>
                    <a:pt x="719505" y="1108900"/>
                  </a:lnTo>
                  <a:lnTo>
                    <a:pt x="767626" y="1092860"/>
                  </a:lnTo>
                  <a:lnTo>
                    <a:pt x="813714" y="1072730"/>
                  </a:lnTo>
                  <a:lnTo>
                    <a:pt x="857567" y="1048727"/>
                  </a:lnTo>
                  <a:lnTo>
                    <a:pt x="898956" y="1021080"/>
                  </a:lnTo>
                  <a:lnTo>
                    <a:pt x="1211897" y="1180503"/>
                  </a:lnTo>
                  <a:close/>
                </a:path>
                <a:path w="2025015" h="2257425">
                  <a:moveTo>
                    <a:pt x="1878114" y="1193101"/>
                  </a:moveTo>
                  <a:lnTo>
                    <a:pt x="1874304" y="1145933"/>
                  </a:lnTo>
                  <a:lnTo>
                    <a:pt x="1863293" y="1101178"/>
                  </a:lnTo>
                  <a:lnTo>
                    <a:pt x="1845652" y="1059446"/>
                  </a:lnTo>
                  <a:lnTo>
                    <a:pt x="1822005" y="1021346"/>
                  </a:lnTo>
                  <a:lnTo>
                    <a:pt x="1792935" y="987463"/>
                  </a:lnTo>
                  <a:lnTo>
                    <a:pt x="1768703" y="966685"/>
                  </a:lnTo>
                  <a:lnTo>
                    <a:pt x="1768703" y="1304671"/>
                  </a:lnTo>
                  <a:lnTo>
                    <a:pt x="1735277" y="1346250"/>
                  </a:lnTo>
                  <a:lnTo>
                    <a:pt x="1692656" y="1378356"/>
                  </a:lnTo>
                  <a:lnTo>
                    <a:pt x="1642694" y="1399032"/>
                  </a:lnTo>
                  <a:lnTo>
                    <a:pt x="1587296" y="1406359"/>
                  </a:lnTo>
                  <a:lnTo>
                    <a:pt x="1531899" y="1399032"/>
                  </a:lnTo>
                  <a:lnTo>
                    <a:pt x="1481950" y="1378356"/>
                  </a:lnTo>
                  <a:lnTo>
                    <a:pt x="1439316" y="1346250"/>
                  </a:lnTo>
                  <a:lnTo>
                    <a:pt x="1405890" y="1304671"/>
                  </a:lnTo>
                  <a:lnTo>
                    <a:pt x="1768703" y="1304671"/>
                  </a:lnTo>
                  <a:lnTo>
                    <a:pt x="1768703" y="966685"/>
                  </a:lnTo>
                  <a:lnTo>
                    <a:pt x="1720951" y="934745"/>
                  </a:lnTo>
                  <a:lnTo>
                    <a:pt x="1679219" y="917117"/>
                  </a:lnTo>
                  <a:lnTo>
                    <a:pt x="1634464" y="906094"/>
                  </a:lnTo>
                  <a:lnTo>
                    <a:pt x="1587296" y="902284"/>
                  </a:lnTo>
                  <a:lnTo>
                    <a:pt x="1540116" y="906094"/>
                  </a:lnTo>
                  <a:lnTo>
                    <a:pt x="1495374" y="917117"/>
                  </a:lnTo>
                  <a:lnTo>
                    <a:pt x="1453642" y="934745"/>
                  </a:lnTo>
                  <a:lnTo>
                    <a:pt x="1415542" y="958392"/>
                  </a:lnTo>
                  <a:lnTo>
                    <a:pt x="1381658" y="987463"/>
                  </a:lnTo>
                  <a:lnTo>
                    <a:pt x="1352588" y="1021346"/>
                  </a:lnTo>
                  <a:lnTo>
                    <a:pt x="1328940" y="1059446"/>
                  </a:lnTo>
                  <a:lnTo>
                    <a:pt x="1311300" y="1101178"/>
                  </a:lnTo>
                  <a:lnTo>
                    <a:pt x="1300289" y="1145933"/>
                  </a:lnTo>
                  <a:lnTo>
                    <a:pt x="1296479" y="1193101"/>
                  </a:lnTo>
                  <a:lnTo>
                    <a:pt x="1300289" y="1240282"/>
                  </a:lnTo>
                  <a:lnTo>
                    <a:pt x="1311300" y="1285024"/>
                  </a:lnTo>
                  <a:lnTo>
                    <a:pt x="1328940" y="1326756"/>
                  </a:lnTo>
                  <a:lnTo>
                    <a:pt x="1352588" y="1364856"/>
                  </a:lnTo>
                  <a:lnTo>
                    <a:pt x="1381658" y="1398739"/>
                  </a:lnTo>
                  <a:lnTo>
                    <a:pt x="1415542" y="1427810"/>
                  </a:lnTo>
                  <a:lnTo>
                    <a:pt x="1453642" y="1451457"/>
                  </a:lnTo>
                  <a:lnTo>
                    <a:pt x="1495374" y="1469097"/>
                  </a:lnTo>
                  <a:lnTo>
                    <a:pt x="1540116" y="1480121"/>
                  </a:lnTo>
                  <a:lnTo>
                    <a:pt x="1587296" y="1483918"/>
                  </a:lnTo>
                  <a:lnTo>
                    <a:pt x="1634464" y="1480121"/>
                  </a:lnTo>
                  <a:lnTo>
                    <a:pt x="1679219" y="1469097"/>
                  </a:lnTo>
                  <a:lnTo>
                    <a:pt x="1720951" y="1451457"/>
                  </a:lnTo>
                  <a:lnTo>
                    <a:pt x="1759051" y="1427810"/>
                  </a:lnTo>
                  <a:lnTo>
                    <a:pt x="1792935" y="1398739"/>
                  </a:lnTo>
                  <a:lnTo>
                    <a:pt x="1822005" y="1364856"/>
                  </a:lnTo>
                  <a:lnTo>
                    <a:pt x="1845652" y="1326756"/>
                  </a:lnTo>
                  <a:lnTo>
                    <a:pt x="1854987" y="1304671"/>
                  </a:lnTo>
                  <a:lnTo>
                    <a:pt x="1863293" y="1285024"/>
                  </a:lnTo>
                  <a:lnTo>
                    <a:pt x="1874304" y="1240282"/>
                  </a:lnTo>
                  <a:lnTo>
                    <a:pt x="1878114" y="1193101"/>
                  </a:lnTo>
                  <a:close/>
                </a:path>
                <a:path w="2025015" h="2257425">
                  <a:moveTo>
                    <a:pt x="2024468" y="1640103"/>
                  </a:moveTo>
                  <a:lnTo>
                    <a:pt x="1969439" y="1597355"/>
                  </a:lnTo>
                  <a:lnTo>
                    <a:pt x="1919566" y="1573009"/>
                  </a:lnTo>
                  <a:lnTo>
                    <a:pt x="1876488" y="1561274"/>
                  </a:lnTo>
                  <a:lnTo>
                    <a:pt x="1843252" y="1557896"/>
                  </a:lnTo>
                  <a:lnTo>
                    <a:pt x="1842452" y="1557896"/>
                  </a:lnTo>
                  <a:lnTo>
                    <a:pt x="1839087" y="1557566"/>
                  </a:lnTo>
                  <a:lnTo>
                    <a:pt x="1337614" y="1557566"/>
                  </a:lnTo>
                  <a:lnTo>
                    <a:pt x="1328521" y="1557896"/>
                  </a:lnTo>
                  <a:lnTo>
                    <a:pt x="1329994" y="1557896"/>
                  </a:lnTo>
                  <a:lnTo>
                    <a:pt x="1324038" y="1558531"/>
                  </a:lnTo>
                  <a:lnTo>
                    <a:pt x="1267904" y="1577352"/>
                  </a:lnTo>
                  <a:lnTo>
                    <a:pt x="1227747" y="1605026"/>
                  </a:lnTo>
                  <a:lnTo>
                    <a:pt x="1189355" y="1641995"/>
                  </a:lnTo>
                  <a:lnTo>
                    <a:pt x="1151496" y="1686001"/>
                  </a:lnTo>
                  <a:lnTo>
                    <a:pt x="1112964" y="1734756"/>
                  </a:lnTo>
                  <a:lnTo>
                    <a:pt x="1099324" y="1752206"/>
                  </a:lnTo>
                  <a:lnTo>
                    <a:pt x="1084110" y="1771396"/>
                  </a:lnTo>
                  <a:lnTo>
                    <a:pt x="1068108" y="1791042"/>
                  </a:lnTo>
                  <a:lnTo>
                    <a:pt x="1052118" y="1809864"/>
                  </a:lnTo>
                  <a:lnTo>
                    <a:pt x="1047115" y="1782902"/>
                  </a:lnTo>
                  <a:lnTo>
                    <a:pt x="1037704" y="1706333"/>
                  </a:lnTo>
                  <a:lnTo>
                    <a:pt x="1033754" y="1655051"/>
                  </a:lnTo>
                  <a:lnTo>
                    <a:pt x="1030643" y="1594015"/>
                  </a:lnTo>
                  <a:lnTo>
                    <a:pt x="1028611" y="1522691"/>
                  </a:lnTo>
                  <a:lnTo>
                    <a:pt x="1027874" y="1439303"/>
                  </a:lnTo>
                  <a:lnTo>
                    <a:pt x="1027861" y="1398841"/>
                  </a:lnTo>
                  <a:lnTo>
                    <a:pt x="1027823" y="1207973"/>
                  </a:lnTo>
                  <a:lnTo>
                    <a:pt x="1025144" y="1194790"/>
                  </a:lnTo>
                  <a:lnTo>
                    <a:pt x="1017854" y="1183995"/>
                  </a:lnTo>
                  <a:lnTo>
                    <a:pt x="1007059" y="1176705"/>
                  </a:lnTo>
                  <a:lnTo>
                    <a:pt x="993889" y="1174038"/>
                  </a:lnTo>
                  <a:lnTo>
                    <a:pt x="980719" y="1176705"/>
                  </a:lnTo>
                  <a:lnTo>
                    <a:pt x="969937" y="1183995"/>
                  </a:lnTo>
                  <a:lnTo>
                    <a:pt x="962647" y="1194790"/>
                  </a:lnTo>
                  <a:lnTo>
                    <a:pt x="959967" y="1207973"/>
                  </a:lnTo>
                  <a:lnTo>
                    <a:pt x="959967" y="1398841"/>
                  </a:lnTo>
                  <a:lnTo>
                    <a:pt x="912825" y="1396746"/>
                  </a:lnTo>
                  <a:lnTo>
                    <a:pt x="867905" y="1402778"/>
                  </a:lnTo>
                  <a:lnTo>
                    <a:pt x="834288" y="1416964"/>
                  </a:lnTo>
                  <a:lnTo>
                    <a:pt x="821067" y="1439303"/>
                  </a:lnTo>
                  <a:lnTo>
                    <a:pt x="821715" y="1522374"/>
                  </a:lnTo>
                  <a:lnTo>
                    <a:pt x="823595" y="1594015"/>
                  </a:lnTo>
                  <a:lnTo>
                    <a:pt x="827151" y="1667840"/>
                  </a:lnTo>
                  <a:lnTo>
                    <a:pt x="832078" y="1730146"/>
                  </a:lnTo>
                  <a:lnTo>
                    <a:pt x="838581" y="1786001"/>
                  </a:lnTo>
                  <a:lnTo>
                    <a:pt x="846734" y="1835670"/>
                  </a:lnTo>
                  <a:lnTo>
                    <a:pt x="856615" y="1879460"/>
                  </a:lnTo>
                  <a:lnTo>
                    <a:pt x="868299" y="1917636"/>
                  </a:lnTo>
                  <a:lnTo>
                    <a:pt x="897369" y="1978317"/>
                  </a:lnTo>
                  <a:lnTo>
                    <a:pt x="934707" y="2020112"/>
                  </a:lnTo>
                  <a:lnTo>
                    <a:pt x="980389" y="2044928"/>
                  </a:lnTo>
                  <a:lnTo>
                    <a:pt x="1029335" y="2053386"/>
                  </a:lnTo>
                  <a:lnTo>
                    <a:pt x="1075956" y="2045677"/>
                  </a:lnTo>
                  <a:lnTo>
                    <a:pt x="1119822" y="2024545"/>
                  </a:lnTo>
                  <a:lnTo>
                    <a:pt x="1161211" y="1992960"/>
                  </a:lnTo>
                  <a:lnTo>
                    <a:pt x="1200416" y="1953907"/>
                  </a:lnTo>
                  <a:lnTo>
                    <a:pt x="1237716" y="1910372"/>
                  </a:lnTo>
                  <a:lnTo>
                    <a:pt x="1237716" y="2257399"/>
                  </a:lnTo>
                  <a:lnTo>
                    <a:pt x="1936864" y="2257399"/>
                  </a:lnTo>
                  <a:lnTo>
                    <a:pt x="1936864" y="1910372"/>
                  </a:lnTo>
                  <a:lnTo>
                    <a:pt x="1936864" y="1868982"/>
                  </a:lnTo>
                  <a:lnTo>
                    <a:pt x="1958086" y="1919935"/>
                  </a:lnTo>
                  <a:lnTo>
                    <a:pt x="1977885" y="1983371"/>
                  </a:lnTo>
                  <a:lnTo>
                    <a:pt x="1995411" y="2060359"/>
                  </a:lnTo>
                  <a:lnTo>
                    <a:pt x="2003056" y="2104263"/>
                  </a:lnTo>
                  <a:lnTo>
                    <a:pt x="2009825" y="2151951"/>
                  </a:lnTo>
                  <a:lnTo>
                    <a:pt x="2015604" y="2203551"/>
                  </a:lnTo>
                  <a:lnTo>
                    <a:pt x="2020138" y="2257399"/>
                  </a:lnTo>
                  <a:lnTo>
                    <a:pt x="2024468" y="2257399"/>
                  </a:lnTo>
                  <a:lnTo>
                    <a:pt x="2024468" y="1868982"/>
                  </a:lnTo>
                  <a:lnTo>
                    <a:pt x="2024468" y="1809864"/>
                  </a:lnTo>
                  <a:lnTo>
                    <a:pt x="2024468" y="16401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07923" y="220562"/>
            <a:ext cx="3411854" cy="113792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40"/>
              </a:spcBef>
            </a:pPr>
            <a:r>
              <a:rPr sz="3800" spc="-10" dirty="0">
                <a:solidFill>
                  <a:srgbClr val="FFC425"/>
                </a:solidFill>
              </a:rPr>
              <a:t>Investigation </a:t>
            </a:r>
            <a:r>
              <a:rPr sz="3800" dirty="0">
                <a:solidFill>
                  <a:srgbClr val="FFC425"/>
                </a:solidFill>
              </a:rPr>
              <a:t>and</a:t>
            </a:r>
            <a:r>
              <a:rPr sz="3800" spc="-140" dirty="0">
                <a:solidFill>
                  <a:srgbClr val="FFC425"/>
                </a:solidFill>
              </a:rPr>
              <a:t> </a:t>
            </a:r>
            <a:r>
              <a:rPr sz="3800" spc="-75" dirty="0">
                <a:solidFill>
                  <a:srgbClr val="FFC425"/>
                </a:solidFill>
              </a:rPr>
              <a:t>Resolution</a:t>
            </a:r>
            <a:endParaRPr sz="3800"/>
          </a:p>
        </p:txBody>
      </p:sp>
      <p:sp>
        <p:nvSpPr>
          <p:cNvPr id="7" name="object 7"/>
          <p:cNvSpPr txBox="1"/>
          <p:nvPr/>
        </p:nvSpPr>
        <p:spPr>
          <a:xfrm>
            <a:off x="7268742" y="5607862"/>
            <a:ext cx="63817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1" spc="40" dirty="0">
                <a:solidFill>
                  <a:srgbClr val="FFFFFF"/>
                </a:solidFill>
                <a:latin typeface="Arial"/>
                <a:cs typeface="Arial"/>
              </a:rPr>
              <a:t>Q:</a:t>
            </a:r>
            <a:endParaRPr sz="4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52790" y="5593160"/>
            <a:ext cx="57912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1" spc="-25" dirty="0">
                <a:solidFill>
                  <a:srgbClr val="FFFFFF"/>
                </a:solidFill>
                <a:latin typeface="Arial"/>
                <a:cs typeface="Arial"/>
              </a:rPr>
              <a:t>A:</a:t>
            </a:r>
            <a:endParaRPr sz="4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4500" y="3289214"/>
            <a:ext cx="358203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b="1" spc="-30" dirty="0">
                <a:solidFill>
                  <a:srgbClr val="FFC425"/>
                </a:solidFill>
                <a:latin typeface="Arial"/>
                <a:cs typeface="Arial"/>
              </a:rPr>
              <a:t>Non-</a:t>
            </a:r>
            <a:r>
              <a:rPr sz="3800" b="1" spc="-10" dirty="0">
                <a:solidFill>
                  <a:srgbClr val="FFC425"/>
                </a:solidFill>
                <a:latin typeface="Arial"/>
                <a:cs typeface="Arial"/>
              </a:rPr>
              <a:t>Retaliation</a:t>
            </a:r>
            <a:endParaRPr sz="3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3644" y="5122419"/>
            <a:ext cx="4281170" cy="1856739"/>
          </a:xfrm>
          <a:prstGeom prst="rect">
            <a:avLst/>
          </a:prstGeom>
        </p:spPr>
        <p:txBody>
          <a:bodyPr vert="horz" wrap="square" lIns="0" tIns="300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70"/>
              </a:spcBef>
            </a:pPr>
            <a:r>
              <a:rPr sz="3800" b="1" spc="-50" dirty="0">
                <a:solidFill>
                  <a:srgbClr val="FFC425"/>
                </a:solidFill>
                <a:latin typeface="Arial"/>
                <a:cs typeface="Arial"/>
              </a:rPr>
              <a:t>Disciplinary</a:t>
            </a:r>
            <a:r>
              <a:rPr sz="3800" b="1" spc="-200" dirty="0">
                <a:solidFill>
                  <a:srgbClr val="FFC425"/>
                </a:solidFill>
                <a:latin typeface="Arial"/>
                <a:cs typeface="Arial"/>
              </a:rPr>
              <a:t> </a:t>
            </a:r>
            <a:r>
              <a:rPr sz="3800" b="1" spc="-10" dirty="0">
                <a:solidFill>
                  <a:srgbClr val="FFC425"/>
                </a:solidFill>
                <a:latin typeface="Arial"/>
                <a:cs typeface="Arial"/>
              </a:rPr>
              <a:t>Action</a:t>
            </a:r>
            <a:endParaRPr sz="3800" dirty="0">
              <a:latin typeface="Arial"/>
              <a:cs typeface="Arial"/>
            </a:endParaRPr>
          </a:p>
          <a:p>
            <a:pPr marL="76200" marR="1840864">
              <a:lnSpc>
                <a:spcPct val="100000"/>
              </a:lnSpc>
              <a:spcBef>
                <a:spcPts val="685"/>
              </a:spcBef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Violations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Code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Conduct,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lang="en-US" sz="1150" dirty="0">
                <a:solidFill>
                  <a:srgbClr val="231F20"/>
                </a:solidFill>
                <a:latin typeface="Avenir Book"/>
                <a:cs typeface="Avenir Book"/>
              </a:rPr>
              <a:t>Destiny Springs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policy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or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procedure,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may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result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counseling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and/or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disciplinary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action,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up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and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including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termination.</a:t>
            </a:r>
            <a:endParaRPr sz="1150" dirty="0">
              <a:latin typeface="Avenir Book"/>
              <a:cs typeface="Avenir Boo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49980" y="356692"/>
            <a:ext cx="2968625" cy="263588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800" i="1" dirty="0">
                <a:solidFill>
                  <a:srgbClr val="FFC425"/>
                </a:solidFill>
                <a:latin typeface="Arial"/>
                <a:cs typeface="Arial"/>
              </a:rPr>
              <a:t>Just</a:t>
            </a:r>
            <a:r>
              <a:rPr sz="1800" i="1" spc="-35" dirty="0">
                <a:solidFill>
                  <a:srgbClr val="FFC425"/>
                </a:solidFill>
                <a:latin typeface="Arial"/>
                <a:cs typeface="Arial"/>
              </a:rPr>
              <a:t> Culture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409"/>
              </a:spcBef>
            </a:pP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We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align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with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the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principles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of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“Just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Culture”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to</a:t>
            </a:r>
            <a:r>
              <a:rPr sz="1150" spc="-3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build</a:t>
            </a:r>
            <a:r>
              <a:rPr sz="1150" spc="-2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an</a:t>
            </a:r>
            <a:r>
              <a:rPr sz="1150" spc="-2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environment</a:t>
            </a:r>
            <a:r>
              <a:rPr sz="1150" spc="-2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of</a:t>
            </a:r>
            <a:r>
              <a:rPr sz="1150" spc="-2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safety.</a:t>
            </a:r>
            <a:r>
              <a:rPr sz="1150" spc="-2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A</a:t>
            </a:r>
            <a:r>
              <a:rPr sz="1150" spc="-2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Just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Culture</a:t>
            </a:r>
            <a:r>
              <a:rPr sz="1150" spc="-2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defines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three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types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of</a:t>
            </a:r>
            <a:r>
              <a:rPr sz="1150" spc="-2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errors:</a:t>
            </a:r>
            <a:endParaRPr sz="1150">
              <a:latin typeface="Avenir Book"/>
              <a:cs typeface="Avenir Book"/>
            </a:endParaRPr>
          </a:p>
          <a:p>
            <a:pPr marL="241300" marR="62230" indent="-228600">
              <a:lnSpc>
                <a:spcPct val="100000"/>
              </a:lnSpc>
              <a:spcBef>
                <a:spcPts val="540"/>
              </a:spcBef>
              <a:buAutoNum type="arabicPeriod"/>
              <a:tabLst>
                <a:tab pos="241300" algn="l"/>
              </a:tabLst>
            </a:pPr>
            <a:r>
              <a:rPr sz="1150" spc="-30" dirty="0">
                <a:solidFill>
                  <a:srgbClr val="FFFFFF"/>
                </a:solidFill>
                <a:latin typeface="Avenir Book"/>
                <a:cs typeface="Avenir Book"/>
              </a:rPr>
              <a:t>Error</a:t>
            </a:r>
            <a:r>
              <a:rPr sz="1150" spc="-4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because</a:t>
            </a:r>
            <a:r>
              <a:rPr sz="1150" spc="-4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of</a:t>
            </a:r>
            <a:r>
              <a:rPr sz="1150" spc="-4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human</a:t>
            </a:r>
            <a:r>
              <a:rPr sz="1150" spc="-4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FFFFFF"/>
                </a:solidFill>
                <a:latin typeface="Avenir Book"/>
                <a:cs typeface="Avenir Book"/>
              </a:rPr>
              <a:t>factors</a:t>
            </a:r>
            <a:r>
              <a:rPr sz="1150" spc="-4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(i.e. </a:t>
            </a:r>
            <a:r>
              <a:rPr sz="1150" spc="-25" dirty="0">
                <a:solidFill>
                  <a:srgbClr val="FFFFFF"/>
                </a:solidFill>
                <a:latin typeface="Avenir Book"/>
                <a:cs typeface="Avenir Book"/>
              </a:rPr>
              <a:t>fatigue,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 equipment </a:t>
            </a:r>
            <a:r>
              <a:rPr sz="1150" spc="-25" dirty="0">
                <a:solidFill>
                  <a:srgbClr val="FFFFFF"/>
                </a:solidFill>
                <a:latin typeface="Avenir Book"/>
                <a:cs typeface="Avenir Book"/>
              </a:rPr>
              <a:t>failure,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 system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failures)</a:t>
            </a:r>
            <a:endParaRPr sz="1150">
              <a:latin typeface="Avenir Book"/>
              <a:cs typeface="Avenir Book"/>
            </a:endParaRPr>
          </a:p>
          <a:p>
            <a:pPr marL="241300" marR="46990" indent="-228600">
              <a:lnSpc>
                <a:spcPct val="100000"/>
              </a:lnSpc>
              <a:spcBef>
                <a:spcPts val="540"/>
              </a:spcBef>
              <a:buAutoNum type="arabicPeriod"/>
              <a:tabLst>
                <a:tab pos="241300" algn="l"/>
              </a:tabLst>
            </a:pPr>
            <a:r>
              <a:rPr sz="1150" spc="-35" dirty="0">
                <a:solidFill>
                  <a:srgbClr val="FFFFFF"/>
                </a:solidFill>
                <a:latin typeface="Avenir Book"/>
                <a:cs typeface="Avenir Book"/>
              </a:rPr>
              <a:t>At-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risk</a:t>
            </a:r>
            <a:r>
              <a:rPr sz="1150" spc="-3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FFFFFF"/>
                </a:solidFill>
                <a:latin typeface="Avenir Book"/>
                <a:cs typeface="Avenir Book"/>
              </a:rPr>
              <a:t>behavior</a:t>
            </a:r>
            <a:r>
              <a:rPr sz="1150" spc="-3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that</a:t>
            </a:r>
            <a:r>
              <a:rPr sz="1150" spc="-3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differs</a:t>
            </a:r>
            <a:r>
              <a:rPr sz="1150" spc="-3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from</a:t>
            </a:r>
            <a:r>
              <a:rPr sz="1150" spc="-3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standards 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(i.e.</a:t>
            </a:r>
            <a:r>
              <a:rPr sz="1150" spc="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35" dirty="0">
                <a:solidFill>
                  <a:srgbClr val="FFFFFF"/>
                </a:solidFill>
                <a:latin typeface="Avenir Book"/>
                <a:cs typeface="Avenir Book"/>
              </a:rPr>
              <a:t>work-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arounds)</a:t>
            </a:r>
            <a:endParaRPr sz="1150">
              <a:latin typeface="Avenir Book"/>
              <a:cs typeface="Avenir Book"/>
            </a:endParaRPr>
          </a:p>
          <a:p>
            <a:pPr marL="241935" indent="-229235">
              <a:lnSpc>
                <a:spcPct val="100000"/>
              </a:lnSpc>
              <a:spcBef>
                <a:spcPts val="540"/>
              </a:spcBef>
              <a:buAutoNum type="arabicPeriod"/>
              <a:tabLst>
                <a:tab pos="241935" algn="l"/>
              </a:tabLst>
            </a:pP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Reckless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behavior</a:t>
            </a:r>
            <a:endParaRPr sz="1150">
              <a:latin typeface="Avenir Book"/>
              <a:cs typeface="Avenir Book"/>
            </a:endParaRPr>
          </a:p>
          <a:p>
            <a:pPr marL="12700" marR="34290">
              <a:lnSpc>
                <a:spcPct val="100000"/>
              </a:lnSpc>
              <a:spcBef>
                <a:spcPts val="540"/>
              </a:spcBef>
            </a:pP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If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an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error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occurs,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these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definitions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guide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FFFFFF"/>
                </a:solidFill>
                <a:latin typeface="Avenir Book"/>
                <a:cs typeface="Avenir Book"/>
              </a:rPr>
              <a:t>the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actions</a:t>
            </a:r>
            <a:r>
              <a:rPr sz="1150" spc="-2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of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management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to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respond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to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FFFFFF"/>
                </a:solidFill>
                <a:latin typeface="Avenir Book"/>
                <a:cs typeface="Avenir Book"/>
              </a:rPr>
              <a:t>the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incident 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fairly.</a:t>
            </a:r>
            <a:endParaRPr sz="1150">
              <a:latin typeface="Avenir Book"/>
              <a:cs typeface="Avenir Book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49980" y="3214191"/>
            <a:ext cx="2941320" cy="225488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800" i="1" spc="-254" dirty="0">
                <a:solidFill>
                  <a:srgbClr val="FFC425"/>
                </a:solidFill>
                <a:latin typeface="Arial"/>
                <a:cs typeface="Arial"/>
              </a:rPr>
              <a:t>Good</a:t>
            </a:r>
            <a:r>
              <a:rPr sz="1800" i="1" spc="35" dirty="0">
                <a:solidFill>
                  <a:srgbClr val="FFC425"/>
                </a:solidFill>
                <a:latin typeface="Arial"/>
                <a:cs typeface="Arial"/>
              </a:rPr>
              <a:t> </a:t>
            </a:r>
            <a:r>
              <a:rPr sz="1800" i="1" spc="-160" dirty="0">
                <a:solidFill>
                  <a:srgbClr val="FFC425"/>
                </a:solidFill>
                <a:latin typeface="Arial"/>
                <a:cs typeface="Arial"/>
              </a:rPr>
              <a:t>Faith</a:t>
            </a:r>
            <a:r>
              <a:rPr sz="1800" i="1" spc="40" dirty="0">
                <a:solidFill>
                  <a:srgbClr val="FFC425"/>
                </a:solidFill>
                <a:latin typeface="Arial"/>
                <a:cs typeface="Arial"/>
              </a:rPr>
              <a:t> </a:t>
            </a:r>
            <a:r>
              <a:rPr sz="1800" i="1" spc="-70" dirty="0">
                <a:solidFill>
                  <a:srgbClr val="FFC425"/>
                </a:solidFill>
                <a:latin typeface="Arial"/>
                <a:cs typeface="Arial"/>
              </a:rPr>
              <a:t>Reporting</a:t>
            </a:r>
            <a:endParaRPr sz="1800" dirty="0">
              <a:latin typeface="Arial"/>
              <a:cs typeface="Arial"/>
            </a:endParaRPr>
          </a:p>
          <a:p>
            <a:pPr marL="241300" marR="5080" indent="-228600">
              <a:lnSpc>
                <a:spcPct val="100000"/>
              </a:lnSpc>
              <a:spcBef>
                <a:spcPts val="409"/>
              </a:spcBef>
            </a:pP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Q: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I</a:t>
            </a:r>
            <a:r>
              <a:rPr sz="1150" spc="-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have</a:t>
            </a:r>
            <a:r>
              <a:rPr sz="1150" spc="-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serious</a:t>
            </a:r>
            <a:r>
              <a:rPr sz="1150" spc="-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concerns</a:t>
            </a:r>
            <a:r>
              <a:rPr sz="1150" spc="-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that</a:t>
            </a:r>
            <a:r>
              <a:rPr sz="1150" spc="-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a</a:t>
            </a:r>
            <a:r>
              <a:rPr sz="1150" spc="-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co-worker</a:t>
            </a:r>
            <a:r>
              <a:rPr sz="1150" spc="50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is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violating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a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lang="en-US" sz="1150" dirty="0">
                <a:solidFill>
                  <a:srgbClr val="FFFFFF"/>
                </a:solidFill>
                <a:latin typeface="Avenir Book"/>
                <a:cs typeface="Avenir Book"/>
              </a:rPr>
              <a:t>Destiny Springs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procedure.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Will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I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get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in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trouble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if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I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report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my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concern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and I am 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wrong?</a:t>
            </a:r>
            <a:endParaRPr sz="1150" dirty="0">
              <a:latin typeface="Avenir Book"/>
              <a:cs typeface="Avenir Book"/>
            </a:endParaRPr>
          </a:p>
          <a:p>
            <a:pPr marL="241300" marR="103505" indent="-228600">
              <a:lnSpc>
                <a:spcPct val="100000"/>
              </a:lnSpc>
              <a:spcBef>
                <a:spcPts val="540"/>
              </a:spcBef>
            </a:pP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A:</a:t>
            </a:r>
            <a:r>
              <a:rPr sz="1150" spc="30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No.</a:t>
            </a:r>
            <a:r>
              <a:rPr sz="1150" spc="-3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We</a:t>
            </a:r>
            <a:r>
              <a:rPr sz="1150" spc="-3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prohibit</a:t>
            </a:r>
            <a:r>
              <a:rPr sz="1150" spc="-3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retaliation</a:t>
            </a:r>
            <a:r>
              <a:rPr sz="1150" spc="-3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against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individuals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who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report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in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good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faith.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Good</a:t>
            </a:r>
            <a:r>
              <a:rPr sz="1150" spc="-3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faith</a:t>
            </a:r>
            <a:r>
              <a:rPr sz="1150" spc="-3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reporting</a:t>
            </a:r>
            <a:r>
              <a:rPr sz="1150" spc="-3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means</a:t>
            </a:r>
            <a:r>
              <a:rPr sz="1150" spc="-3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that</a:t>
            </a:r>
            <a:r>
              <a:rPr sz="1150" spc="-3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FFFFFF"/>
                </a:solidFill>
                <a:latin typeface="Avenir Book"/>
                <a:cs typeface="Avenir Book"/>
              </a:rPr>
              <a:t>you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have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a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strong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belief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that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a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potential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violation</a:t>
            </a:r>
            <a:r>
              <a:rPr sz="1150" spc="-2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has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occurred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and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delivering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FFFFFF"/>
                </a:solidFill>
                <a:latin typeface="Avenir Book"/>
                <a:cs typeface="Avenir Book"/>
              </a:rPr>
              <a:t>all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the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facts</a:t>
            </a:r>
            <a:r>
              <a:rPr sz="1150" spc="-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you</a:t>
            </a:r>
            <a:r>
              <a:rPr sz="1150" spc="-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know.</a:t>
            </a:r>
            <a:endParaRPr sz="1150" dirty="0">
              <a:latin typeface="Avenir Book"/>
              <a:cs typeface="Avenir Book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908014" y="5514999"/>
            <a:ext cx="2232660" cy="2257425"/>
            <a:chOff x="5908014" y="5514999"/>
            <a:chExt cx="2232660" cy="2257425"/>
          </a:xfrm>
        </p:grpSpPr>
        <p:sp>
          <p:nvSpPr>
            <p:cNvPr id="14" name="object 14"/>
            <p:cNvSpPr/>
            <p:nvPr/>
          </p:nvSpPr>
          <p:spPr>
            <a:xfrm>
              <a:off x="6261379" y="6305079"/>
              <a:ext cx="579755" cy="1467485"/>
            </a:xfrm>
            <a:custGeom>
              <a:avLst/>
              <a:gdLst/>
              <a:ahLst/>
              <a:cxnLst/>
              <a:rect l="l" t="t" r="r" b="b"/>
              <a:pathLst>
                <a:path w="579754" h="1467484">
                  <a:moveTo>
                    <a:pt x="412254" y="1434922"/>
                  </a:moveTo>
                  <a:lnTo>
                    <a:pt x="341744" y="915454"/>
                  </a:lnTo>
                  <a:lnTo>
                    <a:pt x="329069" y="919594"/>
                  </a:lnTo>
                  <a:lnTo>
                    <a:pt x="316153" y="922578"/>
                  </a:lnTo>
                  <a:lnTo>
                    <a:pt x="303085" y="924382"/>
                  </a:lnTo>
                  <a:lnTo>
                    <a:pt x="289839" y="924991"/>
                  </a:lnTo>
                  <a:lnTo>
                    <a:pt x="276669" y="924394"/>
                  </a:lnTo>
                  <a:lnTo>
                    <a:pt x="263575" y="922591"/>
                  </a:lnTo>
                  <a:lnTo>
                    <a:pt x="250647" y="919607"/>
                  </a:lnTo>
                  <a:lnTo>
                    <a:pt x="237972" y="915466"/>
                  </a:lnTo>
                  <a:lnTo>
                    <a:pt x="167474" y="1434922"/>
                  </a:lnTo>
                  <a:lnTo>
                    <a:pt x="193116" y="1467319"/>
                  </a:lnTo>
                  <a:lnTo>
                    <a:pt x="386600" y="1467319"/>
                  </a:lnTo>
                  <a:lnTo>
                    <a:pt x="412254" y="1434922"/>
                  </a:lnTo>
                  <a:close/>
                </a:path>
                <a:path w="579754" h="1467484">
                  <a:moveTo>
                    <a:pt x="579742" y="289864"/>
                  </a:moveTo>
                  <a:lnTo>
                    <a:pt x="575945" y="242836"/>
                  </a:lnTo>
                  <a:lnTo>
                    <a:pt x="564959" y="198234"/>
                  </a:lnTo>
                  <a:lnTo>
                    <a:pt x="547382" y="156641"/>
                  </a:lnTo>
                  <a:lnTo>
                    <a:pt x="523811" y="118668"/>
                  </a:lnTo>
                  <a:lnTo>
                    <a:pt x="494842" y="84886"/>
                  </a:lnTo>
                  <a:lnTo>
                    <a:pt x="461060" y="55918"/>
                  </a:lnTo>
                  <a:lnTo>
                    <a:pt x="423075" y="32346"/>
                  </a:lnTo>
                  <a:lnTo>
                    <a:pt x="381482" y="14770"/>
                  </a:lnTo>
                  <a:lnTo>
                    <a:pt x="336880" y="3784"/>
                  </a:lnTo>
                  <a:lnTo>
                    <a:pt x="289864" y="0"/>
                  </a:lnTo>
                  <a:lnTo>
                    <a:pt x="242849" y="3784"/>
                  </a:lnTo>
                  <a:lnTo>
                    <a:pt x="198247" y="14770"/>
                  </a:lnTo>
                  <a:lnTo>
                    <a:pt x="156654" y="32346"/>
                  </a:lnTo>
                  <a:lnTo>
                    <a:pt x="118668" y="55918"/>
                  </a:lnTo>
                  <a:lnTo>
                    <a:pt x="84899" y="84886"/>
                  </a:lnTo>
                  <a:lnTo>
                    <a:pt x="55918" y="118668"/>
                  </a:lnTo>
                  <a:lnTo>
                    <a:pt x="32346" y="156641"/>
                  </a:lnTo>
                  <a:lnTo>
                    <a:pt x="14770" y="198234"/>
                  </a:lnTo>
                  <a:lnTo>
                    <a:pt x="3784" y="242836"/>
                  </a:lnTo>
                  <a:lnTo>
                    <a:pt x="0" y="289864"/>
                  </a:lnTo>
                  <a:lnTo>
                    <a:pt x="3784" y="336880"/>
                  </a:lnTo>
                  <a:lnTo>
                    <a:pt x="14770" y="381482"/>
                  </a:lnTo>
                  <a:lnTo>
                    <a:pt x="32346" y="423075"/>
                  </a:lnTo>
                  <a:lnTo>
                    <a:pt x="55918" y="461060"/>
                  </a:lnTo>
                  <a:lnTo>
                    <a:pt x="84899" y="494830"/>
                  </a:lnTo>
                  <a:lnTo>
                    <a:pt x="118668" y="523798"/>
                  </a:lnTo>
                  <a:lnTo>
                    <a:pt x="156654" y="547370"/>
                  </a:lnTo>
                  <a:lnTo>
                    <a:pt x="198247" y="564946"/>
                  </a:lnTo>
                  <a:lnTo>
                    <a:pt x="242849" y="575932"/>
                  </a:lnTo>
                  <a:lnTo>
                    <a:pt x="289864" y="579729"/>
                  </a:lnTo>
                  <a:lnTo>
                    <a:pt x="298170" y="579729"/>
                  </a:lnTo>
                  <a:lnTo>
                    <a:pt x="314452" y="578624"/>
                  </a:lnTo>
                  <a:lnTo>
                    <a:pt x="313982" y="572287"/>
                  </a:lnTo>
                  <a:lnTo>
                    <a:pt x="313804" y="565899"/>
                  </a:lnTo>
                  <a:lnTo>
                    <a:pt x="323037" y="520484"/>
                  </a:lnTo>
                  <a:lnTo>
                    <a:pt x="328472" y="508457"/>
                  </a:lnTo>
                  <a:lnTo>
                    <a:pt x="300596" y="504151"/>
                  </a:lnTo>
                  <a:lnTo>
                    <a:pt x="270167" y="493026"/>
                  </a:lnTo>
                  <a:lnTo>
                    <a:pt x="237121" y="474116"/>
                  </a:lnTo>
                  <a:lnTo>
                    <a:pt x="201422" y="446468"/>
                  </a:lnTo>
                  <a:lnTo>
                    <a:pt x="307949" y="450342"/>
                  </a:lnTo>
                  <a:lnTo>
                    <a:pt x="372872" y="443674"/>
                  </a:lnTo>
                  <a:lnTo>
                    <a:pt x="422617" y="419303"/>
                  </a:lnTo>
                  <a:lnTo>
                    <a:pt x="483666" y="370065"/>
                  </a:lnTo>
                  <a:lnTo>
                    <a:pt x="477075" y="389864"/>
                  </a:lnTo>
                  <a:lnTo>
                    <a:pt x="471322" y="403479"/>
                  </a:lnTo>
                  <a:lnTo>
                    <a:pt x="463232" y="417207"/>
                  </a:lnTo>
                  <a:lnTo>
                    <a:pt x="449592" y="437375"/>
                  </a:lnTo>
                  <a:lnTo>
                    <a:pt x="469265" y="439483"/>
                  </a:lnTo>
                  <a:lnTo>
                    <a:pt x="488213" y="444449"/>
                  </a:lnTo>
                  <a:lnTo>
                    <a:pt x="506133" y="452132"/>
                  </a:lnTo>
                  <a:lnTo>
                    <a:pt x="522757" y="462445"/>
                  </a:lnTo>
                  <a:lnTo>
                    <a:pt x="546760" y="424218"/>
                  </a:lnTo>
                  <a:lnTo>
                    <a:pt x="564667" y="382308"/>
                  </a:lnTo>
                  <a:lnTo>
                    <a:pt x="575868" y="337324"/>
                  </a:lnTo>
                  <a:lnTo>
                    <a:pt x="579742" y="2898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7802" y="7063642"/>
              <a:ext cx="146862" cy="12777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908002" y="5515000"/>
              <a:ext cx="2232660" cy="2257425"/>
            </a:xfrm>
            <a:custGeom>
              <a:avLst/>
              <a:gdLst/>
              <a:ahLst/>
              <a:cxnLst/>
              <a:rect l="l" t="t" r="r" b="b"/>
              <a:pathLst>
                <a:path w="2232659" h="2257425">
                  <a:moveTo>
                    <a:pt x="991692" y="1786356"/>
                  </a:moveTo>
                  <a:lnTo>
                    <a:pt x="964438" y="1753603"/>
                  </a:lnTo>
                  <a:lnTo>
                    <a:pt x="918032" y="1698510"/>
                  </a:lnTo>
                  <a:lnTo>
                    <a:pt x="820496" y="1584490"/>
                  </a:lnTo>
                  <a:lnTo>
                    <a:pt x="699122" y="1444332"/>
                  </a:lnTo>
                  <a:lnTo>
                    <a:pt x="698728" y="1443761"/>
                  </a:lnTo>
                  <a:lnTo>
                    <a:pt x="698284" y="1443215"/>
                  </a:lnTo>
                  <a:lnTo>
                    <a:pt x="392176" y="1443215"/>
                  </a:lnTo>
                  <a:lnTo>
                    <a:pt x="390017" y="1443405"/>
                  </a:lnTo>
                  <a:lnTo>
                    <a:pt x="387832" y="1443545"/>
                  </a:lnTo>
                  <a:lnTo>
                    <a:pt x="311797" y="1458722"/>
                  </a:lnTo>
                  <a:lnTo>
                    <a:pt x="262204" y="1482979"/>
                  </a:lnTo>
                  <a:lnTo>
                    <a:pt x="208965" y="1523987"/>
                  </a:lnTo>
                  <a:lnTo>
                    <a:pt x="166090" y="1571472"/>
                  </a:lnTo>
                  <a:lnTo>
                    <a:pt x="128092" y="1628787"/>
                  </a:lnTo>
                  <a:lnTo>
                    <a:pt x="94970" y="1695881"/>
                  </a:lnTo>
                  <a:lnTo>
                    <a:pt x="80238" y="1733080"/>
                  </a:lnTo>
                  <a:lnTo>
                    <a:pt x="66738" y="1772716"/>
                  </a:lnTo>
                  <a:lnTo>
                    <a:pt x="54457" y="1814766"/>
                  </a:lnTo>
                  <a:lnTo>
                    <a:pt x="43395" y="1859241"/>
                  </a:lnTo>
                  <a:lnTo>
                    <a:pt x="33566" y="1906117"/>
                  </a:lnTo>
                  <a:lnTo>
                    <a:pt x="24968" y="1955406"/>
                  </a:lnTo>
                  <a:lnTo>
                    <a:pt x="17589" y="2007108"/>
                  </a:lnTo>
                  <a:lnTo>
                    <a:pt x="11442" y="2061184"/>
                  </a:lnTo>
                  <a:lnTo>
                    <a:pt x="6527" y="2117661"/>
                  </a:lnTo>
                  <a:lnTo>
                    <a:pt x="2832" y="2176526"/>
                  </a:lnTo>
                  <a:lnTo>
                    <a:pt x="381" y="2237765"/>
                  </a:lnTo>
                  <a:lnTo>
                    <a:pt x="0" y="2257399"/>
                  </a:lnTo>
                  <a:lnTo>
                    <a:pt x="206324" y="2257399"/>
                  </a:lnTo>
                  <a:lnTo>
                    <a:pt x="208191" y="2202180"/>
                  </a:lnTo>
                  <a:lnTo>
                    <a:pt x="211670" y="2142553"/>
                  </a:lnTo>
                  <a:lnTo>
                    <a:pt x="216331" y="2087092"/>
                  </a:lnTo>
                  <a:lnTo>
                    <a:pt x="222097" y="2035657"/>
                  </a:lnTo>
                  <a:lnTo>
                    <a:pt x="228828" y="1988134"/>
                  </a:lnTo>
                  <a:lnTo>
                    <a:pt x="236461" y="1944370"/>
                  </a:lnTo>
                  <a:lnTo>
                    <a:pt x="244856" y="1904250"/>
                  </a:lnTo>
                  <a:lnTo>
                    <a:pt x="263563" y="1834388"/>
                  </a:lnTo>
                  <a:lnTo>
                    <a:pt x="284111" y="1777504"/>
                  </a:lnTo>
                  <a:lnTo>
                    <a:pt x="294817" y="1753603"/>
                  </a:lnTo>
                  <a:lnTo>
                    <a:pt x="294817" y="2257399"/>
                  </a:lnTo>
                  <a:lnTo>
                    <a:pt x="991692" y="2257399"/>
                  </a:lnTo>
                  <a:lnTo>
                    <a:pt x="991692" y="1786356"/>
                  </a:lnTo>
                  <a:close/>
                </a:path>
                <a:path w="2232659" h="2257425">
                  <a:moveTo>
                    <a:pt x="1275118" y="1832991"/>
                  </a:moveTo>
                  <a:lnTo>
                    <a:pt x="1273276" y="1785797"/>
                  </a:lnTo>
                  <a:lnTo>
                    <a:pt x="1242910" y="1725688"/>
                  </a:lnTo>
                  <a:lnTo>
                    <a:pt x="1217752" y="1692859"/>
                  </a:lnTo>
                  <a:lnTo>
                    <a:pt x="1181379" y="1647863"/>
                  </a:lnTo>
                  <a:lnTo>
                    <a:pt x="1133919" y="1590776"/>
                  </a:lnTo>
                  <a:lnTo>
                    <a:pt x="1074712" y="1520812"/>
                  </a:lnTo>
                  <a:lnTo>
                    <a:pt x="1003922" y="1438186"/>
                  </a:lnTo>
                  <a:lnTo>
                    <a:pt x="876477" y="1290980"/>
                  </a:lnTo>
                  <a:lnTo>
                    <a:pt x="844029" y="1266024"/>
                  </a:lnTo>
                  <a:lnTo>
                    <a:pt x="805865" y="1255814"/>
                  </a:lnTo>
                  <a:lnTo>
                    <a:pt x="766648" y="1260652"/>
                  </a:lnTo>
                  <a:lnTo>
                    <a:pt x="731062" y="1280871"/>
                  </a:lnTo>
                  <a:lnTo>
                    <a:pt x="706120" y="1313307"/>
                  </a:lnTo>
                  <a:lnTo>
                    <a:pt x="695896" y="1351483"/>
                  </a:lnTo>
                  <a:lnTo>
                    <a:pt x="700747" y="1390688"/>
                  </a:lnTo>
                  <a:lnTo>
                    <a:pt x="720966" y="1426273"/>
                  </a:lnTo>
                  <a:lnTo>
                    <a:pt x="847140" y="1571993"/>
                  </a:lnTo>
                  <a:lnTo>
                    <a:pt x="917067" y="1653616"/>
                  </a:lnTo>
                  <a:lnTo>
                    <a:pt x="975448" y="1722577"/>
                  </a:lnTo>
                  <a:lnTo>
                    <a:pt x="1022070" y="1778660"/>
                  </a:lnTo>
                  <a:lnTo>
                    <a:pt x="1002626" y="1794637"/>
                  </a:lnTo>
                  <a:lnTo>
                    <a:pt x="1045451" y="1836851"/>
                  </a:lnTo>
                  <a:lnTo>
                    <a:pt x="1086345" y="1874901"/>
                  </a:lnTo>
                  <a:lnTo>
                    <a:pt x="1136497" y="1907070"/>
                  </a:lnTo>
                  <a:lnTo>
                    <a:pt x="1174000" y="1914194"/>
                  </a:lnTo>
                  <a:lnTo>
                    <a:pt x="1198892" y="1910994"/>
                  </a:lnTo>
                  <a:lnTo>
                    <a:pt x="1219047" y="1903501"/>
                  </a:lnTo>
                  <a:lnTo>
                    <a:pt x="1233728" y="1894865"/>
                  </a:lnTo>
                  <a:lnTo>
                    <a:pt x="1242237" y="1888223"/>
                  </a:lnTo>
                  <a:lnTo>
                    <a:pt x="1260690" y="1867154"/>
                  </a:lnTo>
                  <a:lnTo>
                    <a:pt x="1275118" y="1832991"/>
                  </a:lnTo>
                  <a:close/>
                </a:path>
                <a:path w="2232659" h="2257425">
                  <a:moveTo>
                    <a:pt x="2232634" y="563295"/>
                  </a:moveTo>
                  <a:lnTo>
                    <a:pt x="2230564" y="514692"/>
                  </a:lnTo>
                  <a:lnTo>
                    <a:pt x="2224481" y="467245"/>
                  </a:lnTo>
                  <a:lnTo>
                    <a:pt x="2214537" y="421106"/>
                  </a:lnTo>
                  <a:lnTo>
                    <a:pt x="2200910" y="376453"/>
                  </a:lnTo>
                  <a:lnTo>
                    <a:pt x="2183765" y="333451"/>
                  </a:lnTo>
                  <a:lnTo>
                    <a:pt x="2163267" y="292290"/>
                  </a:lnTo>
                  <a:lnTo>
                    <a:pt x="2139607" y="253111"/>
                  </a:lnTo>
                  <a:lnTo>
                    <a:pt x="2113737" y="217208"/>
                  </a:lnTo>
                  <a:lnTo>
                    <a:pt x="2113737" y="585190"/>
                  </a:lnTo>
                  <a:lnTo>
                    <a:pt x="2111362" y="632231"/>
                  </a:lnTo>
                  <a:lnTo>
                    <a:pt x="2104390" y="677900"/>
                  </a:lnTo>
                  <a:lnTo>
                    <a:pt x="2093048" y="721995"/>
                  </a:lnTo>
                  <a:lnTo>
                    <a:pt x="2077580" y="764260"/>
                  </a:lnTo>
                  <a:lnTo>
                    <a:pt x="2058212" y="804468"/>
                  </a:lnTo>
                  <a:lnTo>
                    <a:pt x="2035162" y="842403"/>
                  </a:lnTo>
                  <a:lnTo>
                    <a:pt x="2008682" y="877811"/>
                  </a:lnTo>
                  <a:lnTo>
                    <a:pt x="1978964" y="910501"/>
                  </a:lnTo>
                  <a:lnTo>
                    <a:pt x="1946325" y="940168"/>
                  </a:lnTo>
                  <a:lnTo>
                    <a:pt x="1910905" y="966647"/>
                  </a:lnTo>
                  <a:lnTo>
                    <a:pt x="1872970" y="989698"/>
                  </a:lnTo>
                  <a:lnTo>
                    <a:pt x="1832762" y="1009065"/>
                  </a:lnTo>
                  <a:lnTo>
                    <a:pt x="1790496" y="1024534"/>
                  </a:lnTo>
                  <a:lnTo>
                    <a:pt x="1746415" y="1035875"/>
                  </a:lnTo>
                  <a:lnTo>
                    <a:pt x="1700733" y="1042835"/>
                  </a:lnTo>
                  <a:lnTo>
                    <a:pt x="1653705" y="1045210"/>
                  </a:lnTo>
                  <a:lnTo>
                    <a:pt x="1606677" y="1042835"/>
                  </a:lnTo>
                  <a:lnTo>
                    <a:pt x="1560995" y="1035875"/>
                  </a:lnTo>
                  <a:lnTo>
                    <a:pt x="1516913" y="1024534"/>
                  </a:lnTo>
                  <a:lnTo>
                    <a:pt x="1498371" y="1017739"/>
                  </a:lnTo>
                  <a:lnTo>
                    <a:pt x="1474647" y="1009065"/>
                  </a:lnTo>
                  <a:lnTo>
                    <a:pt x="1434439" y="989698"/>
                  </a:lnTo>
                  <a:lnTo>
                    <a:pt x="1396517" y="966647"/>
                  </a:lnTo>
                  <a:lnTo>
                    <a:pt x="1361097" y="940168"/>
                  </a:lnTo>
                  <a:lnTo>
                    <a:pt x="1328458" y="910501"/>
                  </a:lnTo>
                  <a:lnTo>
                    <a:pt x="1298740" y="877811"/>
                  </a:lnTo>
                  <a:lnTo>
                    <a:pt x="1272260" y="842403"/>
                  </a:lnTo>
                  <a:lnTo>
                    <a:pt x="1249222" y="804468"/>
                  </a:lnTo>
                  <a:lnTo>
                    <a:pt x="1229842" y="764260"/>
                  </a:lnTo>
                  <a:lnTo>
                    <a:pt x="1214374" y="721995"/>
                  </a:lnTo>
                  <a:lnTo>
                    <a:pt x="1203045" y="677900"/>
                  </a:lnTo>
                  <a:lnTo>
                    <a:pt x="1196073" y="632231"/>
                  </a:lnTo>
                  <a:lnTo>
                    <a:pt x="1193698" y="585190"/>
                  </a:lnTo>
                  <a:lnTo>
                    <a:pt x="1196073" y="538162"/>
                  </a:lnTo>
                  <a:lnTo>
                    <a:pt x="1203045" y="492480"/>
                  </a:lnTo>
                  <a:lnTo>
                    <a:pt x="1214374" y="448398"/>
                  </a:lnTo>
                  <a:lnTo>
                    <a:pt x="1229842" y="406133"/>
                  </a:lnTo>
                  <a:lnTo>
                    <a:pt x="1249222" y="365925"/>
                  </a:lnTo>
                  <a:lnTo>
                    <a:pt x="1272260" y="327990"/>
                  </a:lnTo>
                  <a:lnTo>
                    <a:pt x="1298740" y="292582"/>
                  </a:lnTo>
                  <a:lnTo>
                    <a:pt x="1328432" y="259918"/>
                  </a:lnTo>
                  <a:lnTo>
                    <a:pt x="1361097" y="230225"/>
                  </a:lnTo>
                  <a:lnTo>
                    <a:pt x="1396517" y="203746"/>
                  </a:lnTo>
                  <a:lnTo>
                    <a:pt x="1434439" y="180695"/>
                  </a:lnTo>
                  <a:lnTo>
                    <a:pt x="1474647" y="161328"/>
                  </a:lnTo>
                  <a:lnTo>
                    <a:pt x="1516913" y="145859"/>
                  </a:lnTo>
                  <a:lnTo>
                    <a:pt x="1560995" y="134518"/>
                  </a:lnTo>
                  <a:lnTo>
                    <a:pt x="1606677" y="127546"/>
                  </a:lnTo>
                  <a:lnTo>
                    <a:pt x="1653705" y="125171"/>
                  </a:lnTo>
                  <a:lnTo>
                    <a:pt x="1700733" y="127546"/>
                  </a:lnTo>
                  <a:lnTo>
                    <a:pt x="1746415" y="134518"/>
                  </a:lnTo>
                  <a:lnTo>
                    <a:pt x="1790496" y="145859"/>
                  </a:lnTo>
                  <a:lnTo>
                    <a:pt x="1832762" y="161328"/>
                  </a:lnTo>
                  <a:lnTo>
                    <a:pt x="1872970" y="180695"/>
                  </a:lnTo>
                  <a:lnTo>
                    <a:pt x="1910905" y="203746"/>
                  </a:lnTo>
                  <a:lnTo>
                    <a:pt x="1946325" y="230225"/>
                  </a:lnTo>
                  <a:lnTo>
                    <a:pt x="1978990" y="259918"/>
                  </a:lnTo>
                  <a:lnTo>
                    <a:pt x="2008682" y="292582"/>
                  </a:lnTo>
                  <a:lnTo>
                    <a:pt x="2035162" y="327990"/>
                  </a:lnTo>
                  <a:lnTo>
                    <a:pt x="2058212" y="365925"/>
                  </a:lnTo>
                  <a:lnTo>
                    <a:pt x="2077580" y="406133"/>
                  </a:lnTo>
                  <a:lnTo>
                    <a:pt x="2093048" y="448398"/>
                  </a:lnTo>
                  <a:lnTo>
                    <a:pt x="2104390" y="492480"/>
                  </a:lnTo>
                  <a:lnTo>
                    <a:pt x="2111362" y="538162"/>
                  </a:lnTo>
                  <a:lnTo>
                    <a:pt x="2113737" y="585190"/>
                  </a:lnTo>
                  <a:lnTo>
                    <a:pt x="2113737" y="217208"/>
                  </a:lnTo>
                  <a:lnTo>
                    <a:pt x="2083422" y="181406"/>
                  </a:lnTo>
                  <a:lnTo>
                    <a:pt x="2051240" y="149225"/>
                  </a:lnTo>
                  <a:lnTo>
                    <a:pt x="2016556" y="119710"/>
                  </a:lnTo>
                  <a:lnTo>
                    <a:pt x="1979536" y="93040"/>
                  </a:lnTo>
                  <a:lnTo>
                    <a:pt x="1940356" y="69367"/>
                  </a:lnTo>
                  <a:lnTo>
                    <a:pt x="1899183" y="48882"/>
                  </a:lnTo>
                  <a:lnTo>
                    <a:pt x="1856193" y="31737"/>
                  </a:lnTo>
                  <a:lnTo>
                    <a:pt x="1811540" y="18110"/>
                  </a:lnTo>
                  <a:lnTo>
                    <a:pt x="1765401" y="8166"/>
                  </a:lnTo>
                  <a:lnTo>
                    <a:pt x="1717954" y="2070"/>
                  </a:lnTo>
                  <a:lnTo>
                    <a:pt x="1669351" y="0"/>
                  </a:lnTo>
                  <a:lnTo>
                    <a:pt x="1620748" y="2070"/>
                  </a:lnTo>
                  <a:lnTo>
                    <a:pt x="1573288" y="8166"/>
                  </a:lnTo>
                  <a:lnTo>
                    <a:pt x="1527149" y="18110"/>
                  </a:lnTo>
                  <a:lnTo>
                    <a:pt x="1482509" y="31737"/>
                  </a:lnTo>
                  <a:lnTo>
                    <a:pt x="1439506" y="48882"/>
                  </a:lnTo>
                  <a:lnTo>
                    <a:pt x="1398333" y="69367"/>
                  </a:lnTo>
                  <a:lnTo>
                    <a:pt x="1359154" y="93040"/>
                  </a:lnTo>
                  <a:lnTo>
                    <a:pt x="1322146" y="119710"/>
                  </a:lnTo>
                  <a:lnTo>
                    <a:pt x="1287462" y="149225"/>
                  </a:lnTo>
                  <a:lnTo>
                    <a:pt x="1255268" y="181406"/>
                  </a:lnTo>
                  <a:lnTo>
                    <a:pt x="1225753" y="216090"/>
                  </a:lnTo>
                  <a:lnTo>
                    <a:pt x="1199083" y="253111"/>
                  </a:lnTo>
                  <a:lnTo>
                    <a:pt x="1175423" y="292290"/>
                  </a:lnTo>
                  <a:lnTo>
                    <a:pt x="1154925" y="333451"/>
                  </a:lnTo>
                  <a:lnTo>
                    <a:pt x="1137780" y="376453"/>
                  </a:lnTo>
                  <a:lnTo>
                    <a:pt x="1124153" y="421106"/>
                  </a:lnTo>
                  <a:lnTo>
                    <a:pt x="1114209" y="467245"/>
                  </a:lnTo>
                  <a:lnTo>
                    <a:pt x="1108125" y="514692"/>
                  </a:lnTo>
                  <a:lnTo>
                    <a:pt x="1106055" y="563295"/>
                  </a:lnTo>
                  <a:lnTo>
                    <a:pt x="1108532" y="616394"/>
                  </a:lnTo>
                  <a:lnTo>
                    <a:pt x="1115796" y="668096"/>
                  </a:lnTo>
                  <a:lnTo>
                    <a:pt x="1127645" y="718185"/>
                  </a:lnTo>
                  <a:lnTo>
                    <a:pt x="1143838" y="766432"/>
                  </a:lnTo>
                  <a:lnTo>
                    <a:pt x="1164158" y="812634"/>
                  </a:lnTo>
                  <a:lnTo>
                    <a:pt x="1188389" y="856551"/>
                  </a:lnTo>
                  <a:lnTo>
                    <a:pt x="1216304" y="897978"/>
                  </a:lnTo>
                  <a:lnTo>
                    <a:pt x="1024686" y="1176642"/>
                  </a:lnTo>
                  <a:lnTo>
                    <a:pt x="1336624" y="1017739"/>
                  </a:lnTo>
                  <a:lnTo>
                    <a:pt x="1377886" y="1045298"/>
                  </a:lnTo>
                  <a:lnTo>
                    <a:pt x="1421587" y="1069225"/>
                  </a:lnTo>
                  <a:lnTo>
                    <a:pt x="1467535" y="1089291"/>
                  </a:lnTo>
                  <a:lnTo>
                    <a:pt x="1515491" y="1105281"/>
                  </a:lnTo>
                  <a:lnTo>
                    <a:pt x="1565262" y="1116977"/>
                  </a:lnTo>
                  <a:lnTo>
                    <a:pt x="1616621" y="1124153"/>
                  </a:lnTo>
                  <a:lnTo>
                    <a:pt x="1669351" y="1126591"/>
                  </a:lnTo>
                  <a:lnTo>
                    <a:pt x="1717954" y="1124534"/>
                  </a:lnTo>
                  <a:lnTo>
                    <a:pt x="1765401" y="1118438"/>
                  </a:lnTo>
                  <a:lnTo>
                    <a:pt x="1811540" y="1108494"/>
                  </a:lnTo>
                  <a:lnTo>
                    <a:pt x="1856193" y="1094867"/>
                  </a:lnTo>
                  <a:lnTo>
                    <a:pt x="1899183" y="1077722"/>
                  </a:lnTo>
                  <a:lnTo>
                    <a:pt x="1940356" y="1057236"/>
                  </a:lnTo>
                  <a:lnTo>
                    <a:pt x="1960105" y="1045298"/>
                  </a:lnTo>
                  <a:lnTo>
                    <a:pt x="1979536" y="1033564"/>
                  </a:lnTo>
                  <a:lnTo>
                    <a:pt x="2016556" y="1006894"/>
                  </a:lnTo>
                  <a:lnTo>
                    <a:pt x="2051240" y="977379"/>
                  </a:lnTo>
                  <a:lnTo>
                    <a:pt x="2083422" y="945184"/>
                  </a:lnTo>
                  <a:lnTo>
                    <a:pt x="2112937" y="910501"/>
                  </a:lnTo>
                  <a:lnTo>
                    <a:pt x="2139607" y="873493"/>
                  </a:lnTo>
                  <a:lnTo>
                    <a:pt x="2163267" y="834313"/>
                  </a:lnTo>
                  <a:lnTo>
                    <a:pt x="2183765" y="793140"/>
                  </a:lnTo>
                  <a:lnTo>
                    <a:pt x="2200910" y="750138"/>
                  </a:lnTo>
                  <a:lnTo>
                    <a:pt x="2214537" y="705497"/>
                  </a:lnTo>
                  <a:lnTo>
                    <a:pt x="2224481" y="659358"/>
                  </a:lnTo>
                  <a:lnTo>
                    <a:pt x="2230564" y="611898"/>
                  </a:lnTo>
                  <a:lnTo>
                    <a:pt x="2232634" y="5632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44500" y="3980103"/>
            <a:ext cx="2767330" cy="1403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At</a:t>
            </a:r>
            <a:r>
              <a:rPr sz="1150" b="1" spc="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lang="en-US" sz="1150" b="1" spc="-10" dirty="0">
                <a:solidFill>
                  <a:srgbClr val="231F20"/>
                </a:solidFill>
                <a:latin typeface="Arial"/>
                <a:cs typeface="Arial"/>
              </a:rPr>
              <a:t>Destiny Springs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1150" b="1" spc="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we</a:t>
            </a:r>
            <a:r>
              <a:rPr sz="1150" b="1" spc="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enforce</a:t>
            </a:r>
            <a:r>
              <a:rPr sz="1150" b="1" spc="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1150" b="1" spc="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strong </a:t>
            </a:r>
            <a:r>
              <a:rPr sz="1150" b="1" spc="-30" dirty="0">
                <a:solidFill>
                  <a:srgbClr val="231F20"/>
                </a:solidFill>
                <a:latin typeface="Arial"/>
                <a:cs typeface="Arial"/>
              </a:rPr>
              <a:t>non-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retaliation</a:t>
            </a:r>
            <a:r>
              <a:rPr sz="1150" b="1" spc="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procedure</a:t>
            </a:r>
            <a:r>
              <a:rPr sz="1150" b="1" spc="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sz="1150" b="1" spc="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protect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team</a:t>
            </a:r>
            <a:r>
              <a:rPr sz="1150" b="1" spc="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members</a:t>
            </a:r>
            <a:r>
              <a:rPr sz="1150" b="1" spc="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or</a:t>
            </a:r>
            <a:r>
              <a:rPr sz="1150" b="1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members</a:t>
            </a:r>
            <a:r>
              <a:rPr sz="1150" b="1" spc="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sz="1150" b="1" spc="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25" dirty="0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public</a:t>
            </a:r>
            <a:r>
              <a:rPr sz="1150" b="1" spc="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who</a:t>
            </a:r>
            <a:r>
              <a:rPr sz="1150" b="1" spc="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report</a:t>
            </a:r>
            <a:r>
              <a:rPr sz="1150" b="1" spc="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in</a:t>
            </a:r>
            <a:r>
              <a:rPr sz="1150" b="1" spc="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good</a:t>
            </a:r>
            <a:r>
              <a:rPr sz="1150" b="1" spc="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faith.</a:t>
            </a:r>
            <a:endParaRPr sz="1150" dirty="0">
              <a:latin typeface="Arial"/>
              <a:cs typeface="Arial"/>
            </a:endParaRPr>
          </a:p>
          <a:p>
            <a:pPr marL="12700" marR="133985">
              <a:lnSpc>
                <a:spcPct val="100000"/>
              </a:lnSpc>
              <a:spcBef>
                <a:spcPts val="1165"/>
              </a:spcBef>
            </a:pP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You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must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report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any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actual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suspected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behavior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that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is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not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consistent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with</a:t>
            </a:r>
            <a:endParaRPr sz="1150" dirty="0">
              <a:latin typeface="Avenir Book"/>
              <a:cs typeface="Avenir Book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our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values.</a:t>
            </a:r>
            <a:endParaRPr sz="1150" dirty="0">
              <a:latin typeface="Avenir Book"/>
              <a:cs typeface="Avenir Book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7923" y="1592757"/>
            <a:ext cx="2492375" cy="1243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At</a:t>
            </a:r>
            <a:r>
              <a:rPr sz="1150" b="1" spc="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lang="en-US" sz="1150" b="1" spc="-10" dirty="0">
                <a:solidFill>
                  <a:srgbClr val="231F20"/>
                </a:solidFill>
                <a:latin typeface="Arial"/>
                <a:cs typeface="Arial"/>
              </a:rPr>
              <a:t>Destiny Springs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1150" b="1" spc="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we</a:t>
            </a:r>
            <a:r>
              <a:rPr sz="1150" b="1" spc="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review</a:t>
            </a:r>
            <a:r>
              <a:rPr sz="1150" b="1" spc="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25" dirty="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respond</a:t>
            </a:r>
            <a:r>
              <a:rPr sz="115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sz="115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30" dirty="0">
                <a:solidFill>
                  <a:srgbClr val="231F20"/>
                </a:solidFill>
                <a:latin typeface="Arial"/>
                <a:cs typeface="Arial"/>
              </a:rPr>
              <a:t>concerns,</a:t>
            </a:r>
            <a:r>
              <a:rPr sz="115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25" dirty="0">
                <a:solidFill>
                  <a:srgbClr val="231F20"/>
                </a:solidFill>
                <a:latin typeface="Arial"/>
                <a:cs typeface="Arial"/>
              </a:rPr>
              <a:t>inquiries</a:t>
            </a:r>
            <a:r>
              <a:rPr sz="115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25" dirty="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allegations</a:t>
            </a:r>
            <a:r>
              <a:rPr sz="1150" b="1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sz="1150" b="1" spc="-30" dirty="0">
                <a:solidFill>
                  <a:srgbClr val="231F20"/>
                </a:solidFill>
                <a:latin typeface="Arial"/>
                <a:cs typeface="Arial"/>
              </a:rPr>
              <a:t>misconduct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promptly.</a:t>
            </a:r>
            <a:endParaRPr sz="1150" dirty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745"/>
              </a:spcBef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If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necessary,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we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take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action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to:</a:t>
            </a:r>
            <a:endParaRPr sz="1150" dirty="0">
              <a:latin typeface="Avenir Book"/>
              <a:cs typeface="Avenir Book"/>
            </a:endParaRPr>
          </a:p>
          <a:p>
            <a:pPr marL="241300" marR="106680" indent="-228600">
              <a:lnSpc>
                <a:spcPct val="101400"/>
              </a:lnSpc>
              <a:spcBef>
                <a:spcPts val="525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Implement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changes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prevent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50" dirty="0">
                <a:solidFill>
                  <a:srgbClr val="231F20"/>
                </a:solidFill>
                <a:latin typeface="Avenir Book"/>
                <a:cs typeface="Avenir Book"/>
              </a:rPr>
              <a:t>a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similar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violation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from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happening.</a:t>
            </a:r>
            <a:endParaRPr sz="1150" dirty="0">
              <a:latin typeface="Avenir Book"/>
              <a:cs typeface="Avenir Book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11728" y="1555496"/>
            <a:ext cx="1900555" cy="110744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640"/>
              </a:spcBef>
              <a:buChar char="•"/>
              <a:tabLst>
                <a:tab pos="240665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Correct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any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billing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errors.</a:t>
            </a:r>
            <a:endParaRPr sz="1150">
              <a:latin typeface="Avenir Book"/>
              <a:cs typeface="Avenir Book"/>
            </a:endParaRPr>
          </a:p>
          <a:p>
            <a:pPr marL="241300" marR="52705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Initiate</a:t>
            </a: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corrective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and/or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disciplinary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action.</a:t>
            </a:r>
            <a:endParaRPr sz="1150">
              <a:latin typeface="Avenir Book"/>
              <a:cs typeface="Avenir Book"/>
            </a:endParaRPr>
          </a:p>
          <a:p>
            <a:pPr marL="241300" marR="196850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Notify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appropriate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governmental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agency.</a:t>
            </a:r>
            <a:endParaRPr sz="1150">
              <a:latin typeface="Avenir Book"/>
              <a:cs typeface="Avenir Book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411728" y="3865603"/>
            <a:ext cx="2524125" cy="1219835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400" b="1" spc="-10" dirty="0">
                <a:solidFill>
                  <a:srgbClr val="008DC4"/>
                </a:solidFill>
                <a:latin typeface="Arial"/>
                <a:cs typeface="Arial"/>
              </a:rPr>
              <a:t>CONFIDENTIALITY</a:t>
            </a:r>
            <a:endParaRPr sz="1400">
              <a:latin typeface="Arial"/>
              <a:cs typeface="Arial"/>
            </a:endParaRPr>
          </a:p>
          <a:p>
            <a:pPr marL="12700" marR="53340">
              <a:lnSpc>
                <a:spcPct val="100000"/>
              </a:lnSpc>
              <a:spcBef>
                <a:spcPts val="750"/>
              </a:spcBef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We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make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every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effort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maintain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the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anonymity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reporting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individual.</a:t>
            </a:r>
            <a:endParaRPr sz="1150">
              <a:latin typeface="Avenir Book"/>
              <a:cs typeface="Avenir Book"/>
            </a:endParaRPr>
          </a:p>
          <a:p>
            <a:pPr marL="12700" marR="5080">
              <a:lnSpc>
                <a:spcPct val="100000"/>
              </a:lnSpc>
              <a:spcBef>
                <a:spcPts val="540"/>
              </a:spcBef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will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keep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all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reports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confidential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to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extent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allowed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by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law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policy.</a:t>
            </a:r>
            <a:endParaRPr sz="1150">
              <a:latin typeface="Avenir Book"/>
              <a:cs typeface="Avenir Book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315218" y="7289692"/>
            <a:ext cx="1517015" cy="1436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25" dirty="0">
                <a:solidFill>
                  <a:srgbClr val="FFC425"/>
                </a:solidFill>
                <a:latin typeface="Arial"/>
                <a:cs typeface="Arial"/>
              </a:rPr>
              <a:t>VALUES</a:t>
            </a:r>
            <a:r>
              <a:rPr sz="850" b="1" spc="-15" dirty="0">
                <a:solidFill>
                  <a:srgbClr val="FFC425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FC425"/>
                </a:solidFill>
                <a:latin typeface="Arial"/>
                <a:cs typeface="Arial"/>
              </a:rPr>
              <a:t>LINE</a:t>
            </a:r>
            <a:r>
              <a:rPr sz="850" b="1" spc="-15" dirty="0">
                <a:solidFill>
                  <a:srgbClr val="FFC425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47720"/>
                </a:solidFill>
                <a:latin typeface="Arial"/>
                <a:cs typeface="Arial"/>
              </a:rPr>
              <a:t>I</a:t>
            </a:r>
            <a:r>
              <a:rPr sz="850" b="1" spc="-15" dirty="0">
                <a:solidFill>
                  <a:srgbClr val="F47720"/>
                </a:solidFill>
                <a:latin typeface="Arial"/>
                <a:cs typeface="Arial"/>
              </a:rPr>
              <a:t> </a:t>
            </a:r>
            <a:r>
              <a:rPr sz="850" i="1" spc="-90" dirty="0">
                <a:solidFill>
                  <a:srgbClr val="008BC0"/>
                </a:solidFill>
                <a:latin typeface="Arial"/>
                <a:cs typeface="Arial"/>
              </a:rPr>
              <a:t>8</a:t>
            </a:r>
            <a:r>
              <a:rPr lang="en-US" sz="850" i="1" spc="-90" dirty="0">
                <a:solidFill>
                  <a:srgbClr val="008BC0"/>
                </a:solidFill>
                <a:latin typeface="Arial"/>
                <a:cs typeface="Arial"/>
              </a:rPr>
              <a:t>33.290.0001</a:t>
            </a:r>
            <a:r>
              <a:rPr sz="850" i="1" spc="325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sz="850" b="1" spc="-25" dirty="0">
                <a:solidFill>
                  <a:srgbClr val="008BC0"/>
                </a:solidFill>
                <a:latin typeface="Arial"/>
                <a:cs typeface="Arial"/>
              </a:rPr>
              <a:t>11</a:t>
            </a:r>
            <a:endParaRPr sz="8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88637" y="3677602"/>
            <a:ext cx="5348109" cy="354214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32183" y="3619935"/>
            <a:ext cx="3924935" cy="3580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100"/>
              </a:spcBef>
            </a:pPr>
            <a:r>
              <a:rPr sz="1400" b="1" spc="-45" dirty="0">
                <a:solidFill>
                  <a:srgbClr val="008BC0"/>
                </a:solidFill>
                <a:latin typeface="Arial"/>
                <a:cs typeface="Arial"/>
              </a:rPr>
              <a:t>SERVICE</a:t>
            </a:r>
            <a:r>
              <a:rPr sz="1400" b="1" spc="-50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008BC0"/>
                </a:solidFill>
                <a:latin typeface="Arial"/>
                <a:cs typeface="Arial"/>
              </a:rPr>
              <a:t>BEHAVIOR</a:t>
            </a:r>
            <a:r>
              <a:rPr sz="1400" b="1" spc="-50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008BC0"/>
                </a:solidFill>
                <a:latin typeface="Arial"/>
                <a:cs typeface="Arial"/>
              </a:rPr>
              <a:t>STANDARDS</a:t>
            </a:r>
            <a:endParaRPr sz="1400" dirty="0">
              <a:latin typeface="Arial"/>
              <a:cs typeface="Arial"/>
            </a:endParaRPr>
          </a:p>
          <a:p>
            <a:pPr marL="355600" marR="250190" indent="-228600">
              <a:lnSpc>
                <a:spcPct val="100000"/>
              </a:lnSpc>
              <a:spcBef>
                <a:spcPts val="990"/>
              </a:spcBef>
              <a:buChar char="•"/>
              <a:tabLst>
                <a:tab pos="3556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treat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everyone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as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most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important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person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will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see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today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strive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exceed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their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expectations.</a:t>
            </a:r>
            <a:endParaRPr sz="1150" dirty="0">
              <a:latin typeface="Avenir Book"/>
              <a:cs typeface="Avenir Book"/>
            </a:endParaRPr>
          </a:p>
          <a:p>
            <a:pPr marL="355600" marR="132080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3556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follow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10/5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rule: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acknowledging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someone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at</a:t>
            </a:r>
            <a:r>
              <a:rPr sz="1150" spc="50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10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feet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away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with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smile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saying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“hello”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at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50" dirty="0">
                <a:solidFill>
                  <a:srgbClr val="231F20"/>
                </a:solidFill>
                <a:latin typeface="Avenir Book"/>
                <a:cs typeface="Avenir Book"/>
              </a:rPr>
              <a:t>5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 feet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away.</a:t>
            </a:r>
            <a:endParaRPr sz="1150" dirty="0">
              <a:latin typeface="Avenir Book"/>
              <a:cs typeface="Avenir Book"/>
            </a:endParaRPr>
          </a:p>
          <a:p>
            <a:pPr marL="355600" marR="266065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3556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help lost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guests and new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employees by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escorting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them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their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destination.</a:t>
            </a:r>
            <a:endParaRPr sz="1150" dirty="0">
              <a:latin typeface="Avenir Book"/>
              <a:cs typeface="Avenir Book"/>
            </a:endParaRPr>
          </a:p>
          <a:p>
            <a:pPr marL="355600" marR="139700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3556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anticipate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patients’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needs,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respond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quickly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and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always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ask,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“Is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there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anything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else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can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do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for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you?”</a:t>
            </a:r>
            <a:endParaRPr sz="1150" dirty="0">
              <a:latin typeface="Avenir Book"/>
              <a:cs typeface="Avenir Book"/>
            </a:endParaRPr>
          </a:p>
          <a:p>
            <a:pPr marL="355600" marR="323215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3556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value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diversity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our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patients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customers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show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sensitivity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others’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needs.</a:t>
            </a:r>
            <a:endParaRPr sz="1150" dirty="0">
              <a:latin typeface="Avenir Book"/>
              <a:cs typeface="Avenir Book"/>
            </a:endParaRPr>
          </a:p>
          <a:p>
            <a:pPr marL="355600" marR="478155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3556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promote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safe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clean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environment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by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removing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trash,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eliminating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clutter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keeping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equipment in working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order.</a:t>
            </a:r>
            <a:endParaRPr sz="1150" dirty="0">
              <a:latin typeface="Avenir Book"/>
              <a:cs typeface="Avenir Book"/>
            </a:endParaRPr>
          </a:p>
          <a:p>
            <a:pPr marL="355600" marR="552450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3556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always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use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AIDET</a:t>
            </a:r>
            <a:r>
              <a:rPr sz="975" baseline="34188" dirty="0">
                <a:solidFill>
                  <a:srgbClr val="231F20"/>
                </a:solidFill>
                <a:latin typeface="Avenir Book"/>
                <a:cs typeface="Avenir Book"/>
              </a:rPr>
              <a:t>®</a:t>
            </a:r>
            <a:r>
              <a:rPr sz="975" spc="187" baseline="34188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(Acknowledge,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Introduce,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Duration,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Explanation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Thank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You).</a:t>
            </a:r>
            <a:endParaRPr sz="1150" dirty="0">
              <a:latin typeface="Avenir Book"/>
              <a:cs typeface="Avenir Book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72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90"/>
              </a:spcBef>
            </a:pPr>
            <a:r>
              <a:rPr spc="-950" dirty="0">
                <a:solidFill>
                  <a:srgbClr val="008BC0"/>
                </a:solidFill>
              </a:rPr>
              <a:t>SERVICE</a:t>
            </a:r>
          </a:p>
          <a:p>
            <a:pPr marL="106045">
              <a:lnSpc>
                <a:spcPct val="100000"/>
              </a:lnSpc>
              <a:spcBef>
                <a:spcPts val="970"/>
              </a:spcBef>
            </a:pPr>
            <a:r>
              <a:rPr sz="1800" b="0" i="1" spc="-200" dirty="0">
                <a:solidFill>
                  <a:srgbClr val="79BC43"/>
                </a:solidFill>
                <a:latin typeface="Arial"/>
                <a:cs typeface="Arial"/>
              </a:rPr>
              <a:t>Serving</a:t>
            </a:r>
            <a:r>
              <a:rPr sz="1800" b="0" i="1" spc="55" dirty="0">
                <a:solidFill>
                  <a:srgbClr val="79BC43"/>
                </a:solidFill>
                <a:latin typeface="Arial"/>
                <a:cs typeface="Arial"/>
              </a:rPr>
              <a:t> </a:t>
            </a:r>
            <a:r>
              <a:rPr sz="1800" b="0" i="1" spc="-220" dirty="0">
                <a:solidFill>
                  <a:srgbClr val="79BC43"/>
                </a:solidFill>
                <a:latin typeface="Arial"/>
                <a:cs typeface="Arial"/>
              </a:rPr>
              <a:t>others</a:t>
            </a:r>
            <a:r>
              <a:rPr sz="1800" b="0" i="1" spc="55" dirty="0">
                <a:solidFill>
                  <a:srgbClr val="79BC43"/>
                </a:solidFill>
                <a:latin typeface="Arial"/>
                <a:cs typeface="Arial"/>
              </a:rPr>
              <a:t> </a:t>
            </a:r>
            <a:r>
              <a:rPr sz="1800" b="0" i="1" spc="-220" dirty="0">
                <a:solidFill>
                  <a:srgbClr val="79BC43"/>
                </a:solidFill>
                <a:latin typeface="Arial"/>
                <a:cs typeface="Arial"/>
              </a:rPr>
              <a:t>and</a:t>
            </a:r>
            <a:r>
              <a:rPr sz="1800" b="0" i="1" spc="55" dirty="0">
                <a:solidFill>
                  <a:srgbClr val="79BC43"/>
                </a:solidFill>
                <a:latin typeface="Arial"/>
                <a:cs typeface="Arial"/>
              </a:rPr>
              <a:t> </a:t>
            </a:r>
            <a:r>
              <a:rPr sz="1800" b="0" i="1" spc="-165" dirty="0">
                <a:solidFill>
                  <a:srgbClr val="79BC43"/>
                </a:solidFill>
                <a:latin typeface="Arial"/>
                <a:cs typeface="Arial"/>
              </a:rPr>
              <a:t>our</a:t>
            </a:r>
            <a:r>
              <a:rPr sz="1800" b="0" i="1" spc="55" dirty="0">
                <a:solidFill>
                  <a:srgbClr val="79BC43"/>
                </a:solidFill>
                <a:latin typeface="Arial"/>
                <a:cs typeface="Arial"/>
              </a:rPr>
              <a:t> </a:t>
            </a:r>
            <a:r>
              <a:rPr sz="1800" b="0" i="1" spc="-125" dirty="0">
                <a:solidFill>
                  <a:srgbClr val="79BC43"/>
                </a:solidFill>
                <a:latin typeface="Arial"/>
                <a:cs typeface="Arial"/>
              </a:rPr>
              <a:t>community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331287" y="868674"/>
            <a:ext cx="583565" cy="757555"/>
            <a:chOff x="5331287" y="868674"/>
            <a:chExt cx="583565" cy="757555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86217" y="868674"/>
              <a:ext cx="129311" cy="12932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48056" y="868674"/>
              <a:ext cx="129311" cy="12932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331282" y="1017231"/>
              <a:ext cx="583565" cy="608965"/>
            </a:xfrm>
            <a:custGeom>
              <a:avLst/>
              <a:gdLst/>
              <a:ahLst/>
              <a:cxnLst/>
              <a:rect l="l" t="t" r="r" b="b"/>
              <a:pathLst>
                <a:path w="583564" h="608964">
                  <a:moveTo>
                    <a:pt x="507631" y="14147"/>
                  </a:moveTo>
                  <a:lnTo>
                    <a:pt x="460108" y="2197"/>
                  </a:lnTo>
                  <a:lnTo>
                    <a:pt x="419569" y="0"/>
                  </a:lnTo>
                  <a:lnTo>
                    <a:pt x="397764" y="558"/>
                  </a:lnTo>
                  <a:lnTo>
                    <a:pt x="379031" y="2197"/>
                  </a:lnTo>
                  <a:lnTo>
                    <a:pt x="362013" y="4902"/>
                  </a:lnTo>
                  <a:lnTo>
                    <a:pt x="343877" y="9080"/>
                  </a:lnTo>
                  <a:lnTo>
                    <a:pt x="376618" y="17767"/>
                  </a:lnTo>
                  <a:lnTo>
                    <a:pt x="422935" y="23837"/>
                  </a:lnTo>
                  <a:lnTo>
                    <a:pt x="445528" y="22948"/>
                  </a:lnTo>
                  <a:lnTo>
                    <a:pt x="467956" y="20675"/>
                  </a:lnTo>
                  <a:lnTo>
                    <a:pt x="489064" y="17551"/>
                  </a:lnTo>
                  <a:lnTo>
                    <a:pt x="507631" y="14147"/>
                  </a:lnTo>
                  <a:close/>
                </a:path>
                <a:path w="583564" h="608964">
                  <a:moveTo>
                    <a:pt x="564324" y="76974"/>
                  </a:moveTo>
                  <a:lnTo>
                    <a:pt x="542658" y="31407"/>
                  </a:lnTo>
                  <a:lnTo>
                    <a:pt x="483082" y="46824"/>
                  </a:lnTo>
                  <a:lnTo>
                    <a:pt x="446455" y="53301"/>
                  </a:lnTo>
                  <a:lnTo>
                    <a:pt x="381622" y="44259"/>
                  </a:lnTo>
                  <a:lnTo>
                    <a:pt x="312077" y="25552"/>
                  </a:lnTo>
                  <a:lnTo>
                    <a:pt x="277279" y="15125"/>
                  </a:lnTo>
                  <a:lnTo>
                    <a:pt x="277101" y="15328"/>
                  </a:lnTo>
                  <a:lnTo>
                    <a:pt x="238975" y="4902"/>
                  </a:lnTo>
                  <a:lnTo>
                    <a:pt x="181419" y="0"/>
                  </a:lnTo>
                  <a:lnTo>
                    <a:pt x="159600" y="546"/>
                  </a:lnTo>
                  <a:lnTo>
                    <a:pt x="107162" y="8648"/>
                  </a:lnTo>
                  <a:lnTo>
                    <a:pt x="71678" y="35826"/>
                  </a:lnTo>
                  <a:lnTo>
                    <a:pt x="38150" y="93726"/>
                  </a:lnTo>
                  <a:lnTo>
                    <a:pt x="19519" y="137985"/>
                  </a:lnTo>
                  <a:lnTo>
                    <a:pt x="4737" y="190030"/>
                  </a:lnTo>
                  <a:lnTo>
                    <a:pt x="0" y="234378"/>
                  </a:lnTo>
                  <a:lnTo>
                    <a:pt x="1511" y="279387"/>
                  </a:lnTo>
                  <a:lnTo>
                    <a:pt x="6489" y="318770"/>
                  </a:lnTo>
                  <a:lnTo>
                    <a:pt x="12179" y="346278"/>
                  </a:lnTo>
                  <a:lnTo>
                    <a:pt x="62814" y="344373"/>
                  </a:lnTo>
                  <a:lnTo>
                    <a:pt x="60020" y="294347"/>
                  </a:lnTo>
                  <a:lnTo>
                    <a:pt x="60375" y="263055"/>
                  </a:lnTo>
                  <a:lnTo>
                    <a:pt x="75171" y="204063"/>
                  </a:lnTo>
                  <a:lnTo>
                    <a:pt x="88773" y="173075"/>
                  </a:lnTo>
                  <a:lnTo>
                    <a:pt x="90271" y="234391"/>
                  </a:lnTo>
                  <a:lnTo>
                    <a:pt x="90195" y="284810"/>
                  </a:lnTo>
                  <a:lnTo>
                    <a:pt x="89458" y="318973"/>
                  </a:lnTo>
                  <a:lnTo>
                    <a:pt x="89014" y="331558"/>
                  </a:lnTo>
                  <a:lnTo>
                    <a:pt x="47967" y="608838"/>
                  </a:lnTo>
                  <a:lnTo>
                    <a:pt x="130060" y="608838"/>
                  </a:lnTo>
                  <a:lnTo>
                    <a:pt x="179616" y="331558"/>
                  </a:lnTo>
                  <a:lnTo>
                    <a:pt x="183083" y="331558"/>
                  </a:lnTo>
                  <a:lnTo>
                    <a:pt x="184721" y="429336"/>
                  </a:lnTo>
                  <a:lnTo>
                    <a:pt x="185534" y="536841"/>
                  </a:lnTo>
                  <a:lnTo>
                    <a:pt x="185267" y="608838"/>
                  </a:lnTo>
                  <a:lnTo>
                    <a:pt x="258406" y="608838"/>
                  </a:lnTo>
                  <a:lnTo>
                    <a:pt x="262775" y="569442"/>
                  </a:lnTo>
                  <a:lnTo>
                    <a:pt x="267652" y="506476"/>
                  </a:lnTo>
                  <a:lnTo>
                    <a:pt x="270421" y="453847"/>
                  </a:lnTo>
                  <a:lnTo>
                    <a:pt x="272605" y="402513"/>
                  </a:lnTo>
                  <a:lnTo>
                    <a:pt x="273596" y="364058"/>
                  </a:lnTo>
                  <a:lnTo>
                    <a:pt x="273824" y="331558"/>
                  </a:lnTo>
                  <a:lnTo>
                    <a:pt x="271754" y="282625"/>
                  </a:lnTo>
                  <a:lnTo>
                    <a:pt x="271170" y="247916"/>
                  </a:lnTo>
                  <a:lnTo>
                    <a:pt x="274891" y="154978"/>
                  </a:lnTo>
                  <a:lnTo>
                    <a:pt x="279476" y="105333"/>
                  </a:lnTo>
                  <a:lnTo>
                    <a:pt x="281495" y="93230"/>
                  </a:lnTo>
                  <a:lnTo>
                    <a:pt x="307657" y="97345"/>
                  </a:lnTo>
                  <a:lnTo>
                    <a:pt x="334975" y="101244"/>
                  </a:lnTo>
                  <a:lnTo>
                    <a:pt x="361911" y="104533"/>
                  </a:lnTo>
                  <a:lnTo>
                    <a:pt x="386981" y="106832"/>
                  </a:lnTo>
                  <a:lnTo>
                    <a:pt x="420268" y="106426"/>
                  </a:lnTo>
                  <a:lnTo>
                    <a:pt x="458266" y="102108"/>
                  </a:lnTo>
                  <a:lnTo>
                    <a:pt x="496354" y="95415"/>
                  </a:lnTo>
                  <a:lnTo>
                    <a:pt x="540512" y="85382"/>
                  </a:lnTo>
                  <a:lnTo>
                    <a:pt x="563372" y="77609"/>
                  </a:lnTo>
                  <a:lnTo>
                    <a:pt x="564324" y="76974"/>
                  </a:lnTo>
                  <a:close/>
                </a:path>
                <a:path w="583564" h="608964">
                  <a:moveTo>
                    <a:pt x="583095" y="272923"/>
                  </a:moveTo>
                  <a:lnTo>
                    <a:pt x="580859" y="225628"/>
                  </a:lnTo>
                  <a:lnTo>
                    <a:pt x="576338" y="179870"/>
                  </a:lnTo>
                  <a:lnTo>
                    <a:pt x="569239" y="137833"/>
                  </a:lnTo>
                  <a:lnTo>
                    <a:pt x="560692" y="104978"/>
                  </a:lnTo>
                  <a:lnTo>
                    <a:pt x="528142" y="113372"/>
                  </a:lnTo>
                  <a:lnTo>
                    <a:pt x="485432" y="120942"/>
                  </a:lnTo>
                  <a:lnTo>
                    <a:pt x="440194" y="126415"/>
                  </a:lnTo>
                  <a:lnTo>
                    <a:pt x="400024" y="128524"/>
                  </a:lnTo>
                  <a:lnTo>
                    <a:pt x="388035" y="128333"/>
                  </a:lnTo>
                  <a:lnTo>
                    <a:pt x="368592" y="126834"/>
                  </a:lnTo>
                  <a:lnTo>
                    <a:pt x="338709" y="123786"/>
                  </a:lnTo>
                  <a:lnTo>
                    <a:pt x="323342" y="121970"/>
                  </a:lnTo>
                  <a:lnTo>
                    <a:pt x="324916" y="137414"/>
                  </a:lnTo>
                  <a:lnTo>
                    <a:pt x="326110" y="154978"/>
                  </a:lnTo>
                  <a:lnTo>
                    <a:pt x="328282" y="222427"/>
                  </a:lnTo>
                  <a:lnTo>
                    <a:pt x="328422" y="278701"/>
                  </a:lnTo>
                  <a:lnTo>
                    <a:pt x="327672" y="317258"/>
                  </a:lnTo>
                  <a:lnTo>
                    <a:pt x="326466" y="359397"/>
                  </a:lnTo>
                  <a:lnTo>
                    <a:pt x="325551" y="383108"/>
                  </a:lnTo>
                  <a:lnTo>
                    <a:pt x="317449" y="529450"/>
                  </a:lnTo>
                  <a:lnTo>
                    <a:pt x="315595" y="572947"/>
                  </a:lnTo>
                  <a:lnTo>
                    <a:pt x="314528" y="608838"/>
                  </a:lnTo>
                  <a:lnTo>
                    <a:pt x="398246" y="608838"/>
                  </a:lnTo>
                  <a:lnTo>
                    <a:pt x="400456" y="570484"/>
                  </a:lnTo>
                  <a:lnTo>
                    <a:pt x="407098" y="428244"/>
                  </a:lnTo>
                  <a:lnTo>
                    <a:pt x="409181" y="393153"/>
                  </a:lnTo>
                  <a:lnTo>
                    <a:pt x="413524" y="331558"/>
                  </a:lnTo>
                  <a:lnTo>
                    <a:pt x="425627" y="331558"/>
                  </a:lnTo>
                  <a:lnTo>
                    <a:pt x="429971" y="393153"/>
                  </a:lnTo>
                  <a:lnTo>
                    <a:pt x="432054" y="428244"/>
                  </a:lnTo>
                  <a:lnTo>
                    <a:pt x="440905" y="608838"/>
                  </a:lnTo>
                  <a:lnTo>
                    <a:pt x="524624" y="608838"/>
                  </a:lnTo>
                  <a:lnTo>
                    <a:pt x="524052" y="578840"/>
                  </a:lnTo>
                  <a:lnTo>
                    <a:pt x="523240" y="554393"/>
                  </a:lnTo>
                  <a:lnTo>
                    <a:pt x="521589" y="522490"/>
                  </a:lnTo>
                  <a:lnTo>
                    <a:pt x="515188" y="409270"/>
                  </a:lnTo>
                  <a:lnTo>
                    <a:pt x="513194" y="365988"/>
                  </a:lnTo>
                  <a:lnTo>
                    <a:pt x="511987" y="331558"/>
                  </a:lnTo>
                  <a:lnTo>
                    <a:pt x="510247" y="290372"/>
                  </a:lnTo>
                  <a:lnTo>
                    <a:pt x="509676" y="260680"/>
                  </a:lnTo>
                  <a:lnTo>
                    <a:pt x="510273" y="228130"/>
                  </a:lnTo>
                  <a:lnTo>
                    <a:pt x="512038" y="178358"/>
                  </a:lnTo>
                  <a:lnTo>
                    <a:pt x="513994" y="184619"/>
                  </a:lnTo>
                  <a:lnTo>
                    <a:pt x="522274" y="234823"/>
                  </a:lnTo>
                  <a:lnTo>
                    <a:pt x="526046" y="283337"/>
                  </a:lnTo>
                  <a:lnTo>
                    <a:pt x="527481" y="336575"/>
                  </a:lnTo>
                  <a:lnTo>
                    <a:pt x="577799" y="342493"/>
                  </a:lnTo>
                  <a:lnTo>
                    <a:pt x="582320" y="314350"/>
                  </a:lnTo>
                  <a:lnTo>
                    <a:pt x="583095" y="272923"/>
                  </a:lnTo>
                  <a:close/>
                </a:path>
              </a:pathLst>
            </a:custGeom>
            <a:solidFill>
              <a:srgbClr val="79BC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488637" y="3677602"/>
            <a:ext cx="5348605" cy="1261243"/>
          </a:xfrm>
          <a:prstGeom prst="rect">
            <a:avLst/>
          </a:prstGeom>
          <a:ln w="3175">
            <a:solidFill>
              <a:srgbClr val="79BC43"/>
            </a:solidFill>
          </a:ln>
        </p:spPr>
        <p:txBody>
          <a:bodyPr vert="horz" wrap="square" lIns="0" tIns="123825" rIns="0" bIns="0" rtlCol="0">
            <a:spAutoFit/>
          </a:bodyPr>
          <a:lstStyle/>
          <a:p>
            <a:pPr marL="132080" marR="557530" algn="just">
              <a:lnSpc>
                <a:spcPct val="100000"/>
              </a:lnSpc>
              <a:spcBef>
                <a:spcPts val="975"/>
              </a:spcBef>
            </a:pPr>
            <a:r>
              <a:rPr sz="1800" dirty="0">
                <a:solidFill>
                  <a:srgbClr val="79BC43"/>
                </a:solidFill>
                <a:latin typeface="Avenir Book"/>
                <a:cs typeface="Avenir Book"/>
              </a:rPr>
              <a:t>“Everyone</a:t>
            </a:r>
            <a:r>
              <a:rPr sz="1800" spc="-20" dirty="0">
                <a:solidFill>
                  <a:srgbClr val="79BC43"/>
                </a:solidFill>
                <a:latin typeface="Avenir Book"/>
                <a:cs typeface="Avenir Book"/>
              </a:rPr>
              <a:t> </a:t>
            </a:r>
            <a:r>
              <a:rPr sz="1800" dirty="0">
                <a:solidFill>
                  <a:srgbClr val="79BC43"/>
                </a:solidFill>
                <a:latin typeface="Avenir Book"/>
                <a:cs typeface="Avenir Book"/>
              </a:rPr>
              <a:t>my</a:t>
            </a:r>
            <a:r>
              <a:rPr sz="1800" spc="-15" dirty="0">
                <a:solidFill>
                  <a:srgbClr val="79BC43"/>
                </a:solidFill>
                <a:latin typeface="Avenir Book"/>
                <a:cs typeface="Avenir Book"/>
              </a:rPr>
              <a:t> </a:t>
            </a:r>
            <a:r>
              <a:rPr sz="1800" dirty="0">
                <a:solidFill>
                  <a:srgbClr val="79BC43"/>
                </a:solidFill>
                <a:latin typeface="Avenir Book"/>
                <a:cs typeface="Avenir Book"/>
              </a:rPr>
              <a:t>wife</a:t>
            </a:r>
            <a:r>
              <a:rPr sz="1800" spc="-15" dirty="0">
                <a:solidFill>
                  <a:srgbClr val="79BC43"/>
                </a:solidFill>
                <a:latin typeface="Avenir Book"/>
                <a:cs typeface="Avenir Book"/>
              </a:rPr>
              <a:t> </a:t>
            </a:r>
            <a:r>
              <a:rPr sz="1800" dirty="0">
                <a:solidFill>
                  <a:srgbClr val="79BC43"/>
                </a:solidFill>
                <a:latin typeface="Avenir Book"/>
                <a:cs typeface="Avenir Book"/>
              </a:rPr>
              <a:t>and</a:t>
            </a:r>
            <a:r>
              <a:rPr sz="1800" spc="-15" dirty="0">
                <a:solidFill>
                  <a:srgbClr val="79BC43"/>
                </a:solidFill>
                <a:latin typeface="Avenir Book"/>
                <a:cs typeface="Avenir Book"/>
              </a:rPr>
              <a:t> </a:t>
            </a:r>
            <a:r>
              <a:rPr sz="1800" dirty="0">
                <a:solidFill>
                  <a:srgbClr val="79BC43"/>
                </a:solidFill>
                <a:latin typeface="Avenir Book"/>
                <a:cs typeface="Avenir Book"/>
              </a:rPr>
              <a:t>I</a:t>
            </a:r>
            <a:r>
              <a:rPr sz="1800" spc="-15" dirty="0">
                <a:solidFill>
                  <a:srgbClr val="79BC43"/>
                </a:solidFill>
                <a:latin typeface="Avenir Book"/>
                <a:cs typeface="Avenir Book"/>
              </a:rPr>
              <a:t> </a:t>
            </a:r>
            <a:r>
              <a:rPr sz="1800" dirty="0">
                <a:solidFill>
                  <a:srgbClr val="79BC43"/>
                </a:solidFill>
                <a:latin typeface="Avenir Book"/>
                <a:cs typeface="Avenir Book"/>
              </a:rPr>
              <a:t>came</a:t>
            </a:r>
            <a:r>
              <a:rPr sz="1800" spc="-15" dirty="0">
                <a:solidFill>
                  <a:srgbClr val="79BC43"/>
                </a:solidFill>
                <a:latin typeface="Avenir Book"/>
                <a:cs typeface="Avenir Book"/>
              </a:rPr>
              <a:t> </a:t>
            </a:r>
            <a:r>
              <a:rPr sz="1800" dirty="0">
                <a:solidFill>
                  <a:srgbClr val="79BC43"/>
                </a:solidFill>
                <a:latin typeface="Avenir Book"/>
                <a:cs typeface="Avenir Book"/>
              </a:rPr>
              <a:t>in</a:t>
            </a:r>
            <a:r>
              <a:rPr sz="1800" spc="-15" dirty="0">
                <a:solidFill>
                  <a:srgbClr val="79BC43"/>
                </a:solidFill>
                <a:latin typeface="Avenir Book"/>
                <a:cs typeface="Avenir Book"/>
              </a:rPr>
              <a:t> </a:t>
            </a:r>
            <a:r>
              <a:rPr sz="1800" dirty="0">
                <a:solidFill>
                  <a:srgbClr val="79BC43"/>
                </a:solidFill>
                <a:latin typeface="Avenir Book"/>
                <a:cs typeface="Avenir Book"/>
              </a:rPr>
              <a:t>contact</a:t>
            </a:r>
            <a:r>
              <a:rPr sz="1800" spc="-15" dirty="0">
                <a:solidFill>
                  <a:srgbClr val="79BC43"/>
                </a:solidFill>
                <a:latin typeface="Avenir Book"/>
                <a:cs typeface="Avenir Book"/>
              </a:rPr>
              <a:t> </a:t>
            </a:r>
            <a:r>
              <a:rPr sz="1800" spc="-20" dirty="0">
                <a:solidFill>
                  <a:srgbClr val="79BC43"/>
                </a:solidFill>
                <a:latin typeface="Avenir Book"/>
                <a:cs typeface="Avenir Book"/>
              </a:rPr>
              <a:t>with </a:t>
            </a:r>
            <a:r>
              <a:rPr sz="1800" dirty="0">
                <a:solidFill>
                  <a:srgbClr val="79BC43"/>
                </a:solidFill>
                <a:latin typeface="Avenir Book"/>
                <a:cs typeface="Avenir Book"/>
              </a:rPr>
              <a:t>seemed</a:t>
            </a:r>
            <a:r>
              <a:rPr sz="1800" spc="-15" dirty="0">
                <a:solidFill>
                  <a:srgbClr val="79BC43"/>
                </a:solidFill>
                <a:latin typeface="Avenir Book"/>
                <a:cs typeface="Avenir Book"/>
              </a:rPr>
              <a:t> </a:t>
            </a:r>
            <a:r>
              <a:rPr sz="1800" dirty="0">
                <a:solidFill>
                  <a:srgbClr val="79BC43"/>
                </a:solidFill>
                <a:latin typeface="Avenir Book"/>
                <a:cs typeface="Avenir Book"/>
              </a:rPr>
              <a:t>to</a:t>
            </a:r>
            <a:r>
              <a:rPr sz="1800" spc="-15" dirty="0">
                <a:solidFill>
                  <a:srgbClr val="79BC43"/>
                </a:solidFill>
                <a:latin typeface="Avenir Book"/>
                <a:cs typeface="Avenir Book"/>
              </a:rPr>
              <a:t> </a:t>
            </a:r>
            <a:r>
              <a:rPr sz="1800" dirty="0">
                <a:solidFill>
                  <a:srgbClr val="79BC43"/>
                </a:solidFill>
                <a:latin typeface="Avenir Book"/>
                <a:cs typeface="Avenir Book"/>
              </a:rPr>
              <a:t>bend</a:t>
            </a:r>
            <a:r>
              <a:rPr sz="1800" spc="-10" dirty="0">
                <a:solidFill>
                  <a:srgbClr val="79BC43"/>
                </a:solidFill>
                <a:latin typeface="Avenir Book"/>
                <a:cs typeface="Avenir Book"/>
              </a:rPr>
              <a:t> </a:t>
            </a:r>
            <a:r>
              <a:rPr sz="1800" dirty="0">
                <a:solidFill>
                  <a:srgbClr val="79BC43"/>
                </a:solidFill>
                <a:latin typeface="Avenir Book"/>
                <a:cs typeface="Avenir Book"/>
              </a:rPr>
              <a:t>over</a:t>
            </a:r>
            <a:r>
              <a:rPr sz="1800" spc="-15" dirty="0">
                <a:solidFill>
                  <a:srgbClr val="79BC43"/>
                </a:solidFill>
                <a:latin typeface="Avenir Book"/>
                <a:cs typeface="Avenir Book"/>
              </a:rPr>
              <a:t> </a:t>
            </a:r>
            <a:r>
              <a:rPr sz="1800" dirty="0">
                <a:solidFill>
                  <a:srgbClr val="79BC43"/>
                </a:solidFill>
                <a:latin typeface="Avenir Book"/>
                <a:cs typeface="Avenir Book"/>
              </a:rPr>
              <a:t>backward</a:t>
            </a:r>
            <a:r>
              <a:rPr sz="1800" spc="-10" dirty="0">
                <a:solidFill>
                  <a:srgbClr val="79BC43"/>
                </a:solidFill>
                <a:latin typeface="Avenir Book"/>
                <a:cs typeface="Avenir Book"/>
              </a:rPr>
              <a:t> </a:t>
            </a:r>
            <a:r>
              <a:rPr sz="1800" dirty="0">
                <a:solidFill>
                  <a:srgbClr val="79BC43"/>
                </a:solidFill>
                <a:latin typeface="Avenir Book"/>
                <a:cs typeface="Avenir Book"/>
              </a:rPr>
              <a:t>to</a:t>
            </a:r>
            <a:r>
              <a:rPr sz="1800" spc="-15" dirty="0">
                <a:solidFill>
                  <a:srgbClr val="79BC43"/>
                </a:solidFill>
                <a:latin typeface="Avenir Book"/>
                <a:cs typeface="Avenir Book"/>
              </a:rPr>
              <a:t> </a:t>
            </a:r>
            <a:r>
              <a:rPr sz="1800" dirty="0">
                <a:solidFill>
                  <a:srgbClr val="79BC43"/>
                </a:solidFill>
                <a:latin typeface="Avenir Book"/>
                <a:cs typeface="Avenir Book"/>
              </a:rPr>
              <a:t>make</a:t>
            </a:r>
            <a:r>
              <a:rPr sz="1800" spc="-10" dirty="0">
                <a:solidFill>
                  <a:srgbClr val="79BC43"/>
                </a:solidFill>
                <a:latin typeface="Avenir Book"/>
                <a:cs typeface="Avenir Book"/>
              </a:rPr>
              <a:t> </a:t>
            </a:r>
            <a:r>
              <a:rPr sz="1800" spc="-20" dirty="0">
                <a:solidFill>
                  <a:srgbClr val="79BC43"/>
                </a:solidFill>
                <a:latin typeface="Avenir Book"/>
                <a:cs typeface="Avenir Book"/>
              </a:rPr>
              <a:t>sure </a:t>
            </a:r>
            <a:r>
              <a:rPr sz="1800" dirty="0">
                <a:solidFill>
                  <a:srgbClr val="79BC43"/>
                </a:solidFill>
                <a:latin typeface="Avenir Book"/>
                <a:cs typeface="Avenir Book"/>
              </a:rPr>
              <a:t>we</a:t>
            </a:r>
            <a:r>
              <a:rPr sz="1800" spc="-25" dirty="0">
                <a:solidFill>
                  <a:srgbClr val="79BC43"/>
                </a:solidFill>
                <a:latin typeface="Avenir Book"/>
                <a:cs typeface="Avenir Book"/>
              </a:rPr>
              <a:t> </a:t>
            </a:r>
            <a:r>
              <a:rPr sz="1800" dirty="0">
                <a:solidFill>
                  <a:srgbClr val="79BC43"/>
                </a:solidFill>
                <a:latin typeface="Avenir Book"/>
                <a:cs typeface="Avenir Book"/>
              </a:rPr>
              <a:t>were</a:t>
            </a:r>
            <a:r>
              <a:rPr sz="1800" spc="-25" dirty="0">
                <a:solidFill>
                  <a:srgbClr val="79BC43"/>
                </a:solidFill>
                <a:latin typeface="Avenir Book"/>
                <a:cs typeface="Avenir Book"/>
              </a:rPr>
              <a:t> </a:t>
            </a:r>
            <a:r>
              <a:rPr sz="1800" dirty="0">
                <a:solidFill>
                  <a:srgbClr val="79BC43"/>
                </a:solidFill>
                <a:latin typeface="Avenir Book"/>
                <a:cs typeface="Avenir Book"/>
              </a:rPr>
              <a:t>happy</a:t>
            </a:r>
            <a:r>
              <a:rPr sz="1800" spc="-25" dirty="0">
                <a:solidFill>
                  <a:srgbClr val="79BC43"/>
                </a:solidFill>
                <a:latin typeface="Avenir Book"/>
                <a:cs typeface="Avenir Book"/>
              </a:rPr>
              <a:t> </a:t>
            </a:r>
            <a:r>
              <a:rPr sz="1800" dirty="0">
                <a:solidFill>
                  <a:srgbClr val="79BC43"/>
                </a:solidFill>
                <a:latin typeface="Avenir Book"/>
                <a:cs typeface="Avenir Book"/>
              </a:rPr>
              <a:t>and</a:t>
            </a:r>
            <a:r>
              <a:rPr sz="1800" spc="-20" dirty="0">
                <a:solidFill>
                  <a:srgbClr val="79BC43"/>
                </a:solidFill>
                <a:latin typeface="Avenir Book"/>
                <a:cs typeface="Avenir Book"/>
              </a:rPr>
              <a:t> </a:t>
            </a:r>
            <a:r>
              <a:rPr sz="1800" spc="-10" dirty="0">
                <a:solidFill>
                  <a:srgbClr val="79BC43"/>
                </a:solidFill>
                <a:latin typeface="Avenir Book"/>
                <a:cs typeface="Avenir Book"/>
              </a:rPr>
              <a:t>comfortable.”</a:t>
            </a:r>
            <a:endParaRPr sz="1800" dirty="0">
              <a:latin typeface="Avenir Book"/>
              <a:cs typeface="Avenir Book"/>
            </a:endParaRPr>
          </a:p>
          <a:p>
            <a:pPr marL="132080" algn="just">
              <a:lnSpc>
                <a:spcPct val="100000"/>
              </a:lnSpc>
              <a:spcBef>
                <a:spcPts val="720"/>
              </a:spcBef>
            </a:pPr>
            <a:r>
              <a:rPr sz="1400" i="1" spc="90" dirty="0">
                <a:solidFill>
                  <a:srgbClr val="008BC0"/>
                </a:solidFill>
                <a:latin typeface="Arial"/>
                <a:cs typeface="Arial"/>
              </a:rPr>
              <a:t>-</a:t>
            </a:r>
            <a:r>
              <a:rPr sz="1400" i="1" spc="185" dirty="0">
                <a:solidFill>
                  <a:srgbClr val="008BC0"/>
                </a:solidFill>
                <a:latin typeface="Arial"/>
                <a:cs typeface="Arial"/>
              </a:rPr>
              <a:t>A</a:t>
            </a:r>
            <a:r>
              <a:rPr sz="1400" i="1" spc="50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sz="1400" i="1" spc="-120" dirty="0">
                <a:solidFill>
                  <a:srgbClr val="008BC0"/>
                </a:solidFill>
                <a:latin typeface="Arial"/>
                <a:cs typeface="Arial"/>
              </a:rPr>
              <a:t>grateful</a:t>
            </a:r>
            <a:r>
              <a:rPr sz="1400" i="1" spc="55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lang="en-US" sz="1400" i="1" spc="-130" dirty="0">
                <a:solidFill>
                  <a:srgbClr val="008BC0"/>
                </a:solidFill>
                <a:latin typeface="Arial"/>
                <a:cs typeface="Arial"/>
              </a:rPr>
              <a:t>Destiny Springs</a:t>
            </a:r>
            <a:r>
              <a:rPr sz="1400" i="1" spc="55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008BC0"/>
                </a:solidFill>
                <a:latin typeface="Arial"/>
                <a:cs typeface="Arial"/>
              </a:rPr>
              <a:t>patient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98189" y="7291279"/>
            <a:ext cx="145288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-45" dirty="0">
                <a:solidFill>
                  <a:srgbClr val="79BC43"/>
                </a:solidFill>
                <a:latin typeface="Arial"/>
                <a:cs typeface="Arial"/>
              </a:rPr>
              <a:t>Living</a:t>
            </a:r>
            <a:r>
              <a:rPr sz="850" i="1" spc="-15" dirty="0">
                <a:solidFill>
                  <a:srgbClr val="79BC43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79BC43"/>
                </a:solidFill>
                <a:latin typeface="Arial"/>
                <a:cs typeface="Arial"/>
              </a:rPr>
              <a:t>our</a:t>
            </a:r>
            <a:r>
              <a:rPr sz="850" i="1" spc="15" dirty="0">
                <a:solidFill>
                  <a:srgbClr val="79BC43"/>
                </a:solidFill>
                <a:latin typeface="Arial"/>
                <a:cs typeface="Arial"/>
              </a:rPr>
              <a:t> </a:t>
            </a:r>
            <a:r>
              <a:rPr sz="850" i="1" spc="-114" dirty="0">
                <a:solidFill>
                  <a:srgbClr val="79BC43"/>
                </a:solidFill>
                <a:latin typeface="Arial"/>
                <a:cs typeface="Arial"/>
              </a:rPr>
              <a:t>Values</a:t>
            </a:r>
            <a:r>
              <a:rPr sz="850" i="1" spc="55" dirty="0">
                <a:solidFill>
                  <a:srgbClr val="79BC43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47720"/>
                </a:solidFill>
                <a:latin typeface="Arial"/>
                <a:cs typeface="Arial"/>
              </a:rPr>
              <a:t>I</a:t>
            </a:r>
            <a:r>
              <a:rPr sz="850" b="1" spc="-15" dirty="0">
                <a:solidFill>
                  <a:srgbClr val="F47720"/>
                </a:solidFill>
                <a:latin typeface="Arial"/>
                <a:cs typeface="Arial"/>
              </a:rPr>
              <a:t> </a:t>
            </a:r>
            <a:r>
              <a:rPr sz="850" b="1" spc="-10" dirty="0">
                <a:solidFill>
                  <a:srgbClr val="008BC0"/>
                </a:solidFill>
                <a:latin typeface="Arial"/>
                <a:cs typeface="Arial"/>
              </a:rPr>
              <a:t>SERVICE</a:t>
            </a:r>
            <a:r>
              <a:rPr sz="850" b="1" spc="225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sz="850" b="1" spc="-25" dirty="0">
                <a:solidFill>
                  <a:srgbClr val="008BC0"/>
                </a:solidFill>
                <a:latin typeface="Arial"/>
                <a:cs typeface="Arial"/>
              </a:rPr>
              <a:t>12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35355" y="591920"/>
            <a:ext cx="4208145" cy="1049020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 marR="5080">
              <a:lnSpc>
                <a:spcPct val="76800"/>
              </a:lnSpc>
              <a:spcBef>
                <a:spcPts val="1155"/>
              </a:spcBef>
            </a:pPr>
            <a:r>
              <a:rPr sz="3800" dirty="0">
                <a:solidFill>
                  <a:srgbClr val="008BC0"/>
                </a:solidFill>
              </a:rPr>
              <a:t>Safety,</a:t>
            </a:r>
            <a:r>
              <a:rPr sz="3800" spc="-20" dirty="0">
                <a:solidFill>
                  <a:srgbClr val="008BC0"/>
                </a:solidFill>
              </a:rPr>
              <a:t> </a:t>
            </a:r>
            <a:r>
              <a:rPr sz="3800" dirty="0">
                <a:solidFill>
                  <a:srgbClr val="008BC0"/>
                </a:solidFill>
              </a:rPr>
              <a:t>Health</a:t>
            </a:r>
            <a:r>
              <a:rPr sz="3800" spc="-15" dirty="0">
                <a:solidFill>
                  <a:srgbClr val="008BC0"/>
                </a:solidFill>
              </a:rPr>
              <a:t> </a:t>
            </a:r>
            <a:r>
              <a:rPr sz="3800" spc="-25" dirty="0">
                <a:solidFill>
                  <a:srgbClr val="008BC0"/>
                </a:solidFill>
              </a:rPr>
              <a:t>and </a:t>
            </a:r>
            <a:r>
              <a:rPr sz="3800" spc="55" dirty="0">
                <a:solidFill>
                  <a:srgbClr val="008BC0"/>
                </a:solidFill>
              </a:rPr>
              <a:t>the</a:t>
            </a:r>
            <a:r>
              <a:rPr sz="3800" spc="70" dirty="0">
                <a:solidFill>
                  <a:srgbClr val="008BC0"/>
                </a:solidFill>
              </a:rPr>
              <a:t> </a:t>
            </a:r>
            <a:r>
              <a:rPr sz="3800" spc="-10" dirty="0">
                <a:solidFill>
                  <a:srgbClr val="008BC0"/>
                </a:solidFill>
              </a:rPr>
              <a:t>Environment</a:t>
            </a:r>
            <a:endParaRPr sz="3800"/>
          </a:p>
        </p:txBody>
      </p:sp>
      <p:sp>
        <p:nvSpPr>
          <p:cNvPr id="3" name="object 3"/>
          <p:cNvSpPr txBox="1"/>
          <p:nvPr/>
        </p:nvSpPr>
        <p:spPr>
          <a:xfrm>
            <a:off x="444500" y="1835327"/>
            <a:ext cx="2640330" cy="795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At</a:t>
            </a:r>
            <a:r>
              <a:rPr sz="1150" b="1" spc="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lang="en-US" sz="1150" b="1" spc="-10" dirty="0">
                <a:solidFill>
                  <a:srgbClr val="231F20"/>
                </a:solidFill>
                <a:latin typeface="Arial"/>
                <a:cs typeface="Arial"/>
              </a:rPr>
              <a:t>Destiny Springs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1150" b="1" spc="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we</a:t>
            </a:r>
            <a:r>
              <a:rPr sz="1150" b="1" spc="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are</a:t>
            </a:r>
            <a:r>
              <a:rPr sz="1150" b="1" spc="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committed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sz="1150" b="1" spc="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1150" b="1" spc="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safe,</a:t>
            </a:r>
            <a:r>
              <a:rPr sz="1150" b="1" spc="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drug</a:t>
            </a:r>
            <a:r>
              <a:rPr sz="1150" b="1" spc="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sz="1150" b="1" spc="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20" dirty="0">
                <a:solidFill>
                  <a:srgbClr val="231F20"/>
                </a:solidFill>
                <a:latin typeface="Arial"/>
                <a:cs typeface="Arial"/>
              </a:rPr>
              <a:t>alcohol</a:t>
            </a:r>
            <a:r>
              <a:rPr sz="1150" b="1" spc="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free</a:t>
            </a:r>
            <a:r>
              <a:rPr sz="1150" b="1" spc="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20" dirty="0">
                <a:solidFill>
                  <a:srgbClr val="231F20"/>
                </a:solidFill>
                <a:latin typeface="Arial"/>
                <a:cs typeface="Arial"/>
              </a:rPr>
              <a:t>work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environment.</a:t>
            </a:r>
            <a:endParaRPr sz="11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You</a:t>
            </a: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are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required</a:t>
            </a: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to:</a:t>
            </a:r>
            <a:endParaRPr sz="1150" dirty="0">
              <a:latin typeface="Avenir Book"/>
              <a:cs typeface="Avenir Boo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4500" y="2673527"/>
            <a:ext cx="2961005" cy="970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72135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Know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how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lang="en-US" sz="1150" dirty="0">
                <a:solidFill>
                  <a:srgbClr val="231F20"/>
                </a:solidFill>
                <a:latin typeface="Avenir Book"/>
                <a:cs typeface="Avenir Book"/>
              </a:rPr>
              <a:t>Destiny Springs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safety procedures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apply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your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job.</a:t>
            </a:r>
            <a:endParaRPr sz="1150" dirty="0">
              <a:latin typeface="Avenir Book"/>
              <a:cs typeface="Avenir Book"/>
            </a:endParaRPr>
          </a:p>
          <a:p>
            <a:pPr marL="241300" marR="169545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Immediately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notify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your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supervisor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if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you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identify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situation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safety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hazard</a:t>
            </a:r>
            <a:endParaRPr sz="1150" dirty="0">
              <a:latin typeface="Avenir Book"/>
              <a:cs typeface="Avenir Book"/>
            </a:endParaRPr>
          </a:p>
          <a:p>
            <a:pPr marL="241300">
              <a:lnSpc>
                <a:spcPct val="100000"/>
              </a:lnSpc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presenting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danger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yourself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others.</a:t>
            </a:r>
            <a:endParaRPr sz="1150" dirty="0">
              <a:latin typeface="Avenir Book"/>
              <a:cs typeface="Avenir Boo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35290" y="1629232"/>
            <a:ext cx="2902585" cy="19837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153670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Smoking is only allowed in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designated areas.</a:t>
            </a:r>
            <a:endParaRPr sz="1150">
              <a:latin typeface="Avenir Book"/>
              <a:cs typeface="Avenir Book"/>
            </a:endParaRPr>
          </a:p>
          <a:p>
            <a:pPr marL="240665" indent="-227965">
              <a:lnSpc>
                <a:spcPct val="100000"/>
              </a:lnSpc>
              <a:spcBef>
                <a:spcPts val="540"/>
              </a:spcBef>
              <a:buChar char="•"/>
              <a:tabLst>
                <a:tab pos="240665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Complete</a:t>
            </a:r>
            <a:r>
              <a:rPr sz="1150" spc="-5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mandatory</a:t>
            </a:r>
            <a:r>
              <a:rPr sz="1150" spc="-5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training.</a:t>
            </a:r>
            <a:endParaRPr sz="1150">
              <a:latin typeface="Avenir Book"/>
              <a:cs typeface="Avenir Book"/>
            </a:endParaRPr>
          </a:p>
          <a:p>
            <a:pPr marL="241300" marR="64769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Report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work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free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from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influence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drugs,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legal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illegal,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that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may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affect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your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ability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safely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perform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your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job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responsibilities.</a:t>
            </a:r>
            <a:endParaRPr sz="1150">
              <a:latin typeface="Avenir Book"/>
              <a:cs typeface="Avenir Book"/>
            </a:endParaRPr>
          </a:p>
          <a:p>
            <a:pPr marL="241300" marR="5080" indent="-228600" algn="just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  <a:tab pos="24384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	Immediately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notify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your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supervisor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if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you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observe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individual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who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appears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be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impaired.</a:t>
            </a:r>
            <a:endParaRPr sz="1150">
              <a:latin typeface="Avenir Book"/>
              <a:cs typeface="Avenir Boo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26080" y="1691151"/>
            <a:ext cx="283591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We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make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effort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reduce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our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impact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on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environment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by:</a:t>
            </a:r>
            <a:endParaRPr sz="1150">
              <a:latin typeface="Avenir Book"/>
              <a:cs typeface="Avenir Boo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26080" y="2110251"/>
            <a:ext cx="2630805" cy="1214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  <a:tab pos="24384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	Utilizing</a:t>
            </a:r>
            <a:r>
              <a:rPr sz="1150" spc="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resources</a:t>
            </a:r>
            <a:r>
              <a:rPr sz="1150" spc="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appropriately</a:t>
            </a:r>
            <a:r>
              <a:rPr sz="1150" spc="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and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efficiently.</a:t>
            </a:r>
            <a:endParaRPr sz="1150">
              <a:latin typeface="Avenir Book"/>
              <a:cs typeface="Avenir Book"/>
            </a:endParaRPr>
          </a:p>
          <a:p>
            <a:pPr marL="243840" indent="-231140" algn="just">
              <a:lnSpc>
                <a:spcPct val="100000"/>
              </a:lnSpc>
              <a:spcBef>
                <a:spcPts val="540"/>
              </a:spcBef>
              <a:buChar char="•"/>
              <a:tabLst>
                <a:tab pos="24384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Recycling when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possible.</a:t>
            </a:r>
            <a:endParaRPr sz="1150">
              <a:latin typeface="Avenir Book"/>
              <a:cs typeface="Avenir Book"/>
            </a:endParaRPr>
          </a:p>
          <a:p>
            <a:pPr marL="241300" marR="191135" indent="-228600" algn="just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  <a:tab pos="24384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	Following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all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requirements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for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the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handling,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storage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disposal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of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hazardous</a:t>
            </a:r>
            <a:r>
              <a:rPr sz="1150" spc="-5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materials.</a:t>
            </a:r>
            <a:endParaRPr sz="1150">
              <a:latin typeface="Avenir Book"/>
              <a:cs typeface="Avenir Boo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5302" y="3840167"/>
            <a:ext cx="5476875" cy="120650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>
              <a:lnSpc>
                <a:spcPts val="4740"/>
              </a:lnSpc>
              <a:spcBef>
                <a:spcPts val="20"/>
              </a:spcBef>
            </a:pPr>
            <a:r>
              <a:rPr sz="3800" b="1" dirty="0">
                <a:solidFill>
                  <a:srgbClr val="008BC0"/>
                </a:solidFill>
                <a:latin typeface="Arial"/>
                <a:cs typeface="Arial"/>
              </a:rPr>
              <a:t>Workplace</a:t>
            </a:r>
            <a:r>
              <a:rPr sz="3800" b="1" spc="-245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sz="3800" b="1" spc="-25" dirty="0">
                <a:solidFill>
                  <a:srgbClr val="008BC0"/>
                </a:solidFill>
                <a:latin typeface="Arial"/>
                <a:cs typeface="Arial"/>
              </a:rPr>
              <a:t>Conduct</a:t>
            </a:r>
            <a:r>
              <a:rPr sz="3800" b="1" spc="-235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sz="3800" b="1" spc="-25" dirty="0">
                <a:solidFill>
                  <a:srgbClr val="008BC0"/>
                </a:solidFill>
                <a:latin typeface="Arial"/>
                <a:cs typeface="Arial"/>
              </a:rPr>
              <a:t>and </a:t>
            </a:r>
            <a:r>
              <a:rPr sz="3800" b="1" dirty="0">
                <a:solidFill>
                  <a:srgbClr val="008BC0"/>
                </a:solidFill>
                <a:latin typeface="Arial"/>
                <a:cs typeface="Arial"/>
              </a:rPr>
              <a:t>Employment</a:t>
            </a:r>
            <a:r>
              <a:rPr sz="3800" b="1" spc="-165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sz="3800" b="1" spc="-10" dirty="0">
                <a:solidFill>
                  <a:srgbClr val="008BC0"/>
                </a:solidFill>
                <a:latin typeface="Arial"/>
                <a:cs typeface="Arial"/>
              </a:rPr>
              <a:t>Practices</a:t>
            </a:r>
            <a:endParaRPr sz="3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5367" y="5007425"/>
            <a:ext cx="2914015" cy="2333972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At</a:t>
            </a:r>
            <a:r>
              <a:rPr sz="1150" b="1" spc="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lang="en-US" sz="1150" b="1" spc="-10" dirty="0">
                <a:solidFill>
                  <a:srgbClr val="231F20"/>
                </a:solidFill>
                <a:latin typeface="Arial"/>
                <a:cs typeface="Arial"/>
              </a:rPr>
              <a:t>Destiny Springs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1150" b="1" spc="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we</a:t>
            </a:r>
            <a:r>
              <a:rPr sz="1150" b="1" spc="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embrace</a:t>
            </a:r>
            <a:r>
              <a:rPr sz="1150" b="1" spc="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diversity.</a:t>
            </a:r>
            <a:endParaRPr sz="1150" dirty="0">
              <a:latin typeface="Arial"/>
              <a:cs typeface="Arial"/>
            </a:endParaRPr>
          </a:p>
          <a:p>
            <a:pPr marL="12700" marR="26034">
              <a:lnSpc>
                <a:spcPct val="100000"/>
              </a:lnSpc>
              <a:spcBef>
                <a:spcPts val="540"/>
              </a:spcBef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diverse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workforce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enables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us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meet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the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needs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our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diverse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patient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population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and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community.</a:t>
            </a:r>
            <a:endParaRPr sz="1150" dirty="0">
              <a:latin typeface="Avenir Book"/>
              <a:cs typeface="Avenir Book"/>
            </a:endParaRPr>
          </a:p>
          <a:p>
            <a:pPr marL="12700" marR="5080">
              <a:lnSpc>
                <a:spcPct val="100000"/>
              </a:lnSpc>
              <a:spcBef>
                <a:spcPts val="540"/>
              </a:spcBef>
            </a:pPr>
            <a:r>
              <a:rPr lang="en-US" sz="1150" dirty="0">
                <a:solidFill>
                  <a:srgbClr val="231F20"/>
                </a:solidFill>
                <a:latin typeface="Avenir Book"/>
                <a:cs typeface="Avenir Book"/>
              </a:rPr>
              <a:t>Destiny Springs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is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equal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opportunity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employer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does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not discriminate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based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on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sex,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race,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religion,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color,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gender,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national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origin,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ancestry,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physical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mental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disability,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marital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status,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age,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sexual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orientation,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veteran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status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any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other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factor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protected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by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federal,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state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local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law.</a:t>
            </a:r>
            <a:endParaRPr sz="1150" dirty="0">
              <a:latin typeface="Avenir Book"/>
              <a:cs typeface="Avenir Boo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35290" y="5076005"/>
            <a:ext cx="2984500" cy="2197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4620">
              <a:lnSpc>
                <a:spcPct val="100000"/>
              </a:lnSpc>
              <a:spcBef>
                <a:spcPts val="100"/>
              </a:spcBef>
            </a:pP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At</a:t>
            </a:r>
            <a:r>
              <a:rPr sz="1150" b="1" spc="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lang="en-US" sz="1150" b="1" spc="-10" dirty="0">
                <a:solidFill>
                  <a:srgbClr val="231F20"/>
                </a:solidFill>
                <a:latin typeface="Arial"/>
                <a:cs typeface="Arial"/>
              </a:rPr>
              <a:t>Destiny Springs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1150" b="1" spc="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we</a:t>
            </a:r>
            <a:r>
              <a:rPr sz="1150" b="1" spc="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are</a:t>
            </a:r>
            <a:r>
              <a:rPr sz="1150" b="1" spc="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committed</a:t>
            </a:r>
            <a:r>
              <a:rPr sz="1150" b="1" spc="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25" dirty="0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maintaining</a:t>
            </a:r>
            <a:r>
              <a:rPr sz="1150" b="1" spc="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1150" b="1" spc="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work</a:t>
            </a:r>
            <a:r>
              <a:rPr sz="1150" b="1" spc="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environment</a:t>
            </a:r>
            <a:r>
              <a:rPr sz="1150" b="1" spc="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that</a:t>
            </a:r>
            <a:r>
              <a:rPr sz="1150" b="1" spc="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25" dirty="0">
                <a:solidFill>
                  <a:srgbClr val="231F20"/>
                </a:solidFill>
                <a:latin typeface="Arial"/>
                <a:cs typeface="Arial"/>
              </a:rPr>
              <a:t>is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free</a:t>
            </a:r>
            <a:r>
              <a:rPr sz="1150" b="1" spc="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from</a:t>
            </a:r>
            <a:r>
              <a:rPr sz="1150" b="1" spc="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25" dirty="0">
                <a:solidFill>
                  <a:srgbClr val="231F20"/>
                </a:solidFill>
                <a:latin typeface="Arial"/>
                <a:cs typeface="Arial"/>
              </a:rPr>
              <a:t>harassment,</a:t>
            </a:r>
            <a:r>
              <a:rPr sz="1150" b="1" spc="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25" dirty="0">
                <a:solidFill>
                  <a:srgbClr val="231F20"/>
                </a:solidFill>
                <a:latin typeface="Arial"/>
                <a:cs typeface="Arial"/>
              </a:rPr>
              <a:t>discrimination</a:t>
            </a:r>
            <a:r>
              <a:rPr sz="1150" b="1" spc="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25" dirty="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retaliation.</a:t>
            </a:r>
            <a:endParaRPr sz="1150" dirty="0">
              <a:latin typeface="Arial"/>
              <a:cs typeface="Arial"/>
            </a:endParaRPr>
          </a:p>
          <a:p>
            <a:pPr marL="12700" marR="36830">
              <a:lnSpc>
                <a:spcPct val="100000"/>
              </a:lnSpc>
              <a:spcBef>
                <a:spcPts val="540"/>
              </a:spcBef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We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do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not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tolerate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behavior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that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is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disrespectful,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abusive,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harassing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coercive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towards</a:t>
            </a:r>
            <a:r>
              <a:rPr sz="1150" spc="-5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co-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workers,</a:t>
            </a: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customers,</a:t>
            </a: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patients,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visitors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community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members.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If</a:t>
            </a:r>
            <a:r>
              <a:rPr sz="1150" spc="-7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you</a:t>
            </a:r>
            <a:r>
              <a:rPr sz="1150" spc="50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believe</a:t>
            </a:r>
            <a:r>
              <a:rPr sz="1150" spc="-5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you</a:t>
            </a: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may</a:t>
            </a: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have</a:t>
            </a: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observed</a:t>
            </a: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experienced 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discrimination,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harassment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violence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at</a:t>
            </a:r>
            <a:endParaRPr sz="1150" dirty="0">
              <a:latin typeface="Avenir Book"/>
              <a:cs typeface="Avenir Book"/>
            </a:endParaRPr>
          </a:p>
          <a:p>
            <a:pPr marL="12700" marR="5080">
              <a:lnSpc>
                <a:spcPct val="100000"/>
              </a:lnSpc>
            </a:pPr>
            <a:r>
              <a:rPr lang="en-US" sz="1150" spc="-35" dirty="0">
                <a:solidFill>
                  <a:srgbClr val="231F20"/>
                </a:solidFill>
                <a:latin typeface="Avenir Book"/>
                <a:cs typeface="Avenir Book"/>
              </a:rPr>
              <a:t>Destiny Springs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,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immediately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report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the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incident 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your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supervisor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and/or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Security.</a:t>
            </a:r>
            <a:endParaRPr sz="1150" dirty="0">
              <a:latin typeface="Avenir Book"/>
              <a:cs typeface="Avenir Boo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26080" y="5082635"/>
            <a:ext cx="204914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Examples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such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behavior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are:</a:t>
            </a:r>
            <a:endParaRPr sz="1150">
              <a:latin typeface="Avenir Book"/>
              <a:cs typeface="Avenir Book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26080" y="5326475"/>
            <a:ext cx="3207385" cy="22852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610235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Bullying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making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degrading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jokes,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comments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nicknames.</a:t>
            </a:r>
            <a:endParaRPr sz="1150" dirty="0">
              <a:latin typeface="Avenir Book"/>
              <a:cs typeface="Avenir Book"/>
            </a:endParaRPr>
          </a:p>
          <a:p>
            <a:pPr marL="241300" marR="420370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Unwanted sexual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advances,</a:t>
            </a:r>
            <a:r>
              <a:rPr sz="1150" spc="50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invitations,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comments,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posts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or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messages.</a:t>
            </a:r>
            <a:endParaRPr sz="1150" dirty="0">
              <a:latin typeface="Avenir Book"/>
              <a:cs typeface="Avenir Book"/>
            </a:endParaRPr>
          </a:p>
          <a:p>
            <a:pPr marL="241300" marR="438784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Retaliation</a:t>
            </a:r>
            <a:r>
              <a:rPr sz="1150" spc="-5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for</a:t>
            </a:r>
            <a:r>
              <a:rPr sz="1150" spc="-5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reporting</a:t>
            </a:r>
            <a:r>
              <a:rPr sz="1150" spc="-5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50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threatening</a:t>
            </a: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report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harassment.</a:t>
            </a:r>
            <a:endParaRPr sz="1150" dirty="0">
              <a:latin typeface="Avenir Book"/>
              <a:cs typeface="Avenir Book"/>
            </a:endParaRPr>
          </a:p>
          <a:p>
            <a:pPr marL="240665" indent="-227965">
              <a:lnSpc>
                <a:spcPct val="100000"/>
              </a:lnSpc>
              <a:spcBef>
                <a:spcPts val="540"/>
              </a:spcBef>
              <a:buChar char="•"/>
              <a:tabLst>
                <a:tab pos="240665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Acts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and/or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threats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violence.</a:t>
            </a:r>
            <a:endParaRPr sz="1150" dirty="0">
              <a:latin typeface="Avenir Book"/>
              <a:cs typeface="Avenir Book"/>
            </a:endParaRPr>
          </a:p>
          <a:p>
            <a:pPr marL="241300" marR="215265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Possession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weapons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on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lang="en-US" sz="1150" dirty="0">
                <a:solidFill>
                  <a:srgbClr val="231F20"/>
                </a:solidFill>
                <a:latin typeface="Avenir Book"/>
                <a:cs typeface="Avenir Book"/>
              </a:rPr>
              <a:t>Destiny Springs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premises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except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authorized.</a:t>
            </a:r>
            <a:endParaRPr sz="1150" dirty="0">
              <a:latin typeface="Avenir Book"/>
              <a:cs typeface="Avenir Book"/>
            </a:endParaRPr>
          </a:p>
          <a:p>
            <a:pPr marL="1681480">
              <a:lnSpc>
                <a:spcPct val="100000"/>
              </a:lnSpc>
              <a:spcBef>
                <a:spcPts val="850"/>
              </a:spcBef>
            </a:pPr>
            <a:r>
              <a:rPr sz="850" b="1" spc="-25" dirty="0">
                <a:solidFill>
                  <a:srgbClr val="008BC0"/>
                </a:solidFill>
                <a:latin typeface="Arial"/>
                <a:cs typeface="Arial"/>
              </a:rPr>
              <a:t>VALUES</a:t>
            </a:r>
            <a:r>
              <a:rPr sz="850" b="1" spc="-15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008BC0"/>
                </a:solidFill>
                <a:latin typeface="Arial"/>
                <a:cs typeface="Arial"/>
              </a:rPr>
              <a:t>LINE</a:t>
            </a:r>
            <a:r>
              <a:rPr sz="850" b="1" spc="-15" dirty="0">
                <a:solidFill>
                  <a:srgbClr val="008BC0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47720"/>
                </a:solidFill>
                <a:latin typeface="Arial"/>
                <a:cs typeface="Arial"/>
              </a:rPr>
              <a:t>I</a:t>
            </a:r>
            <a:r>
              <a:rPr sz="850" b="1" spc="-15" dirty="0">
                <a:solidFill>
                  <a:srgbClr val="F47720"/>
                </a:solidFill>
                <a:latin typeface="Arial"/>
                <a:cs typeface="Arial"/>
              </a:rPr>
              <a:t> </a:t>
            </a:r>
            <a:r>
              <a:rPr sz="850" i="1" spc="-90" dirty="0">
                <a:solidFill>
                  <a:srgbClr val="79BC43"/>
                </a:solidFill>
                <a:latin typeface="Arial"/>
                <a:cs typeface="Arial"/>
              </a:rPr>
              <a:t>8</a:t>
            </a:r>
            <a:r>
              <a:rPr lang="en-US" sz="850" i="1" spc="-90" dirty="0">
                <a:solidFill>
                  <a:srgbClr val="79BC43"/>
                </a:solidFill>
                <a:latin typeface="Arial"/>
                <a:cs typeface="Arial"/>
              </a:rPr>
              <a:t>33.290.0001</a:t>
            </a:r>
            <a:r>
              <a:rPr sz="850" i="1" spc="325" dirty="0">
                <a:solidFill>
                  <a:srgbClr val="79BC43"/>
                </a:solidFill>
                <a:latin typeface="Arial"/>
                <a:cs typeface="Arial"/>
              </a:rPr>
              <a:t> </a:t>
            </a:r>
            <a:r>
              <a:rPr sz="850" b="1" spc="-25" dirty="0">
                <a:solidFill>
                  <a:srgbClr val="008BC0"/>
                </a:solidFill>
                <a:latin typeface="Arial"/>
                <a:cs typeface="Arial"/>
              </a:rPr>
              <a:t>13</a:t>
            </a:r>
            <a:endParaRPr sz="850" dirty="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689018" y="4134717"/>
            <a:ext cx="909319" cy="845819"/>
            <a:chOff x="6689018" y="4134717"/>
            <a:chExt cx="909319" cy="845819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13636" y="4761710"/>
              <a:ext cx="154481" cy="21851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975843" y="4315396"/>
              <a:ext cx="553085" cy="665480"/>
            </a:xfrm>
            <a:custGeom>
              <a:avLst/>
              <a:gdLst/>
              <a:ahLst/>
              <a:cxnLst/>
              <a:rect l="l" t="t" r="r" b="b"/>
              <a:pathLst>
                <a:path w="553084" h="665479">
                  <a:moveTo>
                    <a:pt x="389534" y="13309"/>
                  </a:moveTo>
                  <a:lnTo>
                    <a:pt x="382422" y="11137"/>
                  </a:lnTo>
                  <a:lnTo>
                    <a:pt x="375678" y="8077"/>
                  </a:lnTo>
                  <a:lnTo>
                    <a:pt x="369468" y="4254"/>
                  </a:lnTo>
                  <a:lnTo>
                    <a:pt x="319798" y="1536"/>
                  </a:lnTo>
                  <a:lnTo>
                    <a:pt x="278193" y="292"/>
                  </a:lnTo>
                  <a:lnTo>
                    <a:pt x="247243" y="0"/>
                  </a:lnTo>
                  <a:lnTo>
                    <a:pt x="87998" y="190"/>
                  </a:lnTo>
                  <a:lnTo>
                    <a:pt x="0" y="533"/>
                  </a:lnTo>
                  <a:lnTo>
                    <a:pt x="6134" y="4038"/>
                  </a:lnTo>
                  <a:lnTo>
                    <a:pt x="12522" y="8610"/>
                  </a:lnTo>
                  <a:lnTo>
                    <a:pt x="42443" y="44869"/>
                  </a:lnTo>
                  <a:lnTo>
                    <a:pt x="49034" y="57378"/>
                  </a:lnTo>
                  <a:lnTo>
                    <a:pt x="62979" y="57327"/>
                  </a:lnTo>
                  <a:lnTo>
                    <a:pt x="62979" y="94653"/>
                  </a:lnTo>
                  <a:lnTo>
                    <a:pt x="72707" y="138722"/>
                  </a:lnTo>
                  <a:lnTo>
                    <a:pt x="78498" y="190182"/>
                  </a:lnTo>
                  <a:lnTo>
                    <a:pt x="80365" y="248996"/>
                  </a:lnTo>
                  <a:lnTo>
                    <a:pt x="78270" y="315099"/>
                  </a:lnTo>
                  <a:lnTo>
                    <a:pt x="62979" y="343903"/>
                  </a:lnTo>
                  <a:lnTo>
                    <a:pt x="62979" y="620788"/>
                  </a:lnTo>
                  <a:lnTo>
                    <a:pt x="66446" y="637946"/>
                  </a:lnTo>
                  <a:lnTo>
                    <a:pt x="75895" y="651954"/>
                  </a:lnTo>
                  <a:lnTo>
                    <a:pt x="89903" y="661403"/>
                  </a:lnTo>
                  <a:lnTo>
                    <a:pt x="107061" y="664870"/>
                  </a:lnTo>
                  <a:lnTo>
                    <a:pt x="124218" y="661403"/>
                  </a:lnTo>
                  <a:lnTo>
                    <a:pt x="138226" y="651954"/>
                  </a:lnTo>
                  <a:lnTo>
                    <a:pt x="147662" y="637946"/>
                  </a:lnTo>
                  <a:lnTo>
                    <a:pt x="151130" y="620788"/>
                  </a:lnTo>
                  <a:lnTo>
                    <a:pt x="151130" y="298983"/>
                  </a:lnTo>
                  <a:lnTo>
                    <a:pt x="167652" y="298983"/>
                  </a:lnTo>
                  <a:lnTo>
                    <a:pt x="167652" y="620788"/>
                  </a:lnTo>
                  <a:lnTo>
                    <a:pt x="171119" y="637946"/>
                  </a:lnTo>
                  <a:lnTo>
                    <a:pt x="180568" y="651954"/>
                  </a:lnTo>
                  <a:lnTo>
                    <a:pt x="194576" y="661403"/>
                  </a:lnTo>
                  <a:lnTo>
                    <a:pt x="211734" y="664870"/>
                  </a:lnTo>
                  <a:lnTo>
                    <a:pt x="228892" y="661403"/>
                  </a:lnTo>
                  <a:lnTo>
                    <a:pt x="242900" y="651954"/>
                  </a:lnTo>
                  <a:lnTo>
                    <a:pt x="252336" y="637946"/>
                  </a:lnTo>
                  <a:lnTo>
                    <a:pt x="255803" y="620788"/>
                  </a:lnTo>
                  <a:lnTo>
                    <a:pt x="255803" y="419760"/>
                  </a:lnTo>
                  <a:lnTo>
                    <a:pt x="248564" y="415429"/>
                  </a:lnTo>
                  <a:lnTo>
                    <a:pt x="255803" y="379793"/>
                  </a:lnTo>
                  <a:lnTo>
                    <a:pt x="255803" y="330568"/>
                  </a:lnTo>
                  <a:lnTo>
                    <a:pt x="250647" y="335241"/>
                  </a:lnTo>
                  <a:lnTo>
                    <a:pt x="244627" y="338785"/>
                  </a:lnTo>
                  <a:lnTo>
                    <a:pt x="237934" y="341020"/>
                  </a:lnTo>
                  <a:lnTo>
                    <a:pt x="230733" y="341807"/>
                  </a:lnTo>
                  <a:lnTo>
                    <a:pt x="226263" y="341503"/>
                  </a:lnTo>
                  <a:lnTo>
                    <a:pt x="213563" y="337146"/>
                  </a:lnTo>
                  <a:lnTo>
                    <a:pt x="203835" y="328536"/>
                  </a:lnTo>
                  <a:lnTo>
                    <a:pt x="198043" y="316915"/>
                  </a:lnTo>
                  <a:lnTo>
                    <a:pt x="197116" y="303504"/>
                  </a:lnTo>
                  <a:lnTo>
                    <a:pt x="208089" y="239039"/>
                  </a:lnTo>
                  <a:lnTo>
                    <a:pt x="222034" y="185115"/>
                  </a:lnTo>
                  <a:lnTo>
                    <a:pt x="238188" y="140804"/>
                  </a:lnTo>
                  <a:lnTo>
                    <a:pt x="255803" y="105168"/>
                  </a:lnTo>
                  <a:lnTo>
                    <a:pt x="255803" y="57111"/>
                  </a:lnTo>
                  <a:lnTo>
                    <a:pt x="290855" y="57708"/>
                  </a:lnTo>
                  <a:lnTo>
                    <a:pt x="311505" y="39636"/>
                  </a:lnTo>
                  <a:lnTo>
                    <a:pt x="329857" y="28282"/>
                  </a:lnTo>
                  <a:lnTo>
                    <a:pt x="344652" y="22110"/>
                  </a:lnTo>
                  <a:lnTo>
                    <a:pt x="360057" y="18288"/>
                  </a:lnTo>
                  <a:lnTo>
                    <a:pt x="367982" y="16637"/>
                  </a:lnTo>
                  <a:lnTo>
                    <a:pt x="377977" y="14897"/>
                  </a:lnTo>
                  <a:lnTo>
                    <a:pt x="389534" y="13309"/>
                  </a:lnTo>
                  <a:close/>
                </a:path>
                <a:path w="553084" h="665479">
                  <a:moveTo>
                    <a:pt x="552500" y="57899"/>
                  </a:moveTo>
                  <a:lnTo>
                    <a:pt x="530021" y="24422"/>
                  </a:lnTo>
                  <a:lnTo>
                    <a:pt x="488035" y="17106"/>
                  </a:lnTo>
                  <a:lnTo>
                    <a:pt x="446087" y="11391"/>
                  </a:lnTo>
                  <a:lnTo>
                    <a:pt x="440524" y="13309"/>
                  </a:lnTo>
                  <a:lnTo>
                    <a:pt x="452081" y="14897"/>
                  </a:lnTo>
                  <a:lnTo>
                    <a:pt x="462064" y="16649"/>
                  </a:lnTo>
                  <a:lnTo>
                    <a:pt x="503885" y="30226"/>
                  </a:lnTo>
                  <a:lnTo>
                    <a:pt x="548436" y="67894"/>
                  </a:lnTo>
                  <a:lnTo>
                    <a:pt x="550354" y="64935"/>
                  </a:lnTo>
                  <a:lnTo>
                    <a:pt x="551776" y="61582"/>
                  </a:lnTo>
                  <a:lnTo>
                    <a:pt x="552500" y="57899"/>
                  </a:lnTo>
                  <a:close/>
                </a:path>
              </a:pathLst>
            </a:custGeom>
            <a:solidFill>
              <a:srgbClr val="79BC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55023" y="4134717"/>
              <a:ext cx="160426" cy="16042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689018" y="4315457"/>
              <a:ext cx="356870" cy="664845"/>
            </a:xfrm>
            <a:custGeom>
              <a:avLst/>
              <a:gdLst/>
              <a:ahLst/>
              <a:cxnLst/>
              <a:rect l="l" t="t" r="r" b="b"/>
              <a:pathLst>
                <a:path w="356870" h="664845">
                  <a:moveTo>
                    <a:pt x="247126" y="0"/>
                  </a:moveTo>
                  <a:lnTo>
                    <a:pt x="107680" y="88"/>
                  </a:lnTo>
                  <a:lnTo>
                    <a:pt x="58086" y="22351"/>
                  </a:lnTo>
                  <a:lnTo>
                    <a:pt x="21187" y="83790"/>
                  </a:lnTo>
                  <a:lnTo>
                    <a:pt x="9555" y="128090"/>
                  </a:lnTo>
                  <a:lnTo>
                    <a:pt x="2488" y="181342"/>
                  </a:lnTo>
                  <a:lnTo>
                    <a:pt x="0" y="243471"/>
                  </a:lnTo>
                  <a:lnTo>
                    <a:pt x="2105" y="314401"/>
                  </a:lnTo>
                  <a:lnTo>
                    <a:pt x="4810" y="324995"/>
                  </a:lnTo>
                  <a:lnTo>
                    <a:pt x="11031" y="333517"/>
                  </a:lnTo>
                  <a:lnTo>
                    <a:pt x="19898" y="339197"/>
                  </a:lnTo>
                  <a:lnTo>
                    <a:pt x="31670" y="341248"/>
                  </a:lnTo>
                  <a:lnTo>
                    <a:pt x="43187" y="338327"/>
                  </a:lnTo>
                  <a:lnTo>
                    <a:pt x="51882" y="331695"/>
                  </a:lnTo>
                  <a:lnTo>
                    <a:pt x="57454" y="322287"/>
                  </a:lnTo>
                  <a:lnTo>
                    <a:pt x="59039" y="311073"/>
                  </a:lnTo>
                  <a:lnTo>
                    <a:pt x="57067" y="242730"/>
                  </a:lnTo>
                  <a:lnTo>
                    <a:pt x="59312" y="187233"/>
                  </a:lnTo>
                  <a:lnTo>
                    <a:pt x="64823" y="143390"/>
                  </a:lnTo>
                  <a:lnTo>
                    <a:pt x="72652" y="110006"/>
                  </a:lnTo>
                  <a:lnTo>
                    <a:pt x="81848" y="85890"/>
                  </a:lnTo>
                  <a:lnTo>
                    <a:pt x="81848" y="620725"/>
                  </a:lnTo>
                  <a:lnTo>
                    <a:pt x="85312" y="637881"/>
                  </a:lnTo>
                  <a:lnTo>
                    <a:pt x="94758" y="651889"/>
                  </a:lnTo>
                  <a:lnTo>
                    <a:pt x="108766" y="661332"/>
                  </a:lnTo>
                  <a:lnTo>
                    <a:pt x="125917" y="664794"/>
                  </a:lnTo>
                  <a:lnTo>
                    <a:pt x="143076" y="661332"/>
                  </a:lnTo>
                  <a:lnTo>
                    <a:pt x="157088" y="651889"/>
                  </a:lnTo>
                  <a:lnTo>
                    <a:pt x="166535" y="637881"/>
                  </a:lnTo>
                  <a:lnTo>
                    <a:pt x="169999" y="620725"/>
                  </a:lnTo>
                  <a:lnTo>
                    <a:pt x="169999" y="298919"/>
                  </a:lnTo>
                  <a:lnTo>
                    <a:pt x="186522" y="298919"/>
                  </a:lnTo>
                  <a:lnTo>
                    <a:pt x="186522" y="620725"/>
                  </a:lnTo>
                  <a:lnTo>
                    <a:pt x="189985" y="637881"/>
                  </a:lnTo>
                  <a:lnTo>
                    <a:pt x="199431" y="651889"/>
                  </a:lnTo>
                  <a:lnTo>
                    <a:pt x="213439" y="661332"/>
                  </a:lnTo>
                  <a:lnTo>
                    <a:pt x="230591" y="664794"/>
                  </a:lnTo>
                  <a:lnTo>
                    <a:pt x="247749" y="661332"/>
                  </a:lnTo>
                  <a:lnTo>
                    <a:pt x="261761" y="651889"/>
                  </a:lnTo>
                  <a:lnTo>
                    <a:pt x="271208" y="637881"/>
                  </a:lnTo>
                  <a:lnTo>
                    <a:pt x="274672" y="620725"/>
                  </a:lnTo>
                  <a:lnTo>
                    <a:pt x="274672" y="85890"/>
                  </a:lnTo>
                  <a:lnTo>
                    <a:pt x="283868" y="110012"/>
                  </a:lnTo>
                  <a:lnTo>
                    <a:pt x="291697" y="143399"/>
                  </a:lnTo>
                  <a:lnTo>
                    <a:pt x="297209" y="187243"/>
                  </a:lnTo>
                  <a:lnTo>
                    <a:pt x="299453" y="242736"/>
                  </a:lnTo>
                  <a:lnTo>
                    <a:pt x="297481" y="311073"/>
                  </a:lnTo>
                  <a:lnTo>
                    <a:pt x="299072" y="322287"/>
                  </a:lnTo>
                  <a:lnTo>
                    <a:pt x="304643" y="331695"/>
                  </a:lnTo>
                  <a:lnTo>
                    <a:pt x="313335" y="338327"/>
                  </a:lnTo>
                  <a:lnTo>
                    <a:pt x="325980" y="341261"/>
                  </a:lnTo>
                  <a:lnTo>
                    <a:pt x="336620" y="339197"/>
                  </a:lnTo>
                  <a:lnTo>
                    <a:pt x="345484" y="333517"/>
                  </a:lnTo>
                  <a:lnTo>
                    <a:pt x="351705" y="324995"/>
                  </a:lnTo>
                  <a:lnTo>
                    <a:pt x="354416" y="314401"/>
                  </a:lnTo>
                  <a:lnTo>
                    <a:pt x="356521" y="243471"/>
                  </a:lnTo>
                  <a:lnTo>
                    <a:pt x="354033" y="181342"/>
                  </a:lnTo>
                  <a:lnTo>
                    <a:pt x="346965" y="128090"/>
                  </a:lnTo>
                  <a:lnTo>
                    <a:pt x="335334" y="83790"/>
                  </a:lnTo>
                  <a:lnTo>
                    <a:pt x="319152" y="48519"/>
                  </a:lnTo>
                  <a:lnTo>
                    <a:pt x="283694" y="10995"/>
                  </a:lnTo>
                  <a:lnTo>
                    <a:pt x="258091" y="1036"/>
                  </a:lnTo>
                  <a:lnTo>
                    <a:pt x="247126" y="0"/>
                  </a:lnTo>
                  <a:close/>
                </a:path>
              </a:pathLst>
            </a:custGeom>
            <a:solidFill>
              <a:srgbClr val="79BC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87067" y="4134719"/>
              <a:ext cx="160426" cy="16042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7183566" y="4337839"/>
              <a:ext cx="414655" cy="420370"/>
            </a:xfrm>
            <a:custGeom>
              <a:avLst/>
              <a:gdLst/>
              <a:ahLst/>
              <a:cxnLst/>
              <a:rect l="l" t="t" r="r" b="b"/>
              <a:pathLst>
                <a:path w="414654" h="420370">
                  <a:moveTo>
                    <a:pt x="207314" y="0"/>
                  </a:moveTo>
                  <a:lnTo>
                    <a:pt x="157137" y="5743"/>
                  </a:lnTo>
                  <a:lnTo>
                    <a:pt x="117170" y="20807"/>
                  </a:lnTo>
                  <a:lnTo>
                    <a:pt x="66412" y="72950"/>
                  </a:lnTo>
                  <a:lnTo>
                    <a:pt x="40411" y="121946"/>
                  </a:lnTo>
                  <a:lnTo>
                    <a:pt x="17418" y="190671"/>
                  </a:lnTo>
                  <a:lnTo>
                    <a:pt x="0" y="282460"/>
                  </a:lnTo>
                  <a:lnTo>
                    <a:pt x="631" y="291639"/>
                  </a:lnTo>
                  <a:lnTo>
                    <a:pt x="4594" y="299588"/>
                  </a:lnTo>
                  <a:lnTo>
                    <a:pt x="11247" y="305472"/>
                  </a:lnTo>
                  <a:lnTo>
                    <a:pt x="19951" y="308457"/>
                  </a:lnTo>
                  <a:lnTo>
                    <a:pt x="29125" y="307838"/>
                  </a:lnTo>
                  <a:lnTo>
                    <a:pt x="37074" y="303879"/>
                  </a:lnTo>
                  <a:lnTo>
                    <a:pt x="42961" y="297224"/>
                  </a:lnTo>
                  <a:lnTo>
                    <a:pt x="45948" y="288518"/>
                  </a:lnTo>
                  <a:lnTo>
                    <a:pt x="59351" y="214186"/>
                  </a:lnTo>
                  <a:lnTo>
                    <a:pt x="76307" y="157335"/>
                  </a:lnTo>
                  <a:lnTo>
                    <a:pt x="95111" y="115641"/>
                  </a:lnTo>
                  <a:lnTo>
                    <a:pt x="114058" y="86779"/>
                  </a:lnTo>
                  <a:lnTo>
                    <a:pt x="52832" y="387692"/>
                  </a:lnTo>
                  <a:lnTo>
                    <a:pt x="85349" y="406246"/>
                  </a:lnTo>
                  <a:lnTo>
                    <a:pt x="112280" y="415774"/>
                  </a:lnTo>
                  <a:lnTo>
                    <a:pt x="148108" y="419284"/>
                  </a:lnTo>
                  <a:lnTo>
                    <a:pt x="207314" y="419785"/>
                  </a:lnTo>
                  <a:lnTo>
                    <a:pt x="274041" y="414771"/>
                  </a:lnTo>
                  <a:lnTo>
                    <a:pt x="322413" y="403739"/>
                  </a:lnTo>
                  <a:lnTo>
                    <a:pt x="351856" y="392707"/>
                  </a:lnTo>
                  <a:lnTo>
                    <a:pt x="361797" y="387692"/>
                  </a:lnTo>
                  <a:lnTo>
                    <a:pt x="300583" y="86906"/>
                  </a:lnTo>
                  <a:lnTo>
                    <a:pt x="319512" y="115818"/>
                  </a:lnTo>
                  <a:lnTo>
                    <a:pt x="338323" y="157527"/>
                  </a:lnTo>
                  <a:lnTo>
                    <a:pt x="355288" y="214329"/>
                  </a:lnTo>
                  <a:lnTo>
                    <a:pt x="368681" y="288518"/>
                  </a:lnTo>
                  <a:lnTo>
                    <a:pt x="371303" y="296584"/>
                  </a:lnTo>
                  <a:lnTo>
                    <a:pt x="376434" y="302961"/>
                  </a:lnTo>
                  <a:lnTo>
                    <a:pt x="383422" y="307153"/>
                  </a:lnTo>
                  <a:lnTo>
                    <a:pt x="391617" y="308660"/>
                  </a:lnTo>
                  <a:lnTo>
                    <a:pt x="394677" y="308457"/>
                  </a:lnTo>
                  <a:lnTo>
                    <a:pt x="403381" y="305472"/>
                  </a:lnTo>
                  <a:lnTo>
                    <a:pt x="410035" y="299588"/>
                  </a:lnTo>
                  <a:lnTo>
                    <a:pt x="413998" y="291639"/>
                  </a:lnTo>
                  <a:lnTo>
                    <a:pt x="414629" y="282460"/>
                  </a:lnTo>
                  <a:lnTo>
                    <a:pt x="397215" y="190671"/>
                  </a:lnTo>
                  <a:lnTo>
                    <a:pt x="374223" y="121946"/>
                  </a:lnTo>
                  <a:lnTo>
                    <a:pt x="348222" y="72950"/>
                  </a:lnTo>
                  <a:lnTo>
                    <a:pt x="321779" y="40348"/>
                  </a:lnTo>
                  <a:lnTo>
                    <a:pt x="277834" y="10992"/>
                  </a:lnTo>
                  <a:lnTo>
                    <a:pt x="226600" y="968"/>
                  </a:lnTo>
                  <a:lnTo>
                    <a:pt x="207314" y="0"/>
                  </a:lnTo>
                  <a:close/>
                </a:path>
              </a:pathLst>
            </a:custGeom>
            <a:solidFill>
              <a:srgbClr val="79BC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14233" y="4168529"/>
              <a:ext cx="153288" cy="153288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6614045" y="829149"/>
            <a:ext cx="586105" cy="785495"/>
            <a:chOff x="6614045" y="829149"/>
            <a:chExt cx="586105" cy="785495"/>
          </a:xfrm>
        </p:grpSpPr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26562" y="829149"/>
              <a:ext cx="150745" cy="142297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614045" y="851001"/>
              <a:ext cx="586105" cy="763905"/>
            </a:xfrm>
            <a:custGeom>
              <a:avLst/>
              <a:gdLst/>
              <a:ahLst/>
              <a:cxnLst/>
              <a:rect l="l" t="t" r="r" b="b"/>
              <a:pathLst>
                <a:path w="586104" h="763905">
                  <a:moveTo>
                    <a:pt x="408622" y="88696"/>
                  </a:moveTo>
                  <a:lnTo>
                    <a:pt x="407581" y="77990"/>
                  </a:lnTo>
                  <a:lnTo>
                    <a:pt x="402463" y="68541"/>
                  </a:lnTo>
                  <a:lnTo>
                    <a:pt x="394398" y="62001"/>
                  </a:lnTo>
                  <a:lnTo>
                    <a:pt x="384479" y="58966"/>
                  </a:lnTo>
                  <a:lnTo>
                    <a:pt x="373786" y="59994"/>
                  </a:lnTo>
                  <a:lnTo>
                    <a:pt x="87185" y="147485"/>
                  </a:lnTo>
                  <a:lnTo>
                    <a:pt x="77724" y="152603"/>
                  </a:lnTo>
                  <a:lnTo>
                    <a:pt x="71183" y="160667"/>
                  </a:lnTo>
                  <a:lnTo>
                    <a:pt x="68135" y="170586"/>
                  </a:lnTo>
                  <a:lnTo>
                    <a:pt x="69189" y="181292"/>
                  </a:lnTo>
                  <a:lnTo>
                    <a:pt x="73101" y="189217"/>
                  </a:lnTo>
                  <a:lnTo>
                    <a:pt x="79108" y="195249"/>
                  </a:lnTo>
                  <a:lnTo>
                    <a:pt x="86626" y="199110"/>
                  </a:lnTo>
                  <a:lnTo>
                    <a:pt x="95072" y="200469"/>
                  </a:lnTo>
                  <a:lnTo>
                    <a:pt x="97688" y="200469"/>
                  </a:lnTo>
                  <a:lnTo>
                    <a:pt x="389585" y="111785"/>
                  </a:lnTo>
                  <a:lnTo>
                    <a:pt x="408622" y="88696"/>
                  </a:lnTo>
                  <a:close/>
                </a:path>
                <a:path w="586104" h="763905">
                  <a:moveTo>
                    <a:pt x="484162" y="351447"/>
                  </a:moveTo>
                  <a:lnTo>
                    <a:pt x="469125" y="309575"/>
                  </a:lnTo>
                  <a:lnTo>
                    <a:pt x="469125" y="384860"/>
                  </a:lnTo>
                  <a:lnTo>
                    <a:pt x="455472" y="350240"/>
                  </a:lnTo>
                  <a:lnTo>
                    <a:pt x="443217" y="321462"/>
                  </a:lnTo>
                  <a:lnTo>
                    <a:pt x="425932" y="296875"/>
                  </a:lnTo>
                  <a:lnTo>
                    <a:pt x="397192" y="274866"/>
                  </a:lnTo>
                  <a:lnTo>
                    <a:pt x="415429" y="279488"/>
                  </a:lnTo>
                  <a:lnTo>
                    <a:pt x="438353" y="300151"/>
                  </a:lnTo>
                  <a:lnTo>
                    <a:pt x="458685" y="335673"/>
                  </a:lnTo>
                  <a:lnTo>
                    <a:pt x="469125" y="384860"/>
                  </a:lnTo>
                  <a:lnTo>
                    <a:pt x="469125" y="309575"/>
                  </a:lnTo>
                  <a:lnTo>
                    <a:pt x="468617" y="308152"/>
                  </a:lnTo>
                  <a:lnTo>
                    <a:pt x="443903" y="274866"/>
                  </a:lnTo>
                  <a:lnTo>
                    <a:pt x="442658" y="273177"/>
                  </a:lnTo>
                  <a:lnTo>
                    <a:pt x="434301" y="266052"/>
                  </a:lnTo>
                  <a:lnTo>
                    <a:pt x="425767" y="260527"/>
                  </a:lnTo>
                  <a:lnTo>
                    <a:pt x="417207" y="256806"/>
                  </a:lnTo>
                  <a:lnTo>
                    <a:pt x="408774" y="255130"/>
                  </a:lnTo>
                  <a:lnTo>
                    <a:pt x="395465" y="251802"/>
                  </a:lnTo>
                  <a:lnTo>
                    <a:pt x="384556" y="244602"/>
                  </a:lnTo>
                  <a:lnTo>
                    <a:pt x="381723" y="241414"/>
                  </a:lnTo>
                  <a:lnTo>
                    <a:pt x="375615" y="234530"/>
                  </a:lnTo>
                  <a:lnTo>
                    <a:pt x="368223" y="222567"/>
                  </a:lnTo>
                  <a:lnTo>
                    <a:pt x="369760" y="220205"/>
                  </a:lnTo>
                  <a:lnTo>
                    <a:pt x="372554" y="215950"/>
                  </a:lnTo>
                  <a:lnTo>
                    <a:pt x="373964" y="207518"/>
                  </a:lnTo>
                  <a:lnTo>
                    <a:pt x="373862" y="207238"/>
                  </a:lnTo>
                  <a:lnTo>
                    <a:pt x="371348" y="199415"/>
                  </a:lnTo>
                  <a:lnTo>
                    <a:pt x="369722" y="196126"/>
                  </a:lnTo>
                  <a:lnTo>
                    <a:pt x="367855" y="192341"/>
                  </a:lnTo>
                  <a:lnTo>
                    <a:pt x="362673" y="186753"/>
                  </a:lnTo>
                  <a:lnTo>
                    <a:pt x="356222" y="182867"/>
                  </a:lnTo>
                  <a:lnTo>
                    <a:pt x="348919" y="180898"/>
                  </a:lnTo>
                  <a:lnTo>
                    <a:pt x="344436" y="173736"/>
                  </a:lnTo>
                  <a:lnTo>
                    <a:pt x="339534" y="168706"/>
                  </a:lnTo>
                  <a:lnTo>
                    <a:pt x="333971" y="166331"/>
                  </a:lnTo>
                  <a:lnTo>
                    <a:pt x="327545" y="167132"/>
                  </a:lnTo>
                  <a:lnTo>
                    <a:pt x="319176" y="169900"/>
                  </a:lnTo>
                  <a:lnTo>
                    <a:pt x="317461" y="171399"/>
                  </a:lnTo>
                  <a:lnTo>
                    <a:pt x="319747" y="175526"/>
                  </a:lnTo>
                  <a:lnTo>
                    <a:pt x="323583" y="186055"/>
                  </a:lnTo>
                  <a:lnTo>
                    <a:pt x="304558" y="190690"/>
                  </a:lnTo>
                  <a:lnTo>
                    <a:pt x="286766" y="193814"/>
                  </a:lnTo>
                  <a:lnTo>
                    <a:pt x="270154" y="195567"/>
                  </a:lnTo>
                  <a:lnTo>
                    <a:pt x="254723" y="196126"/>
                  </a:lnTo>
                  <a:lnTo>
                    <a:pt x="233235" y="194983"/>
                  </a:lnTo>
                  <a:lnTo>
                    <a:pt x="214236" y="191897"/>
                  </a:lnTo>
                  <a:lnTo>
                    <a:pt x="197650" y="187350"/>
                  </a:lnTo>
                  <a:lnTo>
                    <a:pt x="183362" y="181825"/>
                  </a:lnTo>
                  <a:lnTo>
                    <a:pt x="101752" y="206743"/>
                  </a:lnTo>
                  <a:lnTo>
                    <a:pt x="98425" y="207238"/>
                  </a:lnTo>
                  <a:lnTo>
                    <a:pt x="95072" y="207238"/>
                  </a:lnTo>
                  <a:lnTo>
                    <a:pt x="62712" y="183273"/>
                  </a:lnTo>
                  <a:lnTo>
                    <a:pt x="61417" y="169900"/>
                  </a:lnTo>
                  <a:lnTo>
                    <a:pt x="65214" y="157492"/>
                  </a:lnTo>
                  <a:lnTo>
                    <a:pt x="73393" y="147396"/>
                  </a:lnTo>
                  <a:lnTo>
                    <a:pt x="85204" y="141008"/>
                  </a:lnTo>
                  <a:lnTo>
                    <a:pt x="122631" y="129578"/>
                  </a:lnTo>
                  <a:lnTo>
                    <a:pt x="119100" y="127228"/>
                  </a:lnTo>
                  <a:lnTo>
                    <a:pt x="115214" y="125437"/>
                  </a:lnTo>
                  <a:lnTo>
                    <a:pt x="110972" y="124383"/>
                  </a:lnTo>
                  <a:lnTo>
                    <a:pt x="87452" y="123444"/>
                  </a:lnTo>
                  <a:lnTo>
                    <a:pt x="62611" y="132118"/>
                  </a:lnTo>
                  <a:lnTo>
                    <a:pt x="39992" y="151434"/>
                  </a:lnTo>
                  <a:lnTo>
                    <a:pt x="23152" y="182422"/>
                  </a:lnTo>
                  <a:lnTo>
                    <a:pt x="9194" y="230009"/>
                  </a:lnTo>
                  <a:lnTo>
                    <a:pt x="1727" y="273177"/>
                  </a:lnTo>
                  <a:lnTo>
                    <a:pt x="1612" y="273773"/>
                  </a:lnTo>
                  <a:lnTo>
                    <a:pt x="50" y="317169"/>
                  </a:lnTo>
                  <a:lnTo>
                    <a:pt x="0" y="318846"/>
                  </a:lnTo>
                  <a:lnTo>
                    <a:pt x="3924" y="370319"/>
                  </a:lnTo>
                  <a:lnTo>
                    <a:pt x="10845" y="392734"/>
                  </a:lnTo>
                  <a:lnTo>
                    <a:pt x="21018" y="408787"/>
                  </a:lnTo>
                  <a:lnTo>
                    <a:pt x="33655" y="419506"/>
                  </a:lnTo>
                  <a:lnTo>
                    <a:pt x="47955" y="425932"/>
                  </a:lnTo>
                  <a:lnTo>
                    <a:pt x="54762" y="445122"/>
                  </a:lnTo>
                  <a:lnTo>
                    <a:pt x="62611" y="474548"/>
                  </a:lnTo>
                  <a:lnTo>
                    <a:pt x="69075" y="512991"/>
                  </a:lnTo>
                  <a:lnTo>
                    <a:pt x="71742" y="559219"/>
                  </a:lnTo>
                  <a:lnTo>
                    <a:pt x="70370" y="592505"/>
                  </a:lnTo>
                  <a:lnTo>
                    <a:pt x="65849" y="628294"/>
                  </a:lnTo>
                  <a:lnTo>
                    <a:pt x="57543" y="666343"/>
                  </a:lnTo>
                  <a:lnTo>
                    <a:pt x="44805" y="706424"/>
                  </a:lnTo>
                  <a:lnTo>
                    <a:pt x="42202" y="723023"/>
                  </a:lnTo>
                  <a:lnTo>
                    <a:pt x="69786" y="760780"/>
                  </a:lnTo>
                  <a:lnTo>
                    <a:pt x="79590" y="763435"/>
                  </a:lnTo>
                  <a:lnTo>
                    <a:pt x="84467" y="763435"/>
                  </a:lnTo>
                  <a:lnTo>
                    <a:pt x="124155" y="735799"/>
                  </a:lnTo>
                  <a:lnTo>
                    <a:pt x="139306" y="688124"/>
                  </a:lnTo>
                  <a:lnTo>
                    <a:pt x="149250" y="642531"/>
                  </a:lnTo>
                  <a:lnTo>
                    <a:pt x="154698" y="599427"/>
                  </a:lnTo>
                  <a:lnTo>
                    <a:pt x="156362" y="559219"/>
                  </a:lnTo>
                  <a:lnTo>
                    <a:pt x="152857" y="501142"/>
                  </a:lnTo>
                  <a:lnTo>
                    <a:pt x="144487" y="452996"/>
                  </a:lnTo>
                  <a:lnTo>
                    <a:pt x="134289" y="416039"/>
                  </a:lnTo>
                  <a:lnTo>
                    <a:pt x="125272" y="391502"/>
                  </a:lnTo>
                  <a:lnTo>
                    <a:pt x="125196" y="383616"/>
                  </a:lnTo>
                  <a:lnTo>
                    <a:pt x="124929" y="379069"/>
                  </a:lnTo>
                  <a:lnTo>
                    <a:pt x="122986" y="338607"/>
                  </a:lnTo>
                  <a:lnTo>
                    <a:pt x="126276" y="297256"/>
                  </a:lnTo>
                  <a:lnTo>
                    <a:pt x="132638" y="257098"/>
                  </a:lnTo>
                  <a:lnTo>
                    <a:pt x="139801" y="220738"/>
                  </a:lnTo>
                  <a:lnTo>
                    <a:pt x="139915" y="220205"/>
                  </a:lnTo>
                  <a:lnTo>
                    <a:pt x="140779" y="220738"/>
                  </a:lnTo>
                  <a:lnTo>
                    <a:pt x="162115" y="231673"/>
                  </a:lnTo>
                  <a:lnTo>
                    <a:pt x="188239" y="241122"/>
                  </a:lnTo>
                  <a:lnTo>
                    <a:pt x="219049" y="247764"/>
                  </a:lnTo>
                  <a:lnTo>
                    <a:pt x="254495" y="250278"/>
                  </a:lnTo>
                  <a:lnTo>
                    <a:pt x="271297" y="249770"/>
                  </a:lnTo>
                  <a:lnTo>
                    <a:pt x="288683" y="248183"/>
                  </a:lnTo>
                  <a:lnTo>
                    <a:pt x="306882" y="245414"/>
                  </a:lnTo>
                  <a:lnTo>
                    <a:pt x="325856" y="241414"/>
                  </a:lnTo>
                  <a:lnTo>
                    <a:pt x="325323" y="247764"/>
                  </a:lnTo>
                  <a:lnTo>
                    <a:pt x="319303" y="293839"/>
                  </a:lnTo>
                  <a:lnTo>
                    <a:pt x="315125" y="317169"/>
                  </a:lnTo>
                  <a:lnTo>
                    <a:pt x="312813" y="374802"/>
                  </a:lnTo>
                  <a:lnTo>
                    <a:pt x="328218" y="413766"/>
                  </a:lnTo>
                  <a:lnTo>
                    <a:pt x="355917" y="436245"/>
                  </a:lnTo>
                  <a:lnTo>
                    <a:pt x="390461" y="444423"/>
                  </a:lnTo>
                  <a:lnTo>
                    <a:pt x="426440" y="440486"/>
                  </a:lnTo>
                  <a:lnTo>
                    <a:pt x="458406" y="426605"/>
                  </a:lnTo>
                  <a:lnTo>
                    <a:pt x="482904" y="393979"/>
                  </a:lnTo>
                  <a:lnTo>
                    <a:pt x="483171" y="384860"/>
                  </a:lnTo>
                  <a:lnTo>
                    <a:pt x="484162" y="351447"/>
                  </a:lnTo>
                  <a:close/>
                </a:path>
                <a:path w="586104" h="763905">
                  <a:moveTo>
                    <a:pt x="585978" y="227774"/>
                  </a:moveTo>
                  <a:lnTo>
                    <a:pt x="377012" y="0"/>
                  </a:lnTo>
                  <a:lnTo>
                    <a:pt x="342099" y="32016"/>
                  </a:lnTo>
                  <a:lnTo>
                    <a:pt x="364007" y="55905"/>
                  </a:lnTo>
                  <a:lnTo>
                    <a:pt x="375018" y="52539"/>
                  </a:lnTo>
                  <a:lnTo>
                    <a:pt x="378345" y="52044"/>
                  </a:lnTo>
                  <a:lnTo>
                    <a:pt x="381698" y="52044"/>
                  </a:lnTo>
                  <a:lnTo>
                    <a:pt x="392455" y="53771"/>
                  </a:lnTo>
                  <a:lnTo>
                    <a:pt x="401853" y="58661"/>
                  </a:lnTo>
                  <a:lnTo>
                    <a:pt x="409257" y="66230"/>
                  </a:lnTo>
                  <a:lnTo>
                    <a:pt x="414058" y="76022"/>
                  </a:lnTo>
                  <a:lnTo>
                    <a:pt x="415467" y="83807"/>
                  </a:lnTo>
                  <a:lnTo>
                    <a:pt x="415048" y="91465"/>
                  </a:lnTo>
                  <a:lnTo>
                    <a:pt x="412953" y="98729"/>
                  </a:lnTo>
                  <a:lnTo>
                    <a:pt x="409333" y="105321"/>
                  </a:lnTo>
                  <a:lnTo>
                    <a:pt x="526694" y="233235"/>
                  </a:lnTo>
                  <a:lnTo>
                    <a:pt x="519531" y="238887"/>
                  </a:lnTo>
                  <a:lnTo>
                    <a:pt x="513994" y="246138"/>
                  </a:lnTo>
                  <a:lnTo>
                    <a:pt x="510438" y="254673"/>
                  </a:lnTo>
                  <a:lnTo>
                    <a:pt x="509168" y="264147"/>
                  </a:lnTo>
                  <a:lnTo>
                    <a:pt x="509168" y="267271"/>
                  </a:lnTo>
                  <a:lnTo>
                    <a:pt x="530034" y="296837"/>
                  </a:lnTo>
                  <a:lnTo>
                    <a:pt x="530034" y="722172"/>
                  </a:lnTo>
                  <a:lnTo>
                    <a:pt x="286346" y="722172"/>
                  </a:lnTo>
                  <a:lnTo>
                    <a:pt x="286346" y="286715"/>
                  </a:lnTo>
                  <a:lnTo>
                    <a:pt x="260413" y="286715"/>
                  </a:lnTo>
                  <a:lnTo>
                    <a:pt x="260413" y="756005"/>
                  </a:lnTo>
                  <a:lnTo>
                    <a:pt x="555980" y="756005"/>
                  </a:lnTo>
                  <a:lnTo>
                    <a:pt x="555980" y="298627"/>
                  </a:lnTo>
                  <a:lnTo>
                    <a:pt x="566153" y="293598"/>
                  </a:lnTo>
                  <a:lnTo>
                    <a:pt x="574179" y="285750"/>
                  </a:lnTo>
                  <a:lnTo>
                    <a:pt x="579462" y="275729"/>
                  </a:lnTo>
                  <a:lnTo>
                    <a:pt x="581355" y="264147"/>
                  </a:lnTo>
                  <a:lnTo>
                    <a:pt x="580732" y="257454"/>
                  </a:lnTo>
                  <a:lnTo>
                    <a:pt x="578942" y="251180"/>
                  </a:lnTo>
                  <a:lnTo>
                    <a:pt x="576097" y="245427"/>
                  </a:lnTo>
                  <a:lnTo>
                    <a:pt x="572325" y="240296"/>
                  </a:lnTo>
                  <a:lnTo>
                    <a:pt x="585978" y="227774"/>
                  </a:lnTo>
                  <a:close/>
                </a:path>
              </a:pathLst>
            </a:custGeom>
            <a:solidFill>
              <a:srgbClr val="79BC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03877" y="3523208"/>
            <a:ext cx="5424335" cy="3693947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7230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5490"/>
              </a:spcBef>
            </a:pPr>
            <a:r>
              <a:rPr spc="-515" dirty="0">
                <a:solidFill>
                  <a:srgbClr val="F47720"/>
                </a:solidFill>
              </a:rPr>
              <a:t>COM</a:t>
            </a:r>
            <a:r>
              <a:rPr spc="-1795" dirty="0">
                <a:solidFill>
                  <a:srgbClr val="F47720"/>
                </a:solidFill>
              </a:rPr>
              <a:t>P</a:t>
            </a:r>
            <a:r>
              <a:rPr spc="-140" dirty="0">
                <a:solidFill>
                  <a:srgbClr val="F47720"/>
                </a:solidFill>
              </a:rPr>
              <a:t>A</a:t>
            </a:r>
            <a:r>
              <a:rPr spc="-650" dirty="0">
                <a:solidFill>
                  <a:srgbClr val="F47720"/>
                </a:solidFill>
              </a:rPr>
              <a:t>S</a:t>
            </a:r>
            <a:r>
              <a:rPr spc="-890" dirty="0">
                <a:solidFill>
                  <a:srgbClr val="F47720"/>
                </a:solidFill>
              </a:rPr>
              <a:t>S</a:t>
            </a:r>
            <a:r>
              <a:rPr spc="-509" dirty="0">
                <a:solidFill>
                  <a:srgbClr val="F47720"/>
                </a:solidFill>
              </a:rPr>
              <a:t>I</a:t>
            </a:r>
            <a:r>
              <a:rPr spc="-690" dirty="0">
                <a:solidFill>
                  <a:srgbClr val="F47720"/>
                </a:solidFill>
              </a:rPr>
              <a:t>O</a:t>
            </a:r>
            <a:r>
              <a:rPr spc="60" dirty="0">
                <a:solidFill>
                  <a:srgbClr val="F47720"/>
                </a:solidFill>
              </a:rPr>
              <a:t>N</a:t>
            </a:r>
          </a:p>
          <a:p>
            <a:pPr marL="196850">
              <a:lnSpc>
                <a:spcPct val="100000"/>
              </a:lnSpc>
              <a:spcBef>
                <a:spcPts val="970"/>
              </a:spcBef>
            </a:pPr>
            <a:r>
              <a:rPr sz="1800" b="0" i="1" spc="-140" dirty="0">
                <a:solidFill>
                  <a:srgbClr val="79BC43"/>
                </a:solidFill>
                <a:latin typeface="Arial"/>
                <a:cs typeface="Arial"/>
              </a:rPr>
              <a:t>Providing</a:t>
            </a:r>
            <a:r>
              <a:rPr sz="1800" b="0" i="1" spc="45" dirty="0">
                <a:solidFill>
                  <a:srgbClr val="79BC43"/>
                </a:solidFill>
                <a:latin typeface="Arial"/>
                <a:cs typeface="Arial"/>
              </a:rPr>
              <a:t> </a:t>
            </a:r>
            <a:r>
              <a:rPr sz="1800" b="0" i="1" spc="-130" dirty="0">
                <a:solidFill>
                  <a:srgbClr val="79BC43"/>
                </a:solidFill>
                <a:latin typeface="Arial"/>
                <a:cs typeface="Arial"/>
              </a:rPr>
              <a:t>comfort</a:t>
            </a:r>
            <a:r>
              <a:rPr sz="1800" b="0" i="1" spc="50" dirty="0">
                <a:solidFill>
                  <a:srgbClr val="79BC43"/>
                </a:solidFill>
                <a:latin typeface="Arial"/>
                <a:cs typeface="Arial"/>
              </a:rPr>
              <a:t> </a:t>
            </a:r>
            <a:r>
              <a:rPr sz="1800" b="0" i="1" spc="-220" dirty="0">
                <a:solidFill>
                  <a:srgbClr val="79BC43"/>
                </a:solidFill>
                <a:latin typeface="Arial"/>
                <a:cs typeface="Arial"/>
              </a:rPr>
              <a:t>and</a:t>
            </a:r>
            <a:r>
              <a:rPr sz="1800" b="0" i="1" spc="45" dirty="0">
                <a:solidFill>
                  <a:srgbClr val="79BC43"/>
                </a:solidFill>
                <a:latin typeface="Arial"/>
                <a:cs typeface="Arial"/>
              </a:rPr>
              <a:t> </a:t>
            </a:r>
            <a:r>
              <a:rPr sz="1800" b="0" i="1" spc="-20" dirty="0">
                <a:solidFill>
                  <a:srgbClr val="79BC43"/>
                </a:solidFill>
                <a:latin typeface="Arial"/>
                <a:cs typeface="Arial"/>
              </a:rPr>
              <a:t>care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4500" y="3772074"/>
            <a:ext cx="3695065" cy="3350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15875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demonstrate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respect,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dignity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worth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every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person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with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my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positive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words,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my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tone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voice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and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my body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language.</a:t>
            </a:r>
            <a:endParaRPr sz="1150">
              <a:latin typeface="Avenir Book"/>
              <a:cs typeface="Avenir Book"/>
            </a:endParaRPr>
          </a:p>
          <a:p>
            <a:pPr marL="241300" marR="25400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care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for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patients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way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want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my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family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members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friends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be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cared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for.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treat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guests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want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my family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treated.</a:t>
            </a:r>
            <a:endParaRPr sz="1150">
              <a:latin typeface="Avenir Book"/>
              <a:cs typeface="Avenir Book"/>
            </a:endParaRPr>
          </a:p>
          <a:p>
            <a:pPr marL="241300" marR="144780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strive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make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every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experience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positive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one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by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listening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communicating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patients,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families,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customers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one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another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with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care.</a:t>
            </a:r>
            <a:endParaRPr sz="1150">
              <a:latin typeface="Avenir Book"/>
              <a:cs typeface="Avenir Book"/>
            </a:endParaRPr>
          </a:p>
          <a:p>
            <a:pPr marL="241300" marR="407670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display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kindness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offer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help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without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being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asked. I know rudeness is never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acceptable.</a:t>
            </a:r>
            <a:endParaRPr sz="1150">
              <a:latin typeface="Avenir Book"/>
              <a:cs typeface="Avenir Book"/>
            </a:endParaRPr>
          </a:p>
          <a:p>
            <a:pPr marL="241300" marR="5080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</a:t>
            </a:r>
            <a:r>
              <a:rPr sz="1150" spc="-5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go</a:t>
            </a:r>
            <a:r>
              <a:rPr sz="1150" spc="-5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above</a:t>
            </a:r>
            <a:r>
              <a:rPr sz="1150" spc="-5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5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beyond</a:t>
            </a:r>
            <a:r>
              <a:rPr sz="1150" spc="-5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ordinary</a:t>
            </a:r>
            <a:r>
              <a:rPr sz="1150" spc="-5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care</a:t>
            </a:r>
            <a:r>
              <a:rPr sz="1150" spc="-5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5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meet</a:t>
            </a:r>
            <a:r>
              <a:rPr sz="1150" spc="-5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the 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personal</a:t>
            </a:r>
            <a:r>
              <a:rPr sz="1150" spc="-5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needs</a:t>
            </a: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those</a:t>
            </a:r>
            <a:r>
              <a:rPr sz="1150" spc="-5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we</a:t>
            </a: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serve,</a:t>
            </a: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remembering</a:t>
            </a: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it</a:t>
            </a:r>
            <a:r>
              <a:rPr sz="1150" spc="-5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is</a:t>
            </a: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the 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little</a:t>
            </a: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things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that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provide</a:t>
            </a: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comfort, 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safety</a:t>
            </a: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reassurance.</a:t>
            </a:r>
            <a:endParaRPr sz="1150">
              <a:latin typeface="Avenir Book"/>
              <a:cs typeface="Avenir Book"/>
            </a:endParaRPr>
          </a:p>
          <a:p>
            <a:pPr marL="241300" marR="97155" indent="-228600">
              <a:lnSpc>
                <a:spcPct val="100699"/>
              </a:lnSpc>
              <a:spcBef>
                <a:spcPts val="53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involve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patients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as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active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participants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their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care,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honoring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their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expertise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knowledge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their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personal</a:t>
            </a: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health.</a:t>
            </a:r>
            <a:endParaRPr sz="1150">
              <a:latin typeface="Avenir Book"/>
              <a:cs typeface="Avenir Boo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4500" y="3465530"/>
            <a:ext cx="33528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47720"/>
                </a:solidFill>
                <a:latin typeface="Arial"/>
                <a:cs typeface="Arial"/>
              </a:rPr>
              <a:t>COMPASSION</a:t>
            </a:r>
            <a:r>
              <a:rPr sz="1400" b="1" spc="-50" dirty="0">
                <a:solidFill>
                  <a:srgbClr val="F47720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47720"/>
                </a:solidFill>
                <a:latin typeface="Arial"/>
                <a:cs typeface="Arial"/>
              </a:rPr>
              <a:t>BEHAVIOR</a:t>
            </a:r>
            <a:r>
              <a:rPr sz="1400" b="1" spc="-45" dirty="0">
                <a:solidFill>
                  <a:srgbClr val="F47720"/>
                </a:solidFill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F47720"/>
                </a:solidFill>
                <a:latin typeface="Arial"/>
                <a:cs typeface="Arial"/>
              </a:rPr>
              <a:t>STANDARDS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513538" y="813816"/>
            <a:ext cx="797560" cy="660400"/>
            <a:chOff x="8513538" y="813816"/>
            <a:chExt cx="797560" cy="660400"/>
          </a:xfrm>
        </p:grpSpPr>
        <p:sp>
          <p:nvSpPr>
            <p:cNvPr id="7" name="object 7"/>
            <p:cNvSpPr/>
            <p:nvPr/>
          </p:nvSpPr>
          <p:spPr>
            <a:xfrm>
              <a:off x="8733237" y="821190"/>
              <a:ext cx="577850" cy="652780"/>
            </a:xfrm>
            <a:custGeom>
              <a:avLst/>
              <a:gdLst/>
              <a:ahLst/>
              <a:cxnLst/>
              <a:rect l="l" t="t" r="r" b="b"/>
              <a:pathLst>
                <a:path w="577850" h="652780">
                  <a:moveTo>
                    <a:pt x="373055" y="0"/>
                  </a:moveTo>
                  <a:lnTo>
                    <a:pt x="307294" y="15406"/>
                  </a:lnTo>
                  <a:lnTo>
                    <a:pt x="243789" y="60123"/>
                  </a:lnTo>
                  <a:lnTo>
                    <a:pt x="195948" y="107964"/>
                  </a:lnTo>
                  <a:lnTo>
                    <a:pt x="259334" y="171350"/>
                  </a:lnTo>
                  <a:lnTo>
                    <a:pt x="269268" y="184394"/>
                  </a:lnTo>
                  <a:lnTo>
                    <a:pt x="274748" y="198853"/>
                  </a:lnTo>
                  <a:lnTo>
                    <a:pt x="275632" y="214068"/>
                  </a:lnTo>
                  <a:lnTo>
                    <a:pt x="271780" y="229376"/>
                  </a:lnTo>
                  <a:lnTo>
                    <a:pt x="263219" y="243689"/>
                  </a:lnTo>
                  <a:lnTo>
                    <a:pt x="251202" y="254748"/>
                  </a:lnTo>
                  <a:lnTo>
                    <a:pt x="236714" y="261877"/>
                  </a:lnTo>
                  <a:lnTo>
                    <a:pt x="220738" y="264403"/>
                  </a:lnTo>
                  <a:lnTo>
                    <a:pt x="214174" y="263979"/>
                  </a:lnTo>
                  <a:lnTo>
                    <a:pt x="207781" y="262720"/>
                  </a:lnTo>
                  <a:lnTo>
                    <a:pt x="201593" y="260642"/>
                  </a:lnTo>
                  <a:lnTo>
                    <a:pt x="195643" y="257761"/>
                  </a:lnTo>
                  <a:lnTo>
                    <a:pt x="10871" y="442533"/>
                  </a:lnTo>
                  <a:lnTo>
                    <a:pt x="0" y="468938"/>
                  </a:lnTo>
                  <a:lnTo>
                    <a:pt x="10874" y="492236"/>
                  </a:lnTo>
                  <a:lnTo>
                    <a:pt x="34174" y="503107"/>
                  </a:lnTo>
                  <a:lnTo>
                    <a:pt x="60579" y="492228"/>
                  </a:lnTo>
                  <a:lnTo>
                    <a:pt x="245694" y="307126"/>
                  </a:lnTo>
                  <a:lnTo>
                    <a:pt x="270725" y="332157"/>
                  </a:lnTo>
                  <a:lnTo>
                    <a:pt x="85623" y="517272"/>
                  </a:lnTo>
                  <a:lnTo>
                    <a:pt x="74750" y="543677"/>
                  </a:lnTo>
                  <a:lnTo>
                    <a:pt x="85621" y="566977"/>
                  </a:lnTo>
                  <a:lnTo>
                    <a:pt x="108920" y="577851"/>
                  </a:lnTo>
                  <a:lnTo>
                    <a:pt x="135331" y="566980"/>
                  </a:lnTo>
                  <a:lnTo>
                    <a:pt x="320433" y="381865"/>
                  </a:lnTo>
                  <a:lnTo>
                    <a:pt x="345465" y="406909"/>
                  </a:lnTo>
                  <a:lnTo>
                    <a:pt x="160362" y="592012"/>
                  </a:lnTo>
                  <a:lnTo>
                    <a:pt x="149491" y="618417"/>
                  </a:lnTo>
                  <a:lnTo>
                    <a:pt x="160366" y="641717"/>
                  </a:lnTo>
                  <a:lnTo>
                    <a:pt x="183665" y="652591"/>
                  </a:lnTo>
                  <a:lnTo>
                    <a:pt x="210070" y="641720"/>
                  </a:lnTo>
                  <a:lnTo>
                    <a:pt x="517728" y="334062"/>
                  </a:lnTo>
                  <a:lnTo>
                    <a:pt x="544032" y="302873"/>
                  </a:lnTo>
                  <a:lnTo>
                    <a:pt x="573530" y="237676"/>
                  </a:lnTo>
                  <a:lnTo>
                    <a:pt x="577851" y="204796"/>
                  </a:lnTo>
                  <a:lnTo>
                    <a:pt x="575973" y="172480"/>
                  </a:lnTo>
                  <a:lnTo>
                    <a:pt x="555869" y="111792"/>
                  </a:lnTo>
                  <a:lnTo>
                    <a:pt x="517728" y="60123"/>
                  </a:lnTo>
                  <a:lnTo>
                    <a:pt x="466059" y="21982"/>
                  </a:lnTo>
                  <a:lnTo>
                    <a:pt x="405371" y="1878"/>
                  </a:lnTo>
                  <a:lnTo>
                    <a:pt x="373055" y="0"/>
                  </a:lnTo>
                  <a:close/>
                </a:path>
              </a:pathLst>
            </a:custGeom>
            <a:solidFill>
              <a:srgbClr val="79BC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58512" y="1011618"/>
              <a:ext cx="243814" cy="23775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513538" y="813816"/>
              <a:ext cx="476250" cy="395605"/>
            </a:xfrm>
            <a:custGeom>
              <a:avLst/>
              <a:gdLst/>
              <a:ahLst/>
              <a:cxnLst/>
              <a:rect l="l" t="t" r="r" b="b"/>
              <a:pathLst>
                <a:path w="476250" h="395605">
                  <a:moveTo>
                    <a:pt x="198378" y="0"/>
                  </a:moveTo>
                  <a:lnTo>
                    <a:pt x="158170" y="4626"/>
                  </a:lnTo>
                  <a:lnTo>
                    <a:pt x="120132" y="17754"/>
                  </a:lnTo>
                  <a:lnTo>
                    <a:pt x="85379" y="38266"/>
                  </a:lnTo>
                  <a:lnTo>
                    <a:pt x="55029" y="65045"/>
                  </a:lnTo>
                  <a:lnTo>
                    <a:pt x="30199" y="96975"/>
                  </a:lnTo>
                  <a:lnTo>
                    <a:pt x="12006" y="132938"/>
                  </a:lnTo>
                  <a:lnTo>
                    <a:pt x="1567" y="171817"/>
                  </a:lnTo>
                  <a:lnTo>
                    <a:pt x="0" y="212497"/>
                  </a:lnTo>
                  <a:lnTo>
                    <a:pt x="8420" y="253858"/>
                  </a:lnTo>
                  <a:lnTo>
                    <a:pt x="27946" y="294786"/>
                  </a:lnTo>
                  <a:lnTo>
                    <a:pt x="59694" y="334162"/>
                  </a:lnTo>
                  <a:lnTo>
                    <a:pt x="120730" y="395198"/>
                  </a:lnTo>
                  <a:lnTo>
                    <a:pt x="344987" y="170941"/>
                  </a:lnTo>
                  <a:lnTo>
                    <a:pt x="415903" y="241858"/>
                  </a:lnTo>
                  <a:lnTo>
                    <a:pt x="421825" y="246819"/>
                  </a:lnTo>
                  <a:lnTo>
                    <a:pt x="427967" y="250216"/>
                  </a:lnTo>
                  <a:lnTo>
                    <a:pt x="434211" y="252169"/>
                  </a:lnTo>
                  <a:lnTo>
                    <a:pt x="440440" y="252793"/>
                  </a:lnTo>
                  <a:lnTo>
                    <a:pt x="459437" y="246895"/>
                  </a:lnTo>
                  <a:lnTo>
                    <a:pt x="472776" y="232011"/>
                  </a:lnTo>
                  <a:lnTo>
                    <a:pt x="476239" y="212358"/>
                  </a:lnTo>
                  <a:lnTo>
                    <a:pt x="465611" y="192150"/>
                  </a:lnTo>
                  <a:lnTo>
                    <a:pt x="333633" y="60223"/>
                  </a:lnTo>
                  <a:lnTo>
                    <a:pt x="300983" y="32907"/>
                  </a:lnTo>
                  <a:lnTo>
                    <a:pt x="267129" y="14195"/>
                  </a:lnTo>
                  <a:lnTo>
                    <a:pt x="232713" y="3441"/>
                  </a:lnTo>
                  <a:lnTo>
                    <a:pt x="198378" y="0"/>
                  </a:lnTo>
                  <a:close/>
                </a:path>
              </a:pathLst>
            </a:custGeom>
            <a:solidFill>
              <a:srgbClr val="79BC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403864" y="3523195"/>
            <a:ext cx="5424805" cy="1847942"/>
          </a:xfrm>
          <a:prstGeom prst="rect">
            <a:avLst/>
          </a:prstGeom>
          <a:ln w="3175">
            <a:solidFill>
              <a:srgbClr val="F47720"/>
            </a:solidFill>
          </a:ln>
        </p:spPr>
        <p:txBody>
          <a:bodyPr vert="horz" wrap="square" lIns="0" tIns="105410" rIns="0" bIns="0" rtlCol="0">
            <a:spAutoFit/>
          </a:bodyPr>
          <a:lstStyle/>
          <a:p>
            <a:pPr marL="112395" marR="2628900">
              <a:lnSpc>
                <a:spcPct val="100000"/>
              </a:lnSpc>
              <a:spcBef>
                <a:spcPts val="830"/>
              </a:spcBef>
            </a:pPr>
            <a:r>
              <a:rPr sz="1800" dirty="0">
                <a:solidFill>
                  <a:srgbClr val="F47720"/>
                </a:solidFill>
                <a:latin typeface="Avenir Book"/>
                <a:cs typeface="Avenir Book"/>
              </a:rPr>
              <a:t>“The</a:t>
            </a:r>
            <a:r>
              <a:rPr sz="1800" spc="-60" dirty="0">
                <a:solidFill>
                  <a:srgbClr val="F47720"/>
                </a:solidFill>
                <a:latin typeface="Avenir Book"/>
                <a:cs typeface="Avenir Book"/>
              </a:rPr>
              <a:t> </a:t>
            </a:r>
            <a:r>
              <a:rPr sz="1800" dirty="0">
                <a:solidFill>
                  <a:srgbClr val="F47720"/>
                </a:solidFill>
                <a:latin typeface="Avenir Book"/>
                <a:cs typeface="Avenir Book"/>
              </a:rPr>
              <a:t>entire</a:t>
            </a:r>
            <a:r>
              <a:rPr sz="1800" spc="-55" dirty="0">
                <a:solidFill>
                  <a:srgbClr val="F47720"/>
                </a:solidFill>
                <a:latin typeface="Avenir Book"/>
                <a:cs typeface="Avenir Book"/>
              </a:rPr>
              <a:t> </a:t>
            </a:r>
            <a:r>
              <a:rPr sz="1800" spc="-10" dirty="0">
                <a:solidFill>
                  <a:srgbClr val="F47720"/>
                </a:solidFill>
                <a:latin typeface="Avenir Book"/>
                <a:cs typeface="Avenir Book"/>
              </a:rPr>
              <a:t>Emergency </a:t>
            </a:r>
            <a:r>
              <a:rPr sz="1800" dirty="0">
                <a:solidFill>
                  <a:srgbClr val="F47720"/>
                </a:solidFill>
                <a:latin typeface="Avenir Book"/>
                <a:cs typeface="Avenir Book"/>
              </a:rPr>
              <a:t>Department</a:t>
            </a:r>
            <a:r>
              <a:rPr sz="1800" spc="-85" dirty="0">
                <a:solidFill>
                  <a:srgbClr val="F47720"/>
                </a:solidFill>
                <a:latin typeface="Avenir Book"/>
                <a:cs typeface="Avenir Book"/>
              </a:rPr>
              <a:t> </a:t>
            </a:r>
            <a:r>
              <a:rPr sz="1800" dirty="0">
                <a:solidFill>
                  <a:srgbClr val="F47720"/>
                </a:solidFill>
                <a:latin typeface="Avenir Book"/>
                <a:cs typeface="Avenir Book"/>
              </a:rPr>
              <a:t>staff</a:t>
            </a:r>
            <a:r>
              <a:rPr sz="1800" spc="-85" dirty="0">
                <a:solidFill>
                  <a:srgbClr val="F47720"/>
                </a:solidFill>
                <a:latin typeface="Avenir Book"/>
                <a:cs typeface="Avenir Book"/>
              </a:rPr>
              <a:t> </a:t>
            </a:r>
            <a:r>
              <a:rPr sz="1800" spc="-25" dirty="0">
                <a:solidFill>
                  <a:srgbClr val="F47720"/>
                </a:solidFill>
                <a:latin typeface="Avenir Book"/>
                <a:cs typeface="Avenir Book"/>
              </a:rPr>
              <a:t>was </a:t>
            </a:r>
            <a:r>
              <a:rPr sz="1800" dirty="0">
                <a:solidFill>
                  <a:srgbClr val="F47720"/>
                </a:solidFill>
                <a:latin typeface="Avenir Book"/>
                <a:cs typeface="Avenir Book"/>
              </a:rPr>
              <a:t>impressive</a:t>
            </a:r>
            <a:r>
              <a:rPr sz="1800" spc="-55" dirty="0">
                <a:solidFill>
                  <a:srgbClr val="F47720"/>
                </a:solidFill>
                <a:latin typeface="Avenir Book"/>
                <a:cs typeface="Avenir Book"/>
              </a:rPr>
              <a:t> </a:t>
            </a:r>
            <a:r>
              <a:rPr sz="1800" dirty="0">
                <a:solidFill>
                  <a:srgbClr val="F47720"/>
                </a:solidFill>
                <a:latin typeface="Avenir Book"/>
                <a:cs typeface="Avenir Book"/>
              </a:rPr>
              <a:t>and</a:t>
            </a:r>
            <a:r>
              <a:rPr sz="1800" spc="-50" dirty="0">
                <a:solidFill>
                  <a:srgbClr val="F47720"/>
                </a:solidFill>
                <a:latin typeface="Avenir Book"/>
                <a:cs typeface="Avenir Book"/>
              </a:rPr>
              <a:t> </a:t>
            </a:r>
            <a:r>
              <a:rPr sz="1800" spc="-10" dirty="0">
                <a:solidFill>
                  <a:srgbClr val="F47720"/>
                </a:solidFill>
                <a:latin typeface="Avenir Book"/>
                <a:cs typeface="Avenir Book"/>
              </a:rPr>
              <a:t>treated </a:t>
            </a:r>
            <a:r>
              <a:rPr sz="1800" dirty="0">
                <a:solidFill>
                  <a:srgbClr val="F47720"/>
                </a:solidFill>
                <a:latin typeface="Avenir Book"/>
                <a:cs typeface="Avenir Book"/>
              </a:rPr>
              <a:t>ALL</a:t>
            </a:r>
            <a:r>
              <a:rPr sz="1800" spc="-45" dirty="0">
                <a:solidFill>
                  <a:srgbClr val="F47720"/>
                </a:solidFill>
                <a:latin typeface="Avenir Book"/>
                <a:cs typeface="Avenir Book"/>
              </a:rPr>
              <a:t> </a:t>
            </a:r>
            <a:r>
              <a:rPr sz="1800" dirty="0">
                <a:solidFill>
                  <a:srgbClr val="F47720"/>
                </a:solidFill>
                <a:latin typeface="Avenir Book"/>
                <a:cs typeface="Avenir Book"/>
              </a:rPr>
              <a:t>patients</a:t>
            </a:r>
            <a:r>
              <a:rPr sz="1800" spc="-45" dirty="0">
                <a:solidFill>
                  <a:srgbClr val="F47720"/>
                </a:solidFill>
                <a:latin typeface="Avenir Book"/>
                <a:cs typeface="Avenir Book"/>
              </a:rPr>
              <a:t> </a:t>
            </a:r>
            <a:r>
              <a:rPr sz="1800" dirty="0">
                <a:solidFill>
                  <a:srgbClr val="F47720"/>
                </a:solidFill>
                <a:latin typeface="Avenir Book"/>
                <a:cs typeface="Avenir Book"/>
              </a:rPr>
              <a:t>with</a:t>
            </a:r>
            <a:r>
              <a:rPr sz="1800" spc="-40" dirty="0">
                <a:solidFill>
                  <a:srgbClr val="F47720"/>
                </a:solidFill>
                <a:latin typeface="Avenir Book"/>
                <a:cs typeface="Avenir Book"/>
              </a:rPr>
              <a:t> </a:t>
            </a:r>
            <a:r>
              <a:rPr sz="1800" spc="-10" dirty="0">
                <a:solidFill>
                  <a:srgbClr val="F47720"/>
                </a:solidFill>
                <a:latin typeface="Avenir Book"/>
                <a:cs typeface="Avenir Book"/>
              </a:rPr>
              <a:t>courtesy </a:t>
            </a:r>
            <a:r>
              <a:rPr sz="1800" dirty="0">
                <a:solidFill>
                  <a:srgbClr val="F47720"/>
                </a:solidFill>
                <a:latin typeface="Avenir Book"/>
                <a:cs typeface="Avenir Book"/>
              </a:rPr>
              <a:t>and</a:t>
            </a:r>
            <a:r>
              <a:rPr sz="1800" spc="-35" dirty="0">
                <a:solidFill>
                  <a:srgbClr val="F47720"/>
                </a:solidFill>
                <a:latin typeface="Avenir Book"/>
                <a:cs typeface="Avenir Book"/>
              </a:rPr>
              <a:t> </a:t>
            </a:r>
            <a:r>
              <a:rPr sz="1800" spc="-10" dirty="0">
                <a:solidFill>
                  <a:srgbClr val="F47720"/>
                </a:solidFill>
                <a:latin typeface="Avenir Book"/>
                <a:cs typeface="Avenir Book"/>
              </a:rPr>
              <a:t>kindness.”</a:t>
            </a:r>
            <a:endParaRPr sz="1800" dirty="0">
              <a:latin typeface="Avenir Book"/>
              <a:cs typeface="Avenir Book"/>
            </a:endParaRPr>
          </a:p>
          <a:p>
            <a:pPr marL="112395">
              <a:lnSpc>
                <a:spcPct val="100000"/>
              </a:lnSpc>
              <a:spcBef>
                <a:spcPts val="1120"/>
              </a:spcBef>
            </a:pPr>
            <a:r>
              <a:rPr sz="1400" i="1" spc="90" dirty="0">
                <a:solidFill>
                  <a:srgbClr val="79BC43"/>
                </a:solidFill>
                <a:latin typeface="Arial"/>
                <a:cs typeface="Arial"/>
              </a:rPr>
              <a:t>-</a:t>
            </a:r>
            <a:r>
              <a:rPr sz="1400" i="1" spc="185" dirty="0">
                <a:solidFill>
                  <a:srgbClr val="79BC43"/>
                </a:solidFill>
                <a:latin typeface="Arial"/>
                <a:cs typeface="Arial"/>
              </a:rPr>
              <a:t>A</a:t>
            </a:r>
            <a:r>
              <a:rPr sz="1400" i="1" spc="50" dirty="0">
                <a:solidFill>
                  <a:srgbClr val="79BC43"/>
                </a:solidFill>
                <a:latin typeface="Arial"/>
                <a:cs typeface="Arial"/>
              </a:rPr>
              <a:t> </a:t>
            </a:r>
            <a:r>
              <a:rPr sz="1400" i="1" spc="-120" dirty="0">
                <a:solidFill>
                  <a:srgbClr val="79BC43"/>
                </a:solidFill>
                <a:latin typeface="Arial"/>
                <a:cs typeface="Arial"/>
              </a:rPr>
              <a:t>grateful</a:t>
            </a:r>
            <a:r>
              <a:rPr sz="1400" i="1" spc="55" dirty="0">
                <a:solidFill>
                  <a:srgbClr val="79BC43"/>
                </a:solidFill>
                <a:latin typeface="Arial"/>
                <a:cs typeface="Arial"/>
              </a:rPr>
              <a:t> </a:t>
            </a:r>
            <a:r>
              <a:rPr lang="en-US" sz="1400" i="1" spc="-130" dirty="0">
                <a:solidFill>
                  <a:srgbClr val="79BC43"/>
                </a:solidFill>
                <a:latin typeface="Arial"/>
                <a:cs typeface="Arial"/>
              </a:rPr>
              <a:t>Destiny Springs</a:t>
            </a:r>
            <a:r>
              <a:rPr sz="1400" i="1" spc="55" dirty="0">
                <a:solidFill>
                  <a:srgbClr val="79BC43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79BC43"/>
                </a:solidFill>
                <a:latin typeface="Arial"/>
                <a:cs typeface="Arial"/>
              </a:rPr>
              <a:t>patient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11221" y="7289692"/>
            <a:ext cx="174053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-45" dirty="0">
                <a:solidFill>
                  <a:srgbClr val="79BC43"/>
                </a:solidFill>
                <a:latin typeface="Arial"/>
                <a:cs typeface="Arial"/>
              </a:rPr>
              <a:t>Living</a:t>
            </a:r>
            <a:r>
              <a:rPr sz="850" i="1" spc="10" dirty="0">
                <a:solidFill>
                  <a:srgbClr val="79BC43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79BC43"/>
                </a:solidFill>
                <a:latin typeface="Arial"/>
                <a:cs typeface="Arial"/>
              </a:rPr>
              <a:t>our</a:t>
            </a:r>
            <a:r>
              <a:rPr sz="850" i="1" spc="15" dirty="0">
                <a:solidFill>
                  <a:srgbClr val="79BC43"/>
                </a:solidFill>
                <a:latin typeface="Arial"/>
                <a:cs typeface="Arial"/>
              </a:rPr>
              <a:t> </a:t>
            </a:r>
            <a:r>
              <a:rPr sz="850" i="1" spc="-114" dirty="0">
                <a:solidFill>
                  <a:srgbClr val="79BC43"/>
                </a:solidFill>
                <a:latin typeface="Arial"/>
                <a:cs typeface="Arial"/>
              </a:rPr>
              <a:t>Values</a:t>
            </a:r>
            <a:r>
              <a:rPr sz="850" i="1" spc="75" dirty="0">
                <a:solidFill>
                  <a:srgbClr val="79BC43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47720"/>
                </a:solidFill>
                <a:latin typeface="Arial"/>
                <a:cs typeface="Arial"/>
              </a:rPr>
              <a:t>I</a:t>
            </a:r>
            <a:r>
              <a:rPr sz="850" b="1" spc="15" dirty="0">
                <a:solidFill>
                  <a:srgbClr val="F47720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47720"/>
                </a:solidFill>
                <a:latin typeface="Arial"/>
                <a:cs typeface="Arial"/>
              </a:rPr>
              <a:t>COMPASSION</a:t>
            </a:r>
            <a:r>
              <a:rPr sz="850" b="1" spc="260" dirty="0">
                <a:solidFill>
                  <a:srgbClr val="F47720"/>
                </a:solidFill>
                <a:latin typeface="Arial"/>
                <a:cs typeface="Arial"/>
              </a:rPr>
              <a:t> </a:t>
            </a:r>
            <a:r>
              <a:rPr sz="850" b="1" spc="-25" dirty="0">
                <a:solidFill>
                  <a:srgbClr val="008BC0"/>
                </a:solidFill>
                <a:latin typeface="Arial"/>
                <a:cs typeface="Arial"/>
              </a:rPr>
              <a:t>14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0188" y="179323"/>
            <a:ext cx="3500120" cy="7090409"/>
          </a:xfrm>
          <a:custGeom>
            <a:avLst/>
            <a:gdLst/>
            <a:ahLst/>
            <a:cxnLst/>
            <a:rect l="l" t="t" r="r" b="b"/>
            <a:pathLst>
              <a:path w="3500120" h="7090409">
                <a:moveTo>
                  <a:pt x="3499612" y="0"/>
                </a:moveTo>
                <a:lnTo>
                  <a:pt x="0" y="0"/>
                </a:lnTo>
                <a:lnTo>
                  <a:pt x="0" y="7090156"/>
                </a:lnTo>
                <a:lnTo>
                  <a:pt x="3499612" y="7090156"/>
                </a:lnTo>
                <a:lnTo>
                  <a:pt x="3499612" y="0"/>
                </a:lnTo>
                <a:close/>
              </a:path>
            </a:pathLst>
          </a:custGeom>
          <a:solidFill>
            <a:srgbClr val="79BC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33999" y="783200"/>
            <a:ext cx="324294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dirty="0">
                <a:solidFill>
                  <a:srgbClr val="F47720"/>
                </a:solidFill>
              </a:rPr>
              <a:t>Patient</a:t>
            </a:r>
            <a:r>
              <a:rPr sz="3800" spc="190" dirty="0">
                <a:solidFill>
                  <a:srgbClr val="F47720"/>
                </a:solidFill>
              </a:rPr>
              <a:t> </a:t>
            </a:r>
            <a:r>
              <a:rPr sz="3800" spc="-65" dirty="0">
                <a:solidFill>
                  <a:srgbClr val="F47720"/>
                </a:solidFill>
              </a:rPr>
              <a:t>Rights</a:t>
            </a:r>
            <a:endParaRPr sz="3800"/>
          </a:p>
        </p:txBody>
      </p:sp>
      <p:sp>
        <p:nvSpPr>
          <p:cNvPr id="4" name="object 4"/>
          <p:cNvSpPr txBox="1"/>
          <p:nvPr/>
        </p:nvSpPr>
        <p:spPr>
          <a:xfrm>
            <a:off x="444500" y="3572864"/>
            <a:ext cx="4206875" cy="221996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40"/>
              </a:spcBef>
            </a:pPr>
            <a:r>
              <a:rPr sz="3800" b="1" spc="-30" dirty="0">
                <a:solidFill>
                  <a:srgbClr val="F47720"/>
                </a:solidFill>
                <a:latin typeface="Arial"/>
                <a:cs typeface="Arial"/>
              </a:rPr>
              <a:t>Admissions, </a:t>
            </a:r>
            <a:r>
              <a:rPr sz="3800" b="1" spc="-105" dirty="0">
                <a:solidFill>
                  <a:srgbClr val="F47720"/>
                </a:solidFill>
                <a:latin typeface="Arial"/>
                <a:cs typeface="Arial"/>
              </a:rPr>
              <a:t>Transfers</a:t>
            </a:r>
            <a:r>
              <a:rPr sz="3800" b="1" spc="-120" dirty="0">
                <a:solidFill>
                  <a:srgbClr val="F47720"/>
                </a:solidFill>
                <a:latin typeface="Arial"/>
                <a:cs typeface="Arial"/>
              </a:rPr>
              <a:t> </a:t>
            </a:r>
            <a:r>
              <a:rPr sz="3800" b="1" spc="-25" dirty="0">
                <a:solidFill>
                  <a:srgbClr val="F47720"/>
                </a:solidFill>
                <a:latin typeface="Arial"/>
                <a:cs typeface="Arial"/>
              </a:rPr>
              <a:t>and </a:t>
            </a:r>
            <a:r>
              <a:rPr sz="3800" b="1" dirty="0">
                <a:solidFill>
                  <a:srgbClr val="F47720"/>
                </a:solidFill>
                <a:latin typeface="Arial"/>
                <a:cs typeface="Arial"/>
              </a:rPr>
              <a:t>Continuity</a:t>
            </a:r>
            <a:r>
              <a:rPr sz="3800" b="1" spc="-30" dirty="0">
                <a:solidFill>
                  <a:srgbClr val="F47720"/>
                </a:solidFill>
                <a:latin typeface="Arial"/>
                <a:cs typeface="Arial"/>
              </a:rPr>
              <a:t> </a:t>
            </a:r>
            <a:r>
              <a:rPr sz="3800" b="1" spc="50" dirty="0">
                <a:solidFill>
                  <a:srgbClr val="F47720"/>
                </a:solidFill>
                <a:latin typeface="Arial"/>
                <a:cs typeface="Arial"/>
              </a:rPr>
              <a:t>of</a:t>
            </a:r>
            <a:r>
              <a:rPr sz="3800" b="1" spc="-25" dirty="0">
                <a:solidFill>
                  <a:srgbClr val="F47720"/>
                </a:solidFill>
                <a:latin typeface="Arial"/>
                <a:cs typeface="Arial"/>
              </a:rPr>
              <a:t> </a:t>
            </a:r>
            <a:r>
              <a:rPr sz="3800" b="1" spc="-30" dirty="0">
                <a:solidFill>
                  <a:srgbClr val="F47720"/>
                </a:solidFill>
                <a:latin typeface="Arial"/>
                <a:cs typeface="Arial"/>
              </a:rPr>
              <a:t>Care</a:t>
            </a:r>
            <a:endParaRPr sz="3800" dirty="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2860"/>
              </a:spcBef>
            </a:pP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At</a:t>
            </a:r>
            <a:r>
              <a:rPr sz="1150" b="1" spc="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lang="en-US" sz="1150" b="1" spc="-10" dirty="0">
                <a:solidFill>
                  <a:srgbClr val="231F20"/>
                </a:solidFill>
                <a:latin typeface="Arial"/>
                <a:cs typeface="Arial"/>
              </a:rPr>
              <a:t>Destiny Springs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1150" b="1" spc="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sz="1150" b="1" spc="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25" dirty="0">
                <a:solidFill>
                  <a:srgbClr val="231F20"/>
                </a:solidFill>
                <a:latin typeface="Arial"/>
                <a:cs typeface="Arial"/>
              </a:rPr>
              <a:t>decision</a:t>
            </a:r>
            <a:r>
              <a:rPr sz="1150" b="1" spc="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25" dirty="0">
                <a:solidFill>
                  <a:srgbClr val="231F20"/>
                </a:solidFill>
                <a:latin typeface="Arial"/>
                <a:cs typeface="Arial"/>
              </a:rPr>
              <a:t>to</a:t>
            </a:r>
            <a:endParaRPr sz="115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9773" y="1494231"/>
            <a:ext cx="2245360" cy="3667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At</a:t>
            </a:r>
            <a:r>
              <a:rPr sz="1150" b="1" spc="8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lang="en-US" sz="1150" b="1" spc="-10" dirty="0">
                <a:solidFill>
                  <a:srgbClr val="231F20"/>
                </a:solidFill>
                <a:latin typeface="Arial"/>
                <a:cs typeface="Arial"/>
              </a:rPr>
              <a:t>Destiny Springs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1150" b="1" spc="9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we</a:t>
            </a:r>
            <a:r>
              <a:rPr sz="1150" b="1" spc="8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treat</a:t>
            </a:r>
            <a:r>
              <a:rPr sz="1150" b="1" spc="8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25" dirty="0">
                <a:solidFill>
                  <a:srgbClr val="231F20"/>
                </a:solidFill>
                <a:latin typeface="Arial"/>
                <a:cs typeface="Arial"/>
              </a:rPr>
              <a:t>our</a:t>
            </a:r>
            <a:endParaRPr sz="115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9773" y="1600911"/>
            <a:ext cx="2346325" cy="51308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patients</a:t>
            </a:r>
            <a:r>
              <a:rPr sz="115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with</a:t>
            </a:r>
            <a:r>
              <a:rPr sz="115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respect</a:t>
            </a:r>
            <a:r>
              <a:rPr sz="1150" b="1" spc="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sz="115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dignity.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This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means:</a:t>
            </a:r>
            <a:endParaRPr sz="1150">
              <a:latin typeface="Avenir Book"/>
              <a:cs typeface="Avenir Boo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9773" y="2157171"/>
            <a:ext cx="2709545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We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help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patients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exercise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their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rights,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such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as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right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privacy,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receive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care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free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from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discrimination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to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file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grievance.</a:t>
            </a:r>
            <a:endParaRPr sz="1150">
              <a:latin typeface="Avenir Book"/>
              <a:cs typeface="Avenir Boo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9773" y="5767414"/>
            <a:ext cx="2613660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admit,</a:t>
            </a:r>
            <a:r>
              <a:rPr sz="1150" b="1" spc="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20" dirty="0">
                <a:solidFill>
                  <a:srgbClr val="231F20"/>
                </a:solidFill>
                <a:latin typeface="Arial"/>
                <a:cs typeface="Arial"/>
              </a:rPr>
              <a:t>discharge</a:t>
            </a:r>
            <a:r>
              <a:rPr sz="1150" b="1" spc="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or</a:t>
            </a:r>
            <a:r>
              <a:rPr sz="1150" b="1" spc="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transfer</a:t>
            </a:r>
            <a:r>
              <a:rPr sz="1150" b="1" spc="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1150" b="1" spc="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patient </a:t>
            </a:r>
            <a:r>
              <a:rPr sz="1150" b="1" spc="-35" dirty="0">
                <a:solidFill>
                  <a:srgbClr val="231F20"/>
                </a:solidFill>
                <a:latin typeface="Arial"/>
                <a:cs typeface="Arial"/>
              </a:rPr>
              <a:t>is</a:t>
            </a:r>
            <a:r>
              <a:rPr sz="1150" b="1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based</a:t>
            </a:r>
            <a:r>
              <a:rPr sz="1150" b="1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20" dirty="0">
                <a:solidFill>
                  <a:srgbClr val="231F20"/>
                </a:solidFill>
                <a:latin typeface="Arial"/>
                <a:cs typeface="Arial"/>
              </a:rPr>
              <a:t>solely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on</a:t>
            </a:r>
            <a:r>
              <a:rPr sz="1150" b="1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 patient’s</a:t>
            </a:r>
            <a:r>
              <a:rPr sz="1150" b="1" spc="5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40" dirty="0">
                <a:solidFill>
                  <a:srgbClr val="231F20"/>
                </a:solidFill>
                <a:latin typeface="Arial"/>
                <a:cs typeface="Arial"/>
              </a:rPr>
              <a:t>clinical</a:t>
            </a:r>
            <a:r>
              <a:rPr sz="1150" b="1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needs.</a:t>
            </a:r>
            <a:endParaRPr sz="11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86125" y="1529867"/>
            <a:ext cx="2738755" cy="1915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We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provide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patients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with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the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necessary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information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make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informed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health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care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decisions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and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respect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their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right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refuse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treatment.</a:t>
            </a:r>
            <a:endParaRPr sz="1150">
              <a:latin typeface="Avenir Book"/>
              <a:cs typeface="Avenir Book"/>
            </a:endParaRPr>
          </a:p>
          <a:p>
            <a:pPr marL="241300" marR="54610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help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patients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understand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any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financial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assistance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available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them.</a:t>
            </a:r>
            <a:endParaRPr sz="1150">
              <a:latin typeface="Avenir Book"/>
              <a:cs typeface="Avenir Book"/>
            </a:endParaRPr>
          </a:p>
          <a:p>
            <a:pPr marL="241300" marR="15240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honor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each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patient’s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right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to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visitation.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Patients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are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informed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the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reason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for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any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restriction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limitation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visitors.</a:t>
            </a:r>
            <a:endParaRPr sz="1150">
              <a:latin typeface="Avenir Book"/>
              <a:cs typeface="Avenir Boo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86125" y="5627790"/>
            <a:ext cx="77787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This</a:t>
            </a:r>
            <a:r>
              <a:rPr sz="1150" spc="-7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means:</a:t>
            </a:r>
            <a:endParaRPr sz="1150">
              <a:latin typeface="Avenir Book"/>
              <a:cs typeface="Avenir Boo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86125" y="5871630"/>
            <a:ext cx="2793365" cy="1145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100330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We</a:t>
            </a:r>
            <a:r>
              <a:rPr sz="1150" spc="-5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continually</a:t>
            </a:r>
            <a:r>
              <a:rPr sz="1150" spc="-5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evaluate</a:t>
            </a:r>
            <a:r>
              <a:rPr sz="1150" spc="-5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that</a:t>
            </a:r>
            <a:r>
              <a:rPr sz="1150" spc="-5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the appropriate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standards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care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are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met.</a:t>
            </a:r>
            <a:endParaRPr sz="1150">
              <a:latin typeface="Avenir Book"/>
              <a:cs typeface="Avenir Book"/>
            </a:endParaRPr>
          </a:p>
          <a:p>
            <a:pPr marL="241300" marR="5080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We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provide care 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regardless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race, 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religion,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gender,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gender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50" dirty="0">
                <a:solidFill>
                  <a:srgbClr val="231F20"/>
                </a:solidFill>
                <a:latin typeface="Avenir Book"/>
                <a:cs typeface="Avenir Book"/>
              </a:rPr>
              <a:t>identity,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national 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origin,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age,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disability,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sexual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orientation,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payer</a:t>
            </a: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source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ability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pay.</a:t>
            </a:r>
            <a:endParaRPr sz="1150">
              <a:latin typeface="Avenir Book"/>
              <a:cs typeface="Avenir Book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88156" y="792332"/>
            <a:ext cx="2767965" cy="131000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800" i="1" spc="-10" dirty="0">
                <a:solidFill>
                  <a:srgbClr val="FFFFFF"/>
                </a:solidFill>
                <a:latin typeface="Arial"/>
                <a:cs typeface="Arial"/>
              </a:rPr>
              <a:t>Did</a:t>
            </a:r>
            <a:r>
              <a:rPr sz="1800" i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i="1" spc="-240" dirty="0">
                <a:solidFill>
                  <a:srgbClr val="FFFFFF"/>
                </a:solidFill>
                <a:latin typeface="Arial"/>
                <a:cs typeface="Arial"/>
              </a:rPr>
              <a:t>You</a:t>
            </a:r>
            <a:r>
              <a:rPr sz="1800" i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i="1" spc="-35" dirty="0">
                <a:solidFill>
                  <a:srgbClr val="FFFFFF"/>
                </a:solidFill>
                <a:latin typeface="Arial"/>
                <a:cs typeface="Arial"/>
              </a:rPr>
              <a:t>Know?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409"/>
              </a:spcBef>
            </a:pP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The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Health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Insurance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Portability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FFFFFF"/>
                </a:solidFill>
                <a:latin typeface="Avenir Book"/>
                <a:cs typeface="Avenir Book"/>
              </a:rPr>
              <a:t>and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Accountability</a:t>
            </a:r>
            <a:r>
              <a:rPr sz="1150" spc="-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Act</a:t>
            </a:r>
            <a:r>
              <a:rPr sz="1150" spc="-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of 1996</a:t>
            </a:r>
            <a:r>
              <a:rPr sz="1150" spc="-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(HIPAA)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defines</a:t>
            </a:r>
            <a:r>
              <a:rPr sz="1150" spc="-3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patients’</a:t>
            </a:r>
            <a:r>
              <a:rPr sz="1150" spc="-3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rights</a:t>
            </a:r>
            <a:r>
              <a:rPr sz="1150" spc="-3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related</a:t>
            </a:r>
            <a:r>
              <a:rPr sz="1150" spc="-3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to</a:t>
            </a:r>
            <a:r>
              <a:rPr sz="1150" spc="-3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their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own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health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information.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These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include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FFFFFF"/>
                </a:solidFill>
                <a:latin typeface="Avenir Book"/>
                <a:cs typeface="Avenir Book"/>
              </a:rPr>
              <a:t>the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right</a:t>
            </a:r>
            <a:r>
              <a:rPr sz="1150" spc="-25" dirty="0">
                <a:solidFill>
                  <a:srgbClr val="FFFFFF"/>
                </a:solidFill>
                <a:latin typeface="Avenir Book"/>
                <a:cs typeface="Avenir Book"/>
              </a:rPr>
              <a:t> to:</a:t>
            </a:r>
            <a:endParaRPr sz="1150">
              <a:latin typeface="Avenir Book"/>
              <a:cs typeface="Avenir Boo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688156" y="2076522"/>
            <a:ext cx="2756535" cy="177038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640"/>
              </a:spcBef>
              <a:buChar char="•"/>
              <a:tabLst>
                <a:tab pos="240665" algn="l"/>
              </a:tabLst>
            </a:pP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Receive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a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Notice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of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Privacy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Practices.</a:t>
            </a:r>
            <a:endParaRPr sz="1150">
              <a:latin typeface="Avenir Book"/>
              <a:cs typeface="Avenir Book"/>
            </a:endParaRPr>
          </a:p>
          <a:p>
            <a:pPr marL="241300" marR="239395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Inspect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and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request</a:t>
            </a:r>
            <a:r>
              <a:rPr sz="1150" spc="-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a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copy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of</a:t>
            </a:r>
            <a:r>
              <a:rPr sz="1150" spc="-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their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medical 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record.</a:t>
            </a:r>
            <a:endParaRPr sz="1150">
              <a:latin typeface="Avenir Book"/>
              <a:cs typeface="Avenir Book"/>
            </a:endParaRPr>
          </a:p>
          <a:p>
            <a:pPr marL="241300" marR="24130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Request</a:t>
            </a:r>
            <a:r>
              <a:rPr sz="1150" spc="-2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amendments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to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their</a:t>
            </a:r>
            <a:r>
              <a:rPr sz="1150" spc="-2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medical record.</a:t>
            </a:r>
            <a:endParaRPr sz="1150">
              <a:latin typeface="Avenir Book"/>
              <a:cs typeface="Avenir Book"/>
            </a:endParaRPr>
          </a:p>
          <a:p>
            <a:pPr marL="241300" marR="5080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Obtain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an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accounting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of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disclosures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FFFFFF"/>
                </a:solidFill>
                <a:latin typeface="Avenir Book"/>
                <a:cs typeface="Avenir Book"/>
              </a:rPr>
              <a:t>of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their</a:t>
            </a:r>
            <a:r>
              <a:rPr sz="1150" spc="-4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protected</a:t>
            </a:r>
            <a:r>
              <a:rPr sz="1150" spc="-4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health</a:t>
            </a:r>
            <a:r>
              <a:rPr sz="1150" spc="-4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information.</a:t>
            </a:r>
            <a:endParaRPr sz="1150">
              <a:latin typeface="Avenir Book"/>
              <a:cs typeface="Avenir Book"/>
            </a:endParaRPr>
          </a:p>
          <a:p>
            <a:pPr marL="240665" indent="-227965">
              <a:lnSpc>
                <a:spcPct val="100000"/>
              </a:lnSpc>
              <a:spcBef>
                <a:spcPts val="540"/>
              </a:spcBef>
              <a:buChar char="•"/>
              <a:tabLst>
                <a:tab pos="240665" algn="l"/>
              </a:tabLst>
            </a:pP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File</a:t>
            </a:r>
            <a:r>
              <a:rPr sz="1150" spc="-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a privacy</a:t>
            </a:r>
            <a:r>
              <a:rPr sz="1150" spc="-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complaint.</a:t>
            </a:r>
            <a:endParaRPr sz="1150">
              <a:latin typeface="Avenir Book"/>
              <a:cs typeface="Avenir Book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10933" y="3981500"/>
            <a:ext cx="2746375" cy="166052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800" i="1" spc="-10" dirty="0">
                <a:solidFill>
                  <a:srgbClr val="FFFFFF"/>
                </a:solidFill>
                <a:latin typeface="Arial"/>
                <a:cs typeface="Arial"/>
              </a:rPr>
              <a:t>Did</a:t>
            </a:r>
            <a:r>
              <a:rPr sz="1800" i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i="1" spc="-240" dirty="0">
                <a:solidFill>
                  <a:srgbClr val="FFFFFF"/>
                </a:solidFill>
                <a:latin typeface="Arial"/>
                <a:cs typeface="Arial"/>
              </a:rPr>
              <a:t>You</a:t>
            </a:r>
            <a:r>
              <a:rPr sz="1800" i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i="1" spc="-35" dirty="0">
                <a:solidFill>
                  <a:srgbClr val="FFFFFF"/>
                </a:solidFill>
                <a:latin typeface="Arial"/>
                <a:cs typeface="Arial"/>
              </a:rPr>
              <a:t>Know?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409"/>
              </a:spcBef>
            </a:pP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EMTALA</a:t>
            </a:r>
            <a:r>
              <a:rPr sz="1150" spc="-3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stands</a:t>
            </a:r>
            <a:r>
              <a:rPr sz="1150" spc="-2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for</a:t>
            </a:r>
            <a:r>
              <a:rPr sz="1150" spc="-3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Emergency</a:t>
            </a:r>
            <a:r>
              <a:rPr sz="1150" spc="-2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Medical 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Treatment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and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Labor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Act.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This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means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that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in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an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emergency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situation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or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if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a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patient</a:t>
            </a:r>
            <a:r>
              <a:rPr sz="1150" spc="50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is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in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labor,</a:t>
            </a:r>
            <a:r>
              <a:rPr sz="1150" spc="-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we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do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not</a:t>
            </a:r>
            <a:r>
              <a:rPr sz="1150" spc="-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delay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medical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screening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or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any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necessary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stabilizing treatment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to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ask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about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the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individual’s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method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of</a:t>
            </a:r>
            <a:r>
              <a:rPr sz="1150" spc="-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payment</a:t>
            </a:r>
            <a:r>
              <a:rPr sz="1150" spc="-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or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insurance</a:t>
            </a:r>
            <a:r>
              <a:rPr sz="1150" spc="-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status.</a:t>
            </a:r>
            <a:endParaRPr sz="1150">
              <a:latin typeface="Avenir Book"/>
              <a:cs typeface="Avenir Book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481699" y="5971666"/>
            <a:ext cx="1590040" cy="1800860"/>
          </a:xfrm>
          <a:custGeom>
            <a:avLst/>
            <a:gdLst/>
            <a:ahLst/>
            <a:cxnLst/>
            <a:rect l="l" t="t" r="r" b="b"/>
            <a:pathLst>
              <a:path w="1590040" h="1800859">
                <a:moveTo>
                  <a:pt x="971600" y="567715"/>
                </a:moveTo>
                <a:lnTo>
                  <a:pt x="967651" y="518782"/>
                </a:lnTo>
                <a:lnTo>
                  <a:pt x="956221" y="472351"/>
                </a:lnTo>
                <a:lnTo>
                  <a:pt x="937933" y="429056"/>
                </a:lnTo>
                <a:lnTo>
                  <a:pt x="913396" y="389521"/>
                </a:lnTo>
                <a:lnTo>
                  <a:pt x="883246" y="354368"/>
                </a:lnTo>
                <a:lnTo>
                  <a:pt x="848093" y="324205"/>
                </a:lnTo>
                <a:lnTo>
                  <a:pt x="842073" y="320471"/>
                </a:lnTo>
                <a:lnTo>
                  <a:pt x="842073" y="687349"/>
                </a:lnTo>
                <a:lnTo>
                  <a:pt x="829106" y="715708"/>
                </a:lnTo>
                <a:lnTo>
                  <a:pt x="780770" y="763168"/>
                </a:lnTo>
                <a:lnTo>
                  <a:pt x="712482" y="789774"/>
                </a:lnTo>
                <a:lnTo>
                  <a:pt x="674547" y="792073"/>
                </a:lnTo>
                <a:lnTo>
                  <a:pt x="636066" y="785355"/>
                </a:lnTo>
                <a:lnTo>
                  <a:pt x="598525" y="768350"/>
                </a:lnTo>
                <a:lnTo>
                  <a:pt x="563397" y="739762"/>
                </a:lnTo>
                <a:lnTo>
                  <a:pt x="532155" y="698334"/>
                </a:lnTo>
                <a:lnTo>
                  <a:pt x="653783" y="729678"/>
                </a:lnTo>
                <a:lnTo>
                  <a:pt x="726617" y="738987"/>
                </a:lnTo>
                <a:lnTo>
                  <a:pt x="779691" y="725220"/>
                </a:lnTo>
                <a:lnTo>
                  <a:pt x="823976" y="698334"/>
                </a:lnTo>
                <a:lnTo>
                  <a:pt x="842073" y="687349"/>
                </a:lnTo>
                <a:lnTo>
                  <a:pt x="842073" y="320471"/>
                </a:lnTo>
                <a:lnTo>
                  <a:pt x="808558" y="299669"/>
                </a:lnTo>
                <a:lnTo>
                  <a:pt x="765263" y="281368"/>
                </a:lnTo>
                <a:lnTo>
                  <a:pt x="718832" y="269938"/>
                </a:lnTo>
                <a:lnTo>
                  <a:pt x="669886" y="265988"/>
                </a:lnTo>
                <a:lnTo>
                  <a:pt x="620953" y="269938"/>
                </a:lnTo>
                <a:lnTo>
                  <a:pt x="574535" y="281368"/>
                </a:lnTo>
                <a:lnTo>
                  <a:pt x="531241" y="299669"/>
                </a:lnTo>
                <a:lnTo>
                  <a:pt x="491705" y="324205"/>
                </a:lnTo>
                <a:lnTo>
                  <a:pt x="456552" y="354368"/>
                </a:lnTo>
                <a:lnTo>
                  <a:pt x="426389" y="389521"/>
                </a:lnTo>
                <a:lnTo>
                  <a:pt x="401853" y="429056"/>
                </a:lnTo>
                <a:lnTo>
                  <a:pt x="383565" y="472351"/>
                </a:lnTo>
                <a:lnTo>
                  <a:pt x="372122" y="518782"/>
                </a:lnTo>
                <a:lnTo>
                  <a:pt x="368173" y="567715"/>
                </a:lnTo>
                <a:lnTo>
                  <a:pt x="372122" y="616661"/>
                </a:lnTo>
                <a:lnTo>
                  <a:pt x="383565" y="663079"/>
                </a:lnTo>
                <a:lnTo>
                  <a:pt x="401853" y="706374"/>
                </a:lnTo>
                <a:lnTo>
                  <a:pt x="426389" y="745909"/>
                </a:lnTo>
                <a:lnTo>
                  <a:pt x="456552" y="781062"/>
                </a:lnTo>
                <a:lnTo>
                  <a:pt x="491705" y="811225"/>
                </a:lnTo>
                <a:lnTo>
                  <a:pt x="531241" y="835761"/>
                </a:lnTo>
                <a:lnTo>
                  <a:pt x="574535" y="854049"/>
                </a:lnTo>
                <a:lnTo>
                  <a:pt x="620953" y="865479"/>
                </a:lnTo>
                <a:lnTo>
                  <a:pt x="669886" y="869429"/>
                </a:lnTo>
                <a:lnTo>
                  <a:pt x="718832" y="865479"/>
                </a:lnTo>
                <a:lnTo>
                  <a:pt x="765263" y="854049"/>
                </a:lnTo>
                <a:lnTo>
                  <a:pt x="808558" y="835761"/>
                </a:lnTo>
                <a:lnTo>
                  <a:pt x="848093" y="811225"/>
                </a:lnTo>
                <a:lnTo>
                  <a:pt x="870407" y="792073"/>
                </a:lnTo>
                <a:lnTo>
                  <a:pt x="883246" y="781062"/>
                </a:lnTo>
                <a:lnTo>
                  <a:pt x="913396" y="745909"/>
                </a:lnTo>
                <a:lnTo>
                  <a:pt x="937933" y="706374"/>
                </a:lnTo>
                <a:lnTo>
                  <a:pt x="956221" y="663079"/>
                </a:lnTo>
                <a:lnTo>
                  <a:pt x="967651" y="616661"/>
                </a:lnTo>
                <a:lnTo>
                  <a:pt x="971600" y="567715"/>
                </a:lnTo>
                <a:close/>
              </a:path>
              <a:path w="1590040" h="1800859">
                <a:moveTo>
                  <a:pt x="1589722" y="307378"/>
                </a:moveTo>
                <a:lnTo>
                  <a:pt x="1587106" y="264845"/>
                </a:lnTo>
                <a:lnTo>
                  <a:pt x="1569034" y="227901"/>
                </a:lnTo>
                <a:lnTo>
                  <a:pt x="1538414" y="200431"/>
                </a:lnTo>
                <a:lnTo>
                  <a:pt x="1503006" y="188010"/>
                </a:lnTo>
                <a:lnTo>
                  <a:pt x="1498231" y="186334"/>
                </a:lnTo>
                <a:lnTo>
                  <a:pt x="1488643" y="185458"/>
                </a:lnTo>
                <a:lnTo>
                  <a:pt x="1478800" y="185458"/>
                </a:lnTo>
                <a:lnTo>
                  <a:pt x="1469326" y="186334"/>
                </a:lnTo>
                <a:lnTo>
                  <a:pt x="1460068" y="188010"/>
                </a:lnTo>
                <a:lnTo>
                  <a:pt x="1490713" y="36880"/>
                </a:lnTo>
                <a:lnTo>
                  <a:pt x="1490713" y="24460"/>
                </a:lnTo>
                <a:lnTo>
                  <a:pt x="1486115" y="13385"/>
                </a:lnTo>
                <a:lnTo>
                  <a:pt x="1477695" y="4826"/>
                </a:lnTo>
                <a:lnTo>
                  <a:pt x="1466265" y="0"/>
                </a:lnTo>
                <a:lnTo>
                  <a:pt x="1453819" y="0"/>
                </a:lnTo>
                <a:lnTo>
                  <a:pt x="1442758" y="4584"/>
                </a:lnTo>
                <a:lnTo>
                  <a:pt x="1434211" y="12992"/>
                </a:lnTo>
                <a:lnTo>
                  <a:pt x="1429372" y="24460"/>
                </a:lnTo>
                <a:lnTo>
                  <a:pt x="1382090" y="257606"/>
                </a:lnTo>
                <a:lnTo>
                  <a:pt x="1379880" y="264058"/>
                </a:lnTo>
                <a:lnTo>
                  <a:pt x="1378204" y="270802"/>
                </a:lnTo>
                <a:lnTo>
                  <a:pt x="1377238" y="277799"/>
                </a:lnTo>
                <a:lnTo>
                  <a:pt x="1367739" y="331990"/>
                </a:lnTo>
                <a:lnTo>
                  <a:pt x="1354696" y="384073"/>
                </a:lnTo>
                <a:lnTo>
                  <a:pt x="1338465" y="434009"/>
                </a:lnTo>
                <a:lnTo>
                  <a:pt x="1319364" y="481812"/>
                </a:lnTo>
                <a:lnTo>
                  <a:pt x="1297724" y="527456"/>
                </a:lnTo>
                <a:lnTo>
                  <a:pt x="1273886" y="570941"/>
                </a:lnTo>
                <a:lnTo>
                  <a:pt x="1248168" y="612254"/>
                </a:lnTo>
                <a:lnTo>
                  <a:pt x="1220914" y="651383"/>
                </a:lnTo>
                <a:lnTo>
                  <a:pt x="1192466" y="688327"/>
                </a:lnTo>
                <a:lnTo>
                  <a:pt x="1163129" y="723074"/>
                </a:lnTo>
                <a:lnTo>
                  <a:pt x="1133259" y="755611"/>
                </a:lnTo>
                <a:lnTo>
                  <a:pt x="1103185" y="785926"/>
                </a:lnTo>
                <a:lnTo>
                  <a:pt x="1058786" y="826858"/>
                </a:lnTo>
                <a:lnTo>
                  <a:pt x="1016279" y="862418"/>
                </a:lnTo>
                <a:lnTo>
                  <a:pt x="976985" y="892530"/>
                </a:lnTo>
                <a:lnTo>
                  <a:pt x="942251" y="917079"/>
                </a:lnTo>
                <a:lnTo>
                  <a:pt x="906640" y="940206"/>
                </a:lnTo>
                <a:lnTo>
                  <a:pt x="897394" y="945857"/>
                </a:lnTo>
                <a:lnTo>
                  <a:pt x="409270" y="945857"/>
                </a:lnTo>
                <a:lnTo>
                  <a:pt x="407149" y="946086"/>
                </a:lnTo>
                <a:lnTo>
                  <a:pt x="406196" y="946086"/>
                </a:lnTo>
                <a:lnTo>
                  <a:pt x="385203" y="947420"/>
                </a:lnTo>
                <a:lnTo>
                  <a:pt x="328993" y="960488"/>
                </a:lnTo>
                <a:lnTo>
                  <a:pt x="264604" y="992670"/>
                </a:lnTo>
                <a:lnTo>
                  <a:pt x="233248" y="1016165"/>
                </a:lnTo>
                <a:lnTo>
                  <a:pt x="202222" y="1045489"/>
                </a:lnTo>
                <a:lnTo>
                  <a:pt x="172021" y="1080960"/>
                </a:lnTo>
                <a:lnTo>
                  <a:pt x="143154" y="1122883"/>
                </a:lnTo>
                <a:lnTo>
                  <a:pt x="116128" y="1171575"/>
                </a:lnTo>
                <a:lnTo>
                  <a:pt x="91465" y="1227353"/>
                </a:lnTo>
                <a:lnTo>
                  <a:pt x="67398" y="1296149"/>
                </a:lnTo>
                <a:lnTo>
                  <a:pt x="56451" y="1334135"/>
                </a:lnTo>
                <a:lnTo>
                  <a:pt x="46316" y="1374648"/>
                </a:lnTo>
                <a:lnTo>
                  <a:pt x="37007" y="1417802"/>
                </a:lnTo>
                <a:lnTo>
                  <a:pt x="28613" y="1463725"/>
                </a:lnTo>
                <a:lnTo>
                  <a:pt x="21158" y="1512506"/>
                </a:lnTo>
                <a:lnTo>
                  <a:pt x="14706" y="1564271"/>
                </a:lnTo>
                <a:lnTo>
                  <a:pt x="9309" y="1619123"/>
                </a:lnTo>
                <a:lnTo>
                  <a:pt x="5003" y="1677174"/>
                </a:lnTo>
                <a:lnTo>
                  <a:pt x="1854" y="1738528"/>
                </a:lnTo>
                <a:lnTo>
                  <a:pt x="0" y="1800733"/>
                </a:lnTo>
                <a:lnTo>
                  <a:pt x="214566" y="1800733"/>
                </a:lnTo>
                <a:lnTo>
                  <a:pt x="214642" y="1793367"/>
                </a:lnTo>
                <a:lnTo>
                  <a:pt x="217322" y="1720837"/>
                </a:lnTo>
                <a:lnTo>
                  <a:pt x="221653" y="1653857"/>
                </a:lnTo>
                <a:lnTo>
                  <a:pt x="227469" y="1592237"/>
                </a:lnTo>
                <a:lnTo>
                  <a:pt x="234607" y="1535785"/>
                </a:lnTo>
                <a:lnTo>
                  <a:pt x="242887" y="1484312"/>
                </a:lnTo>
                <a:lnTo>
                  <a:pt x="252145" y="1437614"/>
                </a:lnTo>
                <a:lnTo>
                  <a:pt x="262216" y="1395514"/>
                </a:lnTo>
                <a:lnTo>
                  <a:pt x="272923" y="1357820"/>
                </a:lnTo>
                <a:lnTo>
                  <a:pt x="295592" y="1294853"/>
                </a:lnTo>
                <a:lnTo>
                  <a:pt x="307213" y="1269212"/>
                </a:lnTo>
                <a:lnTo>
                  <a:pt x="307213" y="1800733"/>
                </a:lnTo>
                <a:lnTo>
                  <a:pt x="1032573" y="1800733"/>
                </a:lnTo>
                <a:lnTo>
                  <a:pt x="1032573" y="1269212"/>
                </a:lnTo>
                <a:lnTo>
                  <a:pt x="1032573" y="1114450"/>
                </a:lnTo>
                <a:lnTo>
                  <a:pt x="1061034" y="1095756"/>
                </a:lnTo>
                <a:lnTo>
                  <a:pt x="1093698" y="1072946"/>
                </a:lnTo>
                <a:lnTo>
                  <a:pt x="1129880" y="1046010"/>
                </a:lnTo>
                <a:lnTo>
                  <a:pt x="1168882" y="1014869"/>
                </a:lnTo>
                <a:lnTo>
                  <a:pt x="1210030" y="979512"/>
                </a:lnTo>
                <a:lnTo>
                  <a:pt x="1252639" y="939888"/>
                </a:lnTo>
                <a:lnTo>
                  <a:pt x="1281049" y="911479"/>
                </a:lnTo>
                <a:lnTo>
                  <a:pt x="1309611" y="881126"/>
                </a:lnTo>
                <a:lnTo>
                  <a:pt x="1338110" y="848829"/>
                </a:lnTo>
                <a:lnTo>
                  <a:pt x="1366291" y="814552"/>
                </a:lnTo>
                <a:lnTo>
                  <a:pt x="1393939" y="778332"/>
                </a:lnTo>
                <a:lnTo>
                  <a:pt x="1420825" y="740130"/>
                </a:lnTo>
                <a:lnTo>
                  <a:pt x="1446695" y="699960"/>
                </a:lnTo>
                <a:lnTo>
                  <a:pt x="1471333" y="657834"/>
                </a:lnTo>
                <a:lnTo>
                  <a:pt x="1494510" y="613714"/>
                </a:lnTo>
                <a:lnTo>
                  <a:pt x="1515986" y="567626"/>
                </a:lnTo>
                <a:lnTo>
                  <a:pt x="1535518" y="519557"/>
                </a:lnTo>
                <a:lnTo>
                  <a:pt x="1552905" y="469493"/>
                </a:lnTo>
                <a:lnTo>
                  <a:pt x="1567878" y="417449"/>
                </a:lnTo>
                <a:lnTo>
                  <a:pt x="1580222" y="363410"/>
                </a:lnTo>
                <a:lnTo>
                  <a:pt x="1589722" y="30737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8317996" y="7282654"/>
            <a:ext cx="1524635" cy="1436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25" dirty="0">
                <a:solidFill>
                  <a:srgbClr val="F47720"/>
                </a:solidFill>
                <a:latin typeface="Arial"/>
                <a:cs typeface="Arial"/>
              </a:rPr>
              <a:t>VALUES</a:t>
            </a:r>
            <a:r>
              <a:rPr sz="850" b="1" spc="-20" dirty="0">
                <a:solidFill>
                  <a:srgbClr val="F47720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47720"/>
                </a:solidFill>
                <a:latin typeface="Arial"/>
                <a:cs typeface="Arial"/>
              </a:rPr>
              <a:t>LINE</a:t>
            </a:r>
            <a:r>
              <a:rPr sz="850" b="1" spc="-15" dirty="0">
                <a:solidFill>
                  <a:srgbClr val="F47720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47720"/>
                </a:solidFill>
                <a:latin typeface="Arial"/>
                <a:cs typeface="Arial"/>
              </a:rPr>
              <a:t>I</a:t>
            </a:r>
            <a:r>
              <a:rPr sz="850" b="1" spc="-15" dirty="0">
                <a:solidFill>
                  <a:srgbClr val="F47720"/>
                </a:solidFill>
                <a:latin typeface="Arial"/>
                <a:cs typeface="Arial"/>
              </a:rPr>
              <a:t> </a:t>
            </a:r>
            <a:r>
              <a:rPr sz="850" i="1" spc="-95" dirty="0">
                <a:solidFill>
                  <a:srgbClr val="79BC43"/>
                </a:solidFill>
                <a:latin typeface="Arial"/>
                <a:cs typeface="Arial"/>
              </a:rPr>
              <a:t>8</a:t>
            </a:r>
            <a:r>
              <a:rPr lang="en-US" sz="850" i="1" spc="-95" dirty="0">
                <a:solidFill>
                  <a:srgbClr val="79BC43"/>
                </a:solidFill>
                <a:latin typeface="Arial"/>
                <a:cs typeface="Arial"/>
              </a:rPr>
              <a:t>33.290.0001</a:t>
            </a:r>
            <a:r>
              <a:rPr sz="850" spc="350" dirty="0">
                <a:solidFill>
                  <a:srgbClr val="79BC43"/>
                </a:solidFill>
                <a:latin typeface="Times New Roman"/>
                <a:cs typeface="Times New Roman"/>
              </a:rPr>
              <a:t> </a:t>
            </a:r>
            <a:r>
              <a:rPr sz="850" b="1" spc="-25" dirty="0">
                <a:solidFill>
                  <a:srgbClr val="008BC0"/>
                </a:solidFill>
                <a:latin typeface="Arial"/>
                <a:cs typeface="Arial"/>
              </a:rPr>
              <a:t>15</a:t>
            </a:r>
            <a:endParaRPr sz="8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44697" y="3124200"/>
            <a:ext cx="3878111" cy="367023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7230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5490"/>
              </a:spcBef>
            </a:pPr>
            <a:r>
              <a:rPr spc="-695" dirty="0">
                <a:solidFill>
                  <a:srgbClr val="5D6367"/>
                </a:solidFill>
              </a:rPr>
              <a:t>T</a:t>
            </a:r>
            <a:r>
              <a:rPr spc="-1150" dirty="0">
                <a:solidFill>
                  <a:srgbClr val="5D6367"/>
                </a:solidFill>
              </a:rPr>
              <a:t>R</a:t>
            </a:r>
            <a:r>
              <a:rPr spc="-1115" dirty="0">
                <a:solidFill>
                  <a:srgbClr val="5D6367"/>
                </a:solidFill>
              </a:rPr>
              <a:t>U</a:t>
            </a:r>
            <a:r>
              <a:rPr spc="-905" dirty="0">
                <a:solidFill>
                  <a:srgbClr val="5D6367"/>
                </a:solidFill>
              </a:rPr>
              <a:t>S</a:t>
            </a:r>
            <a:r>
              <a:rPr spc="-475" dirty="0">
                <a:solidFill>
                  <a:srgbClr val="5D6367"/>
                </a:solidFill>
              </a:rPr>
              <a:t>T</a:t>
            </a:r>
          </a:p>
          <a:p>
            <a:pPr marL="197485">
              <a:lnSpc>
                <a:spcPct val="100000"/>
              </a:lnSpc>
              <a:spcBef>
                <a:spcPts val="970"/>
              </a:spcBef>
            </a:pPr>
            <a:r>
              <a:rPr sz="1800" b="0" i="1" spc="-145" dirty="0">
                <a:solidFill>
                  <a:srgbClr val="722B63"/>
                </a:solidFill>
                <a:latin typeface="Arial"/>
                <a:cs typeface="Arial"/>
              </a:rPr>
              <a:t>Delivering</a:t>
            </a:r>
            <a:r>
              <a:rPr sz="1800" b="0" i="1" spc="55" dirty="0">
                <a:solidFill>
                  <a:srgbClr val="722B63"/>
                </a:solidFill>
                <a:latin typeface="Arial"/>
                <a:cs typeface="Arial"/>
              </a:rPr>
              <a:t> </a:t>
            </a:r>
            <a:r>
              <a:rPr sz="1800" b="0" i="1" spc="-280" dirty="0">
                <a:solidFill>
                  <a:srgbClr val="722B63"/>
                </a:solidFill>
                <a:latin typeface="Arial"/>
                <a:cs typeface="Arial"/>
              </a:rPr>
              <a:t>on</a:t>
            </a:r>
            <a:r>
              <a:rPr sz="1800" b="0" i="1" spc="55" dirty="0">
                <a:solidFill>
                  <a:srgbClr val="722B63"/>
                </a:solidFill>
                <a:latin typeface="Arial"/>
                <a:cs typeface="Arial"/>
              </a:rPr>
              <a:t> </a:t>
            </a:r>
            <a:r>
              <a:rPr sz="1800" b="0" i="1" spc="-110" dirty="0">
                <a:solidFill>
                  <a:srgbClr val="722B63"/>
                </a:solidFill>
                <a:latin typeface="Arial"/>
                <a:cs typeface="Arial"/>
              </a:rPr>
              <a:t>promises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6531" y="3724661"/>
            <a:ext cx="3278504" cy="2227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40005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earn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respect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by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keeping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promises,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fulfilling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expectations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 holding myself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accountable.</a:t>
            </a:r>
            <a:endParaRPr sz="1150">
              <a:latin typeface="Avenir Book"/>
              <a:cs typeface="Avenir Book"/>
            </a:endParaRPr>
          </a:p>
          <a:p>
            <a:pPr marL="241300" marR="5080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am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honest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with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others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respond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truthfully,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with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best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interest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patient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at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heart.</a:t>
            </a:r>
            <a:endParaRPr sz="1150">
              <a:latin typeface="Avenir Book"/>
              <a:cs typeface="Avenir Book"/>
            </a:endParaRPr>
          </a:p>
          <a:p>
            <a:pPr marL="241300" marR="405130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listen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others’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input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before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rushing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to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judgment.</a:t>
            </a:r>
            <a:endParaRPr sz="1150">
              <a:latin typeface="Avenir Book"/>
              <a:cs typeface="Avenir Book"/>
            </a:endParaRPr>
          </a:p>
          <a:p>
            <a:pPr marL="241300" marR="55244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speak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up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report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errors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as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well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as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patient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safety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environmental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concerns.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focus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on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improvement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rather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than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blame.</a:t>
            </a:r>
            <a:endParaRPr sz="1150">
              <a:latin typeface="Avenir Book"/>
              <a:cs typeface="Avenir Book"/>
            </a:endParaRPr>
          </a:p>
          <a:p>
            <a:pPr marL="241300" marR="158750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safeguard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patient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confidentiality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never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discuss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private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information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public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places.</a:t>
            </a:r>
            <a:endParaRPr sz="1150">
              <a:latin typeface="Avenir Book"/>
              <a:cs typeface="Avenir Boo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6531" y="3426209"/>
            <a:ext cx="26911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60" dirty="0">
                <a:solidFill>
                  <a:srgbClr val="722B63"/>
                </a:solidFill>
                <a:latin typeface="Arial"/>
                <a:cs typeface="Arial"/>
              </a:rPr>
              <a:t>TRUST</a:t>
            </a:r>
            <a:r>
              <a:rPr sz="1400" b="1" spc="-40" dirty="0">
                <a:solidFill>
                  <a:srgbClr val="722B63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722B63"/>
                </a:solidFill>
                <a:latin typeface="Arial"/>
                <a:cs typeface="Arial"/>
              </a:rPr>
              <a:t>BEHAVIOR</a:t>
            </a:r>
            <a:r>
              <a:rPr sz="1400" b="1" spc="-35" dirty="0">
                <a:solidFill>
                  <a:srgbClr val="722B63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722B63"/>
                </a:solidFill>
                <a:latin typeface="Arial"/>
                <a:cs typeface="Arial"/>
              </a:rPr>
              <a:t>STANDARDS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94910" y="784809"/>
            <a:ext cx="1010464" cy="69486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425074" y="3108442"/>
            <a:ext cx="5405755" cy="2575705"/>
          </a:xfrm>
          <a:prstGeom prst="rect">
            <a:avLst/>
          </a:prstGeom>
          <a:ln w="3175">
            <a:solidFill>
              <a:srgbClr val="722B63"/>
            </a:solidFill>
          </a:ln>
        </p:spPr>
        <p:txBody>
          <a:bodyPr vert="horz" wrap="square" lIns="0" tIns="641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5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235585" marR="3676650">
              <a:lnSpc>
                <a:spcPct val="100000"/>
              </a:lnSpc>
              <a:spcBef>
                <a:spcPts val="5"/>
              </a:spcBef>
            </a:pPr>
            <a:r>
              <a:rPr sz="1800" spc="-25" dirty="0">
                <a:solidFill>
                  <a:srgbClr val="722B63"/>
                </a:solidFill>
                <a:latin typeface="Avenir Book"/>
                <a:cs typeface="Avenir Book"/>
              </a:rPr>
              <a:t>“You</a:t>
            </a:r>
            <a:r>
              <a:rPr sz="1800" spc="-90" dirty="0">
                <a:solidFill>
                  <a:srgbClr val="722B63"/>
                </a:solidFill>
                <a:latin typeface="Avenir Book"/>
                <a:cs typeface="Avenir Book"/>
              </a:rPr>
              <a:t> </a:t>
            </a:r>
            <a:r>
              <a:rPr sz="1800" spc="-20" dirty="0">
                <a:solidFill>
                  <a:srgbClr val="722B63"/>
                </a:solidFill>
                <a:latin typeface="Avenir Book"/>
                <a:cs typeface="Avenir Book"/>
              </a:rPr>
              <a:t>definitely </a:t>
            </a:r>
            <a:r>
              <a:rPr sz="1800" dirty="0">
                <a:solidFill>
                  <a:srgbClr val="722B63"/>
                </a:solidFill>
                <a:latin typeface="Avenir Book"/>
                <a:cs typeface="Avenir Book"/>
              </a:rPr>
              <a:t>hired</a:t>
            </a:r>
            <a:r>
              <a:rPr sz="1800" spc="-60" dirty="0">
                <a:solidFill>
                  <a:srgbClr val="722B63"/>
                </a:solidFill>
                <a:latin typeface="Avenir Book"/>
                <a:cs typeface="Avenir Book"/>
              </a:rPr>
              <a:t> </a:t>
            </a:r>
            <a:r>
              <a:rPr sz="1800" spc="-25" dirty="0">
                <a:solidFill>
                  <a:srgbClr val="722B63"/>
                </a:solidFill>
                <a:latin typeface="Avenir Book"/>
                <a:cs typeface="Avenir Book"/>
              </a:rPr>
              <a:t>the</a:t>
            </a:r>
            <a:endParaRPr sz="1800" dirty="0">
              <a:latin typeface="Avenir Book"/>
              <a:cs typeface="Avenir Book"/>
            </a:endParaRPr>
          </a:p>
          <a:p>
            <a:pPr marL="235585" marR="3455670">
              <a:lnSpc>
                <a:spcPct val="100000"/>
              </a:lnSpc>
            </a:pPr>
            <a:r>
              <a:rPr sz="1800" dirty="0">
                <a:solidFill>
                  <a:srgbClr val="722B63"/>
                </a:solidFill>
                <a:latin typeface="Avenir Book"/>
                <a:cs typeface="Avenir Book"/>
              </a:rPr>
              <a:t>right</a:t>
            </a:r>
            <a:r>
              <a:rPr sz="1800" spc="-40" dirty="0">
                <a:solidFill>
                  <a:srgbClr val="722B63"/>
                </a:solidFill>
                <a:latin typeface="Avenir Book"/>
                <a:cs typeface="Avenir Book"/>
              </a:rPr>
              <a:t> </a:t>
            </a:r>
            <a:r>
              <a:rPr sz="1800" spc="-10" dirty="0">
                <a:solidFill>
                  <a:srgbClr val="722B63"/>
                </a:solidFill>
                <a:latin typeface="Avenir Book"/>
                <a:cs typeface="Avenir Book"/>
              </a:rPr>
              <a:t>people. </a:t>
            </a:r>
            <a:r>
              <a:rPr sz="1800" dirty="0">
                <a:solidFill>
                  <a:srgbClr val="722B63"/>
                </a:solidFill>
                <a:latin typeface="Avenir Book"/>
                <a:cs typeface="Avenir Book"/>
              </a:rPr>
              <a:t>Everyone I </a:t>
            </a:r>
            <a:r>
              <a:rPr sz="1800" spc="-25" dirty="0">
                <a:solidFill>
                  <a:srgbClr val="722B63"/>
                </a:solidFill>
                <a:latin typeface="Avenir Book"/>
                <a:cs typeface="Avenir Book"/>
              </a:rPr>
              <a:t>met </a:t>
            </a:r>
            <a:r>
              <a:rPr sz="1800" dirty="0">
                <a:solidFill>
                  <a:srgbClr val="722B63"/>
                </a:solidFill>
                <a:latin typeface="Avenir Book"/>
                <a:cs typeface="Avenir Book"/>
              </a:rPr>
              <a:t>was </a:t>
            </a:r>
            <a:r>
              <a:rPr sz="1800" spc="-10" dirty="0">
                <a:solidFill>
                  <a:srgbClr val="722B63"/>
                </a:solidFill>
                <a:latin typeface="Avenir Book"/>
                <a:cs typeface="Avenir Book"/>
              </a:rPr>
              <a:t>professional </a:t>
            </a:r>
            <a:r>
              <a:rPr sz="1800" dirty="0">
                <a:solidFill>
                  <a:srgbClr val="722B63"/>
                </a:solidFill>
                <a:latin typeface="Avenir Book"/>
                <a:cs typeface="Avenir Book"/>
              </a:rPr>
              <a:t>and</a:t>
            </a:r>
            <a:r>
              <a:rPr sz="1800" spc="-20" dirty="0">
                <a:solidFill>
                  <a:srgbClr val="722B63"/>
                </a:solidFill>
                <a:latin typeface="Avenir Book"/>
                <a:cs typeface="Avenir Book"/>
              </a:rPr>
              <a:t> </a:t>
            </a:r>
            <a:r>
              <a:rPr sz="1800" dirty="0">
                <a:solidFill>
                  <a:srgbClr val="722B63"/>
                </a:solidFill>
                <a:latin typeface="Avenir Book"/>
                <a:cs typeface="Avenir Book"/>
              </a:rPr>
              <a:t>very</a:t>
            </a:r>
            <a:r>
              <a:rPr sz="1800" spc="-15" dirty="0">
                <a:solidFill>
                  <a:srgbClr val="722B63"/>
                </a:solidFill>
                <a:latin typeface="Avenir Book"/>
                <a:cs typeface="Avenir Book"/>
              </a:rPr>
              <a:t> </a:t>
            </a:r>
            <a:r>
              <a:rPr sz="1800" spc="-10" dirty="0">
                <a:solidFill>
                  <a:srgbClr val="722B63"/>
                </a:solidFill>
                <a:latin typeface="Avenir Book"/>
                <a:cs typeface="Avenir Book"/>
              </a:rPr>
              <a:t>polite.”</a:t>
            </a:r>
            <a:endParaRPr sz="1800" dirty="0">
              <a:latin typeface="Avenir Book"/>
              <a:cs typeface="Avenir Book"/>
            </a:endParaRPr>
          </a:p>
          <a:p>
            <a:pPr marL="235585">
              <a:lnSpc>
                <a:spcPct val="100000"/>
              </a:lnSpc>
              <a:spcBef>
                <a:spcPts val="1040"/>
              </a:spcBef>
            </a:pPr>
            <a:r>
              <a:rPr sz="1400" i="1" spc="90" dirty="0">
                <a:solidFill>
                  <a:srgbClr val="595A5A"/>
                </a:solidFill>
                <a:latin typeface="Arial"/>
                <a:cs typeface="Arial"/>
              </a:rPr>
              <a:t>-</a:t>
            </a:r>
            <a:r>
              <a:rPr sz="1400" i="1" spc="185" dirty="0">
                <a:solidFill>
                  <a:srgbClr val="595A5A"/>
                </a:solidFill>
                <a:latin typeface="Arial"/>
                <a:cs typeface="Arial"/>
              </a:rPr>
              <a:t>A</a:t>
            </a:r>
            <a:r>
              <a:rPr sz="1400" i="1" spc="30" dirty="0">
                <a:solidFill>
                  <a:srgbClr val="595A5A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595A5A"/>
                </a:solidFill>
                <a:latin typeface="Arial"/>
                <a:cs typeface="Arial"/>
              </a:rPr>
              <a:t>grateful</a:t>
            </a:r>
            <a:endParaRPr sz="1400" dirty="0">
              <a:latin typeface="Arial"/>
              <a:cs typeface="Arial"/>
            </a:endParaRPr>
          </a:p>
          <a:p>
            <a:pPr marL="235585">
              <a:lnSpc>
                <a:spcPct val="100000"/>
              </a:lnSpc>
              <a:spcBef>
                <a:spcPts val="120"/>
              </a:spcBef>
            </a:pPr>
            <a:r>
              <a:rPr lang="en-US" sz="1400" i="1" spc="-130" dirty="0">
                <a:solidFill>
                  <a:srgbClr val="595A5A"/>
                </a:solidFill>
                <a:latin typeface="Arial"/>
                <a:cs typeface="Arial"/>
              </a:rPr>
              <a:t>Destiny Springs</a:t>
            </a:r>
            <a:r>
              <a:rPr sz="1400" i="1" spc="65" dirty="0">
                <a:solidFill>
                  <a:srgbClr val="595A5A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595A5A"/>
                </a:solidFill>
                <a:latin typeface="Arial"/>
                <a:cs typeface="Arial"/>
              </a:rPr>
              <a:t>patient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03646" y="7291279"/>
            <a:ext cx="133921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-45" dirty="0">
                <a:solidFill>
                  <a:srgbClr val="722B63"/>
                </a:solidFill>
                <a:latin typeface="Arial"/>
                <a:cs typeface="Arial"/>
              </a:rPr>
              <a:t>Living</a:t>
            </a:r>
            <a:r>
              <a:rPr sz="850" i="1" spc="-15" dirty="0">
                <a:solidFill>
                  <a:srgbClr val="722B63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722B63"/>
                </a:solidFill>
                <a:latin typeface="Arial"/>
                <a:cs typeface="Arial"/>
              </a:rPr>
              <a:t>our</a:t>
            </a:r>
            <a:r>
              <a:rPr sz="850" i="1" spc="15" dirty="0">
                <a:solidFill>
                  <a:srgbClr val="722B63"/>
                </a:solidFill>
                <a:latin typeface="Arial"/>
                <a:cs typeface="Arial"/>
              </a:rPr>
              <a:t> </a:t>
            </a:r>
            <a:r>
              <a:rPr sz="850" i="1" spc="-114" dirty="0">
                <a:solidFill>
                  <a:srgbClr val="722B63"/>
                </a:solidFill>
                <a:latin typeface="Arial"/>
                <a:cs typeface="Arial"/>
              </a:rPr>
              <a:t>Values</a:t>
            </a:r>
            <a:r>
              <a:rPr sz="850" i="1" spc="55" dirty="0">
                <a:solidFill>
                  <a:srgbClr val="722B63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47720"/>
                </a:solidFill>
                <a:latin typeface="Arial"/>
                <a:cs typeface="Arial"/>
              </a:rPr>
              <a:t>I</a:t>
            </a:r>
            <a:r>
              <a:rPr sz="850" b="1" spc="-40" dirty="0">
                <a:solidFill>
                  <a:srgbClr val="F47720"/>
                </a:solidFill>
                <a:latin typeface="Arial"/>
                <a:cs typeface="Arial"/>
              </a:rPr>
              <a:t> </a:t>
            </a:r>
            <a:r>
              <a:rPr sz="850" b="1" spc="-10" dirty="0">
                <a:solidFill>
                  <a:srgbClr val="5D6367"/>
                </a:solidFill>
                <a:latin typeface="Arial"/>
                <a:cs typeface="Arial"/>
              </a:rPr>
              <a:t>TRUST</a:t>
            </a:r>
            <a:r>
              <a:rPr sz="850" b="1" spc="215" dirty="0">
                <a:solidFill>
                  <a:srgbClr val="5D6367"/>
                </a:solidFill>
                <a:latin typeface="Arial"/>
                <a:cs typeface="Arial"/>
              </a:rPr>
              <a:t> </a:t>
            </a:r>
            <a:r>
              <a:rPr sz="850" b="1" spc="-25" dirty="0">
                <a:solidFill>
                  <a:srgbClr val="008BC0"/>
                </a:solidFill>
                <a:latin typeface="Arial"/>
                <a:cs typeface="Arial"/>
              </a:rPr>
              <a:t>16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61714" y="213646"/>
            <a:ext cx="333375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spc="-60" dirty="0">
                <a:solidFill>
                  <a:srgbClr val="722B63"/>
                </a:solidFill>
              </a:rPr>
              <a:t>Quality</a:t>
            </a:r>
            <a:r>
              <a:rPr sz="3800" spc="-65" dirty="0">
                <a:solidFill>
                  <a:srgbClr val="722B63"/>
                </a:solidFill>
              </a:rPr>
              <a:t> </a:t>
            </a:r>
            <a:r>
              <a:rPr sz="3800" dirty="0">
                <a:solidFill>
                  <a:srgbClr val="722B63"/>
                </a:solidFill>
              </a:rPr>
              <a:t>of</a:t>
            </a:r>
            <a:r>
              <a:rPr sz="3800" spc="-65" dirty="0">
                <a:solidFill>
                  <a:srgbClr val="722B63"/>
                </a:solidFill>
              </a:rPr>
              <a:t> </a:t>
            </a:r>
            <a:r>
              <a:rPr sz="3800" spc="-95" dirty="0">
                <a:solidFill>
                  <a:srgbClr val="722B63"/>
                </a:solidFill>
              </a:rPr>
              <a:t>Care</a:t>
            </a:r>
            <a:endParaRPr sz="3800"/>
          </a:p>
        </p:txBody>
      </p:sp>
      <p:sp>
        <p:nvSpPr>
          <p:cNvPr id="3" name="object 3"/>
          <p:cNvSpPr txBox="1"/>
          <p:nvPr/>
        </p:nvSpPr>
        <p:spPr>
          <a:xfrm>
            <a:off x="461714" y="925874"/>
            <a:ext cx="2646680" cy="1897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At </a:t>
            </a:r>
            <a:r>
              <a:rPr lang="en-US" sz="1150" b="1" spc="-55" dirty="0">
                <a:solidFill>
                  <a:srgbClr val="231F20"/>
                </a:solidFill>
                <a:latin typeface="Arial"/>
                <a:cs typeface="Arial"/>
              </a:rPr>
              <a:t>Destiny Springs</a:t>
            </a:r>
            <a:r>
              <a:rPr sz="1150" b="1" spc="-20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115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we</a:t>
            </a:r>
            <a:r>
              <a:rPr sz="115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30" dirty="0">
                <a:solidFill>
                  <a:srgbClr val="231F20"/>
                </a:solidFill>
                <a:latin typeface="Arial"/>
                <a:cs typeface="Arial"/>
              </a:rPr>
              <a:t>strive</a:t>
            </a:r>
            <a:r>
              <a:rPr sz="115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provide</a:t>
            </a:r>
            <a:endParaRPr sz="115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1714" y="1101134"/>
            <a:ext cx="2722245" cy="795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37515">
              <a:lnSpc>
                <a:spcPct val="100000"/>
              </a:lnSpc>
              <a:spcBef>
                <a:spcPts val="100"/>
              </a:spcBef>
            </a:pP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sz="1150" b="1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30" dirty="0">
                <a:solidFill>
                  <a:srgbClr val="231F20"/>
                </a:solidFill>
                <a:latin typeface="Arial"/>
                <a:cs typeface="Arial"/>
              </a:rPr>
              <a:t>extraordinary</a:t>
            </a:r>
            <a:r>
              <a:rPr sz="1150" b="1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50" dirty="0">
                <a:solidFill>
                  <a:srgbClr val="231F20"/>
                </a:solidFill>
                <a:latin typeface="Arial"/>
                <a:cs typeface="Arial"/>
              </a:rPr>
              <a:t>care</a:t>
            </a:r>
            <a:r>
              <a:rPr sz="1150" b="1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sz="1150" b="1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50" dirty="0">
                <a:solidFill>
                  <a:srgbClr val="231F20"/>
                </a:solidFill>
                <a:latin typeface="Arial"/>
                <a:cs typeface="Arial"/>
              </a:rPr>
              <a:t>all</a:t>
            </a:r>
            <a:r>
              <a:rPr sz="1150" b="1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sz="1150" b="1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30" dirty="0">
                <a:solidFill>
                  <a:srgbClr val="231F20"/>
                </a:solidFill>
                <a:latin typeface="Arial"/>
                <a:cs typeface="Arial"/>
              </a:rPr>
              <a:t>our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patients.</a:t>
            </a:r>
            <a:endParaRPr sz="11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40"/>
              </a:spcBef>
            </a:pPr>
            <a:r>
              <a:rPr sz="1150" spc="-65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ensure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that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every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patient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who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receives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extraordinary</a:t>
            </a:r>
            <a:r>
              <a:rPr sz="1150" spc="-6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care,</a:t>
            </a:r>
            <a:r>
              <a:rPr sz="1150" spc="-5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we:</a:t>
            </a:r>
            <a:endParaRPr sz="1150">
              <a:latin typeface="Avenir Book"/>
              <a:cs typeface="Avenir Boo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75305" y="961510"/>
            <a:ext cx="2950210" cy="795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Regularly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monitor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patient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outcomes,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quality 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metrics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and 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patient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satisfaction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scores.</a:t>
            </a:r>
            <a:endParaRPr sz="1150">
              <a:latin typeface="Avenir Book"/>
              <a:cs typeface="Avenir Book"/>
            </a:endParaRPr>
          </a:p>
          <a:p>
            <a:pPr marL="241300" marR="212090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Identify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ways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improve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quality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of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care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provide.</a:t>
            </a:r>
            <a:endParaRPr sz="1150">
              <a:latin typeface="Avenir Book"/>
              <a:cs typeface="Avenir Boo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8674" y="4209088"/>
            <a:ext cx="506222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b="1" spc="-130" dirty="0">
                <a:solidFill>
                  <a:srgbClr val="722B63"/>
                </a:solidFill>
                <a:latin typeface="Arial"/>
                <a:cs typeface="Arial"/>
              </a:rPr>
              <a:t>Information</a:t>
            </a:r>
            <a:r>
              <a:rPr sz="3800" b="1" spc="-90" dirty="0">
                <a:solidFill>
                  <a:srgbClr val="722B63"/>
                </a:solidFill>
                <a:latin typeface="Arial"/>
                <a:cs typeface="Arial"/>
              </a:rPr>
              <a:t> </a:t>
            </a:r>
            <a:r>
              <a:rPr sz="3800" b="1" spc="-210" dirty="0">
                <a:solidFill>
                  <a:srgbClr val="722B63"/>
                </a:solidFill>
                <a:latin typeface="Arial"/>
                <a:cs typeface="Arial"/>
              </a:rPr>
              <a:t>Technology</a:t>
            </a:r>
            <a:endParaRPr sz="3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4500" y="5049361"/>
            <a:ext cx="2795270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Much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our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business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today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created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and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stored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on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electronic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systems.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65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safeguard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information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from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unauthorized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access,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you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are</a:t>
            </a:r>
            <a:r>
              <a:rPr sz="1150" spc="-5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required</a:t>
            </a: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to:</a:t>
            </a:r>
            <a:endParaRPr sz="1150">
              <a:latin typeface="Avenir Book"/>
              <a:cs typeface="Avenir Boo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4500" y="5818981"/>
            <a:ext cx="2767330" cy="1564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200025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Protect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your</a:t>
            </a: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passwords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from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use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by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another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person.</a:t>
            </a:r>
            <a:endParaRPr sz="1150">
              <a:latin typeface="Avenir Book"/>
              <a:cs typeface="Avenir Book"/>
            </a:endParaRPr>
          </a:p>
          <a:p>
            <a:pPr marL="241300" marR="5080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Log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off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“Lock”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computer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when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you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leave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it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unattended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are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finished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using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it.</a:t>
            </a:r>
            <a:endParaRPr sz="1150">
              <a:latin typeface="Avenir Book"/>
              <a:cs typeface="Avenir Book"/>
            </a:endParaRPr>
          </a:p>
          <a:p>
            <a:pPr marL="241300" marR="151765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Access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‘minimum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necessary’ information</a:t>
            </a:r>
            <a:r>
              <a:rPr sz="1150" spc="10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6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perform</a:t>
            </a:r>
            <a:r>
              <a:rPr sz="1150" spc="-5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your</a:t>
            </a:r>
            <a:r>
              <a:rPr sz="1150" spc="-5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assigned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job</a:t>
            </a:r>
            <a:r>
              <a:rPr sz="1150" spc="-6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duties.</a:t>
            </a:r>
            <a:endParaRPr sz="1150">
              <a:latin typeface="Avenir Book"/>
              <a:cs typeface="Avenir Boo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86320" y="4451878"/>
            <a:ext cx="2970530" cy="259778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800" i="1" spc="-90" dirty="0">
                <a:solidFill>
                  <a:srgbClr val="722B63"/>
                </a:solidFill>
                <a:latin typeface="Arial"/>
                <a:cs typeface="Arial"/>
              </a:rPr>
              <a:t>Report</a:t>
            </a:r>
            <a:r>
              <a:rPr sz="1800" i="1" spc="-35" dirty="0">
                <a:solidFill>
                  <a:srgbClr val="722B63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722B63"/>
                </a:solidFill>
                <a:latin typeface="Arial"/>
                <a:cs typeface="Arial"/>
              </a:rPr>
              <a:t>Lost</a:t>
            </a:r>
            <a:r>
              <a:rPr sz="1800" i="1" spc="-80" dirty="0">
                <a:solidFill>
                  <a:srgbClr val="722B63"/>
                </a:solidFill>
                <a:latin typeface="Arial"/>
                <a:cs typeface="Arial"/>
              </a:rPr>
              <a:t> </a:t>
            </a:r>
            <a:r>
              <a:rPr sz="1800" i="1" spc="-65" dirty="0">
                <a:solidFill>
                  <a:srgbClr val="722B63"/>
                </a:solidFill>
                <a:latin typeface="Arial"/>
                <a:cs typeface="Arial"/>
              </a:rPr>
              <a:t>or</a:t>
            </a:r>
            <a:r>
              <a:rPr sz="1800" i="1" spc="-25" dirty="0">
                <a:solidFill>
                  <a:srgbClr val="722B63"/>
                </a:solidFill>
                <a:latin typeface="Arial"/>
                <a:cs typeface="Arial"/>
              </a:rPr>
              <a:t> </a:t>
            </a:r>
            <a:r>
              <a:rPr sz="1800" i="1" spc="-245" dirty="0">
                <a:solidFill>
                  <a:srgbClr val="722B63"/>
                </a:solidFill>
                <a:latin typeface="Arial"/>
                <a:cs typeface="Arial"/>
              </a:rPr>
              <a:t>Stolen</a:t>
            </a:r>
            <a:r>
              <a:rPr sz="1800" i="1" spc="35" dirty="0">
                <a:solidFill>
                  <a:srgbClr val="722B63"/>
                </a:solidFill>
                <a:latin typeface="Arial"/>
                <a:cs typeface="Arial"/>
              </a:rPr>
              <a:t> </a:t>
            </a:r>
            <a:r>
              <a:rPr sz="1800" i="1" spc="-70" dirty="0">
                <a:solidFill>
                  <a:srgbClr val="722B63"/>
                </a:solidFill>
                <a:latin typeface="Arial"/>
                <a:cs typeface="Arial"/>
              </a:rPr>
              <a:t>Devices</a:t>
            </a:r>
            <a:endParaRPr sz="18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409"/>
              </a:spcBef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If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laptop,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computer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mobile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device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lost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stolen,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it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must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be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reported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within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24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hours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both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lang="en-US" sz="1150" dirty="0">
                <a:solidFill>
                  <a:srgbClr val="231F20"/>
                </a:solidFill>
                <a:latin typeface="Avenir Book"/>
                <a:cs typeface="Avenir Book"/>
              </a:rPr>
              <a:t>Destiny Springs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Security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the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Information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Security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Office.</a:t>
            </a:r>
            <a:endParaRPr sz="1150" dirty="0">
              <a:latin typeface="Avenir Book"/>
              <a:cs typeface="Avenir Book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800" i="1" spc="-204" dirty="0">
                <a:solidFill>
                  <a:srgbClr val="722B63"/>
                </a:solidFill>
                <a:latin typeface="Arial"/>
                <a:cs typeface="Arial"/>
              </a:rPr>
              <a:t>Social</a:t>
            </a:r>
            <a:r>
              <a:rPr sz="1800" i="1" spc="85" dirty="0">
                <a:solidFill>
                  <a:srgbClr val="722B63"/>
                </a:solidFill>
                <a:latin typeface="Arial"/>
                <a:cs typeface="Arial"/>
              </a:rPr>
              <a:t> </a:t>
            </a:r>
            <a:r>
              <a:rPr sz="1800" i="1" spc="-10" dirty="0">
                <a:solidFill>
                  <a:srgbClr val="722B63"/>
                </a:solidFill>
                <a:latin typeface="Arial"/>
                <a:cs typeface="Arial"/>
              </a:rPr>
              <a:t>Media</a:t>
            </a:r>
            <a:endParaRPr sz="1800" dirty="0">
              <a:latin typeface="Arial"/>
              <a:cs typeface="Arial"/>
            </a:endParaRPr>
          </a:p>
          <a:p>
            <a:pPr marL="12700" marR="247650">
              <a:lnSpc>
                <a:spcPct val="100000"/>
              </a:lnSpc>
              <a:spcBef>
                <a:spcPts val="409"/>
              </a:spcBef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Employees,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contractors,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vendors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and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volunteers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are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prohibited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from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posting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any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proprietary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business material,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such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as</a:t>
            </a:r>
            <a:endParaRPr sz="1150" dirty="0">
              <a:latin typeface="Avenir Book"/>
              <a:cs typeface="Avenir Book"/>
            </a:endParaRPr>
          </a:p>
          <a:p>
            <a:pPr marL="12700" marR="83185" algn="just">
              <a:lnSpc>
                <a:spcPct val="100000"/>
              </a:lnSpc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business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marketing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plans,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confidential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patient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health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information,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including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photos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patients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patient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information,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online.</a:t>
            </a:r>
            <a:endParaRPr sz="1150" dirty="0">
              <a:latin typeface="Avenir Book"/>
              <a:cs typeface="Avenir Boo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81564" y="959846"/>
            <a:ext cx="2994025" cy="795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478155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Report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any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safety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quality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care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concerns.</a:t>
            </a:r>
            <a:endParaRPr sz="1150">
              <a:latin typeface="Avenir Book"/>
              <a:cs typeface="Avenir Book"/>
            </a:endParaRPr>
          </a:p>
          <a:p>
            <a:pPr marL="241300" marR="5080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Take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necessary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steps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prevent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future incidents.</a:t>
            </a:r>
            <a:endParaRPr sz="1150">
              <a:latin typeface="Avenir Book"/>
              <a:cs typeface="Avenir Boo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4500" y="1877255"/>
            <a:ext cx="4448810" cy="919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b="1" spc="-70" dirty="0">
                <a:solidFill>
                  <a:srgbClr val="722B63"/>
                </a:solidFill>
                <a:latin typeface="Arial"/>
                <a:cs typeface="Arial"/>
              </a:rPr>
              <a:t>Qualified</a:t>
            </a:r>
            <a:r>
              <a:rPr sz="3800" b="1" spc="-180" dirty="0">
                <a:solidFill>
                  <a:srgbClr val="722B63"/>
                </a:solidFill>
                <a:latin typeface="Arial"/>
                <a:cs typeface="Arial"/>
              </a:rPr>
              <a:t> </a:t>
            </a:r>
            <a:r>
              <a:rPr sz="3800" b="1" spc="-130" dirty="0">
                <a:solidFill>
                  <a:srgbClr val="722B63"/>
                </a:solidFill>
                <a:latin typeface="Arial"/>
                <a:cs typeface="Arial"/>
              </a:rPr>
              <a:t>Caregivers</a:t>
            </a:r>
            <a:endParaRPr sz="3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At</a:t>
            </a:r>
            <a:r>
              <a:rPr sz="1150" b="1" spc="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lang="en-US" sz="1150" b="1" spc="-10" dirty="0">
                <a:solidFill>
                  <a:srgbClr val="231F20"/>
                </a:solidFill>
                <a:latin typeface="Arial"/>
                <a:cs typeface="Arial"/>
              </a:rPr>
              <a:t>Destiny Springs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1150" b="1" spc="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we</a:t>
            </a:r>
            <a:r>
              <a:rPr sz="1150" b="1" spc="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employ</a:t>
            </a:r>
            <a:r>
              <a:rPr sz="1150" b="1" spc="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25" dirty="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endParaRPr sz="115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4500" y="2770813"/>
            <a:ext cx="2849245" cy="970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96570">
              <a:lnSpc>
                <a:spcPct val="100000"/>
              </a:lnSpc>
              <a:spcBef>
                <a:spcPts val="100"/>
              </a:spcBef>
            </a:pP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contract</a:t>
            </a:r>
            <a:r>
              <a:rPr sz="1150" b="1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with</a:t>
            </a:r>
            <a:r>
              <a:rPr sz="1150" b="1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qualified </a:t>
            </a:r>
            <a:r>
              <a:rPr sz="1150" b="1" spc="-30" dirty="0">
                <a:solidFill>
                  <a:srgbClr val="231F20"/>
                </a:solidFill>
                <a:latin typeface="Arial"/>
                <a:cs typeface="Arial"/>
              </a:rPr>
              <a:t>individuals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sz="1150" b="1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entities.</a:t>
            </a:r>
            <a:endParaRPr sz="11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40"/>
              </a:spcBef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It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is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critical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that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employees,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contractors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and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affiliated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physicians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maintain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required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credentials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perform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their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job.</a:t>
            </a:r>
            <a:endParaRPr sz="1150">
              <a:latin typeface="Avenir Book"/>
              <a:cs typeface="Avenir Boo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86992" y="2631189"/>
            <a:ext cx="284734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We</a:t>
            </a:r>
            <a:r>
              <a:rPr sz="1150" spc="-6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do</a:t>
            </a:r>
            <a:r>
              <a:rPr sz="1150" spc="-6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not</a:t>
            </a:r>
            <a:r>
              <a:rPr sz="1150" spc="-6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50" dirty="0">
                <a:solidFill>
                  <a:srgbClr val="231F20"/>
                </a:solidFill>
                <a:latin typeface="Avenir Book"/>
                <a:cs typeface="Avenir Book"/>
              </a:rPr>
              <a:t>hire,</a:t>
            </a:r>
            <a:r>
              <a:rPr sz="1150" spc="-6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50" dirty="0">
                <a:solidFill>
                  <a:srgbClr val="231F20"/>
                </a:solidFill>
                <a:latin typeface="Avenir Book"/>
                <a:cs typeface="Avenir Book"/>
              </a:rPr>
              <a:t>contract</a:t>
            </a:r>
            <a:r>
              <a:rPr sz="1150" spc="-6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with</a:t>
            </a:r>
            <a:r>
              <a:rPr sz="1150" spc="-6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6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bill</a:t>
            </a:r>
            <a:r>
              <a:rPr sz="1150" spc="-6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for</a:t>
            </a:r>
            <a:r>
              <a:rPr sz="1150" spc="-6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services </a:t>
            </a:r>
            <a:r>
              <a:rPr sz="1150" spc="-50" dirty="0">
                <a:solidFill>
                  <a:srgbClr val="231F20"/>
                </a:solidFill>
                <a:latin typeface="Avenir Book"/>
                <a:cs typeface="Avenir Book"/>
              </a:rPr>
              <a:t>provided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by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50" dirty="0">
                <a:solidFill>
                  <a:srgbClr val="231F20"/>
                </a:solidFill>
                <a:latin typeface="Avenir Book"/>
                <a:cs typeface="Avenir Book"/>
              </a:rPr>
              <a:t>individuals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or </a:t>
            </a:r>
            <a:r>
              <a:rPr sz="1150" spc="-50" dirty="0">
                <a:solidFill>
                  <a:srgbClr val="231F20"/>
                </a:solidFill>
                <a:latin typeface="Avenir Book"/>
                <a:cs typeface="Avenir Book"/>
              </a:rPr>
              <a:t>entities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that:</a:t>
            </a:r>
            <a:endParaRPr sz="1150">
              <a:latin typeface="Avenir Book"/>
              <a:cs typeface="Avenir Book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86992" y="3050289"/>
            <a:ext cx="2847340" cy="1038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Are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excluded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ineligible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participate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federal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state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healthcare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programs.</a:t>
            </a:r>
            <a:endParaRPr sz="1150">
              <a:latin typeface="Avenir Book"/>
              <a:cs typeface="Avenir Book"/>
            </a:endParaRPr>
          </a:p>
          <a:p>
            <a:pPr marL="241300" marR="417830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Are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debarred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by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Government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Services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Administration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(GSA).</a:t>
            </a:r>
            <a:endParaRPr sz="1150">
              <a:latin typeface="Avenir Book"/>
              <a:cs typeface="Avenir Book"/>
            </a:endParaRPr>
          </a:p>
          <a:p>
            <a:pPr marL="240665" indent="-227965">
              <a:lnSpc>
                <a:spcPct val="100000"/>
              </a:lnSpc>
              <a:spcBef>
                <a:spcPts val="540"/>
              </a:spcBef>
              <a:buChar char="•"/>
              <a:tabLst>
                <a:tab pos="240665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Have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been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convicted of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crime</a:t>
            </a:r>
            <a:endParaRPr sz="1150">
              <a:latin typeface="Avenir Book"/>
              <a:cs typeface="Avenir Book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15592" y="4063749"/>
            <a:ext cx="2081530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involving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government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business.</a:t>
            </a:r>
            <a:endParaRPr sz="1150">
              <a:latin typeface="Avenir Book"/>
              <a:cs typeface="Avenir Book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81564" y="2631189"/>
            <a:ext cx="3006090" cy="901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Employees,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contractors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affiliated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physicians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are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required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notify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management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should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they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become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excluded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otherwise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ineligible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participate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federal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state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healthcare</a:t>
            </a:r>
            <a:r>
              <a:rPr sz="1150" spc="-7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programs.</a:t>
            </a:r>
            <a:endParaRPr sz="1150">
              <a:latin typeface="Avenir Book"/>
              <a:cs typeface="Avenir Book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62020" y="5049361"/>
            <a:ext cx="2735580" cy="795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Access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use email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 the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Internet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line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with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our usage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standards.</a:t>
            </a:r>
            <a:endParaRPr sz="1150">
              <a:latin typeface="Avenir Book"/>
              <a:cs typeface="Avenir Book"/>
            </a:endParaRPr>
          </a:p>
          <a:p>
            <a:pPr marL="241300" marR="111125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Save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all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information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to the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appropriate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location.</a:t>
            </a:r>
            <a:endParaRPr sz="1150">
              <a:latin typeface="Avenir Book"/>
              <a:cs typeface="Avenir Book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462020" y="5887561"/>
            <a:ext cx="2862580" cy="1076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You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are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responsible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for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all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activity,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including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Internet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activity,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performed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using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your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user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ID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password.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All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software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used</a:t>
            </a:r>
            <a:endParaRPr sz="1150" dirty="0">
              <a:latin typeface="Avenir Book"/>
              <a:cs typeface="Avenir Book"/>
            </a:endParaRPr>
          </a:p>
          <a:p>
            <a:pPr marL="12700" marR="33655">
              <a:lnSpc>
                <a:spcPct val="100000"/>
              </a:lnSpc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downloaded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any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lang="en-US" sz="1150" dirty="0">
                <a:solidFill>
                  <a:srgbClr val="231F20"/>
                </a:solidFill>
                <a:latin typeface="Avenir Book"/>
                <a:cs typeface="Avenir Book"/>
              </a:rPr>
              <a:t>Destiny Springs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computer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must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be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approved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advance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by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Information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Security.</a:t>
            </a:r>
            <a:endParaRPr sz="1150" dirty="0">
              <a:latin typeface="Avenir Book"/>
              <a:cs typeface="Avenir Book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481564" y="4573202"/>
            <a:ext cx="12700" cy="2726055"/>
            <a:chOff x="6481564" y="4573202"/>
            <a:chExt cx="12700" cy="2726055"/>
          </a:xfrm>
        </p:grpSpPr>
        <p:sp>
          <p:nvSpPr>
            <p:cNvPr id="20" name="object 20"/>
            <p:cNvSpPr/>
            <p:nvPr/>
          </p:nvSpPr>
          <p:spPr>
            <a:xfrm>
              <a:off x="6487914" y="4617777"/>
              <a:ext cx="0" cy="2656205"/>
            </a:xfrm>
            <a:custGeom>
              <a:avLst/>
              <a:gdLst/>
              <a:ahLst/>
              <a:cxnLst/>
              <a:rect l="l" t="t" r="r" b="b"/>
              <a:pathLst>
                <a:path h="2656204">
                  <a:moveTo>
                    <a:pt x="0" y="0"/>
                  </a:moveTo>
                  <a:lnTo>
                    <a:pt x="0" y="2655900"/>
                  </a:lnTo>
                </a:path>
              </a:pathLst>
            </a:custGeom>
            <a:ln w="12700">
              <a:solidFill>
                <a:srgbClr val="5D6367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481559" y="4573206"/>
              <a:ext cx="12700" cy="2726055"/>
            </a:xfrm>
            <a:custGeom>
              <a:avLst/>
              <a:gdLst/>
              <a:ahLst/>
              <a:cxnLst/>
              <a:rect l="l" t="t" r="r" b="b"/>
              <a:pathLst>
                <a:path w="12700" h="2726054">
                  <a:moveTo>
                    <a:pt x="12700" y="2719590"/>
                  </a:moveTo>
                  <a:lnTo>
                    <a:pt x="10833" y="2715107"/>
                  </a:lnTo>
                  <a:lnTo>
                    <a:pt x="6350" y="2713240"/>
                  </a:lnTo>
                  <a:lnTo>
                    <a:pt x="1854" y="2715107"/>
                  </a:lnTo>
                  <a:lnTo>
                    <a:pt x="0" y="2719590"/>
                  </a:lnTo>
                  <a:lnTo>
                    <a:pt x="1854" y="2724086"/>
                  </a:lnTo>
                  <a:lnTo>
                    <a:pt x="6350" y="2725940"/>
                  </a:lnTo>
                  <a:lnTo>
                    <a:pt x="10833" y="2724086"/>
                  </a:lnTo>
                  <a:lnTo>
                    <a:pt x="12700" y="2719590"/>
                  </a:lnTo>
                  <a:close/>
                </a:path>
                <a:path w="12700" h="2726054">
                  <a:moveTo>
                    <a:pt x="12700" y="6350"/>
                  </a:moveTo>
                  <a:lnTo>
                    <a:pt x="10833" y="1866"/>
                  </a:lnTo>
                  <a:lnTo>
                    <a:pt x="6350" y="0"/>
                  </a:lnTo>
                  <a:lnTo>
                    <a:pt x="1854" y="1866"/>
                  </a:lnTo>
                  <a:lnTo>
                    <a:pt x="0" y="6350"/>
                  </a:lnTo>
                  <a:lnTo>
                    <a:pt x="1854" y="10845"/>
                  </a:lnTo>
                  <a:lnTo>
                    <a:pt x="6350" y="12700"/>
                  </a:lnTo>
                  <a:lnTo>
                    <a:pt x="10833" y="10845"/>
                  </a:lnTo>
                  <a:lnTo>
                    <a:pt x="12700" y="6350"/>
                  </a:lnTo>
                  <a:close/>
                </a:path>
              </a:pathLst>
            </a:custGeom>
            <a:solidFill>
              <a:srgbClr val="5D63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8197443" y="7383620"/>
            <a:ext cx="1632357" cy="1436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25" dirty="0">
                <a:solidFill>
                  <a:srgbClr val="722B63"/>
                </a:solidFill>
                <a:latin typeface="Arial"/>
                <a:cs typeface="Arial"/>
              </a:rPr>
              <a:t>VALUES</a:t>
            </a:r>
            <a:r>
              <a:rPr sz="850" b="1" spc="-15" dirty="0">
                <a:solidFill>
                  <a:srgbClr val="722B63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722B63"/>
                </a:solidFill>
                <a:latin typeface="Arial"/>
                <a:cs typeface="Arial"/>
              </a:rPr>
              <a:t>LINE</a:t>
            </a:r>
            <a:r>
              <a:rPr sz="850" b="1" spc="-15" dirty="0">
                <a:solidFill>
                  <a:srgbClr val="722B63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47720"/>
                </a:solidFill>
                <a:latin typeface="Arial"/>
                <a:cs typeface="Arial"/>
              </a:rPr>
              <a:t>I</a:t>
            </a:r>
            <a:r>
              <a:rPr sz="850" b="1" spc="-15" dirty="0">
                <a:solidFill>
                  <a:srgbClr val="F47720"/>
                </a:solidFill>
                <a:latin typeface="Arial"/>
                <a:cs typeface="Arial"/>
              </a:rPr>
              <a:t> </a:t>
            </a:r>
            <a:r>
              <a:rPr lang="en-US" sz="850" i="1" spc="-90" dirty="0">
                <a:solidFill>
                  <a:srgbClr val="5D6367"/>
                </a:solidFill>
                <a:latin typeface="Arial"/>
                <a:cs typeface="Arial"/>
              </a:rPr>
              <a:t>803.290.0001</a:t>
            </a:r>
            <a:r>
              <a:rPr lang="en-US" sz="850" i="1" spc="325" dirty="0">
                <a:solidFill>
                  <a:srgbClr val="5D6367"/>
                </a:solidFill>
                <a:latin typeface="Arial"/>
                <a:cs typeface="Arial"/>
              </a:rPr>
              <a:t> </a:t>
            </a:r>
            <a:r>
              <a:rPr sz="850" b="1" spc="-25" dirty="0">
                <a:solidFill>
                  <a:srgbClr val="008BC0"/>
                </a:solidFill>
                <a:latin typeface="Arial"/>
                <a:cs typeface="Arial"/>
              </a:rPr>
              <a:t>17</a:t>
            </a:r>
            <a:endParaRPr sz="8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530847" y="192023"/>
            <a:ext cx="3528060" cy="7580630"/>
            <a:chOff x="6530847" y="192023"/>
            <a:chExt cx="3528060" cy="7580630"/>
          </a:xfrm>
        </p:grpSpPr>
        <p:sp>
          <p:nvSpPr>
            <p:cNvPr id="3" name="object 3"/>
            <p:cNvSpPr/>
            <p:nvPr/>
          </p:nvSpPr>
          <p:spPr>
            <a:xfrm>
              <a:off x="6530847" y="192023"/>
              <a:ext cx="3528060" cy="7058659"/>
            </a:xfrm>
            <a:custGeom>
              <a:avLst/>
              <a:gdLst/>
              <a:ahLst/>
              <a:cxnLst/>
              <a:rect l="l" t="t" r="r" b="b"/>
              <a:pathLst>
                <a:path w="3528059" h="7058659">
                  <a:moveTo>
                    <a:pt x="3527552" y="0"/>
                  </a:moveTo>
                  <a:lnTo>
                    <a:pt x="0" y="0"/>
                  </a:lnTo>
                  <a:lnTo>
                    <a:pt x="0" y="7058329"/>
                  </a:lnTo>
                  <a:lnTo>
                    <a:pt x="3527552" y="7058329"/>
                  </a:lnTo>
                  <a:lnTo>
                    <a:pt x="3527552" y="0"/>
                  </a:lnTo>
                  <a:close/>
                </a:path>
              </a:pathLst>
            </a:custGeom>
            <a:solidFill>
              <a:srgbClr val="5D63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714095" y="6839029"/>
              <a:ext cx="245745" cy="676910"/>
            </a:xfrm>
            <a:custGeom>
              <a:avLst/>
              <a:gdLst/>
              <a:ahLst/>
              <a:cxnLst/>
              <a:rect l="l" t="t" r="r" b="b"/>
              <a:pathLst>
                <a:path w="245745" h="676909">
                  <a:moveTo>
                    <a:pt x="174866" y="25"/>
                  </a:moveTo>
                  <a:lnTo>
                    <a:pt x="162129" y="4171"/>
                  </a:lnTo>
                  <a:lnTo>
                    <a:pt x="149156" y="7162"/>
                  </a:lnTo>
                  <a:lnTo>
                    <a:pt x="136023" y="8972"/>
                  </a:lnTo>
                  <a:lnTo>
                    <a:pt x="122707" y="9575"/>
                  </a:lnTo>
                  <a:lnTo>
                    <a:pt x="109511" y="8965"/>
                  </a:lnTo>
                  <a:lnTo>
                    <a:pt x="96400" y="7150"/>
                  </a:lnTo>
                  <a:lnTo>
                    <a:pt x="83454" y="4153"/>
                  </a:lnTo>
                  <a:lnTo>
                    <a:pt x="70751" y="0"/>
                  </a:lnTo>
                  <a:lnTo>
                    <a:pt x="0" y="521182"/>
                  </a:lnTo>
                  <a:lnTo>
                    <a:pt x="122783" y="676287"/>
                  </a:lnTo>
                  <a:lnTo>
                    <a:pt x="245567" y="521182"/>
                  </a:lnTo>
                  <a:lnTo>
                    <a:pt x="174866" y="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63227" y="6681642"/>
              <a:ext cx="147345" cy="12819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249577" y="5018303"/>
              <a:ext cx="1809114" cy="2754630"/>
            </a:xfrm>
            <a:custGeom>
              <a:avLst/>
              <a:gdLst/>
              <a:ahLst/>
              <a:cxnLst/>
              <a:rect l="l" t="t" r="r" b="b"/>
              <a:pathLst>
                <a:path w="1809115" h="2754629">
                  <a:moveTo>
                    <a:pt x="1211897" y="1180503"/>
                  </a:moveTo>
                  <a:lnTo>
                    <a:pt x="1102296" y="1021080"/>
                  </a:lnTo>
                  <a:lnTo>
                    <a:pt x="1019670" y="900912"/>
                  </a:lnTo>
                  <a:lnTo>
                    <a:pt x="1047673" y="859345"/>
                  </a:lnTo>
                  <a:lnTo>
                    <a:pt x="1071981" y="815289"/>
                  </a:lnTo>
                  <a:lnTo>
                    <a:pt x="1092365" y="768934"/>
                  </a:lnTo>
                  <a:lnTo>
                    <a:pt x="1108608" y="720534"/>
                  </a:lnTo>
                  <a:lnTo>
                    <a:pt x="1120495" y="670280"/>
                  </a:lnTo>
                  <a:lnTo>
                    <a:pt x="1127785" y="618413"/>
                  </a:lnTo>
                  <a:lnTo>
                    <a:pt x="1130261" y="565137"/>
                  </a:lnTo>
                  <a:lnTo>
                    <a:pt x="1128191" y="516382"/>
                  </a:lnTo>
                  <a:lnTo>
                    <a:pt x="1122083" y="468769"/>
                  </a:lnTo>
                  <a:lnTo>
                    <a:pt x="1112100" y="422478"/>
                  </a:lnTo>
                  <a:lnTo>
                    <a:pt x="1098435" y="377685"/>
                  </a:lnTo>
                  <a:lnTo>
                    <a:pt x="1081239" y="334543"/>
                  </a:lnTo>
                  <a:lnTo>
                    <a:pt x="1060678" y="293243"/>
                  </a:lnTo>
                  <a:lnTo>
                    <a:pt x="1042352" y="262902"/>
                  </a:lnTo>
                  <a:lnTo>
                    <a:pt x="1042352" y="587095"/>
                  </a:lnTo>
                  <a:lnTo>
                    <a:pt x="1039977" y="634288"/>
                  </a:lnTo>
                  <a:lnTo>
                    <a:pt x="1032979" y="680110"/>
                  </a:lnTo>
                  <a:lnTo>
                    <a:pt x="1021600" y="724344"/>
                  </a:lnTo>
                  <a:lnTo>
                    <a:pt x="1006081" y="766749"/>
                  </a:lnTo>
                  <a:lnTo>
                    <a:pt x="986650" y="807097"/>
                  </a:lnTo>
                  <a:lnTo>
                    <a:pt x="963536" y="845146"/>
                  </a:lnTo>
                  <a:lnTo>
                    <a:pt x="936967" y="880681"/>
                  </a:lnTo>
                  <a:lnTo>
                    <a:pt x="907148" y="913485"/>
                  </a:lnTo>
                  <a:lnTo>
                    <a:pt x="874395" y="943241"/>
                  </a:lnTo>
                  <a:lnTo>
                    <a:pt x="838873" y="969822"/>
                  </a:lnTo>
                  <a:lnTo>
                    <a:pt x="800811" y="992936"/>
                  </a:lnTo>
                  <a:lnTo>
                    <a:pt x="760476" y="1012367"/>
                  </a:lnTo>
                  <a:lnTo>
                    <a:pt x="718070" y="1027887"/>
                  </a:lnTo>
                  <a:lnTo>
                    <a:pt x="673836" y="1039266"/>
                  </a:lnTo>
                  <a:lnTo>
                    <a:pt x="628015" y="1046264"/>
                  </a:lnTo>
                  <a:lnTo>
                    <a:pt x="580821" y="1048651"/>
                  </a:lnTo>
                  <a:lnTo>
                    <a:pt x="533641" y="1046264"/>
                  </a:lnTo>
                  <a:lnTo>
                    <a:pt x="487819" y="1039266"/>
                  </a:lnTo>
                  <a:lnTo>
                    <a:pt x="443585" y="1027887"/>
                  </a:lnTo>
                  <a:lnTo>
                    <a:pt x="401180" y="1012367"/>
                  </a:lnTo>
                  <a:lnTo>
                    <a:pt x="360845" y="992936"/>
                  </a:lnTo>
                  <a:lnTo>
                    <a:pt x="322783" y="969822"/>
                  </a:lnTo>
                  <a:lnTo>
                    <a:pt x="287261" y="943241"/>
                  </a:lnTo>
                  <a:lnTo>
                    <a:pt x="254508" y="913485"/>
                  </a:lnTo>
                  <a:lnTo>
                    <a:pt x="224688" y="880681"/>
                  </a:lnTo>
                  <a:lnTo>
                    <a:pt x="198120" y="845146"/>
                  </a:lnTo>
                  <a:lnTo>
                    <a:pt x="175006" y="807097"/>
                  </a:lnTo>
                  <a:lnTo>
                    <a:pt x="155562" y="766749"/>
                  </a:lnTo>
                  <a:lnTo>
                    <a:pt x="140042" y="724344"/>
                  </a:lnTo>
                  <a:lnTo>
                    <a:pt x="128676" y="680110"/>
                  </a:lnTo>
                  <a:lnTo>
                    <a:pt x="121678" y="634288"/>
                  </a:lnTo>
                  <a:lnTo>
                    <a:pt x="119291" y="587095"/>
                  </a:lnTo>
                  <a:lnTo>
                    <a:pt x="121678" y="539915"/>
                  </a:lnTo>
                  <a:lnTo>
                    <a:pt x="128676" y="494080"/>
                  </a:lnTo>
                  <a:lnTo>
                    <a:pt x="140042" y="449859"/>
                  </a:lnTo>
                  <a:lnTo>
                    <a:pt x="155562" y="407454"/>
                  </a:lnTo>
                  <a:lnTo>
                    <a:pt x="175006" y="367106"/>
                  </a:lnTo>
                  <a:lnTo>
                    <a:pt x="198120" y="329057"/>
                  </a:lnTo>
                  <a:lnTo>
                    <a:pt x="224688" y="293535"/>
                  </a:lnTo>
                  <a:lnTo>
                    <a:pt x="254482" y="260756"/>
                  </a:lnTo>
                  <a:lnTo>
                    <a:pt x="287261" y="230962"/>
                  </a:lnTo>
                  <a:lnTo>
                    <a:pt x="322783" y="204406"/>
                  </a:lnTo>
                  <a:lnTo>
                    <a:pt x="360845" y="181279"/>
                  </a:lnTo>
                  <a:lnTo>
                    <a:pt x="401180" y="161848"/>
                  </a:lnTo>
                  <a:lnTo>
                    <a:pt x="443585" y="146329"/>
                  </a:lnTo>
                  <a:lnTo>
                    <a:pt x="487819" y="134962"/>
                  </a:lnTo>
                  <a:lnTo>
                    <a:pt x="533641" y="127965"/>
                  </a:lnTo>
                  <a:lnTo>
                    <a:pt x="580821" y="125577"/>
                  </a:lnTo>
                  <a:lnTo>
                    <a:pt x="628015" y="127965"/>
                  </a:lnTo>
                  <a:lnTo>
                    <a:pt x="673836" y="134962"/>
                  </a:lnTo>
                  <a:lnTo>
                    <a:pt x="718070" y="146329"/>
                  </a:lnTo>
                  <a:lnTo>
                    <a:pt x="760476" y="161848"/>
                  </a:lnTo>
                  <a:lnTo>
                    <a:pt x="800811" y="181279"/>
                  </a:lnTo>
                  <a:lnTo>
                    <a:pt x="838873" y="204406"/>
                  </a:lnTo>
                  <a:lnTo>
                    <a:pt x="874395" y="230962"/>
                  </a:lnTo>
                  <a:lnTo>
                    <a:pt x="907173" y="260756"/>
                  </a:lnTo>
                  <a:lnTo>
                    <a:pt x="936967" y="293535"/>
                  </a:lnTo>
                  <a:lnTo>
                    <a:pt x="963536" y="329057"/>
                  </a:lnTo>
                  <a:lnTo>
                    <a:pt x="986650" y="367106"/>
                  </a:lnTo>
                  <a:lnTo>
                    <a:pt x="1006081" y="407454"/>
                  </a:lnTo>
                  <a:lnTo>
                    <a:pt x="1021600" y="449859"/>
                  </a:lnTo>
                  <a:lnTo>
                    <a:pt x="1032979" y="494080"/>
                  </a:lnTo>
                  <a:lnTo>
                    <a:pt x="1039977" y="539915"/>
                  </a:lnTo>
                  <a:lnTo>
                    <a:pt x="1042352" y="587095"/>
                  </a:lnTo>
                  <a:lnTo>
                    <a:pt x="1042352" y="262902"/>
                  </a:lnTo>
                  <a:lnTo>
                    <a:pt x="1010170" y="216789"/>
                  </a:lnTo>
                  <a:lnTo>
                    <a:pt x="980567" y="181991"/>
                  </a:lnTo>
                  <a:lnTo>
                    <a:pt x="948283" y="149707"/>
                  </a:lnTo>
                  <a:lnTo>
                    <a:pt x="913485" y="120103"/>
                  </a:lnTo>
                  <a:lnTo>
                    <a:pt x="876350" y="93332"/>
                  </a:lnTo>
                  <a:lnTo>
                    <a:pt x="837044" y="69596"/>
                  </a:lnTo>
                  <a:lnTo>
                    <a:pt x="795731" y="49034"/>
                  </a:lnTo>
                  <a:lnTo>
                    <a:pt x="752602" y="31838"/>
                  </a:lnTo>
                  <a:lnTo>
                    <a:pt x="707796" y="18161"/>
                  </a:lnTo>
                  <a:lnTo>
                    <a:pt x="661517" y="8191"/>
                  </a:lnTo>
                  <a:lnTo>
                    <a:pt x="613905" y="2082"/>
                  </a:lnTo>
                  <a:lnTo>
                    <a:pt x="565137" y="0"/>
                  </a:lnTo>
                  <a:lnTo>
                    <a:pt x="516382" y="2082"/>
                  </a:lnTo>
                  <a:lnTo>
                    <a:pt x="468769" y="8191"/>
                  </a:lnTo>
                  <a:lnTo>
                    <a:pt x="422478" y="18161"/>
                  </a:lnTo>
                  <a:lnTo>
                    <a:pt x="377685" y="31838"/>
                  </a:lnTo>
                  <a:lnTo>
                    <a:pt x="334543" y="49034"/>
                  </a:lnTo>
                  <a:lnTo>
                    <a:pt x="293243" y="69596"/>
                  </a:lnTo>
                  <a:lnTo>
                    <a:pt x="253936" y="93332"/>
                  </a:lnTo>
                  <a:lnTo>
                    <a:pt x="216801" y="120103"/>
                  </a:lnTo>
                  <a:lnTo>
                    <a:pt x="182003" y="149707"/>
                  </a:lnTo>
                  <a:lnTo>
                    <a:pt x="149707" y="181991"/>
                  </a:lnTo>
                  <a:lnTo>
                    <a:pt x="120103" y="216789"/>
                  </a:lnTo>
                  <a:lnTo>
                    <a:pt x="93332" y="253936"/>
                  </a:lnTo>
                  <a:lnTo>
                    <a:pt x="69596" y="293243"/>
                  </a:lnTo>
                  <a:lnTo>
                    <a:pt x="49034" y="334543"/>
                  </a:lnTo>
                  <a:lnTo>
                    <a:pt x="31838" y="377685"/>
                  </a:lnTo>
                  <a:lnTo>
                    <a:pt x="18161" y="422478"/>
                  </a:lnTo>
                  <a:lnTo>
                    <a:pt x="8191" y="468769"/>
                  </a:lnTo>
                  <a:lnTo>
                    <a:pt x="2082" y="516382"/>
                  </a:lnTo>
                  <a:lnTo>
                    <a:pt x="0" y="565137"/>
                  </a:lnTo>
                  <a:lnTo>
                    <a:pt x="2082" y="613905"/>
                  </a:lnTo>
                  <a:lnTo>
                    <a:pt x="8191" y="661517"/>
                  </a:lnTo>
                  <a:lnTo>
                    <a:pt x="18161" y="707796"/>
                  </a:lnTo>
                  <a:lnTo>
                    <a:pt x="31838" y="752602"/>
                  </a:lnTo>
                  <a:lnTo>
                    <a:pt x="49034" y="795731"/>
                  </a:lnTo>
                  <a:lnTo>
                    <a:pt x="69596" y="837044"/>
                  </a:lnTo>
                  <a:lnTo>
                    <a:pt x="93332" y="876350"/>
                  </a:lnTo>
                  <a:lnTo>
                    <a:pt x="120103" y="913485"/>
                  </a:lnTo>
                  <a:lnTo>
                    <a:pt x="149707" y="948283"/>
                  </a:lnTo>
                  <a:lnTo>
                    <a:pt x="182003" y="980567"/>
                  </a:lnTo>
                  <a:lnTo>
                    <a:pt x="216801" y="1010183"/>
                  </a:lnTo>
                  <a:lnTo>
                    <a:pt x="253936" y="1036942"/>
                  </a:lnTo>
                  <a:lnTo>
                    <a:pt x="293243" y="1060691"/>
                  </a:lnTo>
                  <a:lnTo>
                    <a:pt x="334543" y="1081239"/>
                  </a:lnTo>
                  <a:lnTo>
                    <a:pt x="377685" y="1098448"/>
                  </a:lnTo>
                  <a:lnTo>
                    <a:pt x="422478" y="1112113"/>
                  </a:lnTo>
                  <a:lnTo>
                    <a:pt x="468769" y="1122095"/>
                  </a:lnTo>
                  <a:lnTo>
                    <a:pt x="516382" y="1128204"/>
                  </a:lnTo>
                  <a:lnTo>
                    <a:pt x="565137" y="1130274"/>
                  </a:lnTo>
                  <a:lnTo>
                    <a:pt x="618045" y="1127823"/>
                  </a:lnTo>
                  <a:lnTo>
                    <a:pt x="669569" y="1120622"/>
                  </a:lnTo>
                  <a:lnTo>
                    <a:pt x="719505" y="1108900"/>
                  </a:lnTo>
                  <a:lnTo>
                    <a:pt x="767626" y="1092860"/>
                  </a:lnTo>
                  <a:lnTo>
                    <a:pt x="813714" y="1072730"/>
                  </a:lnTo>
                  <a:lnTo>
                    <a:pt x="857567" y="1048727"/>
                  </a:lnTo>
                  <a:lnTo>
                    <a:pt x="898956" y="1021080"/>
                  </a:lnTo>
                  <a:lnTo>
                    <a:pt x="1211897" y="1180503"/>
                  </a:lnTo>
                  <a:close/>
                </a:path>
                <a:path w="1809115" h="2754629">
                  <a:moveTo>
                    <a:pt x="1808810" y="1557566"/>
                  </a:moveTo>
                  <a:lnTo>
                    <a:pt x="1337614" y="1557566"/>
                  </a:lnTo>
                  <a:lnTo>
                    <a:pt x="1330756" y="1557807"/>
                  </a:lnTo>
                  <a:lnTo>
                    <a:pt x="1267904" y="1577352"/>
                  </a:lnTo>
                  <a:lnTo>
                    <a:pt x="1227747" y="1605013"/>
                  </a:lnTo>
                  <a:lnTo>
                    <a:pt x="1189355" y="1641995"/>
                  </a:lnTo>
                  <a:lnTo>
                    <a:pt x="1151496" y="1686001"/>
                  </a:lnTo>
                  <a:lnTo>
                    <a:pt x="1112964" y="1734756"/>
                  </a:lnTo>
                  <a:lnTo>
                    <a:pt x="1099312" y="1752193"/>
                  </a:lnTo>
                  <a:lnTo>
                    <a:pt x="1084097" y="1771396"/>
                  </a:lnTo>
                  <a:lnTo>
                    <a:pt x="1068108" y="1791042"/>
                  </a:lnTo>
                  <a:lnTo>
                    <a:pt x="1052118" y="1809864"/>
                  </a:lnTo>
                  <a:lnTo>
                    <a:pt x="1047115" y="1782902"/>
                  </a:lnTo>
                  <a:lnTo>
                    <a:pt x="1037704" y="1706333"/>
                  </a:lnTo>
                  <a:lnTo>
                    <a:pt x="1033754" y="1655051"/>
                  </a:lnTo>
                  <a:lnTo>
                    <a:pt x="1030643" y="1594015"/>
                  </a:lnTo>
                  <a:lnTo>
                    <a:pt x="1028611" y="1522691"/>
                  </a:lnTo>
                  <a:lnTo>
                    <a:pt x="1027874" y="1439303"/>
                  </a:lnTo>
                  <a:lnTo>
                    <a:pt x="1027861" y="1398841"/>
                  </a:lnTo>
                  <a:lnTo>
                    <a:pt x="1027823" y="1207973"/>
                  </a:lnTo>
                  <a:lnTo>
                    <a:pt x="1025144" y="1194790"/>
                  </a:lnTo>
                  <a:lnTo>
                    <a:pt x="1017854" y="1183995"/>
                  </a:lnTo>
                  <a:lnTo>
                    <a:pt x="1007059" y="1176705"/>
                  </a:lnTo>
                  <a:lnTo>
                    <a:pt x="993889" y="1174038"/>
                  </a:lnTo>
                  <a:lnTo>
                    <a:pt x="980719" y="1176705"/>
                  </a:lnTo>
                  <a:lnTo>
                    <a:pt x="969937" y="1183995"/>
                  </a:lnTo>
                  <a:lnTo>
                    <a:pt x="962634" y="1194790"/>
                  </a:lnTo>
                  <a:lnTo>
                    <a:pt x="959967" y="1207973"/>
                  </a:lnTo>
                  <a:lnTo>
                    <a:pt x="959967" y="1398841"/>
                  </a:lnTo>
                  <a:lnTo>
                    <a:pt x="912825" y="1396746"/>
                  </a:lnTo>
                  <a:lnTo>
                    <a:pt x="867905" y="1402778"/>
                  </a:lnTo>
                  <a:lnTo>
                    <a:pt x="834288" y="1416964"/>
                  </a:lnTo>
                  <a:lnTo>
                    <a:pt x="821067" y="1439303"/>
                  </a:lnTo>
                  <a:lnTo>
                    <a:pt x="821715" y="1522374"/>
                  </a:lnTo>
                  <a:lnTo>
                    <a:pt x="823595" y="1594015"/>
                  </a:lnTo>
                  <a:lnTo>
                    <a:pt x="823709" y="1598777"/>
                  </a:lnTo>
                  <a:lnTo>
                    <a:pt x="827138" y="1667840"/>
                  </a:lnTo>
                  <a:lnTo>
                    <a:pt x="832078" y="1730146"/>
                  </a:lnTo>
                  <a:lnTo>
                    <a:pt x="838581" y="1786001"/>
                  </a:lnTo>
                  <a:lnTo>
                    <a:pt x="846734" y="1835670"/>
                  </a:lnTo>
                  <a:lnTo>
                    <a:pt x="856615" y="1879460"/>
                  </a:lnTo>
                  <a:lnTo>
                    <a:pt x="868299" y="1917636"/>
                  </a:lnTo>
                  <a:lnTo>
                    <a:pt x="897369" y="1978317"/>
                  </a:lnTo>
                  <a:lnTo>
                    <a:pt x="934529" y="2019985"/>
                  </a:lnTo>
                  <a:lnTo>
                    <a:pt x="980389" y="2044928"/>
                  </a:lnTo>
                  <a:lnTo>
                    <a:pt x="1029335" y="2053386"/>
                  </a:lnTo>
                  <a:lnTo>
                    <a:pt x="1075956" y="2045677"/>
                  </a:lnTo>
                  <a:lnTo>
                    <a:pt x="1119822" y="2024532"/>
                  </a:lnTo>
                  <a:lnTo>
                    <a:pt x="1161211" y="1992960"/>
                  </a:lnTo>
                  <a:lnTo>
                    <a:pt x="1200416" y="1953907"/>
                  </a:lnTo>
                  <a:lnTo>
                    <a:pt x="1237716" y="1910372"/>
                  </a:lnTo>
                  <a:lnTo>
                    <a:pt x="1237716" y="2754096"/>
                  </a:lnTo>
                  <a:lnTo>
                    <a:pt x="1557337" y="2754096"/>
                  </a:lnTo>
                  <a:lnTo>
                    <a:pt x="1557337" y="2641346"/>
                  </a:lnTo>
                  <a:lnTo>
                    <a:pt x="1617230" y="2641346"/>
                  </a:lnTo>
                  <a:lnTo>
                    <a:pt x="1617230" y="2754096"/>
                  </a:lnTo>
                  <a:lnTo>
                    <a:pt x="1808810" y="2754096"/>
                  </a:lnTo>
                  <a:lnTo>
                    <a:pt x="1808810" y="2641346"/>
                  </a:lnTo>
                  <a:lnTo>
                    <a:pt x="1808810" y="1910372"/>
                  </a:lnTo>
                  <a:lnTo>
                    <a:pt x="1808810" y="1809864"/>
                  </a:lnTo>
                  <a:lnTo>
                    <a:pt x="1808810" y="1557566"/>
                  </a:lnTo>
                  <a:close/>
                </a:path>
                <a:path w="1809115" h="2754629">
                  <a:moveTo>
                    <a:pt x="1808822" y="1005967"/>
                  </a:moveTo>
                  <a:lnTo>
                    <a:pt x="1792935" y="987463"/>
                  </a:lnTo>
                  <a:lnTo>
                    <a:pt x="1768703" y="966685"/>
                  </a:lnTo>
                  <a:lnTo>
                    <a:pt x="1768703" y="1304671"/>
                  </a:lnTo>
                  <a:lnTo>
                    <a:pt x="1735277" y="1346250"/>
                  </a:lnTo>
                  <a:lnTo>
                    <a:pt x="1692643" y="1378343"/>
                  </a:lnTo>
                  <a:lnTo>
                    <a:pt x="1642694" y="1399032"/>
                  </a:lnTo>
                  <a:lnTo>
                    <a:pt x="1587296" y="1406359"/>
                  </a:lnTo>
                  <a:lnTo>
                    <a:pt x="1531899" y="1399032"/>
                  </a:lnTo>
                  <a:lnTo>
                    <a:pt x="1481950" y="1378343"/>
                  </a:lnTo>
                  <a:lnTo>
                    <a:pt x="1439316" y="1346250"/>
                  </a:lnTo>
                  <a:lnTo>
                    <a:pt x="1405890" y="1304671"/>
                  </a:lnTo>
                  <a:lnTo>
                    <a:pt x="1768703" y="1304671"/>
                  </a:lnTo>
                  <a:lnTo>
                    <a:pt x="1768703" y="966685"/>
                  </a:lnTo>
                  <a:lnTo>
                    <a:pt x="1720938" y="934745"/>
                  </a:lnTo>
                  <a:lnTo>
                    <a:pt x="1679219" y="917105"/>
                  </a:lnTo>
                  <a:lnTo>
                    <a:pt x="1634464" y="906094"/>
                  </a:lnTo>
                  <a:lnTo>
                    <a:pt x="1587296" y="902284"/>
                  </a:lnTo>
                  <a:lnTo>
                    <a:pt x="1540116" y="906094"/>
                  </a:lnTo>
                  <a:lnTo>
                    <a:pt x="1495374" y="917105"/>
                  </a:lnTo>
                  <a:lnTo>
                    <a:pt x="1453642" y="934745"/>
                  </a:lnTo>
                  <a:lnTo>
                    <a:pt x="1415542" y="958392"/>
                  </a:lnTo>
                  <a:lnTo>
                    <a:pt x="1381645" y="987463"/>
                  </a:lnTo>
                  <a:lnTo>
                    <a:pt x="1352588" y="1021346"/>
                  </a:lnTo>
                  <a:lnTo>
                    <a:pt x="1328940" y="1059446"/>
                  </a:lnTo>
                  <a:lnTo>
                    <a:pt x="1311300" y="1101178"/>
                  </a:lnTo>
                  <a:lnTo>
                    <a:pt x="1300289" y="1145921"/>
                  </a:lnTo>
                  <a:lnTo>
                    <a:pt x="1296479" y="1193101"/>
                  </a:lnTo>
                  <a:lnTo>
                    <a:pt x="1300289" y="1240269"/>
                  </a:lnTo>
                  <a:lnTo>
                    <a:pt x="1311300" y="1285024"/>
                  </a:lnTo>
                  <a:lnTo>
                    <a:pt x="1328940" y="1326756"/>
                  </a:lnTo>
                  <a:lnTo>
                    <a:pt x="1352588" y="1364856"/>
                  </a:lnTo>
                  <a:lnTo>
                    <a:pt x="1381645" y="1398739"/>
                  </a:lnTo>
                  <a:lnTo>
                    <a:pt x="1415542" y="1427810"/>
                  </a:lnTo>
                  <a:lnTo>
                    <a:pt x="1453642" y="1451457"/>
                  </a:lnTo>
                  <a:lnTo>
                    <a:pt x="1495374" y="1469097"/>
                  </a:lnTo>
                  <a:lnTo>
                    <a:pt x="1540116" y="1480108"/>
                  </a:lnTo>
                  <a:lnTo>
                    <a:pt x="1587296" y="1483918"/>
                  </a:lnTo>
                  <a:lnTo>
                    <a:pt x="1634464" y="1480108"/>
                  </a:lnTo>
                  <a:lnTo>
                    <a:pt x="1679219" y="1469097"/>
                  </a:lnTo>
                  <a:lnTo>
                    <a:pt x="1720938" y="1451457"/>
                  </a:lnTo>
                  <a:lnTo>
                    <a:pt x="1759051" y="1427810"/>
                  </a:lnTo>
                  <a:lnTo>
                    <a:pt x="1792935" y="1398739"/>
                  </a:lnTo>
                  <a:lnTo>
                    <a:pt x="1808822" y="1380223"/>
                  </a:lnTo>
                  <a:lnTo>
                    <a:pt x="1808822" y="1304671"/>
                  </a:lnTo>
                  <a:lnTo>
                    <a:pt x="1808822" y="10059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444500" y="783944"/>
            <a:ext cx="3386454" cy="113792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40"/>
              </a:spcBef>
            </a:pPr>
            <a:r>
              <a:rPr sz="3800" spc="-10" dirty="0">
                <a:solidFill>
                  <a:srgbClr val="722B63"/>
                </a:solidFill>
              </a:rPr>
              <a:t>Confidentiality </a:t>
            </a:r>
            <a:r>
              <a:rPr sz="3800" dirty="0">
                <a:solidFill>
                  <a:srgbClr val="722B63"/>
                </a:solidFill>
              </a:rPr>
              <a:t>and</a:t>
            </a:r>
            <a:r>
              <a:rPr sz="3800" spc="-140" dirty="0">
                <a:solidFill>
                  <a:srgbClr val="722B63"/>
                </a:solidFill>
              </a:rPr>
              <a:t> </a:t>
            </a:r>
            <a:r>
              <a:rPr sz="3800" spc="-10" dirty="0">
                <a:solidFill>
                  <a:srgbClr val="722B63"/>
                </a:solidFill>
              </a:rPr>
              <a:t>Privacy</a:t>
            </a:r>
            <a:endParaRPr sz="3800"/>
          </a:p>
        </p:txBody>
      </p:sp>
      <p:sp>
        <p:nvSpPr>
          <p:cNvPr id="8" name="object 8"/>
          <p:cNvSpPr txBox="1"/>
          <p:nvPr/>
        </p:nvSpPr>
        <p:spPr>
          <a:xfrm>
            <a:off x="7465128" y="4956039"/>
            <a:ext cx="63817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1" spc="40" dirty="0">
                <a:solidFill>
                  <a:srgbClr val="FFFFFF"/>
                </a:solidFill>
                <a:latin typeface="Arial"/>
                <a:cs typeface="Arial"/>
              </a:rPr>
              <a:t>Q:</a:t>
            </a:r>
            <a:endParaRPr sz="4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96246" y="5055785"/>
            <a:ext cx="57912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1" spc="-25" dirty="0">
                <a:solidFill>
                  <a:srgbClr val="FFFFFF"/>
                </a:solidFill>
                <a:latin typeface="Arial"/>
                <a:cs typeface="Arial"/>
              </a:rPr>
              <a:t>A:</a:t>
            </a:r>
            <a:endParaRPr sz="4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4500" y="2108733"/>
            <a:ext cx="2143125" cy="1897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At</a:t>
            </a:r>
            <a:r>
              <a:rPr sz="1150" b="1" spc="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lang="en-US" sz="1150" b="1" spc="-10" dirty="0">
                <a:solidFill>
                  <a:srgbClr val="231F20"/>
                </a:solidFill>
                <a:latin typeface="Arial"/>
                <a:cs typeface="Arial"/>
              </a:rPr>
              <a:t>Destiny Springs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1150" b="1" spc="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we</a:t>
            </a:r>
            <a:r>
              <a:rPr sz="1150" b="1" spc="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protect</a:t>
            </a:r>
            <a:endParaRPr sz="115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4500" y="2283993"/>
            <a:ext cx="2380615" cy="795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7630">
              <a:lnSpc>
                <a:spcPct val="100000"/>
              </a:lnSpc>
              <a:spcBef>
                <a:spcPts val="100"/>
              </a:spcBef>
            </a:pP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confidential</a:t>
            </a:r>
            <a:r>
              <a:rPr sz="1150" b="1" spc="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patient</a:t>
            </a:r>
            <a:r>
              <a:rPr sz="1150" b="1" spc="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sz="1150" b="1" spc="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55" dirty="0">
                <a:solidFill>
                  <a:srgbClr val="231F20"/>
                </a:solidFill>
                <a:latin typeface="Arial"/>
                <a:cs typeface="Arial"/>
              </a:rPr>
              <a:t>business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information.</a:t>
            </a:r>
            <a:endParaRPr sz="11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40"/>
              </a:spcBef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</a:t>
            </a:r>
            <a:r>
              <a:rPr sz="1150" spc="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healthcare,</a:t>
            </a:r>
            <a:r>
              <a:rPr sz="1150" spc="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we</a:t>
            </a:r>
            <a:r>
              <a:rPr sz="1150" spc="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collect</a:t>
            </a:r>
            <a:r>
              <a:rPr sz="1150" spc="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sensitive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information.</a:t>
            </a:r>
            <a:r>
              <a:rPr sz="1150" spc="-5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65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protect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our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patients:</a:t>
            </a:r>
            <a:endParaRPr sz="1150">
              <a:latin typeface="Avenir Book"/>
              <a:cs typeface="Avenir Book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4500" y="3122193"/>
            <a:ext cx="2702560" cy="1915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367030" indent="-228600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  <a:tab pos="24384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	Examinations,</a:t>
            </a:r>
            <a:r>
              <a:rPr sz="1150" spc="-7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consultations</a:t>
            </a:r>
            <a:r>
              <a:rPr sz="1150" spc="-7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and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treatment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should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be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carried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out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discreetly.</a:t>
            </a:r>
            <a:endParaRPr sz="1150" dirty="0">
              <a:latin typeface="Avenir Book"/>
              <a:cs typeface="Avenir Book"/>
            </a:endParaRPr>
          </a:p>
          <a:p>
            <a:pPr marL="241300" marR="142875" indent="-228600" algn="just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  <a:tab pos="24384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	Patient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information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should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never</a:t>
            </a:r>
            <a:r>
              <a:rPr sz="1150" spc="50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be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discussed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public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areas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with</a:t>
            </a:r>
            <a:endParaRPr sz="1150" dirty="0">
              <a:latin typeface="Avenir Book"/>
              <a:cs typeface="Avenir Book"/>
            </a:endParaRPr>
          </a:p>
          <a:p>
            <a:pPr marL="241300" marR="5080" algn="just">
              <a:lnSpc>
                <a:spcPct val="100000"/>
              </a:lnSpc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anyone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who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is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not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directly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involved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in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patient’s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care.</a:t>
            </a:r>
            <a:endParaRPr sz="1150" dirty="0">
              <a:latin typeface="Avenir Book"/>
              <a:cs typeface="Avenir Book"/>
            </a:endParaRPr>
          </a:p>
          <a:p>
            <a:pPr marL="241300" marR="34925" indent="-188595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  <a:tab pos="24257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	Medical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records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are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retained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and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destroyed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accordance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with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law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lang="en-US" sz="1150" dirty="0">
                <a:solidFill>
                  <a:srgbClr val="231F20"/>
                </a:solidFill>
                <a:latin typeface="Avenir Book"/>
                <a:cs typeface="Avenir Book"/>
              </a:rPr>
              <a:t>Destiny Springs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procedure.</a:t>
            </a:r>
            <a:endParaRPr sz="1150" dirty="0">
              <a:latin typeface="Avenir Book"/>
              <a:cs typeface="Avenir Boo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4499" y="5080534"/>
            <a:ext cx="2824131" cy="1251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76884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Potential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privacy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violations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may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be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reported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by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calling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Privacy </a:t>
            </a:r>
            <a:r>
              <a:rPr sz="1150" spc="10" dirty="0">
                <a:solidFill>
                  <a:srgbClr val="231F20"/>
                </a:solidFill>
                <a:latin typeface="Avenir Book"/>
                <a:cs typeface="Avenir Book"/>
              </a:rPr>
              <a:t>Office</a:t>
            </a:r>
            <a:r>
              <a:rPr lang="en-US" sz="1150" spc="10" dirty="0">
                <a:solidFill>
                  <a:srgbClr val="231F20"/>
                </a:solidFill>
                <a:latin typeface="Avenir Book"/>
                <a:cs typeface="Avenir Book"/>
              </a:rPr>
              <a:t>r</a:t>
            </a:r>
            <a:r>
              <a:rPr sz="1150" spc="6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10" dirty="0">
                <a:solidFill>
                  <a:srgbClr val="231F20"/>
                </a:solidFill>
                <a:latin typeface="Avenir Book"/>
                <a:cs typeface="Avenir Book"/>
              </a:rPr>
              <a:t>at</a:t>
            </a:r>
            <a:r>
              <a:rPr sz="1150" spc="8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lang="en-US" sz="1150" b="1" spc="10" dirty="0">
                <a:solidFill>
                  <a:srgbClr val="231F20"/>
                </a:solidFill>
                <a:latin typeface="Arial"/>
                <a:cs typeface="Arial"/>
              </a:rPr>
              <a:t>623.207.9343</a:t>
            </a:r>
            <a:r>
              <a:rPr sz="1150" spc="10" dirty="0">
                <a:solidFill>
                  <a:srgbClr val="231F20"/>
                </a:solidFill>
                <a:latin typeface="Avenir Book"/>
                <a:cs typeface="Avenir Book"/>
              </a:rPr>
              <a:t>,</a:t>
            </a:r>
            <a:r>
              <a:rPr sz="1150" spc="6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emailing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Privacy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Department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at</a:t>
            </a:r>
            <a:endParaRPr sz="1150" dirty="0">
              <a:latin typeface="Avenir Book"/>
              <a:cs typeface="Avenir Book"/>
            </a:endParaRPr>
          </a:p>
          <a:p>
            <a:pPr marL="12700" marR="5080">
              <a:lnSpc>
                <a:spcPct val="100000"/>
              </a:lnSpc>
            </a:pPr>
            <a:r>
              <a:rPr sz="1150" b="1" spc="-20" dirty="0">
                <a:solidFill>
                  <a:srgbClr val="231F20"/>
                </a:solidFill>
                <a:latin typeface="Arial"/>
                <a:cs typeface="Arial"/>
                <a:hlinkClick r:id="rId3"/>
              </a:rPr>
              <a:t>PrivacyOffice</a:t>
            </a:r>
            <a:r>
              <a:rPr lang="en-US" sz="1150" b="1" spc="-20" dirty="0">
                <a:solidFill>
                  <a:srgbClr val="231F20"/>
                </a:solidFill>
                <a:latin typeface="Arial"/>
                <a:cs typeface="Arial"/>
                <a:hlinkClick r:id="rId3"/>
              </a:rPr>
              <a:t>r</a:t>
            </a:r>
            <a:r>
              <a:rPr sz="1150" b="1" spc="-20" dirty="0">
                <a:solidFill>
                  <a:srgbClr val="231F20"/>
                </a:solidFill>
                <a:latin typeface="Arial"/>
                <a:cs typeface="Arial"/>
                <a:hlinkClick r:id="rId3"/>
              </a:rPr>
              <a:t>@</a:t>
            </a:r>
            <a:r>
              <a:rPr lang="en-US" sz="1150" b="1" spc="-20" dirty="0">
                <a:solidFill>
                  <a:srgbClr val="231F20"/>
                </a:solidFill>
                <a:latin typeface="Arial"/>
                <a:cs typeface="Arial"/>
                <a:hlinkClick r:id="rId3"/>
              </a:rPr>
              <a:t>destinysprings</a:t>
            </a:r>
            <a:r>
              <a:rPr sz="1150" b="1" spc="-20" dirty="0">
                <a:solidFill>
                  <a:srgbClr val="231F20"/>
                </a:solidFill>
                <a:latin typeface="Arial"/>
                <a:cs typeface="Arial"/>
                <a:hlinkClick r:id="rId3"/>
              </a:rPr>
              <a:t>.</a:t>
            </a:r>
            <a:r>
              <a:rPr lang="en-US" sz="1150" b="1" spc="-20" dirty="0">
                <a:solidFill>
                  <a:srgbClr val="231F20"/>
                </a:solidFill>
                <a:latin typeface="Arial"/>
                <a:cs typeface="Arial"/>
                <a:hlinkClick r:id="rId3"/>
              </a:rPr>
              <a:t>com</a:t>
            </a:r>
            <a:r>
              <a:rPr sz="1150" b="1" spc="1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or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calling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Values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Line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anonymously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at </a:t>
            </a:r>
            <a:r>
              <a:rPr lang="en-US" sz="1150" b="1" spc="-10" dirty="0">
                <a:solidFill>
                  <a:srgbClr val="231F20"/>
                </a:solidFill>
                <a:latin typeface="Arial"/>
                <a:cs typeface="Arial"/>
              </a:rPr>
              <a:t>833.290.0001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.</a:t>
            </a:r>
            <a:endParaRPr sz="1150" dirty="0">
              <a:latin typeface="Avenir Book"/>
              <a:cs typeface="Avenir Book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112911" y="4863175"/>
            <a:ext cx="2233930" cy="2909570"/>
            <a:chOff x="6112911" y="4863175"/>
            <a:chExt cx="2233930" cy="2909570"/>
          </a:xfrm>
        </p:grpSpPr>
        <p:sp>
          <p:nvSpPr>
            <p:cNvPr id="15" name="object 15"/>
            <p:cNvSpPr/>
            <p:nvPr/>
          </p:nvSpPr>
          <p:spPr>
            <a:xfrm>
              <a:off x="6467119" y="5653252"/>
              <a:ext cx="579755" cy="1590040"/>
            </a:xfrm>
            <a:custGeom>
              <a:avLst/>
              <a:gdLst/>
              <a:ahLst/>
              <a:cxnLst/>
              <a:rect l="l" t="t" r="r" b="b"/>
              <a:pathLst>
                <a:path w="579754" h="1590040">
                  <a:moveTo>
                    <a:pt x="412254" y="1434934"/>
                  </a:moveTo>
                  <a:lnTo>
                    <a:pt x="341744" y="915466"/>
                  </a:lnTo>
                  <a:lnTo>
                    <a:pt x="329069" y="919594"/>
                  </a:lnTo>
                  <a:lnTo>
                    <a:pt x="316153" y="922578"/>
                  </a:lnTo>
                  <a:lnTo>
                    <a:pt x="303085" y="924394"/>
                  </a:lnTo>
                  <a:lnTo>
                    <a:pt x="289941" y="925004"/>
                  </a:lnTo>
                  <a:lnTo>
                    <a:pt x="276669" y="924394"/>
                  </a:lnTo>
                  <a:lnTo>
                    <a:pt x="263575" y="922591"/>
                  </a:lnTo>
                  <a:lnTo>
                    <a:pt x="250647" y="919607"/>
                  </a:lnTo>
                  <a:lnTo>
                    <a:pt x="237972" y="915479"/>
                  </a:lnTo>
                  <a:lnTo>
                    <a:pt x="167474" y="1434934"/>
                  </a:lnTo>
                  <a:lnTo>
                    <a:pt x="289864" y="1589532"/>
                  </a:lnTo>
                  <a:lnTo>
                    <a:pt x="412254" y="1434934"/>
                  </a:lnTo>
                  <a:close/>
                </a:path>
                <a:path w="579754" h="1590040">
                  <a:moveTo>
                    <a:pt x="579742" y="289864"/>
                  </a:moveTo>
                  <a:lnTo>
                    <a:pt x="575945" y="242849"/>
                  </a:lnTo>
                  <a:lnTo>
                    <a:pt x="564959" y="198247"/>
                  </a:lnTo>
                  <a:lnTo>
                    <a:pt x="547382" y="156654"/>
                  </a:lnTo>
                  <a:lnTo>
                    <a:pt x="523811" y="118668"/>
                  </a:lnTo>
                  <a:lnTo>
                    <a:pt x="494842" y="84899"/>
                  </a:lnTo>
                  <a:lnTo>
                    <a:pt x="461060" y="55930"/>
                  </a:lnTo>
                  <a:lnTo>
                    <a:pt x="423075" y="32346"/>
                  </a:lnTo>
                  <a:lnTo>
                    <a:pt x="381482" y="14782"/>
                  </a:lnTo>
                  <a:lnTo>
                    <a:pt x="336880" y="3797"/>
                  </a:lnTo>
                  <a:lnTo>
                    <a:pt x="289864" y="0"/>
                  </a:lnTo>
                  <a:lnTo>
                    <a:pt x="242849" y="3797"/>
                  </a:lnTo>
                  <a:lnTo>
                    <a:pt x="198247" y="14782"/>
                  </a:lnTo>
                  <a:lnTo>
                    <a:pt x="156654" y="32346"/>
                  </a:lnTo>
                  <a:lnTo>
                    <a:pt x="118668" y="55930"/>
                  </a:lnTo>
                  <a:lnTo>
                    <a:pt x="84899" y="84899"/>
                  </a:lnTo>
                  <a:lnTo>
                    <a:pt x="55918" y="118668"/>
                  </a:lnTo>
                  <a:lnTo>
                    <a:pt x="32346" y="156654"/>
                  </a:lnTo>
                  <a:lnTo>
                    <a:pt x="14770" y="198247"/>
                  </a:lnTo>
                  <a:lnTo>
                    <a:pt x="3784" y="242849"/>
                  </a:lnTo>
                  <a:lnTo>
                    <a:pt x="0" y="289864"/>
                  </a:lnTo>
                  <a:lnTo>
                    <a:pt x="3784" y="336880"/>
                  </a:lnTo>
                  <a:lnTo>
                    <a:pt x="14770" y="381482"/>
                  </a:lnTo>
                  <a:lnTo>
                    <a:pt x="32346" y="423075"/>
                  </a:lnTo>
                  <a:lnTo>
                    <a:pt x="55918" y="461060"/>
                  </a:lnTo>
                  <a:lnTo>
                    <a:pt x="84899" y="494830"/>
                  </a:lnTo>
                  <a:lnTo>
                    <a:pt x="118668" y="523798"/>
                  </a:lnTo>
                  <a:lnTo>
                    <a:pt x="156654" y="547382"/>
                  </a:lnTo>
                  <a:lnTo>
                    <a:pt x="198247" y="564946"/>
                  </a:lnTo>
                  <a:lnTo>
                    <a:pt x="242849" y="575932"/>
                  </a:lnTo>
                  <a:lnTo>
                    <a:pt x="289864" y="579729"/>
                  </a:lnTo>
                  <a:lnTo>
                    <a:pt x="298170" y="579729"/>
                  </a:lnTo>
                  <a:lnTo>
                    <a:pt x="314452" y="578624"/>
                  </a:lnTo>
                  <a:lnTo>
                    <a:pt x="313982" y="572287"/>
                  </a:lnTo>
                  <a:lnTo>
                    <a:pt x="313804" y="565899"/>
                  </a:lnTo>
                  <a:lnTo>
                    <a:pt x="323037" y="520484"/>
                  </a:lnTo>
                  <a:lnTo>
                    <a:pt x="328472" y="508457"/>
                  </a:lnTo>
                  <a:lnTo>
                    <a:pt x="300596" y="504164"/>
                  </a:lnTo>
                  <a:lnTo>
                    <a:pt x="270167" y="493039"/>
                  </a:lnTo>
                  <a:lnTo>
                    <a:pt x="237121" y="474129"/>
                  </a:lnTo>
                  <a:lnTo>
                    <a:pt x="201422" y="446468"/>
                  </a:lnTo>
                  <a:lnTo>
                    <a:pt x="307949" y="450342"/>
                  </a:lnTo>
                  <a:lnTo>
                    <a:pt x="372872" y="443674"/>
                  </a:lnTo>
                  <a:lnTo>
                    <a:pt x="422617" y="419303"/>
                  </a:lnTo>
                  <a:lnTo>
                    <a:pt x="483666" y="370065"/>
                  </a:lnTo>
                  <a:lnTo>
                    <a:pt x="477075" y="389864"/>
                  </a:lnTo>
                  <a:lnTo>
                    <a:pt x="471322" y="403479"/>
                  </a:lnTo>
                  <a:lnTo>
                    <a:pt x="463232" y="417207"/>
                  </a:lnTo>
                  <a:lnTo>
                    <a:pt x="449592" y="437375"/>
                  </a:lnTo>
                  <a:lnTo>
                    <a:pt x="469265" y="439496"/>
                  </a:lnTo>
                  <a:lnTo>
                    <a:pt x="488213" y="444449"/>
                  </a:lnTo>
                  <a:lnTo>
                    <a:pt x="506133" y="452132"/>
                  </a:lnTo>
                  <a:lnTo>
                    <a:pt x="522757" y="462445"/>
                  </a:lnTo>
                  <a:lnTo>
                    <a:pt x="546760" y="424230"/>
                  </a:lnTo>
                  <a:lnTo>
                    <a:pt x="564667" y="382320"/>
                  </a:lnTo>
                  <a:lnTo>
                    <a:pt x="575868" y="337324"/>
                  </a:lnTo>
                  <a:lnTo>
                    <a:pt x="579742" y="2898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83542" y="6411818"/>
              <a:ext cx="146862" cy="12777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112903" y="4863185"/>
              <a:ext cx="2233930" cy="2909570"/>
            </a:xfrm>
            <a:custGeom>
              <a:avLst/>
              <a:gdLst/>
              <a:ahLst/>
              <a:cxnLst/>
              <a:rect l="l" t="t" r="r" b="b"/>
              <a:pathLst>
                <a:path w="2233929" h="2909570">
                  <a:moveTo>
                    <a:pt x="992530" y="1786343"/>
                  </a:moveTo>
                  <a:lnTo>
                    <a:pt x="965276" y="1753590"/>
                  </a:lnTo>
                  <a:lnTo>
                    <a:pt x="918870" y="1698498"/>
                  </a:lnTo>
                  <a:lnTo>
                    <a:pt x="821334" y="1584490"/>
                  </a:lnTo>
                  <a:lnTo>
                    <a:pt x="699960" y="1444320"/>
                  </a:lnTo>
                  <a:lnTo>
                    <a:pt x="699566" y="1443748"/>
                  </a:lnTo>
                  <a:lnTo>
                    <a:pt x="699122" y="1443202"/>
                  </a:lnTo>
                  <a:lnTo>
                    <a:pt x="393014" y="1443202"/>
                  </a:lnTo>
                  <a:lnTo>
                    <a:pt x="390855" y="1443393"/>
                  </a:lnTo>
                  <a:lnTo>
                    <a:pt x="388670" y="1443532"/>
                  </a:lnTo>
                  <a:lnTo>
                    <a:pt x="312635" y="1458709"/>
                  </a:lnTo>
                  <a:lnTo>
                    <a:pt x="263042" y="1482966"/>
                  </a:lnTo>
                  <a:lnTo>
                    <a:pt x="209804" y="1523974"/>
                  </a:lnTo>
                  <a:lnTo>
                    <a:pt x="166928" y="1571459"/>
                  </a:lnTo>
                  <a:lnTo>
                    <a:pt x="128930" y="1628775"/>
                  </a:lnTo>
                  <a:lnTo>
                    <a:pt x="95808" y="1695869"/>
                  </a:lnTo>
                  <a:lnTo>
                    <a:pt x="81076" y="1733080"/>
                  </a:lnTo>
                  <a:lnTo>
                    <a:pt x="67576" y="1772704"/>
                  </a:lnTo>
                  <a:lnTo>
                    <a:pt x="55295" y="1814766"/>
                  </a:lnTo>
                  <a:lnTo>
                    <a:pt x="44234" y="1859229"/>
                  </a:lnTo>
                  <a:lnTo>
                    <a:pt x="34404" y="1906117"/>
                  </a:lnTo>
                  <a:lnTo>
                    <a:pt x="25806" y="1955406"/>
                  </a:lnTo>
                  <a:lnTo>
                    <a:pt x="18427" y="2007095"/>
                  </a:lnTo>
                  <a:lnTo>
                    <a:pt x="12280" y="2061184"/>
                  </a:lnTo>
                  <a:lnTo>
                    <a:pt x="7366" y="2117648"/>
                  </a:lnTo>
                  <a:lnTo>
                    <a:pt x="3670" y="2176513"/>
                  </a:lnTo>
                  <a:lnTo>
                    <a:pt x="1219" y="2237752"/>
                  </a:lnTo>
                  <a:lnTo>
                    <a:pt x="0" y="2301367"/>
                  </a:lnTo>
                  <a:lnTo>
                    <a:pt x="12" y="2367343"/>
                  </a:lnTo>
                  <a:lnTo>
                    <a:pt x="1270" y="2435682"/>
                  </a:lnTo>
                  <a:lnTo>
                    <a:pt x="3746" y="2506370"/>
                  </a:lnTo>
                  <a:lnTo>
                    <a:pt x="7480" y="2579420"/>
                  </a:lnTo>
                  <a:lnTo>
                    <a:pt x="30962" y="2639072"/>
                  </a:lnTo>
                  <a:lnTo>
                    <a:pt x="83820" y="2672918"/>
                  </a:lnTo>
                  <a:lnTo>
                    <a:pt x="141795" y="2671457"/>
                  </a:lnTo>
                  <a:lnTo>
                    <a:pt x="194970" y="2632151"/>
                  </a:lnTo>
                  <a:lnTo>
                    <a:pt x="213258" y="2567394"/>
                  </a:lnTo>
                  <a:lnTo>
                    <a:pt x="209181" y="2484971"/>
                  </a:lnTo>
                  <a:lnTo>
                    <a:pt x="206832" y="2407361"/>
                  </a:lnTo>
                  <a:lnTo>
                    <a:pt x="206095" y="2334450"/>
                  </a:lnTo>
                  <a:lnTo>
                    <a:pt x="206857" y="2266099"/>
                  </a:lnTo>
                  <a:lnTo>
                    <a:pt x="209029" y="2202167"/>
                  </a:lnTo>
                  <a:lnTo>
                    <a:pt x="212509" y="2142540"/>
                  </a:lnTo>
                  <a:lnTo>
                    <a:pt x="217170" y="2087079"/>
                  </a:lnTo>
                  <a:lnTo>
                    <a:pt x="222935" y="2035644"/>
                  </a:lnTo>
                  <a:lnTo>
                    <a:pt x="229666" y="1988121"/>
                  </a:lnTo>
                  <a:lnTo>
                    <a:pt x="237299" y="1944357"/>
                  </a:lnTo>
                  <a:lnTo>
                    <a:pt x="245694" y="1904238"/>
                  </a:lnTo>
                  <a:lnTo>
                    <a:pt x="264401" y="1834375"/>
                  </a:lnTo>
                  <a:lnTo>
                    <a:pt x="284949" y="1777492"/>
                  </a:lnTo>
                  <a:lnTo>
                    <a:pt x="295656" y="1753590"/>
                  </a:lnTo>
                  <a:lnTo>
                    <a:pt x="295656" y="2909214"/>
                  </a:lnTo>
                  <a:lnTo>
                    <a:pt x="614248" y="2909214"/>
                  </a:lnTo>
                  <a:lnTo>
                    <a:pt x="614248" y="2523439"/>
                  </a:lnTo>
                  <a:lnTo>
                    <a:pt x="673938" y="2523439"/>
                  </a:lnTo>
                  <a:lnTo>
                    <a:pt x="673938" y="2909214"/>
                  </a:lnTo>
                  <a:lnTo>
                    <a:pt x="992530" y="2909214"/>
                  </a:lnTo>
                  <a:lnTo>
                    <a:pt x="992530" y="2523439"/>
                  </a:lnTo>
                  <a:lnTo>
                    <a:pt x="992530" y="1786343"/>
                  </a:lnTo>
                  <a:close/>
                </a:path>
                <a:path w="2233929" h="2909570">
                  <a:moveTo>
                    <a:pt x="1275956" y="1832978"/>
                  </a:moveTo>
                  <a:lnTo>
                    <a:pt x="1274114" y="1785797"/>
                  </a:lnTo>
                  <a:lnTo>
                    <a:pt x="1243749" y="1725676"/>
                  </a:lnTo>
                  <a:lnTo>
                    <a:pt x="1218590" y="1692846"/>
                  </a:lnTo>
                  <a:lnTo>
                    <a:pt x="1182217" y="1647850"/>
                  </a:lnTo>
                  <a:lnTo>
                    <a:pt x="1134757" y="1590763"/>
                  </a:lnTo>
                  <a:lnTo>
                    <a:pt x="1075537" y="1520799"/>
                  </a:lnTo>
                  <a:lnTo>
                    <a:pt x="1004760" y="1438173"/>
                  </a:lnTo>
                  <a:lnTo>
                    <a:pt x="877316" y="1290967"/>
                  </a:lnTo>
                  <a:lnTo>
                    <a:pt x="844867" y="1266012"/>
                  </a:lnTo>
                  <a:lnTo>
                    <a:pt x="806691" y="1255801"/>
                  </a:lnTo>
                  <a:lnTo>
                    <a:pt x="767486" y="1260640"/>
                  </a:lnTo>
                  <a:lnTo>
                    <a:pt x="731901" y="1280858"/>
                  </a:lnTo>
                  <a:lnTo>
                    <a:pt x="706958" y="1313307"/>
                  </a:lnTo>
                  <a:lnTo>
                    <a:pt x="696734" y="1351470"/>
                  </a:lnTo>
                  <a:lnTo>
                    <a:pt x="701573" y="1390688"/>
                  </a:lnTo>
                  <a:lnTo>
                    <a:pt x="721804" y="1426260"/>
                  </a:lnTo>
                  <a:lnTo>
                    <a:pt x="847979" y="1571980"/>
                  </a:lnTo>
                  <a:lnTo>
                    <a:pt x="917917" y="1653616"/>
                  </a:lnTo>
                  <a:lnTo>
                    <a:pt x="976287" y="1722577"/>
                  </a:lnTo>
                  <a:lnTo>
                    <a:pt x="1022921" y="1778647"/>
                  </a:lnTo>
                  <a:lnTo>
                    <a:pt x="1003465" y="1794624"/>
                  </a:lnTo>
                  <a:lnTo>
                    <a:pt x="1046302" y="1836839"/>
                  </a:lnTo>
                  <a:lnTo>
                    <a:pt x="1087183" y="1874901"/>
                  </a:lnTo>
                  <a:lnTo>
                    <a:pt x="1137335" y="1907057"/>
                  </a:lnTo>
                  <a:lnTo>
                    <a:pt x="1174838" y="1914182"/>
                  </a:lnTo>
                  <a:lnTo>
                    <a:pt x="1199730" y="1910981"/>
                  </a:lnTo>
                  <a:lnTo>
                    <a:pt x="1219885" y="1903501"/>
                  </a:lnTo>
                  <a:lnTo>
                    <a:pt x="1234567" y="1894852"/>
                  </a:lnTo>
                  <a:lnTo>
                    <a:pt x="1243076" y="1888210"/>
                  </a:lnTo>
                  <a:lnTo>
                    <a:pt x="1261516" y="1867154"/>
                  </a:lnTo>
                  <a:lnTo>
                    <a:pt x="1275956" y="1832978"/>
                  </a:lnTo>
                  <a:close/>
                </a:path>
                <a:path w="2233929" h="2909570">
                  <a:moveTo>
                    <a:pt x="2233472" y="563295"/>
                  </a:moveTo>
                  <a:lnTo>
                    <a:pt x="2231402" y="514692"/>
                  </a:lnTo>
                  <a:lnTo>
                    <a:pt x="2225319" y="467233"/>
                  </a:lnTo>
                  <a:lnTo>
                    <a:pt x="2215375" y="421093"/>
                  </a:lnTo>
                  <a:lnTo>
                    <a:pt x="2201748" y="376440"/>
                  </a:lnTo>
                  <a:lnTo>
                    <a:pt x="2184603" y="333451"/>
                  </a:lnTo>
                  <a:lnTo>
                    <a:pt x="2164105" y="292277"/>
                  </a:lnTo>
                  <a:lnTo>
                    <a:pt x="2140445" y="253098"/>
                  </a:lnTo>
                  <a:lnTo>
                    <a:pt x="2114575" y="217195"/>
                  </a:lnTo>
                  <a:lnTo>
                    <a:pt x="2114575" y="585190"/>
                  </a:lnTo>
                  <a:lnTo>
                    <a:pt x="2112200" y="632218"/>
                  </a:lnTo>
                  <a:lnTo>
                    <a:pt x="2105228" y="677900"/>
                  </a:lnTo>
                  <a:lnTo>
                    <a:pt x="2093887" y="721982"/>
                  </a:lnTo>
                  <a:lnTo>
                    <a:pt x="2078418" y="764247"/>
                  </a:lnTo>
                  <a:lnTo>
                    <a:pt x="2059051" y="804456"/>
                  </a:lnTo>
                  <a:lnTo>
                    <a:pt x="2036000" y="842391"/>
                  </a:lnTo>
                  <a:lnTo>
                    <a:pt x="2009521" y="877798"/>
                  </a:lnTo>
                  <a:lnTo>
                    <a:pt x="1979803" y="910501"/>
                  </a:lnTo>
                  <a:lnTo>
                    <a:pt x="1947164" y="940155"/>
                  </a:lnTo>
                  <a:lnTo>
                    <a:pt x="1911743" y="966647"/>
                  </a:lnTo>
                  <a:lnTo>
                    <a:pt x="1873808" y="989685"/>
                  </a:lnTo>
                  <a:lnTo>
                    <a:pt x="1833600" y="1009053"/>
                  </a:lnTo>
                  <a:lnTo>
                    <a:pt x="1791335" y="1024521"/>
                  </a:lnTo>
                  <a:lnTo>
                    <a:pt x="1747253" y="1035862"/>
                  </a:lnTo>
                  <a:lnTo>
                    <a:pt x="1701571" y="1042835"/>
                  </a:lnTo>
                  <a:lnTo>
                    <a:pt x="1654543" y="1045210"/>
                  </a:lnTo>
                  <a:lnTo>
                    <a:pt x="1607515" y="1042835"/>
                  </a:lnTo>
                  <a:lnTo>
                    <a:pt x="1561833" y="1035862"/>
                  </a:lnTo>
                  <a:lnTo>
                    <a:pt x="1517751" y="1024521"/>
                  </a:lnTo>
                  <a:lnTo>
                    <a:pt x="1475486" y="1009053"/>
                  </a:lnTo>
                  <a:lnTo>
                    <a:pt x="1435277" y="989685"/>
                  </a:lnTo>
                  <a:lnTo>
                    <a:pt x="1397355" y="966647"/>
                  </a:lnTo>
                  <a:lnTo>
                    <a:pt x="1361935" y="940155"/>
                  </a:lnTo>
                  <a:lnTo>
                    <a:pt x="1329296" y="910501"/>
                  </a:lnTo>
                  <a:lnTo>
                    <a:pt x="1299578" y="877798"/>
                  </a:lnTo>
                  <a:lnTo>
                    <a:pt x="1273098" y="842391"/>
                  </a:lnTo>
                  <a:lnTo>
                    <a:pt x="1250061" y="804456"/>
                  </a:lnTo>
                  <a:lnTo>
                    <a:pt x="1230680" y="764247"/>
                  </a:lnTo>
                  <a:lnTo>
                    <a:pt x="1215212" y="721982"/>
                  </a:lnTo>
                  <a:lnTo>
                    <a:pt x="1203883" y="677900"/>
                  </a:lnTo>
                  <a:lnTo>
                    <a:pt x="1196911" y="632218"/>
                  </a:lnTo>
                  <a:lnTo>
                    <a:pt x="1194536" y="585190"/>
                  </a:lnTo>
                  <a:lnTo>
                    <a:pt x="1196911" y="538149"/>
                  </a:lnTo>
                  <a:lnTo>
                    <a:pt x="1203883" y="492480"/>
                  </a:lnTo>
                  <a:lnTo>
                    <a:pt x="1215212" y="448386"/>
                  </a:lnTo>
                  <a:lnTo>
                    <a:pt x="1230680" y="406120"/>
                  </a:lnTo>
                  <a:lnTo>
                    <a:pt x="1250061" y="365912"/>
                  </a:lnTo>
                  <a:lnTo>
                    <a:pt x="1273098" y="327990"/>
                  </a:lnTo>
                  <a:lnTo>
                    <a:pt x="1299578" y="292569"/>
                  </a:lnTo>
                  <a:lnTo>
                    <a:pt x="1329270" y="259905"/>
                  </a:lnTo>
                  <a:lnTo>
                    <a:pt x="1361935" y="230212"/>
                  </a:lnTo>
                  <a:lnTo>
                    <a:pt x="1397355" y="203733"/>
                  </a:lnTo>
                  <a:lnTo>
                    <a:pt x="1435277" y="180682"/>
                  </a:lnTo>
                  <a:lnTo>
                    <a:pt x="1475486" y="161315"/>
                  </a:lnTo>
                  <a:lnTo>
                    <a:pt x="1517751" y="145846"/>
                  </a:lnTo>
                  <a:lnTo>
                    <a:pt x="1561833" y="134518"/>
                  </a:lnTo>
                  <a:lnTo>
                    <a:pt x="1607515" y="127546"/>
                  </a:lnTo>
                  <a:lnTo>
                    <a:pt x="1654543" y="125171"/>
                  </a:lnTo>
                  <a:lnTo>
                    <a:pt x="1701571" y="127546"/>
                  </a:lnTo>
                  <a:lnTo>
                    <a:pt x="1747253" y="134518"/>
                  </a:lnTo>
                  <a:lnTo>
                    <a:pt x="1791335" y="145846"/>
                  </a:lnTo>
                  <a:lnTo>
                    <a:pt x="1833600" y="161315"/>
                  </a:lnTo>
                  <a:lnTo>
                    <a:pt x="1873808" y="180682"/>
                  </a:lnTo>
                  <a:lnTo>
                    <a:pt x="1911743" y="203733"/>
                  </a:lnTo>
                  <a:lnTo>
                    <a:pt x="1947164" y="230212"/>
                  </a:lnTo>
                  <a:lnTo>
                    <a:pt x="1979828" y="259905"/>
                  </a:lnTo>
                  <a:lnTo>
                    <a:pt x="2009521" y="292569"/>
                  </a:lnTo>
                  <a:lnTo>
                    <a:pt x="2036000" y="327990"/>
                  </a:lnTo>
                  <a:lnTo>
                    <a:pt x="2059051" y="365912"/>
                  </a:lnTo>
                  <a:lnTo>
                    <a:pt x="2078418" y="406120"/>
                  </a:lnTo>
                  <a:lnTo>
                    <a:pt x="2093887" y="448386"/>
                  </a:lnTo>
                  <a:lnTo>
                    <a:pt x="2105228" y="492480"/>
                  </a:lnTo>
                  <a:lnTo>
                    <a:pt x="2112200" y="538149"/>
                  </a:lnTo>
                  <a:lnTo>
                    <a:pt x="2114575" y="585190"/>
                  </a:lnTo>
                  <a:lnTo>
                    <a:pt x="2114575" y="217195"/>
                  </a:lnTo>
                  <a:lnTo>
                    <a:pt x="2113775" y="216077"/>
                  </a:lnTo>
                  <a:lnTo>
                    <a:pt x="2084260" y="181394"/>
                  </a:lnTo>
                  <a:lnTo>
                    <a:pt x="2052078" y="149212"/>
                  </a:lnTo>
                  <a:lnTo>
                    <a:pt x="2023821" y="125171"/>
                  </a:lnTo>
                  <a:lnTo>
                    <a:pt x="2017395" y="119697"/>
                  </a:lnTo>
                  <a:lnTo>
                    <a:pt x="1980374" y="93027"/>
                  </a:lnTo>
                  <a:lnTo>
                    <a:pt x="1941195" y="69354"/>
                  </a:lnTo>
                  <a:lnTo>
                    <a:pt x="1900021" y="48869"/>
                  </a:lnTo>
                  <a:lnTo>
                    <a:pt x="1857032" y="31724"/>
                  </a:lnTo>
                  <a:lnTo>
                    <a:pt x="1812378" y="18097"/>
                  </a:lnTo>
                  <a:lnTo>
                    <a:pt x="1766239" y="8153"/>
                  </a:lnTo>
                  <a:lnTo>
                    <a:pt x="1718792" y="2070"/>
                  </a:lnTo>
                  <a:lnTo>
                    <a:pt x="1670189" y="0"/>
                  </a:lnTo>
                  <a:lnTo>
                    <a:pt x="1621586" y="2070"/>
                  </a:lnTo>
                  <a:lnTo>
                    <a:pt x="1574126" y="8153"/>
                  </a:lnTo>
                  <a:lnTo>
                    <a:pt x="1527987" y="18097"/>
                  </a:lnTo>
                  <a:lnTo>
                    <a:pt x="1483347" y="31724"/>
                  </a:lnTo>
                  <a:lnTo>
                    <a:pt x="1440345" y="48869"/>
                  </a:lnTo>
                  <a:lnTo>
                    <a:pt x="1399171" y="69354"/>
                  </a:lnTo>
                  <a:lnTo>
                    <a:pt x="1359992" y="93027"/>
                  </a:lnTo>
                  <a:lnTo>
                    <a:pt x="1322984" y="119697"/>
                  </a:lnTo>
                  <a:lnTo>
                    <a:pt x="1288300" y="149212"/>
                  </a:lnTo>
                  <a:lnTo>
                    <a:pt x="1256106" y="181394"/>
                  </a:lnTo>
                  <a:lnTo>
                    <a:pt x="1226591" y="216077"/>
                  </a:lnTo>
                  <a:lnTo>
                    <a:pt x="1199921" y="253098"/>
                  </a:lnTo>
                  <a:lnTo>
                    <a:pt x="1176261" y="292277"/>
                  </a:lnTo>
                  <a:lnTo>
                    <a:pt x="1155763" y="333451"/>
                  </a:lnTo>
                  <a:lnTo>
                    <a:pt x="1138618" y="376440"/>
                  </a:lnTo>
                  <a:lnTo>
                    <a:pt x="1124991" y="421093"/>
                  </a:lnTo>
                  <a:lnTo>
                    <a:pt x="1115047" y="467233"/>
                  </a:lnTo>
                  <a:lnTo>
                    <a:pt x="1108964" y="514692"/>
                  </a:lnTo>
                  <a:lnTo>
                    <a:pt x="1106893" y="563295"/>
                  </a:lnTo>
                  <a:lnTo>
                    <a:pt x="1109370" y="616381"/>
                  </a:lnTo>
                  <a:lnTo>
                    <a:pt x="1116634" y="668083"/>
                  </a:lnTo>
                  <a:lnTo>
                    <a:pt x="1128483" y="718172"/>
                  </a:lnTo>
                  <a:lnTo>
                    <a:pt x="1144676" y="766419"/>
                  </a:lnTo>
                  <a:lnTo>
                    <a:pt x="1164996" y="812622"/>
                  </a:lnTo>
                  <a:lnTo>
                    <a:pt x="1189228" y="856551"/>
                  </a:lnTo>
                  <a:lnTo>
                    <a:pt x="1217142" y="897978"/>
                  </a:lnTo>
                  <a:lnTo>
                    <a:pt x="1025525" y="1176642"/>
                  </a:lnTo>
                  <a:lnTo>
                    <a:pt x="1337462" y="1017739"/>
                  </a:lnTo>
                  <a:lnTo>
                    <a:pt x="1378724" y="1045298"/>
                  </a:lnTo>
                  <a:lnTo>
                    <a:pt x="1422425" y="1069213"/>
                  </a:lnTo>
                  <a:lnTo>
                    <a:pt x="1468374" y="1089279"/>
                  </a:lnTo>
                  <a:lnTo>
                    <a:pt x="1516329" y="1105281"/>
                  </a:lnTo>
                  <a:lnTo>
                    <a:pt x="1566100" y="1116965"/>
                  </a:lnTo>
                  <a:lnTo>
                    <a:pt x="1617459" y="1124140"/>
                  </a:lnTo>
                  <a:lnTo>
                    <a:pt x="1670189" y="1126591"/>
                  </a:lnTo>
                  <a:lnTo>
                    <a:pt x="1718792" y="1124521"/>
                  </a:lnTo>
                  <a:lnTo>
                    <a:pt x="1766239" y="1118425"/>
                  </a:lnTo>
                  <a:lnTo>
                    <a:pt x="1812378" y="1108481"/>
                  </a:lnTo>
                  <a:lnTo>
                    <a:pt x="1857032" y="1094854"/>
                  </a:lnTo>
                  <a:lnTo>
                    <a:pt x="1900021" y="1077709"/>
                  </a:lnTo>
                  <a:lnTo>
                    <a:pt x="1941195" y="1057224"/>
                  </a:lnTo>
                  <a:lnTo>
                    <a:pt x="1980374" y="1033551"/>
                  </a:lnTo>
                  <a:lnTo>
                    <a:pt x="2017395" y="1006881"/>
                  </a:lnTo>
                  <a:lnTo>
                    <a:pt x="2052078" y="977366"/>
                  </a:lnTo>
                  <a:lnTo>
                    <a:pt x="2084260" y="945184"/>
                  </a:lnTo>
                  <a:lnTo>
                    <a:pt x="2113775" y="910501"/>
                  </a:lnTo>
                  <a:lnTo>
                    <a:pt x="2140445" y="873480"/>
                  </a:lnTo>
                  <a:lnTo>
                    <a:pt x="2164105" y="834301"/>
                  </a:lnTo>
                  <a:lnTo>
                    <a:pt x="2184603" y="793127"/>
                  </a:lnTo>
                  <a:lnTo>
                    <a:pt x="2201748" y="750138"/>
                  </a:lnTo>
                  <a:lnTo>
                    <a:pt x="2215375" y="705485"/>
                  </a:lnTo>
                  <a:lnTo>
                    <a:pt x="2225319" y="659345"/>
                  </a:lnTo>
                  <a:lnTo>
                    <a:pt x="2231402" y="611898"/>
                  </a:lnTo>
                  <a:lnTo>
                    <a:pt x="2233472" y="5632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425444" y="2094139"/>
            <a:ext cx="2729230" cy="228536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800" i="1" spc="-10" dirty="0">
                <a:solidFill>
                  <a:srgbClr val="722B63"/>
                </a:solidFill>
                <a:latin typeface="Arial"/>
                <a:cs typeface="Arial"/>
              </a:rPr>
              <a:t>Did</a:t>
            </a:r>
            <a:r>
              <a:rPr sz="1800" i="1" spc="-85" dirty="0">
                <a:solidFill>
                  <a:srgbClr val="722B63"/>
                </a:solidFill>
                <a:latin typeface="Arial"/>
                <a:cs typeface="Arial"/>
              </a:rPr>
              <a:t> </a:t>
            </a:r>
            <a:r>
              <a:rPr sz="1800" i="1" spc="-240" dirty="0">
                <a:solidFill>
                  <a:srgbClr val="722B63"/>
                </a:solidFill>
                <a:latin typeface="Arial"/>
                <a:cs typeface="Arial"/>
              </a:rPr>
              <a:t>You</a:t>
            </a:r>
            <a:r>
              <a:rPr sz="1800" i="1" spc="35" dirty="0">
                <a:solidFill>
                  <a:srgbClr val="722B63"/>
                </a:solidFill>
                <a:latin typeface="Arial"/>
                <a:cs typeface="Arial"/>
              </a:rPr>
              <a:t> </a:t>
            </a:r>
            <a:r>
              <a:rPr sz="1800" i="1" spc="-35" dirty="0">
                <a:solidFill>
                  <a:srgbClr val="722B63"/>
                </a:solidFill>
                <a:latin typeface="Arial"/>
                <a:cs typeface="Arial"/>
              </a:rPr>
              <a:t>Know?</a:t>
            </a:r>
            <a:endParaRPr sz="1800">
              <a:latin typeface="Arial"/>
              <a:cs typeface="Arial"/>
            </a:endParaRPr>
          </a:p>
          <a:p>
            <a:pPr marL="12700" marR="338455">
              <a:lnSpc>
                <a:spcPct val="100000"/>
              </a:lnSpc>
              <a:spcBef>
                <a:spcPts val="409"/>
              </a:spcBef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It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is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appropriate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 to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access a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patient’s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record</a:t>
            </a:r>
            <a:r>
              <a:rPr sz="1150" spc="-8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to:</a:t>
            </a:r>
            <a:endParaRPr sz="1150">
              <a:latin typeface="Avenir Book"/>
              <a:cs typeface="Avenir Book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150" spc="155" dirty="0">
                <a:solidFill>
                  <a:srgbClr val="79BC43"/>
                </a:solidFill>
                <a:latin typeface="Arial"/>
                <a:cs typeface="Arial"/>
              </a:rPr>
              <a:t>t/</a:t>
            </a:r>
            <a:r>
              <a:rPr sz="1150" spc="470" dirty="0">
                <a:solidFill>
                  <a:srgbClr val="79BC43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Provide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care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patient.</a:t>
            </a:r>
            <a:endParaRPr sz="1150">
              <a:latin typeface="Avenir Book"/>
              <a:cs typeface="Avenir Book"/>
            </a:endParaRPr>
          </a:p>
          <a:p>
            <a:pPr marL="241300" marR="69850" indent="-228600">
              <a:lnSpc>
                <a:spcPct val="100000"/>
              </a:lnSpc>
              <a:spcBef>
                <a:spcPts val="540"/>
              </a:spcBef>
            </a:pPr>
            <a:r>
              <a:rPr sz="1150" spc="155" dirty="0">
                <a:solidFill>
                  <a:srgbClr val="79BC43"/>
                </a:solidFill>
                <a:latin typeface="Arial"/>
                <a:cs typeface="Arial"/>
              </a:rPr>
              <a:t>t/</a:t>
            </a:r>
            <a:r>
              <a:rPr sz="1150" spc="95" dirty="0">
                <a:solidFill>
                  <a:srgbClr val="79BC43"/>
                </a:solidFill>
                <a:latin typeface="Arial"/>
                <a:cs typeface="Arial"/>
              </a:rPr>
              <a:t> 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Accurately bill the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patient’s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insurance company.</a:t>
            </a:r>
            <a:endParaRPr sz="1150">
              <a:latin typeface="Avenir Book"/>
              <a:cs typeface="Avenir Book"/>
            </a:endParaRPr>
          </a:p>
          <a:p>
            <a:pPr marL="241300" marR="5080" indent="-228600">
              <a:lnSpc>
                <a:spcPct val="100000"/>
              </a:lnSpc>
              <a:spcBef>
                <a:spcPts val="540"/>
              </a:spcBef>
            </a:pPr>
            <a:r>
              <a:rPr sz="1150" spc="155" dirty="0">
                <a:solidFill>
                  <a:srgbClr val="79BC43"/>
                </a:solidFill>
                <a:latin typeface="Arial"/>
                <a:cs typeface="Arial"/>
              </a:rPr>
              <a:t>t/</a:t>
            </a:r>
            <a:r>
              <a:rPr sz="1150" spc="484" dirty="0">
                <a:solidFill>
                  <a:srgbClr val="79BC43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Review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quality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care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provided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to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patient.</a:t>
            </a:r>
            <a:endParaRPr sz="1150">
              <a:latin typeface="Avenir Book"/>
              <a:cs typeface="Avenir Book"/>
            </a:endParaRPr>
          </a:p>
          <a:p>
            <a:pPr marL="12700" marR="81915">
              <a:lnSpc>
                <a:spcPct val="100000"/>
              </a:lnSpc>
              <a:spcBef>
                <a:spcPts val="540"/>
              </a:spcBef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It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is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u="sng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Avenir Book"/>
                <a:cs typeface="Avenir Book"/>
              </a:rPr>
              <a:t>not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appropriate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 access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patient’s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record</a:t>
            </a:r>
            <a:r>
              <a:rPr sz="1150" spc="-8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to:</a:t>
            </a:r>
            <a:endParaRPr sz="1150">
              <a:latin typeface="Avenir Book"/>
              <a:cs typeface="Avenir Book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25444" y="4353689"/>
            <a:ext cx="2574925" cy="163322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150" spc="105" dirty="0">
                <a:solidFill>
                  <a:srgbClr val="D2232A"/>
                </a:solidFill>
                <a:latin typeface="Arial"/>
                <a:cs typeface="Arial"/>
              </a:rPr>
              <a:t>X</a:t>
            </a:r>
            <a:r>
              <a:rPr sz="1150" spc="145" dirty="0">
                <a:solidFill>
                  <a:srgbClr val="D2232A"/>
                </a:solidFill>
                <a:latin typeface="Arial"/>
                <a:cs typeface="Arial"/>
              </a:rPr>
              <a:t> 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Satisfy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curiosity.</a:t>
            </a:r>
            <a:endParaRPr sz="1150">
              <a:latin typeface="Avenir Book"/>
              <a:cs typeface="Avenir Book"/>
            </a:endParaRPr>
          </a:p>
          <a:p>
            <a:pPr marL="241300" marR="28575" indent="-228600">
              <a:lnSpc>
                <a:spcPct val="100000"/>
              </a:lnSpc>
              <a:spcBef>
                <a:spcPts val="540"/>
              </a:spcBef>
            </a:pPr>
            <a:r>
              <a:rPr sz="1150" spc="105" dirty="0">
                <a:solidFill>
                  <a:srgbClr val="D2232A"/>
                </a:solidFill>
                <a:latin typeface="Arial"/>
                <a:cs typeface="Arial"/>
              </a:rPr>
              <a:t>X</a:t>
            </a:r>
            <a:r>
              <a:rPr sz="1150" spc="125" dirty="0">
                <a:solidFill>
                  <a:srgbClr val="D2232A"/>
                </a:solidFill>
                <a:latin typeface="Arial"/>
                <a:cs typeface="Arial"/>
              </a:rPr>
              <a:t> 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Follow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care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family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member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friend.</a:t>
            </a:r>
            <a:endParaRPr sz="1150">
              <a:latin typeface="Avenir Book"/>
              <a:cs typeface="Avenir Book"/>
            </a:endParaRPr>
          </a:p>
          <a:p>
            <a:pPr marL="241300" marR="5080" indent="-228600">
              <a:lnSpc>
                <a:spcPct val="100000"/>
              </a:lnSpc>
              <a:spcBef>
                <a:spcPts val="540"/>
              </a:spcBef>
            </a:pPr>
            <a:r>
              <a:rPr sz="1150" spc="105" dirty="0">
                <a:solidFill>
                  <a:srgbClr val="D2232A"/>
                </a:solidFill>
                <a:latin typeface="Arial"/>
                <a:cs typeface="Arial"/>
              </a:rPr>
              <a:t>X</a:t>
            </a:r>
            <a:r>
              <a:rPr sz="1150" spc="135" dirty="0">
                <a:solidFill>
                  <a:srgbClr val="D2232A"/>
                </a:solidFill>
                <a:latin typeface="Arial"/>
                <a:cs typeface="Arial"/>
              </a:rPr>
              <a:t> 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Acquire demographic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information,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such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as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telephone numbers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or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mailing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address,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co-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workers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or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other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patients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for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which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you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are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not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providing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care.</a:t>
            </a:r>
            <a:endParaRPr sz="1150">
              <a:latin typeface="Avenir Book"/>
              <a:cs typeface="Avenir Book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936740" y="927925"/>
            <a:ext cx="2782570" cy="285559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500" i="1" spc="-145" dirty="0">
                <a:solidFill>
                  <a:srgbClr val="FFFFFF"/>
                </a:solidFill>
                <a:latin typeface="Arial"/>
                <a:cs typeface="Arial"/>
              </a:rPr>
              <a:t>Breach</a:t>
            </a:r>
            <a:r>
              <a:rPr sz="1500" i="1" spc="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i="1" spc="-95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500" i="1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i="1" spc="-160" dirty="0">
                <a:solidFill>
                  <a:srgbClr val="FFFFFF"/>
                </a:solidFill>
                <a:latin typeface="Arial"/>
                <a:cs typeface="Arial"/>
              </a:rPr>
              <a:t>Protected</a:t>
            </a:r>
            <a:r>
              <a:rPr sz="1500" i="1" spc="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i="1" spc="-160" dirty="0">
                <a:solidFill>
                  <a:srgbClr val="FFFFFF"/>
                </a:solidFill>
                <a:latin typeface="Arial"/>
                <a:cs typeface="Arial"/>
              </a:rPr>
              <a:t>Health</a:t>
            </a:r>
            <a:r>
              <a:rPr sz="1500" i="1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i="1" spc="-95" dirty="0">
                <a:solidFill>
                  <a:srgbClr val="FFFFFF"/>
                </a:solidFill>
                <a:latin typeface="Arial"/>
                <a:cs typeface="Arial"/>
              </a:rPr>
              <a:t>Information</a:t>
            </a:r>
            <a:endParaRPr sz="1500" dirty="0">
              <a:latin typeface="Arial"/>
              <a:cs typeface="Arial"/>
            </a:endParaRPr>
          </a:p>
          <a:p>
            <a:pPr marL="12700" marR="133350">
              <a:lnSpc>
                <a:spcPct val="104099"/>
              </a:lnSpc>
              <a:spcBef>
                <a:spcPts val="685"/>
              </a:spcBef>
            </a:pPr>
            <a:r>
              <a:rPr sz="1800" b="1" spc="75" dirty="0">
                <a:solidFill>
                  <a:srgbClr val="FFFFFF"/>
                </a:solidFill>
                <a:latin typeface="Arial"/>
                <a:cs typeface="Arial"/>
              </a:rPr>
              <a:t>Q.</a:t>
            </a:r>
            <a:r>
              <a:rPr sz="1800" b="1" spc="-1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I</a:t>
            </a:r>
            <a:r>
              <a:rPr sz="1150" spc="-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accidently faxed a 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patient’s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laboratory</a:t>
            </a:r>
            <a:r>
              <a:rPr sz="1150" spc="-4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results</a:t>
            </a:r>
            <a:r>
              <a:rPr sz="1150" spc="-3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to</a:t>
            </a:r>
            <a:r>
              <a:rPr sz="1150" spc="-3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the</a:t>
            </a:r>
            <a:r>
              <a:rPr sz="1150" spc="-3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wrong</a:t>
            </a:r>
            <a:r>
              <a:rPr sz="1150" spc="-4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machine.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What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should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I</a:t>
            </a:r>
            <a:r>
              <a:rPr sz="1150" spc="-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FFFFFF"/>
                </a:solidFill>
                <a:latin typeface="Avenir Book"/>
                <a:cs typeface="Avenir Book"/>
              </a:rPr>
              <a:t>do?</a:t>
            </a:r>
            <a:endParaRPr sz="1150" dirty="0">
              <a:latin typeface="Avenir Book"/>
              <a:cs typeface="Avenir Book"/>
            </a:endParaRPr>
          </a:p>
          <a:p>
            <a:pPr marL="12700" marR="304165">
              <a:lnSpc>
                <a:spcPct val="99300"/>
              </a:lnSpc>
              <a:spcBef>
                <a:spcPts val="25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A.</a:t>
            </a:r>
            <a:r>
              <a:rPr sz="1800" b="1" spc="-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Anytime</a:t>
            </a:r>
            <a:r>
              <a:rPr sz="1150" spc="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you</a:t>
            </a:r>
            <a:r>
              <a:rPr sz="1150" spc="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accidently provide</a:t>
            </a:r>
            <a:r>
              <a:rPr sz="1150" spc="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50" dirty="0">
                <a:solidFill>
                  <a:srgbClr val="FFFFFF"/>
                </a:solidFill>
                <a:latin typeface="Avenir Book"/>
                <a:cs typeface="Avenir Book"/>
              </a:rPr>
              <a:t>a 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patient’s</a:t>
            </a:r>
            <a:r>
              <a:rPr sz="1150" spc="-3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protected</a:t>
            </a:r>
            <a:r>
              <a:rPr sz="1150" spc="-3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health</a:t>
            </a:r>
            <a:r>
              <a:rPr sz="1150" spc="-3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information</a:t>
            </a:r>
            <a:endParaRPr sz="1150" dirty="0">
              <a:latin typeface="Avenir Book"/>
              <a:cs typeface="Avenir Book"/>
            </a:endParaRPr>
          </a:p>
          <a:p>
            <a:pPr marL="12700" marR="200660">
              <a:lnSpc>
                <a:spcPct val="108700"/>
              </a:lnSpc>
            </a:pP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to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an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unintended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recipient,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you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need</a:t>
            </a:r>
            <a:r>
              <a:rPr sz="1150" spc="50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to</a:t>
            </a:r>
            <a:r>
              <a:rPr sz="1150" spc="-2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notify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your</a:t>
            </a:r>
            <a:r>
              <a:rPr sz="1150" spc="-2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manager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and</a:t>
            </a:r>
            <a:r>
              <a:rPr sz="1150" spc="-2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the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Privacy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Office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immediately. </a:t>
            </a:r>
            <a:r>
              <a:rPr lang="en-US" sz="1150" dirty="0">
                <a:solidFill>
                  <a:srgbClr val="FFFFFF"/>
                </a:solidFill>
                <a:latin typeface="Avenir Book"/>
                <a:cs typeface="Avenir Book"/>
              </a:rPr>
              <a:t>Destiny Springs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FFFFFF"/>
                </a:solidFill>
                <a:latin typeface="Avenir Book"/>
                <a:cs typeface="Avenir Book"/>
              </a:rPr>
              <a:t>has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legal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obligations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that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it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must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perform</a:t>
            </a:r>
            <a:r>
              <a:rPr sz="1150" spc="50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in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these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situations,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including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a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report</a:t>
            </a:r>
            <a:r>
              <a:rPr sz="1150" spc="50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to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the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state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and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to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the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patient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whose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information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was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breached.</a:t>
            </a:r>
            <a:endParaRPr sz="1150" dirty="0">
              <a:latin typeface="Avenir Book"/>
              <a:cs typeface="Avenir Book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503646" y="7292298"/>
            <a:ext cx="133921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-45" dirty="0">
                <a:solidFill>
                  <a:srgbClr val="722B63"/>
                </a:solidFill>
                <a:latin typeface="Arial"/>
                <a:cs typeface="Arial"/>
              </a:rPr>
              <a:t>Living</a:t>
            </a:r>
            <a:r>
              <a:rPr sz="850" i="1" spc="-15" dirty="0">
                <a:solidFill>
                  <a:srgbClr val="722B63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722B63"/>
                </a:solidFill>
                <a:latin typeface="Arial"/>
                <a:cs typeface="Arial"/>
              </a:rPr>
              <a:t>our</a:t>
            </a:r>
            <a:r>
              <a:rPr sz="850" i="1" spc="15" dirty="0">
                <a:solidFill>
                  <a:srgbClr val="722B63"/>
                </a:solidFill>
                <a:latin typeface="Arial"/>
                <a:cs typeface="Arial"/>
              </a:rPr>
              <a:t> </a:t>
            </a:r>
            <a:r>
              <a:rPr sz="850" i="1" spc="-114" dirty="0">
                <a:solidFill>
                  <a:srgbClr val="722B63"/>
                </a:solidFill>
                <a:latin typeface="Arial"/>
                <a:cs typeface="Arial"/>
              </a:rPr>
              <a:t>Values</a:t>
            </a:r>
            <a:r>
              <a:rPr sz="850" i="1" spc="55" dirty="0">
                <a:solidFill>
                  <a:srgbClr val="722B63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47720"/>
                </a:solidFill>
                <a:latin typeface="Arial"/>
                <a:cs typeface="Arial"/>
              </a:rPr>
              <a:t>I</a:t>
            </a:r>
            <a:r>
              <a:rPr sz="850" b="1" spc="-40" dirty="0">
                <a:solidFill>
                  <a:srgbClr val="F47720"/>
                </a:solidFill>
                <a:latin typeface="Arial"/>
                <a:cs typeface="Arial"/>
              </a:rPr>
              <a:t> </a:t>
            </a:r>
            <a:r>
              <a:rPr sz="850" b="1" spc="-10" dirty="0">
                <a:solidFill>
                  <a:srgbClr val="5D6367"/>
                </a:solidFill>
                <a:latin typeface="Arial"/>
                <a:cs typeface="Arial"/>
              </a:rPr>
              <a:t>TRUST</a:t>
            </a:r>
            <a:r>
              <a:rPr sz="850" b="1" spc="215" dirty="0">
                <a:solidFill>
                  <a:srgbClr val="5D6367"/>
                </a:solidFill>
                <a:latin typeface="Arial"/>
                <a:cs typeface="Arial"/>
              </a:rPr>
              <a:t> </a:t>
            </a:r>
            <a:r>
              <a:rPr sz="850" b="1" spc="-25" dirty="0">
                <a:solidFill>
                  <a:srgbClr val="008BC0"/>
                </a:solidFill>
                <a:latin typeface="Arial"/>
                <a:cs typeface="Arial"/>
              </a:rPr>
              <a:t>18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3010" y="-117118"/>
            <a:ext cx="9352379" cy="2631440"/>
          </a:xfrm>
          <a:prstGeom prst="rect">
            <a:avLst/>
          </a:prstGeom>
        </p:spPr>
        <p:txBody>
          <a:bodyPr vert="horz" wrap="square" lIns="0" tIns="697230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5490"/>
              </a:spcBef>
            </a:pPr>
            <a:r>
              <a:rPr spc="-120" dirty="0"/>
              <a:t>I</a:t>
            </a:r>
            <a:r>
              <a:rPr spc="-480" dirty="0"/>
              <a:t>N</a:t>
            </a:r>
            <a:r>
              <a:rPr spc="-555" dirty="0"/>
              <a:t>T</a:t>
            </a:r>
            <a:r>
              <a:rPr spc="-760" dirty="0"/>
              <a:t>E</a:t>
            </a:r>
            <a:r>
              <a:rPr spc="-720" dirty="0"/>
              <a:t>G</a:t>
            </a:r>
            <a:r>
              <a:rPr spc="-120" dirty="0"/>
              <a:t>RI</a:t>
            </a:r>
            <a:r>
              <a:rPr spc="75" dirty="0"/>
              <a:t>T</a:t>
            </a:r>
            <a:r>
              <a:rPr spc="-120" dirty="0"/>
              <a:t>Y</a:t>
            </a:r>
          </a:p>
          <a:p>
            <a:pPr marL="121285">
              <a:lnSpc>
                <a:spcPct val="100000"/>
              </a:lnSpc>
              <a:spcBef>
                <a:spcPts val="970"/>
              </a:spcBef>
            </a:pPr>
            <a:r>
              <a:rPr sz="1800" b="0" i="1" spc="-160" dirty="0">
                <a:solidFill>
                  <a:srgbClr val="FFC425"/>
                </a:solidFill>
                <a:latin typeface="Arial"/>
                <a:cs typeface="Arial"/>
              </a:rPr>
              <a:t>Doing</a:t>
            </a:r>
            <a:r>
              <a:rPr sz="1800" b="0" i="1" spc="35" dirty="0">
                <a:solidFill>
                  <a:srgbClr val="FFC425"/>
                </a:solidFill>
                <a:latin typeface="Arial"/>
                <a:cs typeface="Arial"/>
              </a:rPr>
              <a:t> </a:t>
            </a:r>
            <a:r>
              <a:rPr sz="1800" b="0" i="1" spc="-260" dirty="0">
                <a:solidFill>
                  <a:srgbClr val="FFC425"/>
                </a:solidFill>
                <a:latin typeface="Arial"/>
                <a:cs typeface="Arial"/>
              </a:rPr>
              <a:t>the</a:t>
            </a:r>
            <a:r>
              <a:rPr sz="1800" b="0" i="1" spc="35" dirty="0">
                <a:solidFill>
                  <a:srgbClr val="FFC425"/>
                </a:solidFill>
                <a:latin typeface="Arial"/>
                <a:cs typeface="Arial"/>
              </a:rPr>
              <a:t> </a:t>
            </a:r>
            <a:r>
              <a:rPr sz="1800" b="0" i="1" spc="-30" dirty="0">
                <a:solidFill>
                  <a:srgbClr val="FFC425"/>
                </a:solidFill>
                <a:latin typeface="Arial"/>
                <a:cs typeface="Arial"/>
              </a:rPr>
              <a:t>right</a:t>
            </a:r>
            <a:r>
              <a:rPr sz="1800" b="0" i="1" spc="-95" dirty="0">
                <a:solidFill>
                  <a:srgbClr val="FFC425"/>
                </a:solidFill>
                <a:latin typeface="Arial"/>
                <a:cs typeface="Arial"/>
              </a:rPr>
              <a:t> </a:t>
            </a:r>
            <a:r>
              <a:rPr sz="1800" b="0" i="1" spc="-195" dirty="0">
                <a:solidFill>
                  <a:srgbClr val="FFC425"/>
                </a:solidFill>
                <a:latin typeface="Arial"/>
                <a:cs typeface="Arial"/>
              </a:rPr>
              <a:t>thing</a:t>
            </a:r>
            <a:r>
              <a:rPr sz="1800" b="0" i="1" spc="35" dirty="0">
                <a:solidFill>
                  <a:srgbClr val="FFC425"/>
                </a:solidFill>
                <a:latin typeface="Arial"/>
                <a:cs typeface="Arial"/>
              </a:rPr>
              <a:t> </a:t>
            </a:r>
            <a:r>
              <a:rPr sz="1800" b="0" i="1" spc="-10" dirty="0">
                <a:solidFill>
                  <a:srgbClr val="FFC425"/>
                </a:solidFill>
                <a:latin typeface="Arial"/>
                <a:cs typeface="Arial"/>
              </a:rPr>
              <a:t>for</a:t>
            </a:r>
            <a:r>
              <a:rPr sz="1800" b="0" i="1" spc="-114" dirty="0">
                <a:solidFill>
                  <a:srgbClr val="FFC425"/>
                </a:solidFill>
                <a:latin typeface="Arial"/>
                <a:cs typeface="Arial"/>
              </a:rPr>
              <a:t> </a:t>
            </a:r>
            <a:r>
              <a:rPr sz="1800" b="0" i="1" spc="-260" dirty="0">
                <a:solidFill>
                  <a:srgbClr val="FFC425"/>
                </a:solidFill>
                <a:latin typeface="Arial"/>
                <a:cs typeface="Arial"/>
              </a:rPr>
              <a:t>the</a:t>
            </a:r>
            <a:r>
              <a:rPr sz="1800" b="0" i="1" spc="35" dirty="0">
                <a:solidFill>
                  <a:srgbClr val="FFC425"/>
                </a:solidFill>
                <a:latin typeface="Arial"/>
                <a:cs typeface="Arial"/>
              </a:rPr>
              <a:t> </a:t>
            </a:r>
            <a:r>
              <a:rPr sz="1800" b="0" i="1" spc="-30" dirty="0">
                <a:solidFill>
                  <a:srgbClr val="FFC425"/>
                </a:solidFill>
                <a:latin typeface="Arial"/>
                <a:cs typeface="Arial"/>
              </a:rPr>
              <a:t>right</a:t>
            </a:r>
            <a:r>
              <a:rPr sz="1800" b="0" i="1" spc="-75" dirty="0">
                <a:solidFill>
                  <a:srgbClr val="FFC425"/>
                </a:solidFill>
                <a:latin typeface="Arial"/>
                <a:cs typeface="Arial"/>
              </a:rPr>
              <a:t> </a:t>
            </a:r>
            <a:r>
              <a:rPr sz="1800" b="0" i="1" spc="-45" dirty="0">
                <a:solidFill>
                  <a:srgbClr val="FFC425"/>
                </a:solidFill>
                <a:latin typeface="Arial"/>
                <a:cs typeface="Arial"/>
              </a:rPr>
              <a:t>reason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6531" y="3848727"/>
            <a:ext cx="3407410" cy="3172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309245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do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right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thing—whether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not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anyone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is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watching.</a:t>
            </a:r>
            <a:endParaRPr sz="1150" dirty="0">
              <a:latin typeface="Avenir Book"/>
              <a:cs typeface="Avenir Book"/>
            </a:endParaRPr>
          </a:p>
          <a:p>
            <a:pPr marL="241300" marR="38100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demonstrate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positive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values, ethical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behavior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and 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moral</a:t>
            </a: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conduct.</a:t>
            </a: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</a:t>
            </a: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choose</a:t>
            </a: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acts</a:t>
            </a: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that</a:t>
            </a: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show</a:t>
            </a: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respect.</a:t>
            </a:r>
            <a:endParaRPr sz="1150" dirty="0">
              <a:latin typeface="Avenir Book"/>
              <a:cs typeface="Avenir Book"/>
            </a:endParaRPr>
          </a:p>
          <a:p>
            <a:pPr marL="241300" marR="48260" indent="-228600" algn="just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  <a:tab pos="24384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	If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make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mistake,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admit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it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learn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from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the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situation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so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that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won’t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make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same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mistake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again.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Then,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move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on.</a:t>
            </a:r>
            <a:endParaRPr sz="1150" dirty="0">
              <a:latin typeface="Avenir Book"/>
              <a:cs typeface="Avenir Book"/>
            </a:endParaRPr>
          </a:p>
          <a:p>
            <a:pPr marL="241300" marR="5080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</a:t>
            </a: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am</a:t>
            </a: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fiscally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responsible</a:t>
            </a: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by</a:t>
            </a: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not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wasting</a:t>
            </a: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hospital 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time,</a:t>
            </a: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resources 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equipment.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act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like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an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owner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5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treat</a:t>
            </a:r>
            <a:r>
              <a:rPr sz="1150" spc="-5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company</a:t>
            </a:r>
            <a:r>
              <a:rPr sz="1150" spc="-5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resources</a:t>
            </a:r>
            <a:r>
              <a:rPr sz="1150" spc="-5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as</a:t>
            </a:r>
            <a:r>
              <a:rPr sz="1150" spc="-5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if</a:t>
            </a:r>
            <a:r>
              <a:rPr sz="1150" spc="-5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they</a:t>
            </a:r>
            <a:r>
              <a:rPr sz="1150" spc="-5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are</a:t>
            </a:r>
            <a:r>
              <a:rPr sz="1150" spc="-5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my</a:t>
            </a:r>
            <a:r>
              <a:rPr sz="1150" spc="-5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own.</a:t>
            </a:r>
            <a:endParaRPr sz="1150" dirty="0">
              <a:latin typeface="Avenir Book"/>
              <a:cs typeface="Avenir Book"/>
            </a:endParaRPr>
          </a:p>
          <a:p>
            <a:pPr marL="241300" marR="65405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uphold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lang="en-US" sz="1150" dirty="0">
                <a:solidFill>
                  <a:srgbClr val="231F20"/>
                </a:solidFill>
                <a:latin typeface="Avenir Book"/>
                <a:cs typeface="Avenir Book"/>
              </a:rPr>
              <a:t>Destiny Springs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’s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Code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Conduct,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dress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code,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policies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procedures;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speak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up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when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notice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others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do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not.</a:t>
            </a:r>
            <a:endParaRPr sz="1150" dirty="0">
              <a:latin typeface="Avenir Book"/>
              <a:cs typeface="Avenir Book"/>
            </a:endParaRPr>
          </a:p>
          <a:p>
            <a:pPr marL="241300" marR="198120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ensure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privacy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validity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all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medical records,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correspondence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confidential conversations.</a:t>
            </a:r>
            <a:endParaRPr sz="1150" dirty="0">
              <a:latin typeface="Avenir Book"/>
              <a:cs typeface="Avenir Boo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6531" y="3457870"/>
            <a:ext cx="30734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C425"/>
                </a:solidFill>
                <a:latin typeface="Arial"/>
                <a:cs typeface="Arial"/>
              </a:rPr>
              <a:t>INTEGRITY</a:t>
            </a:r>
            <a:r>
              <a:rPr sz="1400" b="1" spc="-55" dirty="0">
                <a:solidFill>
                  <a:srgbClr val="FFC425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C425"/>
                </a:solidFill>
                <a:latin typeface="Arial"/>
                <a:cs typeface="Arial"/>
              </a:rPr>
              <a:t>BEHAVIOR</a:t>
            </a:r>
            <a:r>
              <a:rPr sz="1400" b="1" spc="-50" dirty="0">
                <a:solidFill>
                  <a:srgbClr val="FFC425"/>
                </a:solidFill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FFC425"/>
                </a:solidFill>
                <a:latin typeface="Arial"/>
                <a:cs typeface="Arial"/>
              </a:rPr>
              <a:t>STANDARDS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043293" y="800099"/>
            <a:ext cx="786765" cy="725170"/>
          </a:xfrm>
          <a:custGeom>
            <a:avLst/>
            <a:gdLst/>
            <a:ahLst/>
            <a:cxnLst/>
            <a:rect l="l" t="t" r="r" b="b"/>
            <a:pathLst>
              <a:path w="786765" h="725169">
                <a:moveTo>
                  <a:pt x="724839" y="362419"/>
                </a:moveTo>
                <a:lnTo>
                  <a:pt x="723569" y="331914"/>
                </a:lnTo>
                <a:lnTo>
                  <a:pt x="719836" y="302107"/>
                </a:lnTo>
                <a:lnTo>
                  <a:pt x="713740" y="273100"/>
                </a:lnTo>
                <a:lnTo>
                  <a:pt x="705383" y="244995"/>
                </a:lnTo>
                <a:lnTo>
                  <a:pt x="689051" y="258622"/>
                </a:lnTo>
                <a:lnTo>
                  <a:pt x="673430" y="272034"/>
                </a:lnTo>
                <a:lnTo>
                  <a:pt x="658456" y="285280"/>
                </a:lnTo>
                <a:lnTo>
                  <a:pt x="644080" y="298399"/>
                </a:lnTo>
                <a:lnTo>
                  <a:pt x="647166" y="314007"/>
                </a:lnTo>
                <a:lnTo>
                  <a:pt x="649401" y="329895"/>
                </a:lnTo>
                <a:lnTo>
                  <a:pt x="650760" y="346036"/>
                </a:lnTo>
                <a:lnTo>
                  <a:pt x="651217" y="362419"/>
                </a:lnTo>
                <a:lnTo>
                  <a:pt x="647433" y="409270"/>
                </a:lnTo>
                <a:lnTo>
                  <a:pt x="636498" y="453707"/>
                </a:lnTo>
                <a:lnTo>
                  <a:pt x="618985" y="495147"/>
                </a:lnTo>
                <a:lnTo>
                  <a:pt x="595490" y="532980"/>
                </a:lnTo>
                <a:lnTo>
                  <a:pt x="566635" y="566635"/>
                </a:lnTo>
                <a:lnTo>
                  <a:pt x="532980" y="595503"/>
                </a:lnTo>
                <a:lnTo>
                  <a:pt x="495134" y="618985"/>
                </a:lnTo>
                <a:lnTo>
                  <a:pt x="453707" y="636498"/>
                </a:lnTo>
                <a:lnTo>
                  <a:pt x="409257" y="647446"/>
                </a:lnTo>
                <a:lnTo>
                  <a:pt x="362419" y="651217"/>
                </a:lnTo>
                <a:lnTo>
                  <a:pt x="315582" y="647446"/>
                </a:lnTo>
                <a:lnTo>
                  <a:pt x="271145" y="636498"/>
                </a:lnTo>
                <a:lnTo>
                  <a:pt x="229704" y="618985"/>
                </a:lnTo>
                <a:lnTo>
                  <a:pt x="191871" y="595503"/>
                </a:lnTo>
                <a:lnTo>
                  <a:pt x="158216" y="566635"/>
                </a:lnTo>
                <a:lnTo>
                  <a:pt x="129349" y="532980"/>
                </a:lnTo>
                <a:lnTo>
                  <a:pt x="105867" y="495147"/>
                </a:lnTo>
                <a:lnTo>
                  <a:pt x="88353" y="453707"/>
                </a:lnTo>
                <a:lnTo>
                  <a:pt x="77419" y="409270"/>
                </a:lnTo>
                <a:lnTo>
                  <a:pt x="73634" y="362419"/>
                </a:lnTo>
                <a:lnTo>
                  <a:pt x="77419" y="315582"/>
                </a:lnTo>
                <a:lnTo>
                  <a:pt x="88353" y="271145"/>
                </a:lnTo>
                <a:lnTo>
                  <a:pt x="105867" y="229704"/>
                </a:lnTo>
                <a:lnTo>
                  <a:pt x="129349" y="191871"/>
                </a:lnTo>
                <a:lnTo>
                  <a:pt x="158216" y="158216"/>
                </a:lnTo>
                <a:lnTo>
                  <a:pt x="191871" y="129349"/>
                </a:lnTo>
                <a:lnTo>
                  <a:pt x="229704" y="105867"/>
                </a:lnTo>
                <a:lnTo>
                  <a:pt x="271145" y="88353"/>
                </a:lnTo>
                <a:lnTo>
                  <a:pt x="315582" y="77419"/>
                </a:lnTo>
                <a:lnTo>
                  <a:pt x="362419" y="73634"/>
                </a:lnTo>
                <a:lnTo>
                  <a:pt x="407035" y="77063"/>
                </a:lnTo>
                <a:lnTo>
                  <a:pt x="449491" y="87007"/>
                </a:lnTo>
                <a:lnTo>
                  <a:pt x="489292" y="102946"/>
                </a:lnTo>
                <a:lnTo>
                  <a:pt x="525919" y="124358"/>
                </a:lnTo>
                <a:lnTo>
                  <a:pt x="542607" y="113576"/>
                </a:lnTo>
                <a:lnTo>
                  <a:pt x="559587" y="103225"/>
                </a:lnTo>
                <a:lnTo>
                  <a:pt x="576808" y="93332"/>
                </a:lnTo>
                <a:lnTo>
                  <a:pt x="594296" y="83883"/>
                </a:lnTo>
                <a:lnTo>
                  <a:pt x="554507" y="55054"/>
                </a:lnTo>
                <a:lnTo>
                  <a:pt x="510921" y="31737"/>
                </a:lnTo>
                <a:lnTo>
                  <a:pt x="464045" y="14452"/>
                </a:lnTo>
                <a:lnTo>
                  <a:pt x="414375" y="3695"/>
                </a:lnTo>
                <a:lnTo>
                  <a:pt x="362419" y="0"/>
                </a:lnTo>
                <a:lnTo>
                  <a:pt x="313245" y="3314"/>
                </a:lnTo>
                <a:lnTo>
                  <a:pt x="266077" y="12954"/>
                </a:lnTo>
                <a:lnTo>
                  <a:pt x="221348" y="28486"/>
                </a:lnTo>
                <a:lnTo>
                  <a:pt x="179501" y="49491"/>
                </a:lnTo>
                <a:lnTo>
                  <a:pt x="140957" y="75526"/>
                </a:lnTo>
                <a:lnTo>
                  <a:pt x="106146" y="106159"/>
                </a:lnTo>
                <a:lnTo>
                  <a:pt x="75514" y="140957"/>
                </a:lnTo>
                <a:lnTo>
                  <a:pt x="49479" y="179501"/>
                </a:lnTo>
                <a:lnTo>
                  <a:pt x="28486" y="221361"/>
                </a:lnTo>
                <a:lnTo>
                  <a:pt x="12941" y="266077"/>
                </a:lnTo>
                <a:lnTo>
                  <a:pt x="3302" y="313245"/>
                </a:lnTo>
                <a:lnTo>
                  <a:pt x="0" y="362419"/>
                </a:lnTo>
                <a:lnTo>
                  <a:pt x="3302" y="411607"/>
                </a:lnTo>
                <a:lnTo>
                  <a:pt x="12941" y="458774"/>
                </a:lnTo>
                <a:lnTo>
                  <a:pt x="28486" y="503491"/>
                </a:lnTo>
                <a:lnTo>
                  <a:pt x="49479" y="545350"/>
                </a:lnTo>
                <a:lnTo>
                  <a:pt x="75514" y="583895"/>
                </a:lnTo>
                <a:lnTo>
                  <a:pt x="106146" y="618693"/>
                </a:lnTo>
                <a:lnTo>
                  <a:pt x="140957" y="649325"/>
                </a:lnTo>
                <a:lnTo>
                  <a:pt x="179501" y="675360"/>
                </a:lnTo>
                <a:lnTo>
                  <a:pt x="221348" y="696366"/>
                </a:lnTo>
                <a:lnTo>
                  <a:pt x="266077" y="711898"/>
                </a:lnTo>
                <a:lnTo>
                  <a:pt x="313245" y="721537"/>
                </a:lnTo>
                <a:lnTo>
                  <a:pt x="362419" y="724839"/>
                </a:lnTo>
                <a:lnTo>
                  <a:pt x="411594" y="721537"/>
                </a:lnTo>
                <a:lnTo>
                  <a:pt x="458762" y="711898"/>
                </a:lnTo>
                <a:lnTo>
                  <a:pt x="503491" y="696366"/>
                </a:lnTo>
                <a:lnTo>
                  <a:pt x="545338" y="675360"/>
                </a:lnTo>
                <a:lnTo>
                  <a:pt x="583882" y="649325"/>
                </a:lnTo>
                <a:lnTo>
                  <a:pt x="618693" y="618693"/>
                </a:lnTo>
                <a:lnTo>
                  <a:pt x="649325" y="583895"/>
                </a:lnTo>
                <a:lnTo>
                  <a:pt x="675360" y="545350"/>
                </a:lnTo>
                <a:lnTo>
                  <a:pt x="696353" y="503491"/>
                </a:lnTo>
                <a:lnTo>
                  <a:pt x="711898" y="458774"/>
                </a:lnTo>
                <a:lnTo>
                  <a:pt x="721525" y="411607"/>
                </a:lnTo>
                <a:lnTo>
                  <a:pt x="724839" y="362419"/>
                </a:lnTo>
                <a:close/>
              </a:path>
              <a:path w="786765" h="725169">
                <a:moveTo>
                  <a:pt x="786739" y="109982"/>
                </a:moveTo>
                <a:lnTo>
                  <a:pt x="784275" y="98018"/>
                </a:lnTo>
                <a:lnTo>
                  <a:pt x="762647" y="90678"/>
                </a:lnTo>
                <a:lnTo>
                  <a:pt x="727367" y="93980"/>
                </a:lnTo>
                <a:lnTo>
                  <a:pt x="689495" y="103187"/>
                </a:lnTo>
                <a:lnTo>
                  <a:pt x="613054" y="136169"/>
                </a:lnTo>
                <a:lnTo>
                  <a:pt x="568934" y="161759"/>
                </a:lnTo>
                <a:lnTo>
                  <a:pt x="527723" y="190042"/>
                </a:lnTo>
                <a:lnTo>
                  <a:pt x="489394" y="220726"/>
                </a:lnTo>
                <a:lnTo>
                  <a:pt x="453961" y="253542"/>
                </a:lnTo>
                <a:lnTo>
                  <a:pt x="421424" y="288213"/>
                </a:lnTo>
                <a:lnTo>
                  <a:pt x="391756" y="324485"/>
                </a:lnTo>
                <a:lnTo>
                  <a:pt x="364972" y="362064"/>
                </a:lnTo>
                <a:lnTo>
                  <a:pt x="346925" y="335203"/>
                </a:lnTo>
                <a:lnTo>
                  <a:pt x="325297" y="305206"/>
                </a:lnTo>
                <a:lnTo>
                  <a:pt x="298818" y="275082"/>
                </a:lnTo>
                <a:lnTo>
                  <a:pt x="266255" y="247865"/>
                </a:lnTo>
                <a:lnTo>
                  <a:pt x="242176" y="237413"/>
                </a:lnTo>
                <a:lnTo>
                  <a:pt x="217614" y="238125"/>
                </a:lnTo>
                <a:lnTo>
                  <a:pt x="193230" y="249351"/>
                </a:lnTo>
                <a:lnTo>
                  <a:pt x="169646" y="270459"/>
                </a:lnTo>
                <a:lnTo>
                  <a:pt x="163131" y="289077"/>
                </a:lnTo>
                <a:lnTo>
                  <a:pt x="171958" y="308229"/>
                </a:lnTo>
                <a:lnTo>
                  <a:pt x="189331" y="328409"/>
                </a:lnTo>
                <a:lnTo>
                  <a:pt x="208445" y="350126"/>
                </a:lnTo>
                <a:lnTo>
                  <a:pt x="244017" y="398665"/>
                </a:lnTo>
                <a:lnTo>
                  <a:pt x="271373" y="440778"/>
                </a:lnTo>
                <a:lnTo>
                  <a:pt x="291045" y="474129"/>
                </a:lnTo>
                <a:lnTo>
                  <a:pt x="303568" y="496417"/>
                </a:lnTo>
                <a:lnTo>
                  <a:pt x="313842" y="511492"/>
                </a:lnTo>
                <a:lnTo>
                  <a:pt x="326326" y="524027"/>
                </a:lnTo>
                <a:lnTo>
                  <a:pt x="340817" y="532828"/>
                </a:lnTo>
                <a:lnTo>
                  <a:pt x="357174" y="536752"/>
                </a:lnTo>
                <a:lnTo>
                  <a:pt x="360984" y="536879"/>
                </a:lnTo>
                <a:lnTo>
                  <a:pt x="376694" y="534720"/>
                </a:lnTo>
                <a:lnTo>
                  <a:pt x="391033" y="528548"/>
                </a:lnTo>
                <a:lnTo>
                  <a:pt x="403415" y="518883"/>
                </a:lnTo>
                <a:lnTo>
                  <a:pt x="413245" y="506196"/>
                </a:lnTo>
                <a:lnTo>
                  <a:pt x="440055" y="462940"/>
                </a:lnTo>
                <a:lnTo>
                  <a:pt x="467360" y="422516"/>
                </a:lnTo>
                <a:lnTo>
                  <a:pt x="495554" y="384416"/>
                </a:lnTo>
                <a:lnTo>
                  <a:pt x="525068" y="348170"/>
                </a:lnTo>
                <a:lnTo>
                  <a:pt x="556310" y="313283"/>
                </a:lnTo>
                <a:lnTo>
                  <a:pt x="589711" y="279273"/>
                </a:lnTo>
                <a:lnTo>
                  <a:pt x="625678" y="245630"/>
                </a:lnTo>
                <a:lnTo>
                  <a:pt x="664641" y="211886"/>
                </a:lnTo>
                <a:lnTo>
                  <a:pt x="706996" y="177546"/>
                </a:lnTo>
                <a:lnTo>
                  <a:pt x="753173" y="142113"/>
                </a:lnTo>
                <a:lnTo>
                  <a:pt x="766089" y="132702"/>
                </a:lnTo>
                <a:lnTo>
                  <a:pt x="778979" y="121780"/>
                </a:lnTo>
                <a:lnTo>
                  <a:pt x="786739" y="109982"/>
                </a:lnTo>
                <a:close/>
              </a:path>
            </a:pathLst>
          </a:custGeom>
          <a:solidFill>
            <a:srgbClr val="FFC32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34355" y="4056112"/>
            <a:ext cx="4893856" cy="319265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106861" y="2995609"/>
            <a:ext cx="5721350" cy="1706236"/>
          </a:xfrm>
          <a:prstGeom prst="rect">
            <a:avLst/>
          </a:prstGeom>
          <a:ln w="3175">
            <a:solidFill>
              <a:srgbClr val="FFC425"/>
            </a:solidFill>
          </a:ln>
        </p:spPr>
        <p:txBody>
          <a:bodyPr vert="horz" wrap="square" lIns="0" tIns="64135" rIns="0" bIns="0" rtlCol="0">
            <a:spAutoFit/>
          </a:bodyPr>
          <a:lstStyle/>
          <a:p>
            <a:pPr marL="160020" marR="596265">
              <a:lnSpc>
                <a:spcPct val="100000"/>
              </a:lnSpc>
              <a:spcBef>
                <a:spcPts val="505"/>
              </a:spcBef>
            </a:pPr>
            <a:r>
              <a:rPr sz="1800" dirty="0">
                <a:solidFill>
                  <a:srgbClr val="00ACA1"/>
                </a:solidFill>
                <a:latin typeface="Avenir Book"/>
                <a:cs typeface="Avenir Book"/>
              </a:rPr>
              <a:t>“Not</a:t>
            </a:r>
            <a:r>
              <a:rPr sz="1800" spc="-30" dirty="0">
                <a:solidFill>
                  <a:srgbClr val="00ACA1"/>
                </a:solidFill>
                <a:latin typeface="Avenir Book"/>
                <a:cs typeface="Avenir Book"/>
              </a:rPr>
              <a:t> </a:t>
            </a:r>
            <a:r>
              <a:rPr sz="1800" dirty="0">
                <a:solidFill>
                  <a:srgbClr val="00ACA1"/>
                </a:solidFill>
                <a:latin typeface="Avenir Book"/>
                <a:cs typeface="Avenir Book"/>
              </a:rPr>
              <a:t>only</a:t>
            </a:r>
            <a:r>
              <a:rPr sz="1800" spc="-30" dirty="0">
                <a:solidFill>
                  <a:srgbClr val="00ACA1"/>
                </a:solidFill>
                <a:latin typeface="Avenir Book"/>
                <a:cs typeface="Avenir Book"/>
              </a:rPr>
              <a:t> </a:t>
            </a:r>
            <a:r>
              <a:rPr sz="1800" dirty="0">
                <a:solidFill>
                  <a:srgbClr val="00ACA1"/>
                </a:solidFill>
                <a:latin typeface="Avenir Book"/>
                <a:cs typeface="Avenir Book"/>
              </a:rPr>
              <a:t>was</a:t>
            </a:r>
            <a:r>
              <a:rPr sz="1800" spc="-25" dirty="0">
                <a:solidFill>
                  <a:srgbClr val="00ACA1"/>
                </a:solidFill>
                <a:latin typeface="Avenir Book"/>
                <a:cs typeface="Avenir Book"/>
              </a:rPr>
              <a:t> </a:t>
            </a:r>
            <a:r>
              <a:rPr sz="1800" dirty="0">
                <a:solidFill>
                  <a:srgbClr val="00ACA1"/>
                </a:solidFill>
                <a:latin typeface="Avenir Book"/>
                <a:cs typeface="Avenir Book"/>
              </a:rPr>
              <a:t>the</a:t>
            </a:r>
            <a:r>
              <a:rPr sz="1800" spc="-30" dirty="0">
                <a:solidFill>
                  <a:srgbClr val="00ACA1"/>
                </a:solidFill>
                <a:latin typeface="Avenir Book"/>
                <a:cs typeface="Avenir Book"/>
              </a:rPr>
              <a:t> </a:t>
            </a:r>
            <a:r>
              <a:rPr lang="en-US" sz="1800" dirty="0">
                <a:solidFill>
                  <a:srgbClr val="00ACA1"/>
                </a:solidFill>
                <a:latin typeface="Avenir Book"/>
                <a:cs typeface="Avenir Book"/>
              </a:rPr>
              <a:t>nurse </a:t>
            </a:r>
            <a:r>
              <a:rPr sz="1800" dirty="0">
                <a:solidFill>
                  <a:srgbClr val="00ACA1"/>
                </a:solidFill>
                <a:latin typeface="Avenir Book"/>
                <a:cs typeface="Avenir Book"/>
              </a:rPr>
              <a:t>who</a:t>
            </a:r>
            <a:r>
              <a:rPr sz="1800" spc="-30" dirty="0">
                <a:solidFill>
                  <a:srgbClr val="00ACA1"/>
                </a:solidFill>
                <a:latin typeface="Avenir Book"/>
                <a:cs typeface="Avenir Book"/>
              </a:rPr>
              <a:t> </a:t>
            </a:r>
            <a:r>
              <a:rPr sz="1800" dirty="0">
                <a:solidFill>
                  <a:srgbClr val="00ACA1"/>
                </a:solidFill>
                <a:latin typeface="Avenir Book"/>
                <a:cs typeface="Avenir Book"/>
              </a:rPr>
              <a:t>drew</a:t>
            </a:r>
            <a:r>
              <a:rPr sz="1800" spc="-25" dirty="0">
                <a:solidFill>
                  <a:srgbClr val="00ACA1"/>
                </a:solidFill>
                <a:latin typeface="Avenir Book"/>
                <a:cs typeface="Avenir Book"/>
              </a:rPr>
              <a:t> my </a:t>
            </a:r>
            <a:r>
              <a:rPr sz="1800" dirty="0">
                <a:solidFill>
                  <a:srgbClr val="00ACA1"/>
                </a:solidFill>
                <a:latin typeface="Avenir Book"/>
                <a:cs typeface="Avenir Book"/>
              </a:rPr>
              <a:t>blood</a:t>
            </a:r>
            <a:r>
              <a:rPr sz="1800" spc="-25" dirty="0">
                <a:solidFill>
                  <a:srgbClr val="00ACA1"/>
                </a:solidFill>
                <a:latin typeface="Avenir Book"/>
                <a:cs typeface="Avenir Book"/>
              </a:rPr>
              <a:t> </a:t>
            </a:r>
            <a:r>
              <a:rPr sz="1800" dirty="0">
                <a:solidFill>
                  <a:srgbClr val="00ACA1"/>
                </a:solidFill>
                <a:latin typeface="Avenir Book"/>
                <a:cs typeface="Avenir Book"/>
              </a:rPr>
              <a:t>professional,</a:t>
            </a:r>
            <a:r>
              <a:rPr sz="1800" spc="-20" dirty="0">
                <a:solidFill>
                  <a:srgbClr val="00ACA1"/>
                </a:solidFill>
                <a:latin typeface="Avenir Book"/>
                <a:cs typeface="Avenir Book"/>
              </a:rPr>
              <a:t> </a:t>
            </a:r>
            <a:r>
              <a:rPr sz="1800" dirty="0">
                <a:solidFill>
                  <a:srgbClr val="00ACA1"/>
                </a:solidFill>
                <a:latin typeface="Avenir Book"/>
                <a:cs typeface="Avenir Book"/>
              </a:rPr>
              <a:t>but</a:t>
            </a:r>
            <a:r>
              <a:rPr sz="1800" spc="-25" dirty="0">
                <a:solidFill>
                  <a:srgbClr val="00ACA1"/>
                </a:solidFill>
                <a:latin typeface="Avenir Book"/>
                <a:cs typeface="Avenir Book"/>
              </a:rPr>
              <a:t> </a:t>
            </a:r>
            <a:r>
              <a:rPr sz="1800" dirty="0">
                <a:solidFill>
                  <a:srgbClr val="00ACA1"/>
                </a:solidFill>
                <a:latin typeface="Avenir Book"/>
                <a:cs typeface="Avenir Book"/>
              </a:rPr>
              <a:t>she</a:t>
            </a:r>
            <a:r>
              <a:rPr sz="1800" spc="-20" dirty="0">
                <a:solidFill>
                  <a:srgbClr val="00ACA1"/>
                </a:solidFill>
                <a:latin typeface="Avenir Book"/>
                <a:cs typeface="Avenir Book"/>
              </a:rPr>
              <a:t> </a:t>
            </a:r>
            <a:r>
              <a:rPr sz="1800" dirty="0">
                <a:solidFill>
                  <a:srgbClr val="00ACA1"/>
                </a:solidFill>
                <a:latin typeface="Avenir Book"/>
                <a:cs typeface="Avenir Book"/>
              </a:rPr>
              <a:t>made</a:t>
            </a:r>
            <a:r>
              <a:rPr sz="1800" spc="-25" dirty="0">
                <a:solidFill>
                  <a:srgbClr val="00ACA1"/>
                </a:solidFill>
                <a:latin typeface="Avenir Book"/>
                <a:cs typeface="Avenir Book"/>
              </a:rPr>
              <a:t> </a:t>
            </a:r>
            <a:r>
              <a:rPr lang="en-US" sz="1800" dirty="0">
                <a:solidFill>
                  <a:srgbClr val="00ACA1"/>
                </a:solidFill>
                <a:latin typeface="Avenir Book"/>
                <a:cs typeface="Avenir Book"/>
              </a:rPr>
              <a:t>an extra effort to put my mind at ease as she could see I was very anxious about needles.” </a:t>
            </a:r>
            <a:endParaRPr sz="1800" dirty="0">
              <a:latin typeface="Avenir Book"/>
              <a:cs typeface="Avenir Book"/>
            </a:endParaRPr>
          </a:p>
          <a:p>
            <a:pPr marL="160020">
              <a:lnSpc>
                <a:spcPct val="100000"/>
              </a:lnSpc>
              <a:spcBef>
                <a:spcPts val="720"/>
              </a:spcBef>
            </a:pPr>
            <a:r>
              <a:rPr sz="1400" i="1" spc="90" dirty="0">
                <a:solidFill>
                  <a:srgbClr val="FFC425"/>
                </a:solidFill>
                <a:latin typeface="Arial"/>
                <a:cs typeface="Arial"/>
              </a:rPr>
              <a:t>-</a:t>
            </a:r>
            <a:r>
              <a:rPr sz="1400" i="1" spc="185" dirty="0">
                <a:solidFill>
                  <a:srgbClr val="FFC425"/>
                </a:solidFill>
                <a:latin typeface="Arial"/>
                <a:cs typeface="Arial"/>
              </a:rPr>
              <a:t>A</a:t>
            </a:r>
            <a:r>
              <a:rPr sz="1400" i="1" spc="30" dirty="0">
                <a:solidFill>
                  <a:srgbClr val="FFC425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FFC425"/>
                </a:solidFill>
                <a:latin typeface="Arial"/>
                <a:cs typeface="Arial"/>
              </a:rPr>
              <a:t>grateful</a:t>
            </a:r>
            <a:endParaRPr sz="1400" dirty="0">
              <a:latin typeface="Arial"/>
              <a:cs typeface="Arial"/>
            </a:endParaRPr>
          </a:p>
          <a:p>
            <a:pPr marL="160020">
              <a:lnSpc>
                <a:spcPct val="100000"/>
              </a:lnSpc>
              <a:spcBef>
                <a:spcPts val="120"/>
              </a:spcBef>
            </a:pPr>
            <a:r>
              <a:rPr lang="en-US" sz="1400" i="1" spc="-130" dirty="0">
                <a:solidFill>
                  <a:srgbClr val="FFC425"/>
                </a:solidFill>
                <a:latin typeface="Arial"/>
                <a:cs typeface="Arial"/>
              </a:rPr>
              <a:t>Destiny Springs</a:t>
            </a:r>
            <a:r>
              <a:rPr sz="1400" i="1" spc="70" dirty="0">
                <a:solidFill>
                  <a:srgbClr val="FFC425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FFC425"/>
                </a:solidFill>
                <a:latin typeface="Arial"/>
                <a:cs typeface="Arial"/>
              </a:rPr>
              <a:t>patient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12790" y="7286135"/>
            <a:ext cx="1529715" cy="1436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25" dirty="0">
                <a:solidFill>
                  <a:srgbClr val="00ACA1"/>
                </a:solidFill>
                <a:latin typeface="Arial"/>
                <a:cs typeface="Arial"/>
              </a:rPr>
              <a:t>VALUES</a:t>
            </a:r>
            <a:r>
              <a:rPr sz="850" b="1" spc="-5" dirty="0">
                <a:solidFill>
                  <a:srgbClr val="00ACA1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00ACA1"/>
                </a:solidFill>
                <a:latin typeface="Arial"/>
                <a:cs typeface="Arial"/>
              </a:rPr>
              <a:t>LINE</a:t>
            </a:r>
            <a:r>
              <a:rPr sz="850" b="1" spc="-5" dirty="0">
                <a:solidFill>
                  <a:srgbClr val="00ACA1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47720"/>
                </a:solidFill>
                <a:latin typeface="Arial"/>
                <a:cs typeface="Arial"/>
              </a:rPr>
              <a:t>I</a:t>
            </a:r>
            <a:r>
              <a:rPr sz="850" b="1" spc="-5" dirty="0">
                <a:solidFill>
                  <a:srgbClr val="F47720"/>
                </a:solidFill>
                <a:latin typeface="Arial"/>
                <a:cs typeface="Arial"/>
              </a:rPr>
              <a:t> </a:t>
            </a:r>
            <a:r>
              <a:rPr lang="en-US" sz="850" i="1" spc="-95" dirty="0">
                <a:solidFill>
                  <a:srgbClr val="FFC425"/>
                </a:solidFill>
                <a:latin typeface="Arial"/>
                <a:cs typeface="Arial"/>
              </a:rPr>
              <a:t>833.290.0001 </a:t>
            </a:r>
            <a:r>
              <a:rPr sz="850" b="1" spc="-25" dirty="0">
                <a:solidFill>
                  <a:srgbClr val="008BC0"/>
                </a:solidFill>
                <a:latin typeface="Arial"/>
                <a:cs typeface="Arial"/>
              </a:rPr>
              <a:t>19</a:t>
            </a:r>
            <a:endParaRPr sz="8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14269" y="4250612"/>
            <a:ext cx="1444625" cy="1444625"/>
          </a:xfrm>
          <a:custGeom>
            <a:avLst/>
            <a:gdLst/>
            <a:ahLst/>
            <a:cxnLst/>
            <a:rect l="l" t="t" r="r" b="b"/>
            <a:pathLst>
              <a:path w="1444625" h="1444625">
                <a:moveTo>
                  <a:pt x="722261" y="0"/>
                </a:moveTo>
                <a:lnTo>
                  <a:pt x="674772" y="1536"/>
                </a:lnTo>
                <a:lnTo>
                  <a:pt x="628104" y="6081"/>
                </a:lnTo>
                <a:lnTo>
                  <a:pt x="582350" y="13540"/>
                </a:lnTo>
                <a:lnTo>
                  <a:pt x="537608" y="23817"/>
                </a:lnTo>
                <a:lnTo>
                  <a:pt x="493971" y="36818"/>
                </a:lnTo>
                <a:lnTo>
                  <a:pt x="451534" y="52448"/>
                </a:lnTo>
                <a:lnTo>
                  <a:pt x="410395" y="70611"/>
                </a:lnTo>
                <a:lnTo>
                  <a:pt x="370646" y="91211"/>
                </a:lnTo>
                <a:lnTo>
                  <a:pt x="332383" y="114155"/>
                </a:lnTo>
                <a:lnTo>
                  <a:pt x="295703" y="139347"/>
                </a:lnTo>
                <a:lnTo>
                  <a:pt x="260699" y="166691"/>
                </a:lnTo>
                <a:lnTo>
                  <a:pt x="227467" y="196093"/>
                </a:lnTo>
                <a:lnTo>
                  <a:pt x="196102" y="227457"/>
                </a:lnTo>
                <a:lnTo>
                  <a:pt x="166699" y="260688"/>
                </a:lnTo>
                <a:lnTo>
                  <a:pt x="139354" y="295692"/>
                </a:lnTo>
                <a:lnTo>
                  <a:pt x="114161" y="332372"/>
                </a:lnTo>
                <a:lnTo>
                  <a:pt x="91217" y="370634"/>
                </a:lnTo>
                <a:lnTo>
                  <a:pt x="70615" y="410383"/>
                </a:lnTo>
                <a:lnTo>
                  <a:pt x="52451" y="451524"/>
                </a:lnTo>
                <a:lnTo>
                  <a:pt x="36821" y="493961"/>
                </a:lnTo>
                <a:lnTo>
                  <a:pt x="23819" y="537599"/>
                </a:lnTo>
                <a:lnTo>
                  <a:pt x="13541" y="582343"/>
                </a:lnTo>
                <a:lnTo>
                  <a:pt x="6081" y="628098"/>
                </a:lnTo>
                <a:lnTo>
                  <a:pt x="1536" y="674769"/>
                </a:lnTo>
                <a:lnTo>
                  <a:pt x="0" y="722261"/>
                </a:lnTo>
                <a:lnTo>
                  <a:pt x="1536" y="769752"/>
                </a:lnTo>
                <a:lnTo>
                  <a:pt x="6081" y="816421"/>
                </a:lnTo>
                <a:lnTo>
                  <a:pt x="13541" y="862176"/>
                </a:lnTo>
                <a:lnTo>
                  <a:pt x="23819" y="906919"/>
                </a:lnTo>
                <a:lnTo>
                  <a:pt x="36821" y="950557"/>
                </a:lnTo>
                <a:lnTo>
                  <a:pt x="52451" y="992993"/>
                </a:lnTo>
                <a:lnTo>
                  <a:pt x="70615" y="1034133"/>
                </a:lnTo>
                <a:lnTo>
                  <a:pt x="91217" y="1073882"/>
                </a:lnTo>
                <a:lnTo>
                  <a:pt x="114161" y="1112145"/>
                </a:lnTo>
                <a:lnTo>
                  <a:pt x="139354" y="1148825"/>
                </a:lnTo>
                <a:lnTo>
                  <a:pt x="166699" y="1183829"/>
                </a:lnTo>
                <a:lnTo>
                  <a:pt x="196102" y="1217061"/>
                </a:lnTo>
                <a:lnTo>
                  <a:pt x="227467" y="1248425"/>
                </a:lnTo>
                <a:lnTo>
                  <a:pt x="260699" y="1277827"/>
                </a:lnTo>
                <a:lnTo>
                  <a:pt x="295703" y="1305172"/>
                </a:lnTo>
                <a:lnTo>
                  <a:pt x="332383" y="1330364"/>
                </a:lnTo>
                <a:lnTo>
                  <a:pt x="370646" y="1353308"/>
                </a:lnTo>
                <a:lnTo>
                  <a:pt x="410395" y="1373910"/>
                </a:lnTo>
                <a:lnTo>
                  <a:pt x="451534" y="1392073"/>
                </a:lnTo>
                <a:lnTo>
                  <a:pt x="493971" y="1407703"/>
                </a:lnTo>
                <a:lnTo>
                  <a:pt x="537608" y="1420704"/>
                </a:lnTo>
                <a:lnTo>
                  <a:pt x="582350" y="1430982"/>
                </a:lnTo>
                <a:lnTo>
                  <a:pt x="628104" y="1438441"/>
                </a:lnTo>
                <a:lnTo>
                  <a:pt x="674772" y="1442987"/>
                </a:lnTo>
                <a:lnTo>
                  <a:pt x="722261" y="1444523"/>
                </a:lnTo>
                <a:lnTo>
                  <a:pt x="737715" y="1444326"/>
                </a:lnTo>
                <a:lnTo>
                  <a:pt x="753071" y="1443767"/>
                </a:lnTo>
                <a:lnTo>
                  <a:pt x="768342" y="1442894"/>
                </a:lnTo>
                <a:lnTo>
                  <a:pt x="783539" y="1441754"/>
                </a:lnTo>
                <a:lnTo>
                  <a:pt x="782797" y="1429888"/>
                </a:lnTo>
                <a:lnTo>
                  <a:pt x="782413" y="1417969"/>
                </a:lnTo>
                <a:lnTo>
                  <a:pt x="787074" y="1360586"/>
                </a:lnTo>
                <a:lnTo>
                  <a:pt x="804919" y="1296902"/>
                </a:lnTo>
                <a:lnTo>
                  <a:pt x="818464" y="1266939"/>
                </a:lnTo>
                <a:lnTo>
                  <a:pt x="779541" y="1262759"/>
                </a:lnTo>
                <a:lnTo>
                  <a:pt x="738563" y="1253361"/>
                </a:lnTo>
                <a:lnTo>
                  <a:pt x="695503" y="1238299"/>
                </a:lnTo>
                <a:lnTo>
                  <a:pt x="650333" y="1217125"/>
                </a:lnTo>
                <a:lnTo>
                  <a:pt x="603026" y="1189393"/>
                </a:lnTo>
                <a:lnTo>
                  <a:pt x="553554" y="1154657"/>
                </a:lnTo>
                <a:lnTo>
                  <a:pt x="501891" y="1112469"/>
                </a:lnTo>
                <a:lnTo>
                  <a:pt x="767354" y="1122139"/>
                </a:lnTo>
                <a:lnTo>
                  <a:pt x="929098" y="1105533"/>
                </a:lnTo>
                <a:lnTo>
                  <a:pt x="1053054" y="1044805"/>
                </a:lnTo>
                <a:lnTo>
                  <a:pt x="1205153" y="922108"/>
                </a:lnTo>
                <a:lnTo>
                  <a:pt x="1188732" y="971449"/>
                </a:lnTo>
                <a:lnTo>
                  <a:pt x="1174413" y="1005363"/>
                </a:lnTo>
                <a:lnTo>
                  <a:pt x="1154236" y="1039573"/>
                </a:lnTo>
                <a:lnTo>
                  <a:pt x="1120241" y="1089799"/>
                </a:lnTo>
                <a:lnTo>
                  <a:pt x="1169260" y="1095074"/>
                </a:lnTo>
                <a:lnTo>
                  <a:pt x="1216479" y="1107435"/>
                </a:lnTo>
                <a:lnTo>
                  <a:pt x="1261159" y="1126598"/>
                </a:lnTo>
                <a:lnTo>
                  <a:pt x="1302562" y="1152283"/>
                </a:lnTo>
                <a:lnTo>
                  <a:pt x="1330922" y="1111191"/>
                </a:lnTo>
                <a:lnTo>
                  <a:pt x="1356450" y="1068116"/>
                </a:lnTo>
                <a:lnTo>
                  <a:pt x="1379011" y="1023191"/>
                </a:lnTo>
                <a:lnTo>
                  <a:pt x="1398471" y="976549"/>
                </a:lnTo>
                <a:lnTo>
                  <a:pt x="1414695" y="928325"/>
                </a:lnTo>
                <a:lnTo>
                  <a:pt x="1427548" y="878650"/>
                </a:lnTo>
                <a:lnTo>
                  <a:pt x="1436896" y="827659"/>
                </a:lnTo>
                <a:lnTo>
                  <a:pt x="1442603" y="775485"/>
                </a:lnTo>
                <a:lnTo>
                  <a:pt x="1444536" y="722261"/>
                </a:lnTo>
                <a:lnTo>
                  <a:pt x="1442999" y="674769"/>
                </a:lnTo>
                <a:lnTo>
                  <a:pt x="1438455" y="628098"/>
                </a:lnTo>
                <a:lnTo>
                  <a:pt x="1430996" y="582343"/>
                </a:lnTo>
                <a:lnTo>
                  <a:pt x="1420719" y="537599"/>
                </a:lnTo>
                <a:lnTo>
                  <a:pt x="1407718" y="493961"/>
                </a:lnTo>
                <a:lnTo>
                  <a:pt x="1392089" y="451524"/>
                </a:lnTo>
                <a:lnTo>
                  <a:pt x="1373926" y="410383"/>
                </a:lnTo>
                <a:lnTo>
                  <a:pt x="1353326" y="370634"/>
                </a:lnTo>
                <a:lnTo>
                  <a:pt x="1330382" y="332372"/>
                </a:lnTo>
                <a:lnTo>
                  <a:pt x="1305191" y="295692"/>
                </a:lnTo>
                <a:lnTo>
                  <a:pt x="1277847" y="260688"/>
                </a:lnTo>
                <a:lnTo>
                  <a:pt x="1248446" y="227457"/>
                </a:lnTo>
                <a:lnTo>
                  <a:pt x="1217081" y="196093"/>
                </a:lnTo>
                <a:lnTo>
                  <a:pt x="1183850" y="166691"/>
                </a:lnTo>
                <a:lnTo>
                  <a:pt x="1148846" y="139347"/>
                </a:lnTo>
                <a:lnTo>
                  <a:pt x="1112165" y="114155"/>
                </a:lnTo>
                <a:lnTo>
                  <a:pt x="1073902" y="91211"/>
                </a:lnTo>
                <a:lnTo>
                  <a:pt x="1034152" y="70611"/>
                </a:lnTo>
                <a:lnTo>
                  <a:pt x="993011" y="52448"/>
                </a:lnTo>
                <a:lnTo>
                  <a:pt x="950573" y="36818"/>
                </a:lnTo>
                <a:lnTo>
                  <a:pt x="906933" y="23817"/>
                </a:lnTo>
                <a:lnTo>
                  <a:pt x="862187" y="13540"/>
                </a:lnTo>
                <a:lnTo>
                  <a:pt x="816429" y="6081"/>
                </a:lnTo>
                <a:lnTo>
                  <a:pt x="769756" y="1536"/>
                </a:lnTo>
                <a:lnTo>
                  <a:pt x="722261" y="0"/>
                </a:lnTo>
                <a:close/>
              </a:path>
            </a:pathLst>
          </a:custGeom>
          <a:solidFill>
            <a:srgbClr val="FFC4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38860" y="6531671"/>
            <a:ext cx="595630" cy="1240790"/>
          </a:xfrm>
          <a:custGeom>
            <a:avLst/>
            <a:gdLst/>
            <a:ahLst/>
            <a:cxnLst/>
            <a:rect l="l" t="t" r="r" b="b"/>
            <a:pathLst>
              <a:path w="595630" h="1240790">
                <a:moveTo>
                  <a:pt x="426933" y="0"/>
                </a:moveTo>
                <a:lnTo>
                  <a:pt x="395370" y="10297"/>
                </a:lnTo>
                <a:lnTo>
                  <a:pt x="363203" y="17733"/>
                </a:lnTo>
                <a:lnTo>
                  <a:pt x="330634" y="22243"/>
                </a:lnTo>
                <a:lnTo>
                  <a:pt x="297863" y="23761"/>
                </a:lnTo>
                <a:lnTo>
                  <a:pt x="264797" y="22258"/>
                </a:lnTo>
                <a:lnTo>
                  <a:pt x="232180" y="17757"/>
                </a:lnTo>
                <a:lnTo>
                  <a:pt x="199967" y="10327"/>
                </a:lnTo>
                <a:lnTo>
                  <a:pt x="168361" y="38"/>
                </a:lnTo>
                <a:lnTo>
                  <a:pt x="0" y="1240729"/>
                </a:lnTo>
                <a:lnTo>
                  <a:pt x="595344" y="1240729"/>
                </a:lnTo>
                <a:lnTo>
                  <a:pt x="426933" y="0"/>
                </a:lnTo>
                <a:close/>
              </a:path>
            </a:pathLst>
          </a:custGeom>
          <a:solidFill>
            <a:srgbClr val="FFC4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37769" y="5410491"/>
            <a:ext cx="3178175" cy="2362200"/>
          </a:xfrm>
          <a:custGeom>
            <a:avLst/>
            <a:gdLst/>
            <a:ahLst/>
            <a:cxnLst/>
            <a:rect l="l" t="t" r="r" b="b"/>
            <a:pathLst>
              <a:path w="3178175" h="2362200">
                <a:moveTo>
                  <a:pt x="2466975" y="1322552"/>
                </a:moveTo>
                <a:lnTo>
                  <a:pt x="2399182" y="1241005"/>
                </a:lnTo>
                <a:lnTo>
                  <a:pt x="2233409" y="1044803"/>
                </a:lnTo>
                <a:lnTo>
                  <a:pt x="1783600" y="522833"/>
                </a:lnTo>
                <a:lnTo>
                  <a:pt x="1737969" y="470344"/>
                </a:lnTo>
                <a:lnTo>
                  <a:pt x="1737004" y="468896"/>
                </a:lnTo>
                <a:lnTo>
                  <a:pt x="1735886" y="467550"/>
                </a:lnTo>
                <a:lnTo>
                  <a:pt x="973162" y="467550"/>
                </a:lnTo>
                <a:lnTo>
                  <a:pt x="967778" y="468033"/>
                </a:lnTo>
                <a:lnTo>
                  <a:pt x="962355" y="468388"/>
                </a:lnTo>
                <a:lnTo>
                  <a:pt x="898461" y="473925"/>
                </a:lnTo>
                <a:lnTo>
                  <a:pt x="860082" y="480809"/>
                </a:lnTo>
                <a:lnTo>
                  <a:pt x="818057" y="491350"/>
                </a:lnTo>
                <a:lnTo>
                  <a:pt x="772883" y="506196"/>
                </a:lnTo>
                <a:lnTo>
                  <a:pt x="725043" y="526046"/>
                </a:lnTo>
                <a:lnTo>
                  <a:pt x="675005" y="551548"/>
                </a:lnTo>
                <a:lnTo>
                  <a:pt x="623277" y="583399"/>
                </a:lnTo>
                <a:lnTo>
                  <a:pt x="570344" y="622274"/>
                </a:lnTo>
                <a:lnTo>
                  <a:pt x="516674" y="668820"/>
                </a:lnTo>
                <a:lnTo>
                  <a:pt x="473265" y="712381"/>
                </a:lnTo>
                <a:lnTo>
                  <a:pt x="431723" y="759726"/>
                </a:lnTo>
                <a:lnTo>
                  <a:pt x="392061" y="810856"/>
                </a:lnTo>
                <a:lnTo>
                  <a:pt x="354266" y="865759"/>
                </a:lnTo>
                <a:lnTo>
                  <a:pt x="318350" y="924433"/>
                </a:lnTo>
                <a:lnTo>
                  <a:pt x="284302" y="986878"/>
                </a:lnTo>
                <a:lnTo>
                  <a:pt x="252133" y="1053058"/>
                </a:lnTo>
                <a:lnTo>
                  <a:pt x="221856" y="1123010"/>
                </a:lnTo>
                <a:lnTo>
                  <a:pt x="207416" y="1159383"/>
                </a:lnTo>
                <a:lnTo>
                  <a:pt x="193446" y="1196682"/>
                </a:lnTo>
                <a:lnTo>
                  <a:pt x="179946" y="1234935"/>
                </a:lnTo>
                <a:lnTo>
                  <a:pt x="166916" y="1274102"/>
                </a:lnTo>
                <a:lnTo>
                  <a:pt x="154355" y="1314208"/>
                </a:lnTo>
                <a:lnTo>
                  <a:pt x="142265" y="1355255"/>
                </a:lnTo>
                <a:lnTo>
                  <a:pt x="130657" y="1397215"/>
                </a:lnTo>
                <a:lnTo>
                  <a:pt x="119507" y="1440116"/>
                </a:lnTo>
                <a:lnTo>
                  <a:pt x="108902" y="1483652"/>
                </a:lnTo>
                <a:lnTo>
                  <a:pt x="98628" y="1528699"/>
                </a:lnTo>
                <a:lnTo>
                  <a:pt x="88900" y="1574380"/>
                </a:lnTo>
                <a:lnTo>
                  <a:pt x="79641" y="1620989"/>
                </a:lnTo>
                <a:lnTo>
                  <a:pt x="70853" y="1668526"/>
                </a:lnTo>
                <a:lnTo>
                  <a:pt x="62534" y="1716989"/>
                </a:lnTo>
                <a:lnTo>
                  <a:pt x="54698" y="1766366"/>
                </a:lnTo>
                <a:lnTo>
                  <a:pt x="47320" y="1816671"/>
                </a:lnTo>
                <a:lnTo>
                  <a:pt x="40424" y="1867903"/>
                </a:lnTo>
                <a:lnTo>
                  <a:pt x="34023" y="1919897"/>
                </a:lnTo>
                <a:lnTo>
                  <a:pt x="28041" y="1973122"/>
                </a:lnTo>
                <a:lnTo>
                  <a:pt x="22567" y="2027110"/>
                </a:lnTo>
                <a:lnTo>
                  <a:pt x="17564" y="2082012"/>
                </a:lnTo>
                <a:lnTo>
                  <a:pt x="13030" y="2137841"/>
                </a:lnTo>
                <a:lnTo>
                  <a:pt x="8966" y="2194585"/>
                </a:lnTo>
                <a:lnTo>
                  <a:pt x="5372" y="2252243"/>
                </a:lnTo>
                <a:lnTo>
                  <a:pt x="2260" y="2310815"/>
                </a:lnTo>
                <a:lnTo>
                  <a:pt x="0" y="2361908"/>
                </a:lnTo>
                <a:lnTo>
                  <a:pt x="514654" y="2361908"/>
                </a:lnTo>
                <a:lnTo>
                  <a:pt x="515277" y="2347455"/>
                </a:lnTo>
                <a:lnTo>
                  <a:pt x="518375" y="2288514"/>
                </a:lnTo>
                <a:lnTo>
                  <a:pt x="521944" y="2231186"/>
                </a:lnTo>
                <a:lnTo>
                  <a:pt x="525970" y="2175446"/>
                </a:lnTo>
                <a:lnTo>
                  <a:pt x="530440" y="2121281"/>
                </a:lnTo>
                <a:lnTo>
                  <a:pt x="535343" y="2068664"/>
                </a:lnTo>
                <a:lnTo>
                  <a:pt x="540664" y="2017572"/>
                </a:lnTo>
                <a:lnTo>
                  <a:pt x="546366" y="1967992"/>
                </a:lnTo>
                <a:lnTo>
                  <a:pt x="552450" y="1920049"/>
                </a:lnTo>
                <a:lnTo>
                  <a:pt x="558927" y="1873275"/>
                </a:lnTo>
                <a:lnTo>
                  <a:pt x="565734" y="1828101"/>
                </a:lnTo>
                <a:lnTo>
                  <a:pt x="572884" y="1784362"/>
                </a:lnTo>
                <a:lnTo>
                  <a:pt x="580339" y="1742033"/>
                </a:lnTo>
                <a:lnTo>
                  <a:pt x="588111" y="1701101"/>
                </a:lnTo>
                <a:lnTo>
                  <a:pt x="596176" y="1661541"/>
                </a:lnTo>
                <a:lnTo>
                  <a:pt x="604494" y="1623326"/>
                </a:lnTo>
                <a:lnTo>
                  <a:pt x="621919" y="1550898"/>
                </a:lnTo>
                <a:lnTo>
                  <a:pt x="640156" y="1483944"/>
                </a:lnTo>
                <a:lnTo>
                  <a:pt x="659345" y="1421422"/>
                </a:lnTo>
                <a:lnTo>
                  <a:pt x="679107" y="1364068"/>
                </a:lnTo>
                <a:lnTo>
                  <a:pt x="699401" y="1311427"/>
                </a:lnTo>
                <a:lnTo>
                  <a:pt x="720115" y="1263345"/>
                </a:lnTo>
                <a:lnTo>
                  <a:pt x="730567" y="1241005"/>
                </a:lnTo>
                <a:lnTo>
                  <a:pt x="730580" y="2361908"/>
                </a:lnTo>
                <a:lnTo>
                  <a:pt x="2466975" y="2361908"/>
                </a:lnTo>
                <a:lnTo>
                  <a:pt x="2466975" y="1322552"/>
                </a:lnTo>
                <a:close/>
              </a:path>
              <a:path w="3178175" h="2362200">
                <a:moveTo>
                  <a:pt x="3177933" y="1395615"/>
                </a:moveTo>
                <a:lnTo>
                  <a:pt x="3174238" y="1347292"/>
                </a:lnTo>
                <a:lnTo>
                  <a:pt x="3160141" y="1293799"/>
                </a:lnTo>
                <a:lnTo>
                  <a:pt x="3133699" y="1235163"/>
                </a:lnTo>
                <a:lnTo>
                  <a:pt x="3092945" y="1171384"/>
                </a:lnTo>
                <a:lnTo>
                  <a:pt x="3044977" y="1108303"/>
                </a:lnTo>
                <a:lnTo>
                  <a:pt x="3014459" y="1069682"/>
                </a:lnTo>
                <a:lnTo>
                  <a:pt x="2979394" y="1026109"/>
                </a:lnTo>
                <a:lnTo>
                  <a:pt x="2939631" y="977468"/>
                </a:lnTo>
                <a:lnTo>
                  <a:pt x="2849613" y="868908"/>
                </a:lnTo>
                <a:lnTo>
                  <a:pt x="2741561" y="740613"/>
                </a:lnTo>
                <a:lnTo>
                  <a:pt x="2581541" y="552881"/>
                </a:lnTo>
                <a:lnTo>
                  <a:pt x="2353449" y="288188"/>
                </a:lnTo>
                <a:lnTo>
                  <a:pt x="2179904" y="88214"/>
                </a:lnTo>
                <a:lnTo>
                  <a:pt x="2146477" y="56108"/>
                </a:lnTo>
                <a:lnTo>
                  <a:pt x="2108962" y="31153"/>
                </a:lnTo>
                <a:lnTo>
                  <a:pt x="2068372" y="13436"/>
                </a:lnTo>
                <a:lnTo>
                  <a:pt x="2025726" y="3035"/>
                </a:lnTo>
                <a:lnTo>
                  <a:pt x="1982050" y="0"/>
                </a:lnTo>
                <a:lnTo>
                  <a:pt x="1938388" y="4419"/>
                </a:lnTo>
                <a:lnTo>
                  <a:pt x="1895729" y="16344"/>
                </a:lnTo>
                <a:lnTo>
                  <a:pt x="1855127" y="35877"/>
                </a:lnTo>
                <a:lnTo>
                  <a:pt x="1817585" y="63042"/>
                </a:lnTo>
                <a:lnTo>
                  <a:pt x="1785480" y="96469"/>
                </a:lnTo>
                <a:lnTo>
                  <a:pt x="1760537" y="133985"/>
                </a:lnTo>
                <a:lnTo>
                  <a:pt x="1742821" y="174586"/>
                </a:lnTo>
                <a:lnTo>
                  <a:pt x="1732407" y="217220"/>
                </a:lnTo>
                <a:lnTo>
                  <a:pt x="1729384" y="260883"/>
                </a:lnTo>
                <a:lnTo>
                  <a:pt x="1733791" y="304558"/>
                </a:lnTo>
                <a:lnTo>
                  <a:pt x="1745716" y="347205"/>
                </a:lnTo>
                <a:lnTo>
                  <a:pt x="1765236" y="387807"/>
                </a:lnTo>
                <a:lnTo>
                  <a:pt x="1792401" y="425335"/>
                </a:lnTo>
                <a:lnTo>
                  <a:pt x="2043823" y="715365"/>
                </a:lnTo>
                <a:lnTo>
                  <a:pt x="2256396" y="962888"/>
                </a:lnTo>
                <a:lnTo>
                  <a:pt x="2403310" y="1136065"/>
                </a:lnTo>
                <a:lnTo>
                  <a:pt x="2500744" y="1252575"/>
                </a:lnTo>
                <a:lnTo>
                  <a:pt x="2542692" y="1303388"/>
                </a:lnTo>
                <a:lnTo>
                  <a:pt x="2494229" y="1343190"/>
                </a:lnTo>
                <a:lnTo>
                  <a:pt x="2532786" y="1381582"/>
                </a:lnTo>
                <a:lnTo>
                  <a:pt x="2568384" y="1416672"/>
                </a:lnTo>
                <a:lnTo>
                  <a:pt x="2600960" y="1448396"/>
                </a:lnTo>
                <a:lnTo>
                  <a:pt x="2630424" y="1476667"/>
                </a:lnTo>
                <a:lnTo>
                  <a:pt x="2681490" y="1524190"/>
                </a:lnTo>
                <a:lnTo>
                  <a:pt x="2721635" y="1559255"/>
                </a:lnTo>
                <a:lnTo>
                  <a:pt x="2776093" y="1598104"/>
                </a:lnTo>
                <a:lnTo>
                  <a:pt x="2827820" y="1623339"/>
                </a:lnTo>
                <a:lnTo>
                  <a:pt x="2876359" y="1636991"/>
                </a:lnTo>
                <a:lnTo>
                  <a:pt x="2921254" y="1641081"/>
                </a:lnTo>
                <a:lnTo>
                  <a:pt x="2983293" y="1633131"/>
                </a:lnTo>
                <a:lnTo>
                  <a:pt x="3033484" y="1614462"/>
                </a:lnTo>
                <a:lnTo>
                  <a:pt x="3070060" y="1592935"/>
                </a:lnTo>
                <a:lnTo>
                  <a:pt x="3108896" y="1559318"/>
                </a:lnTo>
                <a:lnTo>
                  <a:pt x="3146209" y="1509483"/>
                </a:lnTo>
                <a:lnTo>
                  <a:pt x="3173196" y="1438770"/>
                </a:lnTo>
                <a:lnTo>
                  <a:pt x="3177933" y="1395615"/>
                </a:lnTo>
                <a:close/>
              </a:path>
            </a:pathLst>
          </a:custGeom>
          <a:solidFill>
            <a:srgbClr val="FFC4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687001" y="2292842"/>
            <a:ext cx="3009900" cy="2921000"/>
          </a:xfrm>
          <a:custGeom>
            <a:avLst/>
            <a:gdLst/>
            <a:ahLst/>
            <a:cxnLst/>
            <a:rect l="l" t="t" r="r" b="b"/>
            <a:pathLst>
              <a:path w="3009900" h="2921000">
                <a:moveTo>
                  <a:pt x="1843204" y="12699"/>
                </a:moveTo>
                <a:lnTo>
                  <a:pt x="1369377" y="12699"/>
                </a:lnTo>
                <a:lnTo>
                  <a:pt x="1233172" y="50799"/>
                </a:lnTo>
                <a:lnTo>
                  <a:pt x="1059966" y="101599"/>
                </a:lnTo>
                <a:lnTo>
                  <a:pt x="1018338" y="126999"/>
                </a:lnTo>
                <a:lnTo>
                  <a:pt x="977432" y="139699"/>
                </a:lnTo>
                <a:lnTo>
                  <a:pt x="937275" y="165099"/>
                </a:lnTo>
                <a:lnTo>
                  <a:pt x="897891" y="190499"/>
                </a:lnTo>
                <a:lnTo>
                  <a:pt x="859308" y="215899"/>
                </a:lnTo>
                <a:lnTo>
                  <a:pt x="821552" y="241299"/>
                </a:lnTo>
                <a:lnTo>
                  <a:pt x="784648" y="266699"/>
                </a:lnTo>
                <a:lnTo>
                  <a:pt x="748622" y="292099"/>
                </a:lnTo>
                <a:lnTo>
                  <a:pt x="713502" y="317499"/>
                </a:lnTo>
                <a:lnTo>
                  <a:pt x="679312" y="342899"/>
                </a:lnTo>
                <a:lnTo>
                  <a:pt x="646080" y="380999"/>
                </a:lnTo>
                <a:lnTo>
                  <a:pt x="613830" y="406399"/>
                </a:lnTo>
                <a:lnTo>
                  <a:pt x="582590" y="444499"/>
                </a:lnTo>
                <a:lnTo>
                  <a:pt x="552386" y="469899"/>
                </a:lnTo>
                <a:lnTo>
                  <a:pt x="523243" y="507999"/>
                </a:lnTo>
                <a:lnTo>
                  <a:pt x="495188" y="546099"/>
                </a:lnTo>
                <a:lnTo>
                  <a:pt x="468246" y="571499"/>
                </a:lnTo>
                <a:lnTo>
                  <a:pt x="442445" y="609599"/>
                </a:lnTo>
                <a:lnTo>
                  <a:pt x="417810" y="647699"/>
                </a:lnTo>
                <a:lnTo>
                  <a:pt x="394366" y="685799"/>
                </a:lnTo>
                <a:lnTo>
                  <a:pt x="372142" y="723899"/>
                </a:lnTo>
                <a:lnTo>
                  <a:pt x="351162" y="774699"/>
                </a:lnTo>
                <a:lnTo>
                  <a:pt x="331452" y="812799"/>
                </a:lnTo>
                <a:lnTo>
                  <a:pt x="313039" y="850899"/>
                </a:lnTo>
                <a:lnTo>
                  <a:pt x="295949" y="888999"/>
                </a:lnTo>
                <a:lnTo>
                  <a:pt x="280208" y="939799"/>
                </a:lnTo>
                <a:lnTo>
                  <a:pt x="265843" y="977899"/>
                </a:lnTo>
                <a:lnTo>
                  <a:pt x="252878" y="1028699"/>
                </a:lnTo>
                <a:lnTo>
                  <a:pt x="241341" y="1066799"/>
                </a:lnTo>
                <a:lnTo>
                  <a:pt x="231257" y="1117599"/>
                </a:lnTo>
                <a:lnTo>
                  <a:pt x="222653" y="1168399"/>
                </a:lnTo>
                <a:lnTo>
                  <a:pt x="215555" y="1206499"/>
                </a:lnTo>
                <a:lnTo>
                  <a:pt x="209989" y="1257299"/>
                </a:lnTo>
                <a:lnTo>
                  <a:pt x="205980" y="1308099"/>
                </a:lnTo>
                <a:lnTo>
                  <a:pt x="203556" y="1346199"/>
                </a:lnTo>
                <a:lnTo>
                  <a:pt x="202742" y="1396999"/>
                </a:lnTo>
                <a:lnTo>
                  <a:pt x="203683" y="1447799"/>
                </a:lnTo>
                <a:lnTo>
                  <a:pt x="206482" y="1498599"/>
                </a:lnTo>
                <a:lnTo>
                  <a:pt x="211107" y="1549399"/>
                </a:lnTo>
                <a:lnTo>
                  <a:pt x="217527" y="1600199"/>
                </a:lnTo>
                <a:lnTo>
                  <a:pt x="225707" y="1650999"/>
                </a:lnTo>
                <a:lnTo>
                  <a:pt x="235615" y="1701799"/>
                </a:lnTo>
                <a:lnTo>
                  <a:pt x="247219" y="1752599"/>
                </a:lnTo>
                <a:lnTo>
                  <a:pt x="260486" y="1803399"/>
                </a:lnTo>
                <a:lnTo>
                  <a:pt x="275383" y="1841499"/>
                </a:lnTo>
                <a:lnTo>
                  <a:pt x="291878" y="1892299"/>
                </a:lnTo>
                <a:lnTo>
                  <a:pt x="309938" y="1943099"/>
                </a:lnTo>
                <a:lnTo>
                  <a:pt x="329530" y="1981199"/>
                </a:lnTo>
                <a:lnTo>
                  <a:pt x="350621" y="2031999"/>
                </a:lnTo>
                <a:lnTo>
                  <a:pt x="373180" y="2070099"/>
                </a:lnTo>
                <a:lnTo>
                  <a:pt x="397173" y="2108199"/>
                </a:lnTo>
                <a:lnTo>
                  <a:pt x="422567" y="2158999"/>
                </a:lnTo>
                <a:lnTo>
                  <a:pt x="449331" y="2197099"/>
                </a:lnTo>
                <a:lnTo>
                  <a:pt x="477431" y="2235199"/>
                </a:lnTo>
                <a:lnTo>
                  <a:pt x="0" y="2920999"/>
                </a:lnTo>
                <a:lnTo>
                  <a:pt x="777227" y="2527299"/>
                </a:lnTo>
                <a:lnTo>
                  <a:pt x="1153052" y="2527299"/>
                </a:lnTo>
                <a:lnTo>
                  <a:pt x="1110645" y="2501899"/>
                </a:lnTo>
                <a:lnTo>
                  <a:pt x="1069109" y="2489199"/>
                </a:lnTo>
                <a:lnTo>
                  <a:pt x="1028483" y="2463799"/>
                </a:lnTo>
                <a:lnTo>
                  <a:pt x="988808" y="2438399"/>
                </a:lnTo>
                <a:lnTo>
                  <a:pt x="950122" y="2425699"/>
                </a:lnTo>
                <a:lnTo>
                  <a:pt x="912466" y="2400299"/>
                </a:lnTo>
                <a:lnTo>
                  <a:pt x="875880" y="2362199"/>
                </a:lnTo>
                <a:lnTo>
                  <a:pt x="840403" y="2336799"/>
                </a:lnTo>
                <a:lnTo>
                  <a:pt x="806075" y="2311399"/>
                </a:lnTo>
                <a:lnTo>
                  <a:pt x="772936" y="2285999"/>
                </a:lnTo>
                <a:lnTo>
                  <a:pt x="741025" y="2247899"/>
                </a:lnTo>
                <a:lnTo>
                  <a:pt x="710383" y="2209799"/>
                </a:lnTo>
                <a:lnTo>
                  <a:pt x="681049" y="2184399"/>
                </a:lnTo>
                <a:lnTo>
                  <a:pt x="653063" y="2146299"/>
                </a:lnTo>
                <a:lnTo>
                  <a:pt x="626465" y="2108199"/>
                </a:lnTo>
                <a:lnTo>
                  <a:pt x="601295" y="2070099"/>
                </a:lnTo>
                <a:lnTo>
                  <a:pt x="577592" y="2031999"/>
                </a:lnTo>
                <a:lnTo>
                  <a:pt x="555396" y="1993899"/>
                </a:lnTo>
                <a:lnTo>
                  <a:pt x="534748" y="1955799"/>
                </a:lnTo>
                <a:lnTo>
                  <a:pt x="515686" y="1904999"/>
                </a:lnTo>
                <a:lnTo>
                  <a:pt x="498250" y="1866899"/>
                </a:lnTo>
                <a:lnTo>
                  <a:pt x="482481" y="1828799"/>
                </a:lnTo>
                <a:lnTo>
                  <a:pt x="468419" y="1777999"/>
                </a:lnTo>
                <a:lnTo>
                  <a:pt x="456102" y="1739899"/>
                </a:lnTo>
                <a:lnTo>
                  <a:pt x="445570" y="1689099"/>
                </a:lnTo>
                <a:lnTo>
                  <a:pt x="436865" y="1638299"/>
                </a:lnTo>
                <a:lnTo>
                  <a:pt x="430025" y="1600199"/>
                </a:lnTo>
                <a:lnTo>
                  <a:pt x="425089" y="1549399"/>
                </a:lnTo>
                <a:lnTo>
                  <a:pt x="422099" y="1498599"/>
                </a:lnTo>
                <a:lnTo>
                  <a:pt x="421093" y="1447799"/>
                </a:lnTo>
                <a:lnTo>
                  <a:pt x="422099" y="1409699"/>
                </a:lnTo>
                <a:lnTo>
                  <a:pt x="425089" y="1358899"/>
                </a:lnTo>
                <a:lnTo>
                  <a:pt x="430025" y="1308099"/>
                </a:lnTo>
                <a:lnTo>
                  <a:pt x="436865" y="1257299"/>
                </a:lnTo>
                <a:lnTo>
                  <a:pt x="445570" y="1219199"/>
                </a:lnTo>
                <a:lnTo>
                  <a:pt x="456102" y="1168399"/>
                </a:lnTo>
                <a:lnTo>
                  <a:pt x="468419" y="1130299"/>
                </a:lnTo>
                <a:lnTo>
                  <a:pt x="482481" y="1079499"/>
                </a:lnTo>
                <a:lnTo>
                  <a:pt x="498250" y="1041399"/>
                </a:lnTo>
                <a:lnTo>
                  <a:pt x="515686" y="990599"/>
                </a:lnTo>
                <a:lnTo>
                  <a:pt x="534748" y="952499"/>
                </a:lnTo>
                <a:lnTo>
                  <a:pt x="555396" y="914399"/>
                </a:lnTo>
                <a:lnTo>
                  <a:pt x="577592" y="876299"/>
                </a:lnTo>
                <a:lnTo>
                  <a:pt x="601295" y="838199"/>
                </a:lnTo>
                <a:lnTo>
                  <a:pt x="626465" y="800099"/>
                </a:lnTo>
                <a:lnTo>
                  <a:pt x="653063" y="761999"/>
                </a:lnTo>
                <a:lnTo>
                  <a:pt x="681049" y="723899"/>
                </a:lnTo>
                <a:lnTo>
                  <a:pt x="710383" y="698499"/>
                </a:lnTo>
                <a:lnTo>
                  <a:pt x="741025" y="660399"/>
                </a:lnTo>
                <a:lnTo>
                  <a:pt x="772936" y="622299"/>
                </a:lnTo>
                <a:lnTo>
                  <a:pt x="806075" y="596899"/>
                </a:lnTo>
                <a:lnTo>
                  <a:pt x="840403" y="571499"/>
                </a:lnTo>
                <a:lnTo>
                  <a:pt x="875880" y="533399"/>
                </a:lnTo>
                <a:lnTo>
                  <a:pt x="912466" y="507999"/>
                </a:lnTo>
                <a:lnTo>
                  <a:pt x="950122" y="482599"/>
                </a:lnTo>
                <a:lnTo>
                  <a:pt x="988808" y="469899"/>
                </a:lnTo>
                <a:lnTo>
                  <a:pt x="1028483" y="444499"/>
                </a:lnTo>
                <a:lnTo>
                  <a:pt x="1069109" y="419099"/>
                </a:lnTo>
                <a:lnTo>
                  <a:pt x="1110645" y="406399"/>
                </a:lnTo>
                <a:lnTo>
                  <a:pt x="1153052" y="380999"/>
                </a:lnTo>
                <a:lnTo>
                  <a:pt x="1330587" y="330199"/>
                </a:lnTo>
                <a:lnTo>
                  <a:pt x="1376750" y="317499"/>
                </a:lnTo>
                <a:lnTo>
                  <a:pt x="1470930" y="317499"/>
                </a:lnTo>
                <a:lnTo>
                  <a:pt x="1518868" y="304799"/>
                </a:lnTo>
                <a:lnTo>
                  <a:pt x="2481508" y="304799"/>
                </a:lnTo>
                <a:lnTo>
                  <a:pt x="2463948" y="292099"/>
                </a:lnTo>
                <a:lnTo>
                  <a:pt x="2427923" y="266699"/>
                </a:lnTo>
                <a:lnTo>
                  <a:pt x="2391019" y="241299"/>
                </a:lnTo>
                <a:lnTo>
                  <a:pt x="2353262" y="215899"/>
                </a:lnTo>
                <a:lnTo>
                  <a:pt x="2314679" y="190499"/>
                </a:lnTo>
                <a:lnTo>
                  <a:pt x="2275296" y="165099"/>
                </a:lnTo>
                <a:lnTo>
                  <a:pt x="2235139" y="139699"/>
                </a:lnTo>
                <a:lnTo>
                  <a:pt x="2194234" y="126999"/>
                </a:lnTo>
                <a:lnTo>
                  <a:pt x="2152607" y="101599"/>
                </a:lnTo>
                <a:lnTo>
                  <a:pt x="1979404" y="50799"/>
                </a:lnTo>
                <a:lnTo>
                  <a:pt x="1843204" y="12699"/>
                </a:lnTo>
                <a:close/>
              </a:path>
              <a:path w="3009900" h="2921000">
                <a:moveTo>
                  <a:pt x="1702388" y="2793999"/>
                </a:moveTo>
                <a:lnTo>
                  <a:pt x="1503818" y="2793999"/>
                </a:lnTo>
                <a:lnTo>
                  <a:pt x="1554822" y="2806699"/>
                </a:lnTo>
                <a:lnTo>
                  <a:pt x="1654546" y="2806699"/>
                </a:lnTo>
                <a:lnTo>
                  <a:pt x="1702388" y="2793999"/>
                </a:lnTo>
                <a:close/>
              </a:path>
              <a:path w="3009900" h="2921000">
                <a:moveTo>
                  <a:pt x="1153052" y="2527299"/>
                </a:moveTo>
                <a:lnTo>
                  <a:pt x="777227" y="2527299"/>
                </a:lnTo>
                <a:lnTo>
                  <a:pt x="816448" y="2565399"/>
                </a:lnTo>
                <a:lnTo>
                  <a:pt x="856641" y="2590799"/>
                </a:lnTo>
                <a:lnTo>
                  <a:pt x="897775" y="2616199"/>
                </a:lnTo>
                <a:lnTo>
                  <a:pt x="939818" y="2628899"/>
                </a:lnTo>
                <a:lnTo>
                  <a:pt x="982738" y="2654299"/>
                </a:lnTo>
                <a:lnTo>
                  <a:pt x="1026506" y="2679699"/>
                </a:lnTo>
                <a:lnTo>
                  <a:pt x="1071088" y="2692399"/>
                </a:lnTo>
                <a:lnTo>
                  <a:pt x="1116454" y="2717799"/>
                </a:lnTo>
                <a:lnTo>
                  <a:pt x="1162572" y="2730499"/>
                </a:lnTo>
                <a:lnTo>
                  <a:pt x="1403344" y="2793999"/>
                </a:lnTo>
                <a:lnTo>
                  <a:pt x="1796743" y="2793999"/>
                </a:lnTo>
                <a:lnTo>
                  <a:pt x="1889151" y="2768599"/>
                </a:lnTo>
                <a:lnTo>
                  <a:pt x="1934560" y="2768599"/>
                </a:lnTo>
                <a:lnTo>
                  <a:pt x="2067293" y="2730499"/>
                </a:lnTo>
                <a:lnTo>
                  <a:pt x="2110285" y="2705099"/>
                </a:lnTo>
                <a:lnTo>
                  <a:pt x="2194234" y="2679699"/>
                </a:lnTo>
                <a:lnTo>
                  <a:pt x="2235139" y="2654299"/>
                </a:lnTo>
                <a:lnTo>
                  <a:pt x="2275296" y="2628899"/>
                </a:lnTo>
                <a:lnTo>
                  <a:pt x="2314679" y="2616199"/>
                </a:lnTo>
                <a:lnTo>
                  <a:pt x="2333971" y="2603499"/>
                </a:lnTo>
                <a:lnTo>
                  <a:pt x="1518868" y="2603499"/>
                </a:lnTo>
                <a:lnTo>
                  <a:pt x="1470930" y="2590799"/>
                </a:lnTo>
                <a:lnTo>
                  <a:pt x="1423544" y="2590799"/>
                </a:lnTo>
                <a:lnTo>
                  <a:pt x="1376750" y="2578099"/>
                </a:lnTo>
                <a:lnTo>
                  <a:pt x="1330587" y="2578099"/>
                </a:lnTo>
                <a:lnTo>
                  <a:pt x="1196289" y="2539999"/>
                </a:lnTo>
                <a:lnTo>
                  <a:pt x="1153052" y="2527299"/>
                </a:lnTo>
                <a:close/>
              </a:path>
              <a:path w="3009900" h="2921000">
                <a:moveTo>
                  <a:pt x="2481508" y="304799"/>
                </a:moveTo>
                <a:lnTo>
                  <a:pt x="1615768" y="304799"/>
                </a:lnTo>
                <a:lnTo>
                  <a:pt x="1663705" y="317499"/>
                </a:lnTo>
                <a:lnTo>
                  <a:pt x="1757883" y="317499"/>
                </a:lnTo>
                <a:lnTo>
                  <a:pt x="1804045" y="330199"/>
                </a:lnTo>
                <a:lnTo>
                  <a:pt x="1981580" y="380999"/>
                </a:lnTo>
                <a:lnTo>
                  <a:pt x="2023987" y="406399"/>
                </a:lnTo>
                <a:lnTo>
                  <a:pt x="2065523" y="419099"/>
                </a:lnTo>
                <a:lnTo>
                  <a:pt x="2106150" y="444499"/>
                </a:lnTo>
                <a:lnTo>
                  <a:pt x="2145826" y="469899"/>
                </a:lnTo>
                <a:lnTo>
                  <a:pt x="2184512" y="482599"/>
                </a:lnTo>
                <a:lnTo>
                  <a:pt x="2222169" y="507999"/>
                </a:lnTo>
                <a:lnTo>
                  <a:pt x="2258757" y="533399"/>
                </a:lnTo>
                <a:lnTo>
                  <a:pt x="2294235" y="571499"/>
                </a:lnTo>
                <a:lnTo>
                  <a:pt x="2328565" y="596899"/>
                </a:lnTo>
                <a:lnTo>
                  <a:pt x="2361705" y="622299"/>
                </a:lnTo>
                <a:lnTo>
                  <a:pt x="2393617" y="660399"/>
                </a:lnTo>
                <a:lnTo>
                  <a:pt x="2424261" y="698499"/>
                </a:lnTo>
                <a:lnTo>
                  <a:pt x="2453596" y="723899"/>
                </a:lnTo>
                <a:lnTo>
                  <a:pt x="2481584" y="761999"/>
                </a:lnTo>
                <a:lnTo>
                  <a:pt x="2508183" y="800099"/>
                </a:lnTo>
                <a:lnTo>
                  <a:pt x="2533355" y="838199"/>
                </a:lnTo>
                <a:lnTo>
                  <a:pt x="2557059" y="876299"/>
                </a:lnTo>
                <a:lnTo>
                  <a:pt x="2579257" y="914399"/>
                </a:lnTo>
                <a:lnTo>
                  <a:pt x="2599907" y="952499"/>
                </a:lnTo>
                <a:lnTo>
                  <a:pt x="2618970" y="990599"/>
                </a:lnTo>
                <a:lnTo>
                  <a:pt x="2636407" y="1041399"/>
                </a:lnTo>
                <a:lnTo>
                  <a:pt x="2652177" y="1079499"/>
                </a:lnTo>
                <a:lnTo>
                  <a:pt x="2666241" y="1130299"/>
                </a:lnTo>
                <a:lnTo>
                  <a:pt x="2678559" y="1168399"/>
                </a:lnTo>
                <a:lnTo>
                  <a:pt x="2689091" y="1219199"/>
                </a:lnTo>
                <a:lnTo>
                  <a:pt x="2697797" y="1257299"/>
                </a:lnTo>
                <a:lnTo>
                  <a:pt x="2704638" y="1308099"/>
                </a:lnTo>
                <a:lnTo>
                  <a:pt x="2709574" y="1358899"/>
                </a:lnTo>
                <a:lnTo>
                  <a:pt x="2712565" y="1409699"/>
                </a:lnTo>
                <a:lnTo>
                  <a:pt x="2713570" y="1447799"/>
                </a:lnTo>
                <a:lnTo>
                  <a:pt x="2712565" y="1498599"/>
                </a:lnTo>
                <a:lnTo>
                  <a:pt x="2709574" y="1549399"/>
                </a:lnTo>
                <a:lnTo>
                  <a:pt x="2704638" y="1600199"/>
                </a:lnTo>
                <a:lnTo>
                  <a:pt x="2697797" y="1638299"/>
                </a:lnTo>
                <a:lnTo>
                  <a:pt x="2689091" y="1689099"/>
                </a:lnTo>
                <a:lnTo>
                  <a:pt x="2678559" y="1739899"/>
                </a:lnTo>
                <a:lnTo>
                  <a:pt x="2666241" y="1777999"/>
                </a:lnTo>
                <a:lnTo>
                  <a:pt x="2652177" y="1828799"/>
                </a:lnTo>
                <a:lnTo>
                  <a:pt x="2636407" y="1866899"/>
                </a:lnTo>
                <a:lnTo>
                  <a:pt x="2618970" y="1904999"/>
                </a:lnTo>
                <a:lnTo>
                  <a:pt x="2599907" y="1955799"/>
                </a:lnTo>
                <a:lnTo>
                  <a:pt x="2579257" y="1993899"/>
                </a:lnTo>
                <a:lnTo>
                  <a:pt x="2557059" y="2031999"/>
                </a:lnTo>
                <a:lnTo>
                  <a:pt x="2533355" y="2070099"/>
                </a:lnTo>
                <a:lnTo>
                  <a:pt x="2508183" y="2108199"/>
                </a:lnTo>
                <a:lnTo>
                  <a:pt x="2481584" y="2146299"/>
                </a:lnTo>
                <a:lnTo>
                  <a:pt x="2453596" y="2184399"/>
                </a:lnTo>
                <a:lnTo>
                  <a:pt x="2424261" y="2209799"/>
                </a:lnTo>
                <a:lnTo>
                  <a:pt x="2393617" y="2247899"/>
                </a:lnTo>
                <a:lnTo>
                  <a:pt x="2361705" y="2285999"/>
                </a:lnTo>
                <a:lnTo>
                  <a:pt x="2328565" y="2311399"/>
                </a:lnTo>
                <a:lnTo>
                  <a:pt x="2294235" y="2336799"/>
                </a:lnTo>
                <a:lnTo>
                  <a:pt x="2258757" y="2362199"/>
                </a:lnTo>
                <a:lnTo>
                  <a:pt x="2222169" y="2400299"/>
                </a:lnTo>
                <a:lnTo>
                  <a:pt x="2184512" y="2425699"/>
                </a:lnTo>
                <a:lnTo>
                  <a:pt x="2145826" y="2438399"/>
                </a:lnTo>
                <a:lnTo>
                  <a:pt x="2106150" y="2463799"/>
                </a:lnTo>
                <a:lnTo>
                  <a:pt x="2065523" y="2489199"/>
                </a:lnTo>
                <a:lnTo>
                  <a:pt x="2023987" y="2501899"/>
                </a:lnTo>
                <a:lnTo>
                  <a:pt x="1981580" y="2527299"/>
                </a:lnTo>
                <a:lnTo>
                  <a:pt x="1938342" y="2539999"/>
                </a:lnTo>
                <a:lnTo>
                  <a:pt x="1804045" y="2578099"/>
                </a:lnTo>
                <a:lnTo>
                  <a:pt x="1757883" y="2578099"/>
                </a:lnTo>
                <a:lnTo>
                  <a:pt x="1711090" y="2590799"/>
                </a:lnTo>
                <a:lnTo>
                  <a:pt x="1663705" y="2590799"/>
                </a:lnTo>
                <a:lnTo>
                  <a:pt x="1615768" y="2603499"/>
                </a:lnTo>
                <a:lnTo>
                  <a:pt x="2333971" y="2603499"/>
                </a:lnTo>
                <a:lnTo>
                  <a:pt x="2391019" y="2565399"/>
                </a:lnTo>
                <a:lnTo>
                  <a:pt x="2427923" y="2539999"/>
                </a:lnTo>
                <a:lnTo>
                  <a:pt x="2463948" y="2514599"/>
                </a:lnTo>
                <a:lnTo>
                  <a:pt x="2499068" y="2476499"/>
                </a:lnTo>
                <a:lnTo>
                  <a:pt x="2533258" y="2451099"/>
                </a:lnTo>
                <a:lnTo>
                  <a:pt x="2566491" y="2425699"/>
                </a:lnTo>
                <a:lnTo>
                  <a:pt x="2598740" y="2387599"/>
                </a:lnTo>
                <a:lnTo>
                  <a:pt x="2629980" y="2362199"/>
                </a:lnTo>
                <a:lnTo>
                  <a:pt x="2660185" y="2324099"/>
                </a:lnTo>
                <a:lnTo>
                  <a:pt x="2689328" y="2285999"/>
                </a:lnTo>
                <a:lnTo>
                  <a:pt x="2717384" y="2260599"/>
                </a:lnTo>
                <a:lnTo>
                  <a:pt x="2744326" y="2222499"/>
                </a:lnTo>
                <a:lnTo>
                  <a:pt x="2770127" y="2184399"/>
                </a:lnTo>
                <a:lnTo>
                  <a:pt x="2794763" y="2146299"/>
                </a:lnTo>
                <a:lnTo>
                  <a:pt x="2818207" y="2108199"/>
                </a:lnTo>
                <a:lnTo>
                  <a:pt x="2840432" y="2070099"/>
                </a:lnTo>
                <a:lnTo>
                  <a:pt x="2861412" y="2031999"/>
                </a:lnTo>
                <a:lnTo>
                  <a:pt x="2881122" y="1981199"/>
                </a:lnTo>
                <a:lnTo>
                  <a:pt x="2899536" y="1943099"/>
                </a:lnTo>
                <a:lnTo>
                  <a:pt x="2916626" y="1904999"/>
                </a:lnTo>
                <a:lnTo>
                  <a:pt x="2932367" y="1854199"/>
                </a:lnTo>
                <a:lnTo>
                  <a:pt x="2946734" y="1816099"/>
                </a:lnTo>
                <a:lnTo>
                  <a:pt x="2959699" y="1777999"/>
                </a:lnTo>
                <a:lnTo>
                  <a:pt x="2971236" y="1727199"/>
                </a:lnTo>
                <a:lnTo>
                  <a:pt x="2981320" y="1676399"/>
                </a:lnTo>
                <a:lnTo>
                  <a:pt x="2989924" y="1638299"/>
                </a:lnTo>
                <a:lnTo>
                  <a:pt x="2997023" y="1587499"/>
                </a:lnTo>
                <a:lnTo>
                  <a:pt x="3002589" y="1536699"/>
                </a:lnTo>
                <a:lnTo>
                  <a:pt x="3006598" y="1498599"/>
                </a:lnTo>
                <a:lnTo>
                  <a:pt x="3009022" y="1447799"/>
                </a:lnTo>
                <a:lnTo>
                  <a:pt x="3009836" y="1396999"/>
                </a:lnTo>
                <a:lnTo>
                  <a:pt x="3009022" y="1346199"/>
                </a:lnTo>
                <a:lnTo>
                  <a:pt x="3006598" y="1308099"/>
                </a:lnTo>
                <a:lnTo>
                  <a:pt x="3002589" y="1257299"/>
                </a:lnTo>
                <a:lnTo>
                  <a:pt x="2997023" y="1206499"/>
                </a:lnTo>
                <a:lnTo>
                  <a:pt x="2989924" y="1168399"/>
                </a:lnTo>
                <a:lnTo>
                  <a:pt x="2981320" y="1117599"/>
                </a:lnTo>
                <a:lnTo>
                  <a:pt x="2971236" y="1066799"/>
                </a:lnTo>
                <a:lnTo>
                  <a:pt x="2959699" y="1028699"/>
                </a:lnTo>
                <a:lnTo>
                  <a:pt x="2946734" y="977899"/>
                </a:lnTo>
                <a:lnTo>
                  <a:pt x="2932367" y="939799"/>
                </a:lnTo>
                <a:lnTo>
                  <a:pt x="2916626" y="888999"/>
                </a:lnTo>
                <a:lnTo>
                  <a:pt x="2899536" y="850899"/>
                </a:lnTo>
                <a:lnTo>
                  <a:pt x="2881122" y="812799"/>
                </a:lnTo>
                <a:lnTo>
                  <a:pt x="2861412" y="774699"/>
                </a:lnTo>
                <a:lnTo>
                  <a:pt x="2840432" y="723899"/>
                </a:lnTo>
                <a:lnTo>
                  <a:pt x="2818207" y="685799"/>
                </a:lnTo>
                <a:lnTo>
                  <a:pt x="2794763" y="647699"/>
                </a:lnTo>
                <a:lnTo>
                  <a:pt x="2770127" y="609599"/>
                </a:lnTo>
                <a:lnTo>
                  <a:pt x="2744326" y="571499"/>
                </a:lnTo>
                <a:lnTo>
                  <a:pt x="2717384" y="546099"/>
                </a:lnTo>
                <a:lnTo>
                  <a:pt x="2689328" y="507999"/>
                </a:lnTo>
                <a:lnTo>
                  <a:pt x="2660185" y="469899"/>
                </a:lnTo>
                <a:lnTo>
                  <a:pt x="2629980" y="444499"/>
                </a:lnTo>
                <a:lnTo>
                  <a:pt x="2598740" y="406399"/>
                </a:lnTo>
                <a:lnTo>
                  <a:pt x="2566491" y="380999"/>
                </a:lnTo>
                <a:lnTo>
                  <a:pt x="2533258" y="342899"/>
                </a:lnTo>
                <a:lnTo>
                  <a:pt x="2499068" y="317499"/>
                </a:lnTo>
                <a:lnTo>
                  <a:pt x="2481508" y="304799"/>
                </a:lnTo>
                <a:close/>
              </a:path>
              <a:path w="3009900" h="2921000">
                <a:moveTo>
                  <a:pt x="1749796" y="0"/>
                </a:moveTo>
                <a:lnTo>
                  <a:pt x="1462789" y="0"/>
                </a:lnTo>
                <a:lnTo>
                  <a:pt x="1415840" y="12699"/>
                </a:lnTo>
                <a:lnTo>
                  <a:pt x="1796743" y="12699"/>
                </a:lnTo>
                <a:lnTo>
                  <a:pt x="1749796" y="0"/>
                </a:lnTo>
                <a:close/>
              </a:path>
            </a:pathLst>
          </a:custGeom>
          <a:solidFill>
            <a:srgbClr val="FFC4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85180" y="767954"/>
            <a:ext cx="2419350" cy="113792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40"/>
              </a:spcBef>
            </a:pPr>
            <a:r>
              <a:rPr sz="3800" spc="-10" dirty="0"/>
              <a:t>Conflicts </a:t>
            </a:r>
            <a:r>
              <a:rPr sz="3800" spc="50" dirty="0"/>
              <a:t>of</a:t>
            </a:r>
            <a:r>
              <a:rPr sz="3800" spc="70" dirty="0"/>
              <a:t> </a:t>
            </a:r>
            <a:r>
              <a:rPr sz="3800" spc="-10" dirty="0"/>
              <a:t>Interest</a:t>
            </a:r>
            <a:endParaRPr sz="3800"/>
          </a:p>
        </p:txBody>
      </p:sp>
      <p:sp>
        <p:nvSpPr>
          <p:cNvPr id="7" name="object 7"/>
          <p:cNvSpPr txBox="1"/>
          <p:nvPr/>
        </p:nvSpPr>
        <p:spPr>
          <a:xfrm>
            <a:off x="485180" y="1970496"/>
            <a:ext cx="2327275" cy="20877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3670">
              <a:lnSpc>
                <a:spcPct val="100000"/>
              </a:lnSpc>
              <a:spcBef>
                <a:spcPts val="100"/>
              </a:spcBef>
            </a:pP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At</a:t>
            </a:r>
            <a:r>
              <a:rPr sz="1150" b="1" spc="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lang="en-US" sz="1150" b="1" spc="-10" dirty="0">
                <a:solidFill>
                  <a:srgbClr val="231F20"/>
                </a:solidFill>
                <a:latin typeface="Arial"/>
                <a:cs typeface="Arial"/>
              </a:rPr>
              <a:t>Destiny Springs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1150" b="1" spc="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we</a:t>
            </a:r>
            <a:r>
              <a:rPr sz="1150" b="1" spc="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45" dirty="0">
                <a:solidFill>
                  <a:srgbClr val="231F20"/>
                </a:solidFill>
                <a:latin typeface="Arial"/>
                <a:cs typeface="Arial"/>
              </a:rPr>
              <a:t>disclose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potential</a:t>
            </a:r>
            <a:r>
              <a:rPr sz="1150" b="1" spc="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30" dirty="0">
                <a:solidFill>
                  <a:srgbClr val="231F20"/>
                </a:solidFill>
                <a:latin typeface="Arial"/>
                <a:cs typeface="Arial"/>
              </a:rPr>
              <a:t>conflicts</a:t>
            </a:r>
            <a:r>
              <a:rPr sz="1150" b="1" spc="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sz="1150" b="1" spc="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interest.</a:t>
            </a:r>
            <a:endParaRPr sz="1150" dirty="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  <a:spcBef>
                <a:spcPts val="540"/>
              </a:spcBef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disclosure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potential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conflicts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interest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ensures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that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decisions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at </a:t>
            </a:r>
            <a:r>
              <a:rPr lang="en-US" sz="1150" dirty="0">
                <a:solidFill>
                  <a:srgbClr val="231F20"/>
                </a:solidFill>
                <a:latin typeface="Avenir Book"/>
                <a:cs typeface="Avenir Book"/>
              </a:rPr>
              <a:t>Destiny Springs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are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made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free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from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personal</a:t>
            </a: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gain.</a:t>
            </a:r>
            <a:endParaRPr sz="1150" dirty="0">
              <a:latin typeface="Avenir Book"/>
              <a:cs typeface="Avenir Book"/>
            </a:endParaRPr>
          </a:p>
          <a:p>
            <a:pPr marL="12700" marR="121285">
              <a:lnSpc>
                <a:spcPct val="100000"/>
              </a:lnSpc>
              <a:spcBef>
                <a:spcPts val="540"/>
              </a:spcBef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Questions</a:t>
            </a: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about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compliance: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Refer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Compliance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Program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document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contact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the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Compliance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Team.</a:t>
            </a:r>
            <a:endParaRPr sz="1150" dirty="0">
              <a:latin typeface="Avenir Book"/>
              <a:cs typeface="Avenir Boo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80769" y="3020337"/>
            <a:ext cx="1822450" cy="16554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065" marR="5080" algn="ctr">
              <a:lnSpc>
                <a:spcPct val="103699"/>
              </a:lnSpc>
              <a:spcBef>
                <a:spcPts val="130"/>
              </a:spcBef>
            </a:pPr>
            <a:r>
              <a:rPr sz="1800" dirty="0">
                <a:solidFill>
                  <a:srgbClr val="F47720"/>
                </a:solidFill>
                <a:latin typeface="Avenir Book"/>
                <a:cs typeface="Avenir Book"/>
              </a:rPr>
              <a:t>What</a:t>
            </a:r>
            <a:r>
              <a:rPr sz="1800" spc="-45" dirty="0">
                <a:solidFill>
                  <a:srgbClr val="F47720"/>
                </a:solidFill>
                <a:latin typeface="Avenir Book"/>
                <a:cs typeface="Avenir Book"/>
              </a:rPr>
              <a:t> </a:t>
            </a:r>
            <a:r>
              <a:rPr sz="1800" spc="-20" dirty="0">
                <a:solidFill>
                  <a:srgbClr val="F47720"/>
                </a:solidFill>
                <a:latin typeface="Avenir Book"/>
                <a:cs typeface="Avenir Book"/>
              </a:rPr>
              <a:t>does </a:t>
            </a:r>
            <a:r>
              <a:rPr sz="1800" spc="-160" dirty="0">
                <a:solidFill>
                  <a:srgbClr val="F47720"/>
                </a:solidFill>
                <a:latin typeface="Times New Roman"/>
                <a:cs typeface="Times New Roman"/>
              </a:rPr>
              <a:t>“</a:t>
            </a:r>
            <a:r>
              <a:rPr sz="2600" i="1" spc="-160" dirty="0">
                <a:solidFill>
                  <a:srgbClr val="F47720"/>
                </a:solidFill>
                <a:latin typeface="Arial"/>
                <a:cs typeface="Arial"/>
              </a:rPr>
              <a:t>conflict</a:t>
            </a:r>
            <a:r>
              <a:rPr sz="2600" i="1" spc="15" dirty="0">
                <a:solidFill>
                  <a:srgbClr val="F47720"/>
                </a:solidFill>
                <a:latin typeface="Arial"/>
                <a:cs typeface="Arial"/>
              </a:rPr>
              <a:t> </a:t>
            </a:r>
            <a:r>
              <a:rPr sz="2600" i="1" spc="-25" dirty="0">
                <a:solidFill>
                  <a:srgbClr val="F47720"/>
                </a:solidFill>
                <a:latin typeface="Arial"/>
                <a:cs typeface="Arial"/>
              </a:rPr>
              <a:t>of </a:t>
            </a:r>
            <a:r>
              <a:rPr sz="2600" i="1" spc="-200" dirty="0">
                <a:solidFill>
                  <a:srgbClr val="F47720"/>
                </a:solidFill>
                <a:latin typeface="Arial"/>
                <a:cs typeface="Arial"/>
              </a:rPr>
              <a:t>interest</a:t>
            </a:r>
            <a:r>
              <a:rPr sz="2600" i="1" spc="45" dirty="0">
                <a:solidFill>
                  <a:srgbClr val="F47720"/>
                </a:solidFill>
                <a:latin typeface="Arial"/>
                <a:cs typeface="Arial"/>
              </a:rPr>
              <a:t> </a:t>
            </a:r>
            <a:r>
              <a:rPr sz="1800" spc="-260" dirty="0">
                <a:solidFill>
                  <a:srgbClr val="F47720"/>
                </a:solidFill>
                <a:latin typeface="Times New Roman"/>
                <a:cs typeface="Times New Roman"/>
              </a:rPr>
              <a:t>”</a:t>
            </a:r>
            <a:r>
              <a:rPr sz="1800" spc="50" dirty="0">
                <a:solidFill>
                  <a:srgbClr val="F4772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47720"/>
                </a:solidFill>
                <a:latin typeface="Avenir Book"/>
                <a:cs typeface="Avenir Book"/>
              </a:rPr>
              <a:t>mean?</a:t>
            </a:r>
            <a:endParaRPr sz="1800">
              <a:latin typeface="Avenir Book"/>
              <a:cs typeface="Avenir Book"/>
            </a:endParaRPr>
          </a:p>
          <a:p>
            <a:pPr algn="ctr">
              <a:lnSpc>
                <a:spcPts val="2000"/>
              </a:lnSpc>
            </a:pPr>
            <a:r>
              <a:rPr sz="1800" dirty="0">
                <a:solidFill>
                  <a:srgbClr val="F47720"/>
                </a:solidFill>
                <a:latin typeface="Avenir Book"/>
                <a:cs typeface="Avenir Book"/>
              </a:rPr>
              <a:t>What</a:t>
            </a:r>
            <a:r>
              <a:rPr sz="1800" spc="-50" dirty="0">
                <a:solidFill>
                  <a:srgbClr val="F47720"/>
                </a:solidFill>
                <a:latin typeface="Avenir Book"/>
                <a:cs typeface="Avenir Book"/>
              </a:rPr>
              <a:t> </a:t>
            </a:r>
            <a:r>
              <a:rPr sz="1800" dirty="0">
                <a:solidFill>
                  <a:srgbClr val="F47720"/>
                </a:solidFill>
                <a:latin typeface="Avenir Book"/>
                <a:cs typeface="Avenir Book"/>
              </a:rPr>
              <a:t>are</a:t>
            </a:r>
            <a:r>
              <a:rPr sz="1800" spc="-45" dirty="0">
                <a:solidFill>
                  <a:srgbClr val="F47720"/>
                </a:solidFill>
                <a:latin typeface="Avenir Book"/>
                <a:cs typeface="Avenir Book"/>
              </a:rPr>
              <a:t> </a:t>
            </a:r>
            <a:r>
              <a:rPr sz="1800" spc="-20" dirty="0">
                <a:solidFill>
                  <a:srgbClr val="F47720"/>
                </a:solidFill>
                <a:latin typeface="Avenir Book"/>
                <a:cs typeface="Avenir Book"/>
              </a:rPr>
              <a:t>some</a:t>
            </a:r>
            <a:endParaRPr sz="1800">
              <a:latin typeface="Avenir Book"/>
              <a:cs typeface="Avenir Book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solidFill>
                  <a:srgbClr val="F47720"/>
                </a:solidFill>
                <a:latin typeface="Avenir Book"/>
                <a:cs typeface="Avenir Book"/>
              </a:rPr>
              <a:t>examples?</a:t>
            </a:r>
            <a:endParaRPr sz="1800">
              <a:latin typeface="Avenir Book"/>
              <a:cs typeface="Avenir Boo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71946" y="2913662"/>
            <a:ext cx="3119755" cy="1320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05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“Conflicts</a:t>
            </a: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interest”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are</a:t>
            </a: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situations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in</a:t>
            </a:r>
            <a:endParaRPr sz="1150">
              <a:latin typeface="Avenir Book"/>
              <a:cs typeface="Avenir Book"/>
            </a:endParaRPr>
          </a:p>
          <a:p>
            <a:pPr marL="12700" marR="5080">
              <a:lnSpc>
                <a:spcPct val="100000"/>
              </a:lnSpc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which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financial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other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personal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considerations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may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compromise,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appear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compromise,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your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ability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make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objective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decisions</a:t>
            </a:r>
            <a:endParaRPr sz="1150">
              <a:latin typeface="Avenir Book"/>
              <a:cs typeface="Avenir Book"/>
            </a:endParaRPr>
          </a:p>
          <a:p>
            <a:pPr marL="12700" marR="172720">
              <a:lnSpc>
                <a:spcPct val="100000"/>
              </a:lnSpc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while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performing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your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job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duties.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It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applies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all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employees,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contractors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volunteers.</a:t>
            </a:r>
            <a:endParaRPr sz="1150">
              <a:latin typeface="Avenir Book"/>
              <a:cs typeface="Avenir Book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150" b="1" spc="-20" dirty="0">
                <a:solidFill>
                  <a:srgbClr val="231F20"/>
                </a:solidFill>
                <a:latin typeface="Arial"/>
                <a:cs typeface="Arial"/>
              </a:rPr>
              <a:t>Examples</a:t>
            </a:r>
            <a:r>
              <a:rPr sz="1150" b="1" spc="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sz="1150" b="1" spc="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Potential</a:t>
            </a:r>
            <a:r>
              <a:rPr sz="1150" b="1" spc="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25" dirty="0">
                <a:solidFill>
                  <a:srgbClr val="231F20"/>
                </a:solidFill>
                <a:latin typeface="Arial"/>
                <a:cs typeface="Arial"/>
              </a:rPr>
              <a:t>Conflicts</a:t>
            </a:r>
            <a:r>
              <a:rPr sz="1150" b="1" spc="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sz="1150" b="1" spc="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Interest:</a:t>
            </a:r>
            <a:endParaRPr sz="11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71946" y="4277641"/>
            <a:ext cx="3045460" cy="2334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694690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Employment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financial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interest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company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that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conducts</a:t>
            </a:r>
            <a:endParaRPr sz="1150" dirty="0">
              <a:latin typeface="Avenir Book"/>
              <a:cs typeface="Avenir Book"/>
            </a:endParaRPr>
          </a:p>
          <a:p>
            <a:pPr marL="241300" marR="528955">
              <a:lnSpc>
                <a:spcPct val="100000"/>
              </a:lnSpc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business,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wishes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do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business,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with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lang="en-US" sz="1150" dirty="0">
                <a:solidFill>
                  <a:srgbClr val="231F20"/>
                </a:solidFill>
                <a:latin typeface="Avenir Book"/>
                <a:cs typeface="Avenir Book"/>
              </a:rPr>
              <a:t>Destiny Springs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.</a:t>
            </a:r>
            <a:endParaRPr sz="1150" dirty="0">
              <a:latin typeface="Avenir Book"/>
              <a:cs typeface="Avenir Book"/>
            </a:endParaRPr>
          </a:p>
          <a:p>
            <a:pPr marL="241300" marR="353695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Outside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jobs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positions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that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conflict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with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distract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from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your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work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at </a:t>
            </a:r>
            <a:r>
              <a:rPr lang="en-US" sz="1150" dirty="0">
                <a:solidFill>
                  <a:srgbClr val="231F20"/>
                </a:solidFill>
                <a:latin typeface="Avenir Book"/>
                <a:cs typeface="Avenir Book"/>
              </a:rPr>
              <a:t>Destiny Springs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.</a:t>
            </a:r>
            <a:endParaRPr sz="1150" dirty="0">
              <a:latin typeface="Avenir Book"/>
              <a:cs typeface="Avenir Book"/>
            </a:endParaRPr>
          </a:p>
          <a:p>
            <a:pPr marL="241300" marR="5080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Hiring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contracting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with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family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member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friend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provide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goods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and/or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services.</a:t>
            </a:r>
            <a:endParaRPr sz="1150" dirty="0">
              <a:latin typeface="Avenir Book"/>
              <a:cs typeface="Avenir Book"/>
            </a:endParaRPr>
          </a:p>
          <a:p>
            <a:pPr marL="241300" marR="80010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Making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business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decisions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that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could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benefit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family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friends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at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expense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of </a:t>
            </a:r>
            <a:r>
              <a:rPr lang="en-US" sz="1150" dirty="0">
                <a:solidFill>
                  <a:srgbClr val="231F20"/>
                </a:solidFill>
                <a:latin typeface="Avenir Book"/>
                <a:cs typeface="Avenir Book"/>
              </a:rPr>
              <a:t>Destiny Springs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.</a:t>
            </a:r>
            <a:endParaRPr sz="1150" dirty="0">
              <a:latin typeface="Avenir Book"/>
              <a:cs typeface="Avenir Boo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71946" y="6655082"/>
            <a:ext cx="3670935" cy="791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21715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All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potential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conflicts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interest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must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be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reported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your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supervisor.</a:t>
            </a:r>
            <a:endParaRPr sz="1150">
              <a:latin typeface="Avenir Book"/>
              <a:cs typeface="Avenir Book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150">
              <a:latin typeface="Avenir Book"/>
              <a:cs typeface="Avenir Book"/>
            </a:endParaRPr>
          </a:p>
          <a:p>
            <a:pPr marL="2103755">
              <a:lnSpc>
                <a:spcPct val="100000"/>
              </a:lnSpc>
            </a:pPr>
            <a:r>
              <a:rPr sz="850" i="1" spc="-45" dirty="0">
                <a:solidFill>
                  <a:srgbClr val="FFC425"/>
                </a:solidFill>
                <a:latin typeface="Arial"/>
                <a:cs typeface="Arial"/>
              </a:rPr>
              <a:t>Living</a:t>
            </a:r>
            <a:r>
              <a:rPr sz="850" i="1" spc="-15" dirty="0">
                <a:solidFill>
                  <a:srgbClr val="FFC425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FFC425"/>
                </a:solidFill>
                <a:latin typeface="Arial"/>
                <a:cs typeface="Arial"/>
              </a:rPr>
              <a:t>our</a:t>
            </a:r>
            <a:r>
              <a:rPr sz="850" i="1" spc="15" dirty="0">
                <a:solidFill>
                  <a:srgbClr val="FFC425"/>
                </a:solidFill>
                <a:latin typeface="Arial"/>
                <a:cs typeface="Arial"/>
              </a:rPr>
              <a:t> </a:t>
            </a:r>
            <a:r>
              <a:rPr sz="850" i="1" spc="-114" dirty="0">
                <a:solidFill>
                  <a:srgbClr val="FFC425"/>
                </a:solidFill>
                <a:latin typeface="Arial"/>
                <a:cs typeface="Arial"/>
              </a:rPr>
              <a:t>Values</a:t>
            </a:r>
            <a:r>
              <a:rPr sz="850" i="1" spc="60" dirty="0">
                <a:solidFill>
                  <a:srgbClr val="FFC425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47720"/>
                </a:solidFill>
                <a:latin typeface="Arial"/>
                <a:cs typeface="Arial"/>
              </a:rPr>
              <a:t>I</a:t>
            </a:r>
            <a:r>
              <a:rPr sz="850" b="1" spc="60" dirty="0">
                <a:solidFill>
                  <a:srgbClr val="F47720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00ACA1"/>
                </a:solidFill>
                <a:latin typeface="Arial"/>
                <a:cs typeface="Arial"/>
              </a:rPr>
              <a:t>INTEGRITY</a:t>
            </a:r>
            <a:r>
              <a:rPr sz="850" b="1" spc="235" dirty="0">
                <a:solidFill>
                  <a:srgbClr val="00ACA1"/>
                </a:solidFill>
                <a:latin typeface="Arial"/>
                <a:cs typeface="Arial"/>
              </a:rPr>
              <a:t> </a:t>
            </a:r>
            <a:r>
              <a:rPr sz="850" b="1" spc="-25" dirty="0">
                <a:solidFill>
                  <a:srgbClr val="008BC0"/>
                </a:solidFill>
                <a:latin typeface="Arial"/>
                <a:cs typeface="Arial"/>
              </a:rPr>
              <a:t>20</a:t>
            </a:r>
            <a:endParaRPr sz="85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953557" y="2034349"/>
            <a:ext cx="1465580" cy="692785"/>
          </a:xfrm>
          <a:custGeom>
            <a:avLst/>
            <a:gdLst/>
            <a:ahLst/>
            <a:cxnLst/>
            <a:rect l="l" t="t" r="r" b="b"/>
            <a:pathLst>
              <a:path w="1465579" h="692785">
                <a:moveTo>
                  <a:pt x="710032" y="21"/>
                </a:moveTo>
                <a:lnTo>
                  <a:pt x="664744" y="0"/>
                </a:lnTo>
                <a:lnTo>
                  <a:pt x="618407" y="2588"/>
                </a:lnTo>
                <a:lnTo>
                  <a:pt x="571073" y="7983"/>
                </a:lnTo>
                <a:lnTo>
                  <a:pt x="522797" y="16385"/>
                </a:lnTo>
                <a:lnTo>
                  <a:pt x="473632" y="27988"/>
                </a:lnTo>
                <a:lnTo>
                  <a:pt x="423632" y="42993"/>
                </a:lnTo>
                <a:lnTo>
                  <a:pt x="372850" y="61595"/>
                </a:lnTo>
                <a:lnTo>
                  <a:pt x="321340" y="83993"/>
                </a:lnTo>
                <a:lnTo>
                  <a:pt x="269155" y="110385"/>
                </a:lnTo>
                <a:lnTo>
                  <a:pt x="216350" y="140967"/>
                </a:lnTo>
                <a:lnTo>
                  <a:pt x="162979" y="175937"/>
                </a:lnTo>
                <a:lnTo>
                  <a:pt x="109093" y="215493"/>
                </a:lnTo>
                <a:lnTo>
                  <a:pt x="54749" y="259833"/>
                </a:lnTo>
                <a:lnTo>
                  <a:pt x="0" y="309153"/>
                </a:lnTo>
                <a:lnTo>
                  <a:pt x="336858" y="103278"/>
                </a:lnTo>
                <a:lnTo>
                  <a:pt x="556088" y="51319"/>
                </a:lnTo>
                <a:lnTo>
                  <a:pt x="753937" y="168276"/>
                </a:lnTo>
                <a:lnTo>
                  <a:pt x="1026653" y="469149"/>
                </a:lnTo>
                <a:lnTo>
                  <a:pt x="863420" y="597457"/>
                </a:lnTo>
                <a:lnTo>
                  <a:pt x="1424905" y="692202"/>
                </a:lnTo>
                <a:lnTo>
                  <a:pt x="1465470" y="124172"/>
                </a:lnTo>
                <a:lnTo>
                  <a:pt x="1312632" y="244283"/>
                </a:lnTo>
                <a:lnTo>
                  <a:pt x="1299615" y="233554"/>
                </a:lnTo>
                <a:lnTo>
                  <a:pt x="1267264" y="208268"/>
                </a:lnTo>
                <a:lnTo>
                  <a:pt x="1226849" y="179196"/>
                </a:lnTo>
                <a:lnTo>
                  <a:pt x="1178799" y="147918"/>
                </a:lnTo>
                <a:lnTo>
                  <a:pt x="1123544" y="116016"/>
                </a:lnTo>
                <a:lnTo>
                  <a:pt x="1061513" y="85069"/>
                </a:lnTo>
                <a:lnTo>
                  <a:pt x="993135" y="56659"/>
                </a:lnTo>
                <a:lnTo>
                  <a:pt x="956700" y="43899"/>
                </a:lnTo>
                <a:lnTo>
                  <a:pt x="918840" y="32366"/>
                </a:lnTo>
                <a:lnTo>
                  <a:pt x="879608" y="22258"/>
                </a:lnTo>
                <a:lnTo>
                  <a:pt x="839057" y="13772"/>
                </a:lnTo>
                <a:lnTo>
                  <a:pt x="797242" y="7105"/>
                </a:lnTo>
                <a:lnTo>
                  <a:pt x="754215" y="2456"/>
                </a:lnTo>
                <a:lnTo>
                  <a:pt x="710032" y="21"/>
                </a:lnTo>
                <a:close/>
              </a:path>
            </a:pathLst>
          </a:custGeom>
          <a:solidFill>
            <a:srgbClr val="FFC4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0" y="7589519"/>
            <a:ext cx="3374390" cy="182880"/>
          </a:xfrm>
          <a:custGeom>
            <a:avLst/>
            <a:gdLst/>
            <a:ahLst/>
            <a:cxnLst/>
            <a:rect l="l" t="t" r="r" b="b"/>
            <a:pathLst>
              <a:path w="3374390" h="182879">
                <a:moveTo>
                  <a:pt x="3374136" y="0"/>
                </a:moveTo>
                <a:lnTo>
                  <a:pt x="0" y="0"/>
                </a:lnTo>
                <a:lnTo>
                  <a:pt x="0" y="182879"/>
                </a:lnTo>
                <a:lnTo>
                  <a:pt x="3374136" y="182879"/>
                </a:lnTo>
                <a:lnTo>
                  <a:pt x="33741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35101" y="1286864"/>
            <a:ext cx="3084830" cy="113792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11430">
              <a:lnSpc>
                <a:spcPts val="4200"/>
              </a:lnSpc>
              <a:spcBef>
                <a:spcPts val="540"/>
              </a:spcBef>
            </a:pPr>
            <a:r>
              <a:rPr sz="3800" dirty="0"/>
              <a:t>Gifts</a:t>
            </a:r>
            <a:r>
              <a:rPr sz="3800" spc="65" dirty="0"/>
              <a:t> </a:t>
            </a:r>
            <a:r>
              <a:rPr sz="3800" spc="-25" dirty="0"/>
              <a:t>and </a:t>
            </a:r>
            <a:r>
              <a:rPr sz="3800" spc="-125" dirty="0"/>
              <a:t>Entertainment</a:t>
            </a:r>
            <a:endParaRPr sz="3800"/>
          </a:p>
        </p:txBody>
      </p:sp>
      <p:sp>
        <p:nvSpPr>
          <p:cNvPr id="3" name="object 3"/>
          <p:cNvSpPr txBox="1"/>
          <p:nvPr/>
        </p:nvSpPr>
        <p:spPr>
          <a:xfrm>
            <a:off x="435101" y="2489123"/>
            <a:ext cx="2760345" cy="1496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1275">
              <a:lnSpc>
                <a:spcPct val="100000"/>
              </a:lnSpc>
              <a:spcBef>
                <a:spcPts val="100"/>
              </a:spcBef>
            </a:pP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At</a:t>
            </a:r>
            <a:r>
              <a:rPr sz="1150" b="1" spc="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lang="en-US" sz="1150" b="1" spc="-10" dirty="0">
                <a:solidFill>
                  <a:srgbClr val="231F20"/>
                </a:solidFill>
                <a:latin typeface="Arial"/>
                <a:cs typeface="Arial"/>
              </a:rPr>
              <a:t>Destiny Springs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1150" b="1" spc="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we</a:t>
            </a:r>
            <a:r>
              <a:rPr sz="1150" b="1" spc="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do</a:t>
            </a:r>
            <a:r>
              <a:rPr sz="1150" b="1" spc="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not</a:t>
            </a:r>
            <a:r>
              <a:rPr sz="1150" b="1" spc="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20" dirty="0">
                <a:solidFill>
                  <a:srgbClr val="231F20"/>
                </a:solidFill>
                <a:latin typeface="Arial"/>
                <a:cs typeface="Arial"/>
              </a:rPr>
              <a:t>solicit</a:t>
            </a:r>
            <a:r>
              <a:rPr sz="1150" b="1" spc="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25" dirty="0">
                <a:solidFill>
                  <a:srgbClr val="231F20"/>
                </a:solidFill>
                <a:latin typeface="Arial"/>
                <a:cs typeface="Arial"/>
              </a:rPr>
              <a:t>or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accept</a:t>
            </a:r>
            <a:r>
              <a:rPr sz="1150" b="1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gifts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from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any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 person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or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 entity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that</a:t>
            </a:r>
            <a:r>
              <a:rPr sz="1150" b="1" spc="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does</a:t>
            </a:r>
            <a:r>
              <a:rPr sz="1150" b="1" spc="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45" dirty="0">
                <a:solidFill>
                  <a:srgbClr val="231F20"/>
                </a:solidFill>
                <a:latin typeface="Arial"/>
                <a:cs typeface="Arial"/>
              </a:rPr>
              <a:t>business</a:t>
            </a:r>
            <a:r>
              <a:rPr sz="1150" b="1" spc="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or</a:t>
            </a:r>
            <a:r>
              <a:rPr sz="1150" b="1" spc="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25" dirty="0">
                <a:solidFill>
                  <a:srgbClr val="231F20"/>
                </a:solidFill>
                <a:latin typeface="Arial"/>
                <a:cs typeface="Arial"/>
              </a:rPr>
              <a:t>seeks</a:t>
            </a:r>
            <a:r>
              <a:rPr sz="1150" b="1" spc="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sz="1150" b="1" spc="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25" dirty="0">
                <a:solidFill>
                  <a:srgbClr val="231F20"/>
                </a:solidFill>
                <a:latin typeface="Arial"/>
                <a:cs typeface="Arial"/>
              </a:rPr>
              <a:t>do </a:t>
            </a:r>
            <a:r>
              <a:rPr sz="1150" b="1" spc="-45" dirty="0">
                <a:solidFill>
                  <a:srgbClr val="231F20"/>
                </a:solidFill>
                <a:latin typeface="Arial"/>
                <a:cs typeface="Arial"/>
              </a:rPr>
              <a:t>business</a:t>
            </a:r>
            <a:r>
              <a:rPr sz="115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with</a:t>
            </a:r>
            <a:r>
              <a:rPr sz="1150" b="1" spc="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lang="en-US" sz="1150" b="1" spc="-10" dirty="0">
                <a:solidFill>
                  <a:srgbClr val="231F20"/>
                </a:solidFill>
                <a:latin typeface="Arial"/>
                <a:cs typeface="Arial"/>
              </a:rPr>
              <a:t>Destiny Springs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.</a:t>
            </a:r>
            <a:endParaRPr sz="115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40"/>
              </a:spcBef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This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applies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employees,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volunteers,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contractors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their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immediate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family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members.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“gift”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is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any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form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payment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other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benefit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given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you.</a:t>
            </a:r>
            <a:endParaRPr sz="1150" dirty="0">
              <a:latin typeface="Avenir Book"/>
              <a:cs typeface="Avenir Book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613205" y="3011502"/>
            <a:ext cx="461009" cy="875030"/>
            <a:chOff x="3613205" y="3011502"/>
            <a:chExt cx="461009" cy="875030"/>
          </a:xfrm>
        </p:grpSpPr>
        <p:sp>
          <p:nvSpPr>
            <p:cNvPr id="5" name="object 5"/>
            <p:cNvSpPr/>
            <p:nvPr/>
          </p:nvSpPr>
          <p:spPr>
            <a:xfrm>
              <a:off x="3900856" y="3218395"/>
              <a:ext cx="173355" cy="218440"/>
            </a:xfrm>
            <a:custGeom>
              <a:avLst/>
              <a:gdLst/>
              <a:ahLst/>
              <a:cxnLst/>
              <a:rect l="l" t="t" r="r" b="b"/>
              <a:pathLst>
                <a:path w="173354" h="218439">
                  <a:moveTo>
                    <a:pt x="69799" y="194284"/>
                  </a:moveTo>
                  <a:lnTo>
                    <a:pt x="23317" y="192646"/>
                  </a:lnTo>
                  <a:lnTo>
                    <a:pt x="10668" y="191350"/>
                  </a:lnTo>
                  <a:lnTo>
                    <a:pt x="10668" y="218160"/>
                  </a:lnTo>
                  <a:lnTo>
                    <a:pt x="69799" y="218160"/>
                  </a:lnTo>
                  <a:lnTo>
                    <a:pt x="69799" y="194284"/>
                  </a:lnTo>
                  <a:close/>
                </a:path>
                <a:path w="173354" h="218439">
                  <a:moveTo>
                    <a:pt x="69811" y="105524"/>
                  </a:moveTo>
                  <a:lnTo>
                    <a:pt x="10668" y="105524"/>
                  </a:lnTo>
                  <a:lnTo>
                    <a:pt x="10668" y="116878"/>
                  </a:lnTo>
                  <a:lnTo>
                    <a:pt x="23634" y="118478"/>
                  </a:lnTo>
                  <a:lnTo>
                    <a:pt x="36944" y="119634"/>
                  </a:lnTo>
                  <a:lnTo>
                    <a:pt x="50596" y="120345"/>
                  </a:lnTo>
                  <a:lnTo>
                    <a:pt x="65455" y="120586"/>
                  </a:lnTo>
                  <a:lnTo>
                    <a:pt x="69811" y="120688"/>
                  </a:lnTo>
                  <a:lnTo>
                    <a:pt x="69811" y="105524"/>
                  </a:lnTo>
                  <a:close/>
                </a:path>
                <a:path w="173354" h="218439">
                  <a:moveTo>
                    <a:pt x="162153" y="105511"/>
                  </a:moveTo>
                  <a:lnTo>
                    <a:pt x="103009" y="105511"/>
                  </a:lnTo>
                  <a:lnTo>
                    <a:pt x="103009" y="146177"/>
                  </a:lnTo>
                  <a:lnTo>
                    <a:pt x="104178" y="149821"/>
                  </a:lnTo>
                  <a:lnTo>
                    <a:pt x="104813" y="153657"/>
                  </a:lnTo>
                  <a:lnTo>
                    <a:pt x="104800" y="157607"/>
                  </a:lnTo>
                  <a:lnTo>
                    <a:pt x="104787" y="161505"/>
                  </a:lnTo>
                  <a:lnTo>
                    <a:pt x="104152" y="165252"/>
                  </a:lnTo>
                  <a:lnTo>
                    <a:pt x="103009" y="168783"/>
                  </a:lnTo>
                  <a:lnTo>
                    <a:pt x="103009" y="218160"/>
                  </a:lnTo>
                  <a:lnTo>
                    <a:pt x="162153" y="218160"/>
                  </a:lnTo>
                  <a:lnTo>
                    <a:pt x="162153" y="105511"/>
                  </a:lnTo>
                  <a:close/>
                </a:path>
                <a:path w="173354" h="218439">
                  <a:moveTo>
                    <a:pt x="172821" y="56438"/>
                  </a:moveTo>
                  <a:lnTo>
                    <a:pt x="148082" y="56438"/>
                  </a:lnTo>
                  <a:lnTo>
                    <a:pt x="152234" y="51917"/>
                  </a:lnTo>
                  <a:lnTo>
                    <a:pt x="155651" y="45643"/>
                  </a:lnTo>
                  <a:lnTo>
                    <a:pt x="155625" y="38176"/>
                  </a:lnTo>
                  <a:lnTo>
                    <a:pt x="155625" y="30619"/>
                  </a:lnTo>
                  <a:lnTo>
                    <a:pt x="152247" y="23114"/>
                  </a:lnTo>
                  <a:lnTo>
                    <a:pt x="118694" y="0"/>
                  </a:lnTo>
                  <a:lnTo>
                    <a:pt x="109537" y="12"/>
                  </a:lnTo>
                  <a:lnTo>
                    <a:pt x="102476" y="5257"/>
                  </a:lnTo>
                  <a:lnTo>
                    <a:pt x="92875" y="16852"/>
                  </a:lnTo>
                  <a:lnTo>
                    <a:pt x="89395" y="23812"/>
                  </a:lnTo>
                  <a:lnTo>
                    <a:pt x="86652" y="30391"/>
                  </a:lnTo>
                  <a:lnTo>
                    <a:pt x="83959" y="23685"/>
                  </a:lnTo>
                  <a:lnTo>
                    <a:pt x="80556" y="16802"/>
                  </a:lnTo>
                  <a:lnTo>
                    <a:pt x="70954" y="5270"/>
                  </a:lnTo>
                  <a:lnTo>
                    <a:pt x="63906" y="25"/>
                  </a:lnTo>
                  <a:lnTo>
                    <a:pt x="54737" y="12"/>
                  </a:lnTo>
                  <a:lnTo>
                    <a:pt x="47498" y="1130"/>
                  </a:lnTo>
                  <a:lnTo>
                    <a:pt x="17805" y="30619"/>
                  </a:lnTo>
                  <a:lnTo>
                    <a:pt x="17780" y="45643"/>
                  </a:lnTo>
                  <a:lnTo>
                    <a:pt x="21196" y="51917"/>
                  </a:lnTo>
                  <a:lnTo>
                    <a:pt x="25349" y="56438"/>
                  </a:lnTo>
                  <a:lnTo>
                    <a:pt x="0" y="56438"/>
                  </a:lnTo>
                  <a:lnTo>
                    <a:pt x="0" y="98044"/>
                  </a:lnTo>
                  <a:lnTo>
                    <a:pt x="69799" y="98044"/>
                  </a:lnTo>
                  <a:lnTo>
                    <a:pt x="69799" y="56438"/>
                  </a:lnTo>
                  <a:lnTo>
                    <a:pt x="63334" y="56438"/>
                  </a:lnTo>
                  <a:lnTo>
                    <a:pt x="52489" y="53225"/>
                  </a:lnTo>
                  <a:lnTo>
                    <a:pt x="36258" y="36283"/>
                  </a:lnTo>
                  <a:lnTo>
                    <a:pt x="37045" y="33020"/>
                  </a:lnTo>
                  <a:lnTo>
                    <a:pt x="48323" y="19761"/>
                  </a:lnTo>
                  <a:lnTo>
                    <a:pt x="52946" y="18364"/>
                  </a:lnTo>
                  <a:lnTo>
                    <a:pt x="56400" y="18440"/>
                  </a:lnTo>
                  <a:lnTo>
                    <a:pt x="75387" y="56400"/>
                  </a:lnTo>
                  <a:lnTo>
                    <a:pt x="98056" y="56400"/>
                  </a:lnTo>
                  <a:lnTo>
                    <a:pt x="116027" y="18897"/>
                  </a:lnTo>
                  <a:lnTo>
                    <a:pt x="120484" y="18364"/>
                  </a:lnTo>
                  <a:lnTo>
                    <a:pt x="125107" y="19748"/>
                  </a:lnTo>
                  <a:lnTo>
                    <a:pt x="136385" y="33007"/>
                  </a:lnTo>
                  <a:lnTo>
                    <a:pt x="137185" y="36283"/>
                  </a:lnTo>
                  <a:lnTo>
                    <a:pt x="137160" y="40119"/>
                  </a:lnTo>
                  <a:lnTo>
                    <a:pt x="136423" y="41897"/>
                  </a:lnTo>
                  <a:lnTo>
                    <a:pt x="130848" y="47917"/>
                  </a:lnTo>
                  <a:lnTo>
                    <a:pt x="124320" y="51447"/>
                  </a:lnTo>
                  <a:lnTo>
                    <a:pt x="110083" y="56438"/>
                  </a:lnTo>
                  <a:lnTo>
                    <a:pt x="103022" y="56438"/>
                  </a:lnTo>
                  <a:lnTo>
                    <a:pt x="103022" y="98044"/>
                  </a:lnTo>
                  <a:lnTo>
                    <a:pt x="172821" y="98044"/>
                  </a:lnTo>
                  <a:lnTo>
                    <a:pt x="172821" y="56438"/>
                  </a:lnTo>
                  <a:close/>
                </a:path>
              </a:pathLst>
            </a:custGeom>
            <a:solidFill>
              <a:srgbClr val="FFC4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07859" y="3011502"/>
              <a:ext cx="163644" cy="16363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613201" y="3188398"/>
              <a:ext cx="385445" cy="697865"/>
            </a:xfrm>
            <a:custGeom>
              <a:avLst/>
              <a:gdLst/>
              <a:ahLst/>
              <a:cxnLst/>
              <a:rect l="l" t="t" r="r" b="b"/>
              <a:pathLst>
                <a:path w="385445" h="697864">
                  <a:moveTo>
                    <a:pt x="172859" y="95173"/>
                  </a:moveTo>
                  <a:lnTo>
                    <a:pt x="162191" y="53962"/>
                  </a:lnTo>
                  <a:lnTo>
                    <a:pt x="145084" y="17564"/>
                  </a:lnTo>
                  <a:lnTo>
                    <a:pt x="95351" y="0"/>
                  </a:lnTo>
                  <a:lnTo>
                    <a:pt x="68275" y="9461"/>
                  </a:lnTo>
                  <a:lnTo>
                    <a:pt x="25247" y="64312"/>
                  </a:lnTo>
                  <a:lnTo>
                    <a:pt x="10033" y="116192"/>
                  </a:lnTo>
                  <a:lnTo>
                    <a:pt x="1765" y="163918"/>
                  </a:lnTo>
                  <a:lnTo>
                    <a:pt x="0" y="213055"/>
                  </a:lnTo>
                  <a:lnTo>
                    <a:pt x="4279" y="269189"/>
                  </a:lnTo>
                  <a:lnTo>
                    <a:pt x="12446" y="294932"/>
                  </a:lnTo>
                  <a:lnTo>
                    <a:pt x="24561" y="312915"/>
                  </a:lnTo>
                  <a:lnTo>
                    <a:pt x="39573" y="324485"/>
                  </a:lnTo>
                  <a:lnTo>
                    <a:pt x="56464" y="331000"/>
                  </a:lnTo>
                  <a:lnTo>
                    <a:pt x="63728" y="357809"/>
                  </a:lnTo>
                  <a:lnTo>
                    <a:pt x="70535" y="391198"/>
                  </a:lnTo>
                  <a:lnTo>
                    <a:pt x="75565" y="430237"/>
                  </a:lnTo>
                  <a:lnTo>
                    <a:pt x="77495" y="474027"/>
                  </a:lnTo>
                  <a:lnTo>
                    <a:pt x="76022" y="511746"/>
                  </a:lnTo>
                  <a:lnTo>
                    <a:pt x="71183" y="551497"/>
                  </a:lnTo>
                  <a:lnTo>
                    <a:pt x="62331" y="592912"/>
                  </a:lnTo>
                  <a:lnTo>
                    <a:pt x="48856" y="635635"/>
                  </a:lnTo>
                  <a:lnTo>
                    <a:pt x="46012" y="653732"/>
                  </a:lnTo>
                  <a:lnTo>
                    <a:pt x="76085" y="694931"/>
                  </a:lnTo>
                  <a:lnTo>
                    <a:pt x="86791" y="697814"/>
                  </a:lnTo>
                  <a:lnTo>
                    <a:pt x="92113" y="697814"/>
                  </a:lnTo>
                  <a:lnTo>
                    <a:pt x="128333" y="680250"/>
                  </a:lnTo>
                  <a:lnTo>
                    <a:pt x="151561" y="616331"/>
                  </a:lnTo>
                  <a:lnTo>
                    <a:pt x="162179" y="566597"/>
                  </a:lnTo>
                  <a:lnTo>
                    <a:pt x="167982" y="518985"/>
                  </a:lnTo>
                  <a:lnTo>
                    <a:pt x="169748" y="474027"/>
                  </a:lnTo>
                  <a:lnTo>
                    <a:pt x="166103" y="408978"/>
                  </a:lnTo>
                  <a:lnTo>
                    <a:pt x="157327" y="353618"/>
                  </a:lnTo>
                  <a:lnTo>
                    <a:pt x="146380" y="309626"/>
                  </a:lnTo>
                  <a:lnTo>
                    <a:pt x="136207" y="278676"/>
                  </a:lnTo>
                  <a:lnTo>
                    <a:pt x="134073" y="250520"/>
                  </a:lnTo>
                  <a:lnTo>
                    <a:pt x="134658" y="221627"/>
                  </a:lnTo>
                  <a:lnTo>
                    <a:pt x="137312" y="192608"/>
                  </a:lnTo>
                  <a:lnTo>
                    <a:pt x="141427" y="164071"/>
                  </a:lnTo>
                  <a:lnTo>
                    <a:pt x="130467" y="155829"/>
                  </a:lnTo>
                  <a:lnTo>
                    <a:pt x="84086" y="108635"/>
                  </a:lnTo>
                  <a:lnTo>
                    <a:pt x="63957" y="67564"/>
                  </a:lnTo>
                  <a:lnTo>
                    <a:pt x="66192" y="53581"/>
                  </a:lnTo>
                  <a:lnTo>
                    <a:pt x="73494" y="41452"/>
                  </a:lnTo>
                  <a:lnTo>
                    <a:pt x="85293" y="32778"/>
                  </a:lnTo>
                  <a:lnTo>
                    <a:pt x="90195" y="30505"/>
                  </a:lnTo>
                  <a:lnTo>
                    <a:pt x="95427" y="29349"/>
                  </a:lnTo>
                  <a:lnTo>
                    <a:pt x="100812" y="29349"/>
                  </a:lnTo>
                  <a:lnTo>
                    <a:pt x="111163" y="30848"/>
                  </a:lnTo>
                  <a:lnTo>
                    <a:pt x="120548" y="35102"/>
                  </a:lnTo>
                  <a:lnTo>
                    <a:pt x="128409" y="41770"/>
                  </a:lnTo>
                  <a:lnTo>
                    <a:pt x="139827" y="59842"/>
                  </a:lnTo>
                  <a:lnTo>
                    <a:pt x="147561" y="70015"/>
                  </a:lnTo>
                  <a:lnTo>
                    <a:pt x="154305" y="77724"/>
                  </a:lnTo>
                  <a:lnTo>
                    <a:pt x="162712" y="86207"/>
                  </a:lnTo>
                  <a:lnTo>
                    <a:pt x="172859" y="95173"/>
                  </a:lnTo>
                  <a:close/>
                </a:path>
                <a:path w="385445" h="697864">
                  <a:moveTo>
                    <a:pt x="187490" y="197383"/>
                  </a:moveTo>
                  <a:lnTo>
                    <a:pt x="187159" y="190677"/>
                  </a:lnTo>
                  <a:lnTo>
                    <a:pt x="178231" y="186321"/>
                  </a:lnTo>
                  <a:lnTo>
                    <a:pt x="169786" y="181838"/>
                  </a:lnTo>
                  <a:lnTo>
                    <a:pt x="161798" y="177292"/>
                  </a:lnTo>
                  <a:lnTo>
                    <a:pt x="154266" y="172669"/>
                  </a:lnTo>
                  <a:lnTo>
                    <a:pt x="153098" y="188417"/>
                  </a:lnTo>
                  <a:lnTo>
                    <a:pt x="152146" y="196253"/>
                  </a:lnTo>
                  <a:lnTo>
                    <a:pt x="156057" y="206006"/>
                  </a:lnTo>
                  <a:lnTo>
                    <a:pt x="159753" y="215950"/>
                  </a:lnTo>
                  <a:lnTo>
                    <a:pt x="163220" y="226085"/>
                  </a:lnTo>
                  <a:lnTo>
                    <a:pt x="166458" y="236397"/>
                  </a:lnTo>
                  <a:lnTo>
                    <a:pt x="172021" y="226936"/>
                  </a:lnTo>
                  <a:lnTo>
                    <a:pt x="177393" y="217271"/>
                  </a:lnTo>
                  <a:lnTo>
                    <a:pt x="182549" y="207429"/>
                  </a:lnTo>
                  <a:lnTo>
                    <a:pt x="187490" y="197383"/>
                  </a:lnTo>
                  <a:close/>
                </a:path>
                <a:path w="385445" h="697864">
                  <a:moveTo>
                    <a:pt x="385076" y="187579"/>
                  </a:moveTo>
                  <a:lnTo>
                    <a:pt x="382790" y="176085"/>
                  </a:lnTo>
                  <a:lnTo>
                    <a:pt x="376491" y="166674"/>
                  </a:lnTo>
                  <a:lnTo>
                    <a:pt x="367131" y="160324"/>
                  </a:lnTo>
                  <a:lnTo>
                    <a:pt x="355650" y="157962"/>
                  </a:lnTo>
                  <a:lnTo>
                    <a:pt x="352221" y="157962"/>
                  </a:lnTo>
                  <a:lnTo>
                    <a:pt x="290169" y="153136"/>
                  </a:lnTo>
                  <a:lnTo>
                    <a:pt x="240284" y="140690"/>
                  </a:lnTo>
                  <a:lnTo>
                    <a:pt x="201206" y="123291"/>
                  </a:lnTo>
                  <a:lnTo>
                    <a:pt x="159994" y="93814"/>
                  </a:lnTo>
                  <a:lnTo>
                    <a:pt x="132981" y="63004"/>
                  </a:lnTo>
                  <a:lnTo>
                    <a:pt x="127609" y="53835"/>
                  </a:lnTo>
                  <a:lnTo>
                    <a:pt x="127508" y="53644"/>
                  </a:lnTo>
                  <a:lnTo>
                    <a:pt x="120548" y="44284"/>
                  </a:lnTo>
                  <a:lnTo>
                    <a:pt x="110883" y="38506"/>
                  </a:lnTo>
                  <a:lnTo>
                    <a:pt x="99745" y="36741"/>
                  </a:lnTo>
                  <a:lnTo>
                    <a:pt x="88392" y="39471"/>
                  </a:lnTo>
                  <a:lnTo>
                    <a:pt x="78955" y="46418"/>
                  </a:lnTo>
                  <a:lnTo>
                    <a:pt x="73101" y="56095"/>
                  </a:lnTo>
                  <a:lnTo>
                    <a:pt x="71310" y="67271"/>
                  </a:lnTo>
                  <a:lnTo>
                    <a:pt x="74028" y="78676"/>
                  </a:lnTo>
                  <a:lnTo>
                    <a:pt x="107454" y="124904"/>
                  </a:lnTo>
                  <a:lnTo>
                    <a:pt x="164160" y="170116"/>
                  </a:lnTo>
                  <a:lnTo>
                    <a:pt x="200075" y="188366"/>
                  </a:lnTo>
                  <a:lnTo>
                    <a:pt x="243078" y="203276"/>
                  </a:lnTo>
                  <a:lnTo>
                    <a:pt x="293458" y="213334"/>
                  </a:lnTo>
                  <a:lnTo>
                    <a:pt x="351510" y="217017"/>
                  </a:lnTo>
                  <a:lnTo>
                    <a:pt x="355333" y="217017"/>
                  </a:lnTo>
                  <a:lnTo>
                    <a:pt x="366953" y="214718"/>
                  </a:lnTo>
                  <a:lnTo>
                    <a:pt x="376364" y="208419"/>
                  </a:lnTo>
                  <a:lnTo>
                    <a:pt x="382727" y="199059"/>
                  </a:lnTo>
                  <a:lnTo>
                    <a:pt x="385076" y="187579"/>
                  </a:lnTo>
                  <a:close/>
                </a:path>
              </a:pathLst>
            </a:custGeom>
            <a:solidFill>
              <a:srgbClr val="FFC4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4135946" y="3010955"/>
            <a:ext cx="369570" cy="875665"/>
            <a:chOff x="4135946" y="3010955"/>
            <a:chExt cx="369570" cy="875665"/>
          </a:xfrm>
        </p:grpSpPr>
        <p:sp>
          <p:nvSpPr>
            <p:cNvPr id="9" name="object 9"/>
            <p:cNvSpPr/>
            <p:nvPr/>
          </p:nvSpPr>
          <p:spPr>
            <a:xfrm>
              <a:off x="4135946" y="3198044"/>
              <a:ext cx="369570" cy="688340"/>
            </a:xfrm>
            <a:custGeom>
              <a:avLst/>
              <a:gdLst/>
              <a:ahLst/>
              <a:cxnLst/>
              <a:rect l="l" t="t" r="r" b="b"/>
              <a:pathLst>
                <a:path w="369570" h="688339">
                  <a:moveTo>
                    <a:pt x="255828" y="0"/>
                  </a:moveTo>
                  <a:lnTo>
                    <a:pt x="112141" y="63"/>
                  </a:lnTo>
                  <a:lnTo>
                    <a:pt x="66544" y="17581"/>
                  </a:lnTo>
                  <a:lnTo>
                    <a:pt x="37684" y="51882"/>
                  </a:lnTo>
                  <a:lnTo>
                    <a:pt x="15025" y="109559"/>
                  </a:lnTo>
                  <a:lnTo>
                    <a:pt x="7024" y="149110"/>
                  </a:lnTo>
                  <a:lnTo>
                    <a:pt x="1855" y="197157"/>
                  </a:lnTo>
                  <a:lnTo>
                    <a:pt x="0" y="254749"/>
                  </a:lnTo>
                  <a:lnTo>
                    <a:pt x="130" y="271316"/>
                  </a:lnTo>
                  <a:lnTo>
                    <a:pt x="2197" y="325450"/>
                  </a:lnTo>
                  <a:lnTo>
                    <a:pt x="32804" y="353225"/>
                  </a:lnTo>
                  <a:lnTo>
                    <a:pt x="44732" y="350199"/>
                  </a:lnTo>
                  <a:lnTo>
                    <a:pt x="53728" y="343334"/>
                  </a:lnTo>
                  <a:lnTo>
                    <a:pt x="59498" y="333598"/>
                  </a:lnTo>
                  <a:lnTo>
                    <a:pt x="61150" y="321995"/>
                  </a:lnTo>
                  <a:lnTo>
                    <a:pt x="59548" y="286800"/>
                  </a:lnTo>
                  <a:lnTo>
                    <a:pt x="59042" y="254749"/>
                  </a:lnTo>
                  <a:lnTo>
                    <a:pt x="61204" y="194823"/>
                  </a:lnTo>
                  <a:lnTo>
                    <a:pt x="67046" y="148169"/>
                  </a:lnTo>
                  <a:lnTo>
                    <a:pt x="75312" y="113361"/>
                  </a:lnTo>
                  <a:lnTo>
                    <a:pt x="84747" y="88976"/>
                  </a:lnTo>
                  <a:lnTo>
                    <a:pt x="84747" y="642531"/>
                  </a:lnTo>
                  <a:lnTo>
                    <a:pt x="88333" y="660296"/>
                  </a:lnTo>
                  <a:lnTo>
                    <a:pt x="98112" y="674800"/>
                  </a:lnTo>
                  <a:lnTo>
                    <a:pt x="112613" y="684577"/>
                  </a:lnTo>
                  <a:lnTo>
                    <a:pt x="130365" y="688162"/>
                  </a:lnTo>
                  <a:lnTo>
                    <a:pt x="148130" y="684577"/>
                  </a:lnTo>
                  <a:lnTo>
                    <a:pt x="162634" y="674800"/>
                  </a:lnTo>
                  <a:lnTo>
                    <a:pt x="172411" y="660296"/>
                  </a:lnTo>
                  <a:lnTo>
                    <a:pt x="175996" y="642531"/>
                  </a:lnTo>
                  <a:lnTo>
                    <a:pt x="175996" y="309422"/>
                  </a:lnTo>
                  <a:lnTo>
                    <a:pt x="193103" y="309422"/>
                  </a:lnTo>
                  <a:lnTo>
                    <a:pt x="193103" y="642531"/>
                  </a:lnTo>
                  <a:lnTo>
                    <a:pt x="196689" y="660296"/>
                  </a:lnTo>
                  <a:lnTo>
                    <a:pt x="206468" y="674800"/>
                  </a:lnTo>
                  <a:lnTo>
                    <a:pt x="220969" y="684577"/>
                  </a:lnTo>
                  <a:lnTo>
                    <a:pt x="238721" y="688162"/>
                  </a:lnTo>
                  <a:lnTo>
                    <a:pt x="256481" y="684577"/>
                  </a:lnTo>
                  <a:lnTo>
                    <a:pt x="270986" y="674800"/>
                  </a:lnTo>
                  <a:lnTo>
                    <a:pt x="280766" y="660296"/>
                  </a:lnTo>
                  <a:lnTo>
                    <a:pt x="284353" y="642531"/>
                  </a:lnTo>
                  <a:lnTo>
                    <a:pt x="284353" y="89166"/>
                  </a:lnTo>
                  <a:lnTo>
                    <a:pt x="288747" y="98793"/>
                  </a:lnTo>
                  <a:lnTo>
                    <a:pt x="304390" y="162896"/>
                  </a:lnTo>
                  <a:lnTo>
                    <a:pt x="308524" y="204232"/>
                  </a:lnTo>
                  <a:lnTo>
                    <a:pt x="310032" y="254761"/>
                  </a:lnTo>
                  <a:lnTo>
                    <a:pt x="309524" y="286808"/>
                  </a:lnTo>
                  <a:lnTo>
                    <a:pt x="307949" y="322008"/>
                  </a:lnTo>
                  <a:lnTo>
                    <a:pt x="309596" y="333616"/>
                  </a:lnTo>
                  <a:lnTo>
                    <a:pt x="315367" y="343352"/>
                  </a:lnTo>
                  <a:lnTo>
                    <a:pt x="324371" y="350213"/>
                  </a:lnTo>
                  <a:lnTo>
                    <a:pt x="336867" y="353250"/>
                  </a:lnTo>
                  <a:lnTo>
                    <a:pt x="348472" y="351112"/>
                  </a:lnTo>
                  <a:lnTo>
                    <a:pt x="368547" y="288609"/>
                  </a:lnTo>
                  <a:lnTo>
                    <a:pt x="369087" y="254761"/>
                  </a:lnTo>
                  <a:lnTo>
                    <a:pt x="365834" y="180152"/>
                  </a:lnTo>
                  <a:lnTo>
                    <a:pt x="357020" y="121839"/>
                  </a:lnTo>
                  <a:lnTo>
                    <a:pt x="343689" y="77463"/>
                  </a:lnTo>
                  <a:lnTo>
                    <a:pt x="317454" y="32083"/>
                  </a:lnTo>
                  <a:lnTo>
                    <a:pt x="287477" y="7937"/>
                  </a:lnTo>
                  <a:lnTo>
                    <a:pt x="262747" y="413"/>
                  </a:lnTo>
                  <a:lnTo>
                    <a:pt x="255828" y="0"/>
                  </a:lnTo>
                  <a:close/>
                </a:path>
              </a:pathLst>
            </a:custGeom>
            <a:solidFill>
              <a:srgbClr val="FFC4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37465" y="3010955"/>
              <a:ext cx="166052" cy="166065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3774348" y="4070241"/>
            <a:ext cx="662305" cy="885190"/>
            <a:chOff x="3774348" y="4070241"/>
            <a:chExt cx="662305" cy="885190"/>
          </a:xfrm>
        </p:grpSpPr>
        <p:sp>
          <p:nvSpPr>
            <p:cNvPr id="12" name="object 12"/>
            <p:cNvSpPr/>
            <p:nvPr/>
          </p:nvSpPr>
          <p:spPr>
            <a:xfrm>
              <a:off x="3794062" y="4259338"/>
              <a:ext cx="622935" cy="695960"/>
            </a:xfrm>
            <a:custGeom>
              <a:avLst/>
              <a:gdLst/>
              <a:ahLst/>
              <a:cxnLst/>
              <a:rect l="l" t="t" r="r" b="b"/>
              <a:pathLst>
                <a:path w="622935" h="695960">
                  <a:moveTo>
                    <a:pt x="386524" y="0"/>
                  </a:moveTo>
                  <a:lnTo>
                    <a:pt x="235889" y="0"/>
                  </a:lnTo>
                  <a:lnTo>
                    <a:pt x="232765" y="571"/>
                  </a:lnTo>
                  <a:lnTo>
                    <a:pt x="206770" y="10201"/>
                  </a:lnTo>
                  <a:lnTo>
                    <a:pt x="177452" y="32700"/>
                  </a:lnTo>
                  <a:lnTo>
                    <a:pt x="150470" y="75648"/>
                  </a:lnTo>
                  <a:lnTo>
                    <a:pt x="134416" y="145630"/>
                  </a:lnTo>
                  <a:lnTo>
                    <a:pt x="28346" y="150825"/>
                  </a:lnTo>
                  <a:lnTo>
                    <a:pt x="16859" y="153731"/>
                  </a:lnTo>
                  <a:lnTo>
                    <a:pt x="7696" y="160580"/>
                  </a:lnTo>
                  <a:lnTo>
                    <a:pt x="1771" y="170365"/>
                  </a:lnTo>
                  <a:lnTo>
                    <a:pt x="0" y="182079"/>
                  </a:lnTo>
                  <a:lnTo>
                    <a:pt x="2762" y="193249"/>
                  </a:lnTo>
                  <a:lnTo>
                    <a:pt x="9256" y="202258"/>
                  </a:lnTo>
                  <a:lnTo>
                    <a:pt x="18568" y="208274"/>
                  </a:lnTo>
                  <a:lnTo>
                    <a:pt x="31254" y="210426"/>
                  </a:lnTo>
                  <a:lnTo>
                    <a:pt x="164287" y="203911"/>
                  </a:lnTo>
                  <a:lnTo>
                    <a:pt x="192671" y="174510"/>
                  </a:lnTo>
                  <a:lnTo>
                    <a:pt x="194363" y="145643"/>
                  </a:lnTo>
                  <a:lnTo>
                    <a:pt x="198226" y="122062"/>
                  </a:lnTo>
                  <a:lnTo>
                    <a:pt x="203724" y="103230"/>
                  </a:lnTo>
                  <a:lnTo>
                    <a:pt x="210324" y="88607"/>
                  </a:lnTo>
                  <a:lnTo>
                    <a:pt x="210324" y="649439"/>
                  </a:lnTo>
                  <a:lnTo>
                    <a:pt x="213950" y="667385"/>
                  </a:lnTo>
                  <a:lnTo>
                    <a:pt x="223837" y="682039"/>
                  </a:lnTo>
                  <a:lnTo>
                    <a:pt x="238496" y="691918"/>
                  </a:lnTo>
                  <a:lnTo>
                    <a:pt x="256438" y="695540"/>
                  </a:lnTo>
                  <a:lnTo>
                    <a:pt x="274393" y="691918"/>
                  </a:lnTo>
                  <a:lnTo>
                    <a:pt x="289055" y="682039"/>
                  </a:lnTo>
                  <a:lnTo>
                    <a:pt x="298940" y="667385"/>
                  </a:lnTo>
                  <a:lnTo>
                    <a:pt x="302564" y="649439"/>
                  </a:lnTo>
                  <a:lnTo>
                    <a:pt x="302564" y="312737"/>
                  </a:lnTo>
                  <a:lnTo>
                    <a:pt x="319849" y="312737"/>
                  </a:lnTo>
                  <a:lnTo>
                    <a:pt x="319849" y="649439"/>
                  </a:lnTo>
                  <a:lnTo>
                    <a:pt x="323473" y="667385"/>
                  </a:lnTo>
                  <a:lnTo>
                    <a:pt x="333357" y="682039"/>
                  </a:lnTo>
                  <a:lnTo>
                    <a:pt x="348015" y="691918"/>
                  </a:lnTo>
                  <a:lnTo>
                    <a:pt x="365963" y="695540"/>
                  </a:lnTo>
                  <a:lnTo>
                    <a:pt x="383910" y="691918"/>
                  </a:lnTo>
                  <a:lnTo>
                    <a:pt x="398568" y="682039"/>
                  </a:lnTo>
                  <a:lnTo>
                    <a:pt x="408452" y="667385"/>
                  </a:lnTo>
                  <a:lnTo>
                    <a:pt x="412076" y="649439"/>
                  </a:lnTo>
                  <a:lnTo>
                    <a:pt x="412076" y="88772"/>
                  </a:lnTo>
                  <a:lnTo>
                    <a:pt x="418667" y="103410"/>
                  </a:lnTo>
                  <a:lnTo>
                    <a:pt x="424170" y="122226"/>
                  </a:lnTo>
                  <a:lnTo>
                    <a:pt x="428039" y="145749"/>
                  </a:lnTo>
                  <a:lnTo>
                    <a:pt x="429729" y="174510"/>
                  </a:lnTo>
                  <a:lnTo>
                    <a:pt x="432041" y="185644"/>
                  </a:lnTo>
                  <a:lnTo>
                    <a:pt x="438097" y="194830"/>
                  </a:lnTo>
                  <a:lnTo>
                    <a:pt x="447065" y="201206"/>
                  </a:lnTo>
                  <a:lnTo>
                    <a:pt x="458114" y="203911"/>
                  </a:lnTo>
                  <a:lnTo>
                    <a:pt x="592620" y="210464"/>
                  </a:lnTo>
                  <a:lnTo>
                    <a:pt x="603833" y="208274"/>
                  </a:lnTo>
                  <a:lnTo>
                    <a:pt x="613144" y="202258"/>
                  </a:lnTo>
                  <a:lnTo>
                    <a:pt x="619639" y="193249"/>
                  </a:lnTo>
                  <a:lnTo>
                    <a:pt x="622401" y="182079"/>
                  </a:lnTo>
                  <a:lnTo>
                    <a:pt x="620629" y="170365"/>
                  </a:lnTo>
                  <a:lnTo>
                    <a:pt x="614705" y="160580"/>
                  </a:lnTo>
                  <a:lnTo>
                    <a:pt x="605542" y="153731"/>
                  </a:lnTo>
                  <a:lnTo>
                    <a:pt x="594055" y="150825"/>
                  </a:lnTo>
                  <a:lnTo>
                    <a:pt x="487997" y="145630"/>
                  </a:lnTo>
                  <a:lnTo>
                    <a:pt x="471946" y="75671"/>
                  </a:lnTo>
                  <a:lnTo>
                    <a:pt x="444977" y="32726"/>
                  </a:lnTo>
                  <a:lnTo>
                    <a:pt x="415668" y="10219"/>
                  </a:lnTo>
                  <a:lnTo>
                    <a:pt x="389661" y="571"/>
                  </a:lnTo>
                  <a:lnTo>
                    <a:pt x="386524" y="0"/>
                  </a:lnTo>
                  <a:close/>
                </a:path>
              </a:pathLst>
            </a:custGeom>
            <a:solidFill>
              <a:srgbClr val="FFC4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21344" y="4070241"/>
              <a:ext cx="167843" cy="1678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74348" y="4240468"/>
              <a:ext cx="128485" cy="15860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07695" y="4240467"/>
              <a:ext cx="128473" cy="158606"/>
            </a:xfrm>
            <a:prstGeom prst="rect">
              <a:avLst/>
            </a:prstGeom>
          </p:spPr>
        </p:pic>
      </p:grpSp>
      <p:sp>
        <p:nvSpPr>
          <p:cNvPr id="16" name="object 16"/>
          <p:cNvSpPr/>
          <p:nvPr/>
        </p:nvSpPr>
        <p:spPr>
          <a:xfrm>
            <a:off x="3689294" y="6541084"/>
            <a:ext cx="739775" cy="695960"/>
          </a:xfrm>
          <a:custGeom>
            <a:avLst/>
            <a:gdLst/>
            <a:ahLst/>
            <a:cxnLst/>
            <a:rect l="l" t="t" r="r" b="b"/>
            <a:pathLst>
              <a:path w="739775" h="695959">
                <a:moveTo>
                  <a:pt x="382955" y="0"/>
                </a:moveTo>
                <a:lnTo>
                  <a:pt x="376275" y="0"/>
                </a:lnTo>
                <a:lnTo>
                  <a:pt x="366179" y="11468"/>
                </a:lnTo>
                <a:lnTo>
                  <a:pt x="363756" y="14166"/>
                </a:lnTo>
                <a:lnTo>
                  <a:pt x="360705" y="16700"/>
                </a:lnTo>
                <a:lnTo>
                  <a:pt x="356717" y="19875"/>
                </a:lnTo>
                <a:lnTo>
                  <a:pt x="348910" y="26397"/>
                </a:lnTo>
                <a:lnTo>
                  <a:pt x="341344" y="34677"/>
                </a:lnTo>
                <a:lnTo>
                  <a:pt x="335625" y="45385"/>
                </a:lnTo>
                <a:lnTo>
                  <a:pt x="333362" y="59194"/>
                </a:lnTo>
                <a:lnTo>
                  <a:pt x="335625" y="72979"/>
                </a:lnTo>
                <a:lnTo>
                  <a:pt x="341345" y="83672"/>
                </a:lnTo>
                <a:lnTo>
                  <a:pt x="348916" y="91943"/>
                </a:lnTo>
                <a:lnTo>
                  <a:pt x="356730" y="98463"/>
                </a:lnTo>
                <a:lnTo>
                  <a:pt x="366077" y="105879"/>
                </a:lnTo>
                <a:lnTo>
                  <a:pt x="370941" y="110159"/>
                </a:lnTo>
                <a:lnTo>
                  <a:pt x="370941" y="127584"/>
                </a:lnTo>
                <a:lnTo>
                  <a:pt x="366052" y="131889"/>
                </a:lnTo>
                <a:lnTo>
                  <a:pt x="356704" y="139344"/>
                </a:lnTo>
                <a:lnTo>
                  <a:pt x="348905" y="145895"/>
                </a:lnTo>
                <a:lnTo>
                  <a:pt x="341342" y="154201"/>
                </a:lnTo>
                <a:lnTo>
                  <a:pt x="335625" y="164935"/>
                </a:lnTo>
                <a:lnTo>
                  <a:pt x="333362" y="178765"/>
                </a:lnTo>
                <a:lnTo>
                  <a:pt x="335634" y="192418"/>
                </a:lnTo>
                <a:lnTo>
                  <a:pt x="341374" y="202999"/>
                </a:lnTo>
                <a:lnTo>
                  <a:pt x="348969" y="211176"/>
                </a:lnTo>
                <a:lnTo>
                  <a:pt x="356806" y="217614"/>
                </a:lnTo>
                <a:lnTo>
                  <a:pt x="360845" y="220764"/>
                </a:lnTo>
                <a:lnTo>
                  <a:pt x="364045" y="223329"/>
                </a:lnTo>
                <a:lnTo>
                  <a:pt x="371055" y="231127"/>
                </a:lnTo>
                <a:lnTo>
                  <a:pt x="376351" y="237401"/>
                </a:lnTo>
                <a:lnTo>
                  <a:pt x="383032" y="237401"/>
                </a:lnTo>
                <a:lnTo>
                  <a:pt x="387713" y="235439"/>
                </a:lnTo>
                <a:lnTo>
                  <a:pt x="390967" y="230309"/>
                </a:lnTo>
                <a:lnTo>
                  <a:pt x="391593" y="223329"/>
                </a:lnTo>
                <a:lnTo>
                  <a:pt x="391609" y="223143"/>
                </a:lnTo>
                <a:lnTo>
                  <a:pt x="388454" y="215074"/>
                </a:lnTo>
                <a:lnTo>
                  <a:pt x="383654" y="207911"/>
                </a:lnTo>
                <a:lnTo>
                  <a:pt x="362381" y="191312"/>
                </a:lnTo>
                <a:lnTo>
                  <a:pt x="357517" y="187134"/>
                </a:lnTo>
                <a:lnTo>
                  <a:pt x="357517" y="169989"/>
                </a:lnTo>
                <a:lnTo>
                  <a:pt x="362407" y="165696"/>
                </a:lnTo>
                <a:lnTo>
                  <a:pt x="371767" y="158229"/>
                </a:lnTo>
                <a:lnTo>
                  <a:pt x="379572" y="151686"/>
                </a:lnTo>
                <a:lnTo>
                  <a:pt x="387134" y="143384"/>
                </a:lnTo>
                <a:lnTo>
                  <a:pt x="392848" y="132656"/>
                </a:lnTo>
                <a:lnTo>
                  <a:pt x="395109" y="118833"/>
                </a:lnTo>
                <a:lnTo>
                  <a:pt x="392844" y="105034"/>
                </a:lnTo>
                <a:lnTo>
                  <a:pt x="387121" y="94334"/>
                </a:lnTo>
                <a:lnTo>
                  <a:pt x="379550" y="86060"/>
                </a:lnTo>
                <a:lnTo>
                  <a:pt x="371741" y="79540"/>
                </a:lnTo>
                <a:lnTo>
                  <a:pt x="362407" y="72110"/>
                </a:lnTo>
                <a:lnTo>
                  <a:pt x="357517" y="67868"/>
                </a:lnTo>
                <a:lnTo>
                  <a:pt x="357517" y="50482"/>
                </a:lnTo>
                <a:lnTo>
                  <a:pt x="362407" y="46215"/>
                </a:lnTo>
                <a:lnTo>
                  <a:pt x="383565" y="29362"/>
                </a:lnTo>
                <a:lnTo>
                  <a:pt x="388315" y="22199"/>
                </a:lnTo>
                <a:lnTo>
                  <a:pt x="391449" y="14166"/>
                </a:lnTo>
                <a:lnTo>
                  <a:pt x="390836" y="7042"/>
                </a:lnTo>
                <a:lnTo>
                  <a:pt x="387622" y="1947"/>
                </a:lnTo>
                <a:lnTo>
                  <a:pt x="382955" y="0"/>
                </a:lnTo>
                <a:close/>
              </a:path>
              <a:path w="739775" h="695959">
                <a:moveTo>
                  <a:pt x="475576" y="0"/>
                </a:moveTo>
                <a:lnTo>
                  <a:pt x="468884" y="0"/>
                </a:lnTo>
                <a:lnTo>
                  <a:pt x="456383" y="14160"/>
                </a:lnTo>
                <a:lnTo>
                  <a:pt x="453313" y="16700"/>
                </a:lnTo>
                <a:lnTo>
                  <a:pt x="425983" y="59194"/>
                </a:lnTo>
                <a:lnTo>
                  <a:pt x="428244" y="72979"/>
                </a:lnTo>
                <a:lnTo>
                  <a:pt x="433960" y="83672"/>
                </a:lnTo>
                <a:lnTo>
                  <a:pt x="441526" y="91943"/>
                </a:lnTo>
                <a:lnTo>
                  <a:pt x="449338" y="98463"/>
                </a:lnTo>
                <a:lnTo>
                  <a:pt x="458673" y="105879"/>
                </a:lnTo>
                <a:lnTo>
                  <a:pt x="463562" y="110159"/>
                </a:lnTo>
                <a:lnTo>
                  <a:pt x="463562" y="127584"/>
                </a:lnTo>
                <a:lnTo>
                  <a:pt x="458673" y="131889"/>
                </a:lnTo>
                <a:lnTo>
                  <a:pt x="449313" y="139344"/>
                </a:lnTo>
                <a:lnTo>
                  <a:pt x="441515" y="145895"/>
                </a:lnTo>
                <a:lnTo>
                  <a:pt x="433957" y="154201"/>
                </a:lnTo>
                <a:lnTo>
                  <a:pt x="428244" y="164935"/>
                </a:lnTo>
                <a:lnTo>
                  <a:pt x="425983" y="178765"/>
                </a:lnTo>
                <a:lnTo>
                  <a:pt x="428255" y="192418"/>
                </a:lnTo>
                <a:lnTo>
                  <a:pt x="433993" y="202999"/>
                </a:lnTo>
                <a:lnTo>
                  <a:pt x="441585" y="211176"/>
                </a:lnTo>
                <a:lnTo>
                  <a:pt x="449414" y="217614"/>
                </a:lnTo>
                <a:lnTo>
                  <a:pt x="453453" y="220764"/>
                </a:lnTo>
                <a:lnTo>
                  <a:pt x="456666" y="223329"/>
                </a:lnTo>
                <a:lnTo>
                  <a:pt x="463677" y="231127"/>
                </a:lnTo>
                <a:lnTo>
                  <a:pt x="468972" y="237401"/>
                </a:lnTo>
                <a:lnTo>
                  <a:pt x="475640" y="237401"/>
                </a:lnTo>
                <a:lnTo>
                  <a:pt x="480322" y="235439"/>
                </a:lnTo>
                <a:lnTo>
                  <a:pt x="483576" y="230309"/>
                </a:lnTo>
                <a:lnTo>
                  <a:pt x="484201" y="223329"/>
                </a:lnTo>
                <a:lnTo>
                  <a:pt x="484218" y="223143"/>
                </a:lnTo>
                <a:lnTo>
                  <a:pt x="481063" y="215074"/>
                </a:lnTo>
                <a:lnTo>
                  <a:pt x="476275" y="207911"/>
                </a:lnTo>
                <a:lnTo>
                  <a:pt x="454977" y="191312"/>
                </a:lnTo>
                <a:lnTo>
                  <a:pt x="450126" y="187134"/>
                </a:lnTo>
                <a:lnTo>
                  <a:pt x="450126" y="169989"/>
                </a:lnTo>
                <a:lnTo>
                  <a:pt x="455002" y="165696"/>
                </a:lnTo>
                <a:lnTo>
                  <a:pt x="464375" y="158229"/>
                </a:lnTo>
                <a:lnTo>
                  <a:pt x="472180" y="151686"/>
                </a:lnTo>
                <a:lnTo>
                  <a:pt x="479742" y="143384"/>
                </a:lnTo>
                <a:lnTo>
                  <a:pt x="485456" y="132656"/>
                </a:lnTo>
                <a:lnTo>
                  <a:pt x="487718" y="118833"/>
                </a:lnTo>
                <a:lnTo>
                  <a:pt x="485452" y="105034"/>
                </a:lnTo>
                <a:lnTo>
                  <a:pt x="479731" y="94334"/>
                </a:lnTo>
                <a:lnTo>
                  <a:pt x="472164" y="86060"/>
                </a:lnTo>
                <a:lnTo>
                  <a:pt x="464362" y="79540"/>
                </a:lnTo>
                <a:lnTo>
                  <a:pt x="455002" y="72110"/>
                </a:lnTo>
                <a:lnTo>
                  <a:pt x="450126" y="67868"/>
                </a:lnTo>
                <a:lnTo>
                  <a:pt x="450126" y="50482"/>
                </a:lnTo>
                <a:lnTo>
                  <a:pt x="455002" y="46215"/>
                </a:lnTo>
                <a:lnTo>
                  <a:pt x="476173" y="29362"/>
                </a:lnTo>
                <a:lnTo>
                  <a:pt x="480923" y="22199"/>
                </a:lnTo>
                <a:lnTo>
                  <a:pt x="484060" y="14160"/>
                </a:lnTo>
                <a:lnTo>
                  <a:pt x="483450" y="7037"/>
                </a:lnTo>
                <a:lnTo>
                  <a:pt x="480241" y="1945"/>
                </a:lnTo>
                <a:lnTo>
                  <a:pt x="475576" y="0"/>
                </a:lnTo>
                <a:close/>
              </a:path>
              <a:path w="739775" h="695959">
                <a:moveTo>
                  <a:pt x="290347" y="0"/>
                </a:moveTo>
                <a:lnTo>
                  <a:pt x="283667" y="0"/>
                </a:lnTo>
                <a:lnTo>
                  <a:pt x="271166" y="14160"/>
                </a:lnTo>
                <a:lnTo>
                  <a:pt x="268097" y="16700"/>
                </a:lnTo>
                <a:lnTo>
                  <a:pt x="240766" y="59194"/>
                </a:lnTo>
                <a:lnTo>
                  <a:pt x="243029" y="72979"/>
                </a:lnTo>
                <a:lnTo>
                  <a:pt x="248748" y="83672"/>
                </a:lnTo>
                <a:lnTo>
                  <a:pt x="256314" y="91943"/>
                </a:lnTo>
                <a:lnTo>
                  <a:pt x="264121" y="98463"/>
                </a:lnTo>
                <a:lnTo>
                  <a:pt x="273456" y="105879"/>
                </a:lnTo>
                <a:lnTo>
                  <a:pt x="278333" y="110159"/>
                </a:lnTo>
                <a:lnTo>
                  <a:pt x="278333" y="127584"/>
                </a:lnTo>
                <a:lnTo>
                  <a:pt x="273443" y="131889"/>
                </a:lnTo>
                <a:lnTo>
                  <a:pt x="264096" y="139344"/>
                </a:lnTo>
                <a:lnTo>
                  <a:pt x="256293" y="145895"/>
                </a:lnTo>
                <a:lnTo>
                  <a:pt x="248735" y="154201"/>
                </a:lnTo>
                <a:lnTo>
                  <a:pt x="243026" y="164935"/>
                </a:lnTo>
                <a:lnTo>
                  <a:pt x="240766" y="178765"/>
                </a:lnTo>
                <a:lnTo>
                  <a:pt x="243036" y="192418"/>
                </a:lnTo>
                <a:lnTo>
                  <a:pt x="248770" y="202999"/>
                </a:lnTo>
                <a:lnTo>
                  <a:pt x="256357" y="211176"/>
                </a:lnTo>
                <a:lnTo>
                  <a:pt x="264185" y="217614"/>
                </a:lnTo>
                <a:lnTo>
                  <a:pt x="268236" y="220764"/>
                </a:lnTo>
                <a:lnTo>
                  <a:pt x="271437" y="223329"/>
                </a:lnTo>
                <a:lnTo>
                  <a:pt x="278460" y="231127"/>
                </a:lnTo>
                <a:lnTo>
                  <a:pt x="283743" y="237401"/>
                </a:lnTo>
                <a:lnTo>
                  <a:pt x="290423" y="237401"/>
                </a:lnTo>
                <a:lnTo>
                  <a:pt x="295105" y="235439"/>
                </a:lnTo>
                <a:lnTo>
                  <a:pt x="298357" y="230309"/>
                </a:lnTo>
                <a:lnTo>
                  <a:pt x="298979" y="223329"/>
                </a:lnTo>
                <a:lnTo>
                  <a:pt x="298996" y="223143"/>
                </a:lnTo>
                <a:lnTo>
                  <a:pt x="295833" y="215074"/>
                </a:lnTo>
                <a:lnTo>
                  <a:pt x="291045" y="207911"/>
                </a:lnTo>
                <a:lnTo>
                  <a:pt x="269760" y="191312"/>
                </a:lnTo>
                <a:lnTo>
                  <a:pt x="264909" y="187134"/>
                </a:lnTo>
                <a:lnTo>
                  <a:pt x="264909" y="169989"/>
                </a:lnTo>
                <a:lnTo>
                  <a:pt x="269798" y="165696"/>
                </a:lnTo>
                <a:lnTo>
                  <a:pt x="279158" y="158229"/>
                </a:lnTo>
                <a:lnTo>
                  <a:pt x="286963" y="151686"/>
                </a:lnTo>
                <a:lnTo>
                  <a:pt x="294525" y="143384"/>
                </a:lnTo>
                <a:lnTo>
                  <a:pt x="300239" y="132656"/>
                </a:lnTo>
                <a:lnTo>
                  <a:pt x="302501" y="118833"/>
                </a:lnTo>
                <a:lnTo>
                  <a:pt x="300235" y="105034"/>
                </a:lnTo>
                <a:lnTo>
                  <a:pt x="294513" y="94334"/>
                </a:lnTo>
                <a:lnTo>
                  <a:pt x="286942" y="86060"/>
                </a:lnTo>
                <a:lnTo>
                  <a:pt x="279133" y="79540"/>
                </a:lnTo>
                <a:lnTo>
                  <a:pt x="269798" y="72110"/>
                </a:lnTo>
                <a:lnTo>
                  <a:pt x="264909" y="67868"/>
                </a:lnTo>
                <a:lnTo>
                  <a:pt x="264909" y="50482"/>
                </a:lnTo>
                <a:lnTo>
                  <a:pt x="269798" y="46215"/>
                </a:lnTo>
                <a:lnTo>
                  <a:pt x="290957" y="29362"/>
                </a:lnTo>
                <a:lnTo>
                  <a:pt x="295706" y="22199"/>
                </a:lnTo>
                <a:lnTo>
                  <a:pt x="298843" y="14160"/>
                </a:lnTo>
                <a:lnTo>
                  <a:pt x="298232" y="7037"/>
                </a:lnTo>
                <a:lnTo>
                  <a:pt x="295019" y="1945"/>
                </a:lnTo>
                <a:lnTo>
                  <a:pt x="290347" y="0"/>
                </a:lnTo>
                <a:close/>
              </a:path>
              <a:path w="739775" h="695959">
                <a:moveTo>
                  <a:pt x="739495" y="583082"/>
                </a:moveTo>
                <a:lnTo>
                  <a:pt x="0" y="583082"/>
                </a:lnTo>
                <a:lnTo>
                  <a:pt x="34525" y="618463"/>
                </a:lnTo>
                <a:lnTo>
                  <a:pt x="73302" y="649438"/>
                </a:lnTo>
                <a:lnTo>
                  <a:pt x="119802" y="675352"/>
                </a:lnTo>
                <a:lnTo>
                  <a:pt x="177495" y="695553"/>
                </a:lnTo>
                <a:lnTo>
                  <a:pt x="562013" y="695553"/>
                </a:lnTo>
                <a:lnTo>
                  <a:pt x="619712" y="675352"/>
                </a:lnTo>
                <a:lnTo>
                  <a:pt x="666213" y="649438"/>
                </a:lnTo>
                <a:lnTo>
                  <a:pt x="704984" y="618463"/>
                </a:lnTo>
                <a:lnTo>
                  <a:pt x="739495" y="583082"/>
                </a:lnTo>
                <a:close/>
              </a:path>
              <a:path w="739775" h="695959">
                <a:moveTo>
                  <a:pt x="587197" y="280288"/>
                </a:moveTo>
                <a:lnTo>
                  <a:pt x="152425" y="280288"/>
                </a:lnTo>
                <a:lnTo>
                  <a:pt x="152514" y="443255"/>
                </a:lnTo>
                <a:lnTo>
                  <a:pt x="157063" y="483041"/>
                </a:lnTo>
                <a:lnTo>
                  <a:pt x="168897" y="520112"/>
                </a:lnTo>
                <a:lnTo>
                  <a:pt x="187265" y="553712"/>
                </a:lnTo>
                <a:lnTo>
                  <a:pt x="211416" y="583082"/>
                </a:lnTo>
                <a:lnTo>
                  <a:pt x="516737" y="583082"/>
                </a:lnTo>
                <a:lnTo>
                  <a:pt x="536743" y="559626"/>
                </a:lnTo>
                <a:lnTo>
                  <a:pt x="553054" y="533303"/>
                </a:lnTo>
                <a:lnTo>
                  <a:pt x="565263" y="504510"/>
                </a:lnTo>
                <a:lnTo>
                  <a:pt x="572960" y="473646"/>
                </a:lnTo>
                <a:lnTo>
                  <a:pt x="587197" y="473646"/>
                </a:lnTo>
                <a:lnTo>
                  <a:pt x="624803" y="466035"/>
                </a:lnTo>
                <a:lnTo>
                  <a:pt x="655543" y="445292"/>
                </a:lnTo>
                <a:lnTo>
                  <a:pt x="662308" y="435267"/>
                </a:lnTo>
                <a:lnTo>
                  <a:pt x="575792" y="435267"/>
                </a:lnTo>
                <a:lnTo>
                  <a:pt x="575792" y="318668"/>
                </a:lnTo>
                <a:lnTo>
                  <a:pt x="663881" y="318668"/>
                </a:lnTo>
                <a:lnTo>
                  <a:pt x="652881" y="306209"/>
                </a:lnTo>
                <a:lnTo>
                  <a:pt x="638900" y="295398"/>
                </a:lnTo>
                <a:lnTo>
                  <a:pt x="623077" y="287239"/>
                </a:lnTo>
                <a:lnTo>
                  <a:pt x="605736" y="282085"/>
                </a:lnTo>
                <a:lnTo>
                  <a:pt x="587197" y="280288"/>
                </a:lnTo>
                <a:close/>
              </a:path>
              <a:path w="739775" h="695959">
                <a:moveTo>
                  <a:pt x="663881" y="318668"/>
                </a:moveTo>
                <a:lnTo>
                  <a:pt x="587197" y="318668"/>
                </a:lnTo>
                <a:lnTo>
                  <a:pt x="609873" y="323256"/>
                </a:lnTo>
                <a:lnTo>
                  <a:pt x="628408" y="335761"/>
                </a:lnTo>
                <a:lnTo>
                  <a:pt x="640914" y="354292"/>
                </a:lnTo>
                <a:lnTo>
                  <a:pt x="645502" y="376961"/>
                </a:lnTo>
                <a:lnTo>
                  <a:pt x="640914" y="399637"/>
                </a:lnTo>
                <a:lnTo>
                  <a:pt x="628408" y="418172"/>
                </a:lnTo>
                <a:lnTo>
                  <a:pt x="609873" y="430678"/>
                </a:lnTo>
                <a:lnTo>
                  <a:pt x="587197" y="435267"/>
                </a:lnTo>
                <a:lnTo>
                  <a:pt x="662308" y="435267"/>
                </a:lnTo>
                <a:lnTo>
                  <a:pt x="676285" y="414555"/>
                </a:lnTo>
                <a:lnTo>
                  <a:pt x="683895" y="376961"/>
                </a:lnTo>
                <a:lnTo>
                  <a:pt x="681724" y="356603"/>
                </a:lnTo>
                <a:lnTo>
                  <a:pt x="675522" y="337732"/>
                </a:lnTo>
                <a:lnTo>
                  <a:pt x="665753" y="320788"/>
                </a:lnTo>
                <a:lnTo>
                  <a:pt x="663881" y="318668"/>
                </a:lnTo>
                <a:close/>
              </a:path>
            </a:pathLst>
          </a:custGeom>
          <a:solidFill>
            <a:srgbClr val="FFC4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663566" y="2323895"/>
            <a:ext cx="4928870" cy="132143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16890">
              <a:lnSpc>
                <a:spcPts val="1400"/>
              </a:lnSpc>
              <a:spcBef>
                <a:spcPts val="380"/>
              </a:spcBef>
            </a:pPr>
            <a:r>
              <a:rPr sz="1400" b="1" dirty="0">
                <a:solidFill>
                  <a:srgbClr val="00ACA1"/>
                </a:solidFill>
                <a:latin typeface="Arial"/>
                <a:cs typeface="Arial"/>
              </a:rPr>
              <a:t>Here</a:t>
            </a:r>
            <a:r>
              <a:rPr sz="1400" b="1" spc="15" dirty="0">
                <a:solidFill>
                  <a:srgbClr val="00ACA1"/>
                </a:solidFill>
                <a:latin typeface="Arial"/>
                <a:cs typeface="Arial"/>
              </a:rPr>
              <a:t> </a:t>
            </a:r>
            <a:r>
              <a:rPr sz="1400" b="1" spc="-30" dirty="0">
                <a:solidFill>
                  <a:srgbClr val="00ACA1"/>
                </a:solidFill>
                <a:latin typeface="Arial"/>
                <a:cs typeface="Arial"/>
              </a:rPr>
              <a:t>is</a:t>
            </a:r>
            <a:r>
              <a:rPr sz="1400" b="1" spc="20" dirty="0">
                <a:solidFill>
                  <a:srgbClr val="00ACA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ACA1"/>
                </a:solidFill>
                <a:latin typeface="Arial"/>
                <a:cs typeface="Arial"/>
              </a:rPr>
              <a:t>a</a:t>
            </a:r>
            <a:r>
              <a:rPr sz="1400" b="1" spc="20" dirty="0">
                <a:solidFill>
                  <a:srgbClr val="00ACA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ACA1"/>
                </a:solidFill>
                <a:latin typeface="Arial"/>
                <a:cs typeface="Arial"/>
              </a:rPr>
              <a:t>road</a:t>
            </a:r>
            <a:r>
              <a:rPr sz="1400" b="1" spc="20" dirty="0">
                <a:solidFill>
                  <a:srgbClr val="00ACA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ACA1"/>
                </a:solidFill>
                <a:latin typeface="Arial"/>
                <a:cs typeface="Arial"/>
              </a:rPr>
              <a:t>map</a:t>
            </a:r>
            <a:r>
              <a:rPr sz="1400" b="1" spc="20" dirty="0">
                <a:solidFill>
                  <a:srgbClr val="00ACA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ACA1"/>
                </a:solidFill>
                <a:latin typeface="Arial"/>
                <a:cs typeface="Arial"/>
              </a:rPr>
              <a:t>for</a:t>
            </a:r>
            <a:r>
              <a:rPr sz="1400" b="1" spc="20" dirty="0">
                <a:solidFill>
                  <a:srgbClr val="00ACA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ACA1"/>
                </a:solidFill>
                <a:latin typeface="Arial"/>
                <a:cs typeface="Arial"/>
              </a:rPr>
              <a:t>navigating</a:t>
            </a:r>
            <a:r>
              <a:rPr sz="1400" b="1" spc="20" dirty="0">
                <a:solidFill>
                  <a:srgbClr val="00ACA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ACA1"/>
                </a:solidFill>
                <a:latin typeface="Arial"/>
                <a:cs typeface="Arial"/>
              </a:rPr>
              <a:t>the</a:t>
            </a:r>
            <a:r>
              <a:rPr sz="1400" b="1" spc="20" dirty="0">
                <a:solidFill>
                  <a:srgbClr val="00ACA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ACA1"/>
                </a:solidFill>
                <a:latin typeface="Arial"/>
                <a:cs typeface="Arial"/>
              </a:rPr>
              <a:t>most</a:t>
            </a:r>
            <a:r>
              <a:rPr sz="1400" b="1" spc="20" dirty="0">
                <a:solidFill>
                  <a:srgbClr val="00ACA1"/>
                </a:solidFill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00ACA1"/>
                </a:solidFill>
                <a:latin typeface="Arial"/>
                <a:cs typeface="Arial"/>
              </a:rPr>
              <a:t>common </a:t>
            </a:r>
            <a:r>
              <a:rPr sz="1400" b="1" spc="-10" dirty="0">
                <a:solidFill>
                  <a:srgbClr val="00ACA1"/>
                </a:solidFill>
                <a:latin typeface="Arial"/>
                <a:cs typeface="Arial"/>
              </a:rPr>
              <a:t>situations:</a:t>
            </a:r>
            <a:endParaRPr sz="1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Gifts</a:t>
            </a:r>
            <a:r>
              <a:rPr sz="1150" b="1" spc="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from</a:t>
            </a:r>
            <a:r>
              <a:rPr sz="1150" b="1" spc="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Grateful</a:t>
            </a:r>
            <a:r>
              <a:rPr sz="1150" b="1" spc="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Patients</a:t>
            </a:r>
            <a:endParaRPr sz="115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40"/>
              </a:spcBef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If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patient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wishes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send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gift,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encourage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them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express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their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gratitude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by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donating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lang="en-US" sz="1150" dirty="0">
                <a:solidFill>
                  <a:srgbClr val="231F20"/>
                </a:solidFill>
                <a:latin typeface="Avenir Book"/>
                <a:cs typeface="Avenir Book"/>
              </a:rPr>
              <a:t>Destiny Springs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Foundation,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sending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letter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to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Administration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completing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lang="en-US" sz="1150" dirty="0">
                <a:solidFill>
                  <a:srgbClr val="231F20"/>
                </a:solidFill>
                <a:latin typeface="Avenir Book"/>
                <a:cs typeface="Avenir Book"/>
              </a:rPr>
              <a:t>or patient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survey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(when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possible).</a:t>
            </a:r>
            <a:endParaRPr sz="1150" dirty="0">
              <a:latin typeface="Avenir Book"/>
              <a:cs typeface="Avenir Book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63566" y="3978070"/>
            <a:ext cx="4839335" cy="1617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Gift</a:t>
            </a:r>
            <a:r>
              <a:rPr sz="1150" b="1" spc="1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Giving</a:t>
            </a:r>
            <a:endParaRPr sz="1150" dirty="0">
              <a:latin typeface="Arial"/>
              <a:cs typeface="Arial"/>
            </a:endParaRPr>
          </a:p>
          <a:p>
            <a:pPr marL="12700" marR="198755">
              <a:lnSpc>
                <a:spcPct val="100000"/>
              </a:lnSpc>
            </a:pPr>
            <a:r>
              <a:rPr sz="1150" spc="-65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avoid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gifting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public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funds,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lang="en-US" sz="1150" dirty="0">
                <a:solidFill>
                  <a:srgbClr val="231F20"/>
                </a:solidFill>
                <a:latin typeface="Avenir Book"/>
                <a:cs typeface="Avenir Book"/>
              </a:rPr>
              <a:t>Destiny Springs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must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receive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equal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value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whenever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its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resources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are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used.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This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includes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time,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equipment,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materials,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supplies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facilities.</a:t>
            </a:r>
            <a:endParaRPr sz="1150" dirty="0">
              <a:latin typeface="Avenir Book"/>
              <a:cs typeface="Avenir Book"/>
            </a:endParaRPr>
          </a:p>
          <a:p>
            <a:pPr marL="12700" marR="5080">
              <a:lnSpc>
                <a:spcPct val="100000"/>
              </a:lnSpc>
              <a:spcBef>
                <a:spcPts val="1440"/>
              </a:spcBef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No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employee,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volunteer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contractor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permitted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give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gift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on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behalf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lang="en-US" sz="1150" dirty="0">
                <a:solidFill>
                  <a:srgbClr val="231F20"/>
                </a:solidFill>
                <a:latin typeface="Avenir Book"/>
                <a:cs typeface="Avenir Book"/>
              </a:rPr>
              <a:t>Destiny Springs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induce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referral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any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patient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lang="en-US" sz="1150" dirty="0">
                <a:solidFill>
                  <a:srgbClr val="231F20"/>
                </a:solidFill>
                <a:latin typeface="Avenir Book"/>
                <a:cs typeface="Avenir Book"/>
              </a:rPr>
              <a:t>Destiny Springs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.</a:t>
            </a:r>
            <a:endParaRPr sz="1150" dirty="0">
              <a:latin typeface="Avenir Book"/>
              <a:cs typeface="Avenir Book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Items</a:t>
            </a:r>
            <a:r>
              <a:rPr sz="1150" b="1" spc="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That</a:t>
            </a:r>
            <a:r>
              <a:rPr sz="1150" b="1" spc="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Are</a:t>
            </a:r>
            <a:r>
              <a:rPr sz="1150" b="1" spc="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60" dirty="0">
                <a:solidFill>
                  <a:srgbClr val="231F20"/>
                </a:solidFill>
                <a:latin typeface="Arial"/>
                <a:cs typeface="Arial"/>
              </a:rPr>
              <a:t>Not</a:t>
            </a:r>
            <a:r>
              <a:rPr sz="1150" b="1" spc="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Considered</a:t>
            </a:r>
            <a:r>
              <a:rPr sz="1150" b="1" spc="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Gifts</a:t>
            </a:r>
            <a:endParaRPr sz="1150" dirty="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63566" y="5639231"/>
            <a:ext cx="5189855" cy="179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302260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Advertising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materials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such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as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mug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pen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where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name,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logo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or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other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information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about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person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business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is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permanently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marked.</a:t>
            </a:r>
            <a:endParaRPr sz="1150" dirty="0">
              <a:latin typeface="Avenir Book"/>
              <a:cs typeface="Avenir Book"/>
            </a:endParaRPr>
          </a:p>
          <a:p>
            <a:pPr marL="241300" marR="564515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Personalized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plaques,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trophies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awards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that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are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routinely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given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to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individuals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organizations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outside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lang="en-US" sz="1150" dirty="0">
                <a:solidFill>
                  <a:srgbClr val="231F20"/>
                </a:solidFill>
                <a:latin typeface="Avenir Book"/>
                <a:cs typeface="Avenir Book"/>
              </a:rPr>
              <a:t>Destiny Springs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.</a:t>
            </a:r>
            <a:endParaRPr sz="1150" dirty="0">
              <a:latin typeface="Avenir Book"/>
              <a:cs typeface="Avenir Book"/>
            </a:endParaRPr>
          </a:p>
          <a:p>
            <a:pPr marL="241300" marR="481330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ticket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pass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for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which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recipient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performs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ceremonial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role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or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function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on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behalf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lang="en-US" sz="1150" dirty="0">
                <a:solidFill>
                  <a:srgbClr val="231F20"/>
                </a:solidFill>
                <a:latin typeface="Avenir Book"/>
                <a:cs typeface="Avenir Book"/>
              </a:rPr>
              <a:t>Destiny Springs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.</a:t>
            </a:r>
            <a:endParaRPr sz="1150" dirty="0">
              <a:latin typeface="Avenir Book"/>
              <a:cs typeface="Avenir Book"/>
            </a:endParaRPr>
          </a:p>
          <a:p>
            <a:pPr marL="241300" marR="273050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Meals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other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food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items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provided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by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contractor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during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contractually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obligated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training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that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occurs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at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lang="en-US" sz="1150" dirty="0">
                <a:solidFill>
                  <a:srgbClr val="231F20"/>
                </a:solidFill>
                <a:latin typeface="Avenir Book"/>
                <a:cs typeface="Avenir Book"/>
              </a:rPr>
              <a:t>Destiny Springs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.</a:t>
            </a:r>
            <a:endParaRPr sz="1150" dirty="0">
              <a:latin typeface="Avenir Book"/>
              <a:cs typeface="Avenir Book"/>
            </a:endParaRPr>
          </a:p>
          <a:p>
            <a:pPr marR="5080" algn="r">
              <a:lnSpc>
                <a:spcPct val="100000"/>
              </a:lnSpc>
              <a:spcBef>
                <a:spcPts val="280"/>
              </a:spcBef>
            </a:pPr>
            <a:r>
              <a:rPr sz="850" b="1" spc="-25" dirty="0">
                <a:solidFill>
                  <a:srgbClr val="00ACA1"/>
                </a:solidFill>
                <a:latin typeface="Arial"/>
                <a:cs typeface="Arial"/>
              </a:rPr>
              <a:t>VALUES</a:t>
            </a:r>
            <a:r>
              <a:rPr sz="850" b="1" spc="-5" dirty="0">
                <a:solidFill>
                  <a:srgbClr val="00ACA1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00ACA1"/>
                </a:solidFill>
                <a:latin typeface="Arial"/>
                <a:cs typeface="Arial"/>
              </a:rPr>
              <a:t>LINE</a:t>
            </a:r>
            <a:r>
              <a:rPr sz="850" b="1" spc="-5" dirty="0">
                <a:solidFill>
                  <a:srgbClr val="00ACA1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47720"/>
                </a:solidFill>
                <a:latin typeface="Arial"/>
                <a:cs typeface="Arial"/>
              </a:rPr>
              <a:t>I</a:t>
            </a:r>
            <a:r>
              <a:rPr sz="850" b="1" spc="-5" dirty="0">
                <a:solidFill>
                  <a:srgbClr val="F47720"/>
                </a:solidFill>
                <a:latin typeface="Arial"/>
                <a:cs typeface="Arial"/>
              </a:rPr>
              <a:t> </a:t>
            </a:r>
            <a:r>
              <a:rPr sz="850" i="1" spc="-95" dirty="0">
                <a:solidFill>
                  <a:srgbClr val="FFC425"/>
                </a:solidFill>
                <a:latin typeface="Arial"/>
                <a:cs typeface="Arial"/>
              </a:rPr>
              <a:t>8</a:t>
            </a:r>
            <a:r>
              <a:rPr lang="en-US" sz="850" i="1" spc="-95" dirty="0">
                <a:solidFill>
                  <a:srgbClr val="FFC425"/>
                </a:solidFill>
                <a:latin typeface="Arial"/>
                <a:cs typeface="Arial"/>
              </a:rPr>
              <a:t>33.290.0001</a:t>
            </a:r>
            <a:r>
              <a:rPr sz="850" i="1" spc="290" dirty="0">
                <a:solidFill>
                  <a:srgbClr val="FFC425"/>
                </a:solidFill>
                <a:latin typeface="Arial"/>
                <a:cs typeface="Arial"/>
              </a:rPr>
              <a:t> </a:t>
            </a:r>
            <a:r>
              <a:rPr sz="850" b="1" spc="-25" dirty="0">
                <a:solidFill>
                  <a:srgbClr val="008BC0"/>
                </a:solidFill>
                <a:latin typeface="Arial"/>
                <a:cs typeface="Arial"/>
              </a:rPr>
              <a:t>21</a:t>
            </a:r>
            <a:endParaRPr sz="850" dirty="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5101" y="4606974"/>
            <a:ext cx="2345690" cy="1157605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i="1" spc="-204" dirty="0">
                <a:solidFill>
                  <a:srgbClr val="00ACA1"/>
                </a:solidFill>
                <a:latin typeface="Arial"/>
                <a:cs typeface="Arial"/>
              </a:rPr>
              <a:t>Questions</a:t>
            </a:r>
            <a:r>
              <a:rPr sz="1400" i="1" spc="55" dirty="0">
                <a:solidFill>
                  <a:srgbClr val="00ACA1"/>
                </a:solidFill>
                <a:latin typeface="Arial"/>
                <a:cs typeface="Arial"/>
              </a:rPr>
              <a:t> </a:t>
            </a:r>
            <a:r>
              <a:rPr sz="1400" i="1" spc="-25" dirty="0">
                <a:solidFill>
                  <a:srgbClr val="00ACA1"/>
                </a:solidFill>
                <a:latin typeface="Arial"/>
                <a:cs typeface="Arial"/>
              </a:rPr>
              <a:t>About</a:t>
            </a:r>
            <a:r>
              <a:rPr sz="1400" i="1" spc="60" dirty="0">
                <a:solidFill>
                  <a:srgbClr val="00ACA1"/>
                </a:solidFill>
                <a:latin typeface="Arial"/>
                <a:cs typeface="Arial"/>
              </a:rPr>
              <a:t> </a:t>
            </a:r>
            <a:r>
              <a:rPr sz="1400" i="1" spc="-170" dirty="0">
                <a:solidFill>
                  <a:srgbClr val="00ACA1"/>
                </a:solidFill>
                <a:latin typeface="Arial"/>
                <a:cs typeface="Arial"/>
              </a:rPr>
              <a:t>a</a:t>
            </a:r>
            <a:r>
              <a:rPr sz="1400" i="1" spc="55" dirty="0">
                <a:solidFill>
                  <a:srgbClr val="00ACA1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00ACA1"/>
                </a:solidFill>
                <a:latin typeface="Arial"/>
                <a:cs typeface="Arial"/>
              </a:rPr>
              <a:t>Gift</a:t>
            </a:r>
            <a:r>
              <a:rPr sz="1400" i="1" spc="60" dirty="0">
                <a:solidFill>
                  <a:srgbClr val="00ACA1"/>
                </a:solidFill>
                <a:latin typeface="Arial"/>
                <a:cs typeface="Arial"/>
              </a:rPr>
              <a:t> </a:t>
            </a:r>
            <a:r>
              <a:rPr sz="1400" i="1" spc="-60" dirty="0">
                <a:solidFill>
                  <a:srgbClr val="00ACA1"/>
                </a:solidFill>
                <a:latin typeface="Arial"/>
                <a:cs typeface="Arial"/>
              </a:rPr>
              <a:t>?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8700"/>
              </a:lnSpc>
              <a:spcBef>
                <a:spcPts val="490"/>
              </a:spcBef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Refer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“Conf</a:t>
            </a:r>
            <a:r>
              <a:rPr sz="1150" spc="-2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licts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Interest,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Commitment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Gifts”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procedure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refer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Compliance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Program document.</a:t>
            </a:r>
            <a:endParaRPr sz="1150">
              <a:latin typeface="Avenir Book"/>
              <a:cs typeface="Avenir Book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863237" y="5495325"/>
            <a:ext cx="593725" cy="921385"/>
            <a:chOff x="3863237" y="5495325"/>
            <a:chExt cx="593725" cy="921385"/>
          </a:xfrm>
        </p:grpSpPr>
        <p:sp>
          <p:nvSpPr>
            <p:cNvPr id="22" name="object 22"/>
            <p:cNvSpPr/>
            <p:nvPr/>
          </p:nvSpPr>
          <p:spPr>
            <a:xfrm>
              <a:off x="3893742" y="5826654"/>
              <a:ext cx="338455" cy="489584"/>
            </a:xfrm>
            <a:custGeom>
              <a:avLst/>
              <a:gdLst/>
              <a:ahLst/>
              <a:cxnLst/>
              <a:rect l="l" t="t" r="r" b="b"/>
              <a:pathLst>
                <a:path w="338454" h="489585">
                  <a:moveTo>
                    <a:pt x="254584" y="0"/>
                  </a:moveTo>
                  <a:lnTo>
                    <a:pt x="0" y="440969"/>
                  </a:lnTo>
                  <a:lnTo>
                    <a:pt x="83324" y="489077"/>
                  </a:lnTo>
                  <a:lnTo>
                    <a:pt x="337921" y="48107"/>
                  </a:lnTo>
                  <a:lnTo>
                    <a:pt x="254584" y="0"/>
                  </a:lnTo>
                  <a:close/>
                </a:path>
              </a:pathLst>
            </a:custGeom>
            <a:solidFill>
              <a:srgbClr val="FFC4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63237" y="6284288"/>
              <a:ext cx="104211" cy="132387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160361" y="5495325"/>
              <a:ext cx="296545" cy="358775"/>
            </a:xfrm>
            <a:custGeom>
              <a:avLst/>
              <a:gdLst/>
              <a:ahLst/>
              <a:cxnLst/>
              <a:rect l="l" t="t" r="r" b="b"/>
              <a:pathLst>
                <a:path w="296545" h="358775">
                  <a:moveTo>
                    <a:pt x="213190" y="0"/>
                  </a:moveTo>
                  <a:lnTo>
                    <a:pt x="194794" y="1279"/>
                  </a:lnTo>
                  <a:lnTo>
                    <a:pt x="178219" y="9365"/>
                  </a:lnTo>
                  <a:lnTo>
                    <a:pt x="165582" y="23692"/>
                  </a:lnTo>
                  <a:lnTo>
                    <a:pt x="0" y="310496"/>
                  </a:lnTo>
                  <a:lnTo>
                    <a:pt x="83324" y="358603"/>
                  </a:lnTo>
                  <a:lnTo>
                    <a:pt x="188988" y="175596"/>
                  </a:lnTo>
                  <a:lnTo>
                    <a:pt x="239293" y="88474"/>
                  </a:lnTo>
                  <a:lnTo>
                    <a:pt x="261518" y="101301"/>
                  </a:lnTo>
                  <a:lnTo>
                    <a:pt x="122821" y="341535"/>
                  </a:lnTo>
                  <a:lnTo>
                    <a:pt x="125183" y="350361"/>
                  </a:lnTo>
                  <a:lnTo>
                    <a:pt x="134353" y="355670"/>
                  </a:lnTo>
                  <a:lnTo>
                    <a:pt x="136842" y="356292"/>
                  </a:lnTo>
                  <a:lnTo>
                    <a:pt x="144272" y="356292"/>
                  </a:lnTo>
                  <a:lnTo>
                    <a:pt x="149123" y="353701"/>
                  </a:lnTo>
                  <a:lnTo>
                    <a:pt x="295643" y="99917"/>
                  </a:lnTo>
                  <a:lnTo>
                    <a:pt x="296164" y="95980"/>
                  </a:lnTo>
                  <a:lnTo>
                    <a:pt x="294182" y="88589"/>
                  </a:lnTo>
                  <a:lnTo>
                    <a:pt x="291769" y="85439"/>
                  </a:lnTo>
                  <a:lnTo>
                    <a:pt x="252882" y="62986"/>
                  </a:lnTo>
                  <a:lnTo>
                    <a:pt x="255345" y="46768"/>
                  </a:lnTo>
                  <a:lnTo>
                    <a:pt x="252317" y="30932"/>
                  </a:lnTo>
                  <a:lnTo>
                    <a:pt x="244174" y="16899"/>
                  </a:lnTo>
                  <a:lnTo>
                    <a:pt x="231292" y="6090"/>
                  </a:lnTo>
                  <a:lnTo>
                    <a:pt x="213190" y="0"/>
                  </a:lnTo>
                  <a:close/>
                </a:path>
              </a:pathLst>
            </a:custGeom>
            <a:solidFill>
              <a:srgbClr val="FFC4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/>
          <p:nvPr/>
        </p:nvSpPr>
        <p:spPr>
          <a:xfrm>
            <a:off x="4557649" y="338010"/>
            <a:ext cx="1499870" cy="1973580"/>
          </a:xfrm>
          <a:custGeom>
            <a:avLst/>
            <a:gdLst/>
            <a:ahLst/>
            <a:cxnLst/>
            <a:rect l="l" t="t" r="r" b="b"/>
            <a:pathLst>
              <a:path w="1499870" h="1973580">
                <a:moveTo>
                  <a:pt x="666648" y="1084605"/>
                </a:moveTo>
                <a:lnTo>
                  <a:pt x="661416" y="1039241"/>
                </a:lnTo>
                <a:lnTo>
                  <a:pt x="646544" y="997610"/>
                </a:lnTo>
                <a:lnTo>
                  <a:pt x="623189" y="960882"/>
                </a:lnTo>
                <a:lnTo>
                  <a:pt x="592556" y="930249"/>
                </a:lnTo>
                <a:lnTo>
                  <a:pt x="555828" y="906894"/>
                </a:lnTo>
                <a:lnTo>
                  <a:pt x="514197" y="892009"/>
                </a:lnTo>
                <a:lnTo>
                  <a:pt x="468845" y="886790"/>
                </a:lnTo>
                <a:lnTo>
                  <a:pt x="423494" y="892009"/>
                </a:lnTo>
                <a:lnTo>
                  <a:pt x="381850" y="906894"/>
                </a:lnTo>
                <a:lnTo>
                  <a:pt x="345135" y="930249"/>
                </a:lnTo>
                <a:lnTo>
                  <a:pt x="314502" y="960882"/>
                </a:lnTo>
                <a:lnTo>
                  <a:pt x="291147" y="997610"/>
                </a:lnTo>
                <a:lnTo>
                  <a:pt x="276263" y="1039241"/>
                </a:lnTo>
                <a:lnTo>
                  <a:pt x="271043" y="1084605"/>
                </a:lnTo>
                <a:lnTo>
                  <a:pt x="276263" y="1129957"/>
                </a:lnTo>
                <a:lnTo>
                  <a:pt x="291147" y="1171587"/>
                </a:lnTo>
                <a:lnTo>
                  <a:pt x="314502" y="1208303"/>
                </a:lnTo>
                <a:lnTo>
                  <a:pt x="345135" y="1238935"/>
                </a:lnTo>
                <a:lnTo>
                  <a:pt x="381850" y="1262291"/>
                </a:lnTo>
                <a:lnTo>
                  <a:pt x="423494" y="1277162"/>
                </a:lnTo>
                <a:lnTo>
                  <a:pt x="468845" y="1282395"/>
                </a:lnTo>
                <a:lnTo>
                  <a:pt x="514197" y="1277162"/>
                </a:lnTo>
                <a:lnTo>
                  <a:pt x="555828" y="1262291"/>
                </a:lnTo>
                <a:lnTo>
                  <a:pt x="592556" y="1238935"/>
                </a:lnTo>
                <a:lnTo>
                  <a:pt x="623189" y="1208303"/>
                </a:lnTo>
                <a:lnTo>
                  <a:pt x="646544" y="1171587"/>
                </a:lnTo>
                <a:lnTo>
                  <a:pt x="661416" y="1129957"/>
                </a:lnTo>
                <a:lnTo>
                  <a:pt x="666648" y="1084605"/>
                </a:lnTo>
                <a:close/>
              </a:path>
              <a:path w="1499870" h="1973580">
                <a:moveTo>
                  <a:pt x="937679" y="1084605"/>
                </a:moveTo>
                <a:lnTo>
                  <a:pt x="935253" y="1036662"/>
                </a:lnTo>
                <a:lnTo>
                  <a:pt x="928154" y="990117"/>
                </a:lnTo>
                <a:lnTo>
                  <a:pt x="916597" y="945184"/>
                </a:lnTo>
                <a:lnTo>
                  <a:pt x="900836" y="902106"/>
                </a:lnTo>
                <a:lnTo>
                  <a:pt x="881087" y="861123"/>
                </a:lnTo>
                <a:lnTo>
                  <a:pt x="857605" y="822464"/>
                </a:lnTo>
                <a:lnTo>
                  <a:pt x="853249" y="816648"/>
                </a:lnTo>
                <a:lnTo>
                  <a:pt x="853249" y="1089202"/>
                </a:lnTo>
                <a:lnTo>
                  <a:pt x="850252" y="1138008"/>
                </a:lnTo>
                <a:lnTo>
                  <a:pt x="841514" y="1184998"/>
                </a:lnTo>
                <a:lnTo>
                  <a:pt x="827379" y="1229817"/>
                </a:lnTo>
                <a:lnTo>
                  <a:pt x="808215" y="1272095"/>
                </a:lnTo>
                <a:lnTo>
                  <a:pt x="784377" y="1311478"/>
                </a:lnTo>
                <a:lnTo>
                  <a:pt x="756234" y="1347584"/>
                </a:lnTo>
                <a:lnTo>
                  <a:pt x="724141" y="1380058"/>
                </a:lnTo>
                <a:lnTo>
                  <a:pt x="688467" y="1408544"/>
                </a:lnTo>
                <a:lnTo>
                  <a:pt x="649554" y="1432661"/>
                </a:lnTo>
                <a:lnTo>
                  <a:pt x="607783" y="1452054"/>
                </a:lnTo>
                <a:lnTo>
                  <a:pt x="563499" y="1466354"/>
                </a:lnTo>
                <a:lnTo>
                  <a:pt x="517067" y="1475206"/>
                </a:lnTo>
                <a:lnTo>
                  <a:pt x="468845" y="1478241"/>
                </a:lnTo>
                <a:lnTo>
                  <a:pt x="420624" y="1475206"/>
                </a:lnTo>
                <a:lnTo>
                  <a:pt x="374192" y="1466354"/>
                </a:lnTo>
                <a:lnTo>
                  <a:pt x="329907" y="1452054"/>
                </a:lnTo>
                <a:lnTo>
                  <a:pt x="288137" y="1432661"/>
                </a:lnTo>
                <a:lnTo>
                  <a:pt x="249224" y="1408544"/>
                </a:lnTo>
                <a:lnTo>
                  <a:pt x="213537" y="1380058"/>
                </a:lnTo>
                <a:lnTo>
                  <a:pt x="181444" y="1347584"/>
                </a:lnTo>
                <a:lnTo>
                  <a:pt x="153301" y="1311478"/>
                </a:lnTo>
                <a:lnTo>
                  <a:pt x="129476" y="1272095"/>
                </a:lnTo>
                <a:lnTo>
                  <a:pt x="110299" y="1229817"/>
                </a:lnTo>
                <a:lnTo>
                  <a:pt x="96164" y="1184998"/>
                </a:lnTo>
                <a:lnTo>
                  <a:pt x="87426" y="1138008"/>
                </a:lnTo>
                <a:lnTo>
                  <a:pt x="84429" y="1089202"/>
                </a:lnTo>
                <a:lnTo>
                  <a:pt x="87426" y="1040409"/>
                </a:lnTo>
                <a:lnTo>
                  <a:pt x="96164" y="993419"/>
                </a:lnTo>
                <a:lnTo>
                  <a:pt x="110299" y="948601"/>
                </a:lnTo>
                <a:lnTo>
                  <a:pt x="129476" y="906322"/>
                </a:lnTo>
                <a:lnTo>
                  <a:pt x="153301" y="866952"/>
                </a:lnTo>
                <a:lnTo>
                  <a:pt x="181444" y="830846"/>
                </a:lnTo>
                <a:lnTo>
                  <a:pt x="213537" y="798360"/>
                </a:lnTo>
                <a:lnTo>
                  <a:pt x="249224" y="769886"/>
                </a:lnTo>
                <a:lnTo>
                  <a:pt x="288137" y="745769"/>
                </a:lnTo>
                <a:lnTo>
                  <a:pt x="329907" y="726376"/>
                </a:lnTo>
                <a:lnTo>
                  <a:pt x="374192" y="712063"/>
                </a:lnTo>
                <a:lnTo>
                  <a:pt x="420624" y="703224"/>
                </a:lnTo>
                <a:lnTo>
                  <a:pt x="468845" y="700189"/>
                </a:lnTo>
                <a:lnTo>
                  <a:pt x="517067" y="703224"/>
                </a:lnTo>
                <a:lnTo>
                  <a:pt x="563499" y="712063"/>
                </a:lnTo>
                <a:lnTo>
                  <a:pt x="607783" y="726376"/>
                </a:lnTo>
                <a:lnTo>
                  <a:pt x="649554" y="745769"/>
                </a:lnTo>
                <a:lnTo>
                  <a:pt x="688467" y="769886"/>
                </a:lnTo>
                <a:lnTo>
                  <a:pt x="724141" y="798360"/>
                </a:lnTo>
                <a:lnTo>
                  <a:pt x="756234" y="830846"/>
                </a:lnTo>
                <a:lnTo>
                  <a:pt x="784377" y="866952"/>
                </a:lnTo>
                <a:lnTo>
                  <a:pt x="808215" y="906322"/>
                </a:lnTo>
                <a:lnTo>
                  <a:pt x="827379" y="948601"/>
                </a:lnTo>
                <a:lnTo>
                  <a:pt x="841514" y="993419"/>
                </a:lnTo>
                <a:lnTo>
                  <a:pt x="850252" y="1040409"/>
                </a:lnTo>
                <a:lnTo>
                  <a:pt x="853249" y="1089202"/>
                </a:lnTo>
                <a:lnTo>
                  <a:pt x="853249" y="816648"/>
                </a:lnTo>
                <a:lnTo>
                  <a:pt x="800354" y="753084"/>
                </a:lnTo>
                <a:lnTo>
                  <a:pt x="767067" y="722820"/>
                </a:lnTo>
                <a:lnTo>
                  <a:pt x="730973" y="695833"/>
                </a:lnTo>
                <a:lnTo>
                  <a:pt x="692315" y="672350"/>
                </a:lnTo>
                <a:lnTo>
                  <a:pt x="651332" y="652602"/>
                </a:lnTo>
                <a:lnTo>
                  <a:pt x="608266" y="636841"/>
                </a:lnTo>
                <a:lnTo>
                  <a:pt x="563333" y="625284"/>
                </a:lnTo>
                <a:lnTo>
                  <a:pt x="516775" y="618172"/>
                </a:lnTo>
                <a:lnTo>
                  <a:pt x="468845" y="615759"/>
                </a:lnTo>
                <a:lnTo>
                  <a:pt x="420903" y="618172"/>
                </a:lnTo>
                <a:lnTo>
                  <a:pt x="374357" y="625284"/>
                </a:lnTo>
                <a:lnTo>
                  <a:pt x="329425" y="636841"/>
                </a:lnTo>
                <a:lnTo>
                  <a:pt x="286346" y="652602"/>
                </a:lnTo>
                <a:lnTo>
                  <a:pt x="245364" y="672350"/>
                </a:lnTo>
                <a:lnTo>
                  <a:pt x="206705" y="695833"/>
                </a:lnTo>
                <a:lnTo>
                  <a:pt x="170611" y="722820"/>
                </a:lnTo>
                <a:lnTo>
                  <a:pt x="137325" y="753084"/>
                </a:lnTo>
                <a:lnTo>
                  <a:pt x="107061" y="786371"/>
                </a:lnTo>
                <a:lnTo>
                  <a:pt x="80073" y="822464"/>
                </a:lnTo>
                <a:lnTo>
                  <a:pt x="56591" y="861123"/>
                </a:lnTo>
                <a:lnTo>
                  <a:pt x="36842" y="902106"/>
                </a:lnTo>
                <a:lnTo>
                  <a:pt x="21082" y="945184"/>
                </a:lnTo>
                <a:lnTo>
                  <a:pt x="9525" y="990117"/>
                </a:lnTo>
                <a:lnTo>
                  <a:pt x="2413" y="1036662"/>
                </a:lnTo>
                <a:lnTo>
                  <a:pt x="0" y="1084605"/>
                </a:lnTo>
                <a:lnTo>
                  <a:pt x="2527" y="1133538"/>
                </a:lnTo>
                <a:lnTo>
                  <a:pt x="9931" y="1181011"/>
                </a:lnTo>
                <a:lnTo>
                  <a:pt x="21958" y="1226794"/>
                </a:lnTo>
                <a:lnTo>
                  <a:pt x="38379" y="1270609"/>
                </a:lnTo>
                <a:lnTo>
                  <a:pt x="58915" y="1312240"/>
                </a:lnTo>
                <a:lnTo>
                  <a:pt x="83337" y="1351407"/>
                </a:lnTo>
                <a:lnTo>
                  <a:pt x="111366" y="1387868"/>
                </a:lnTo>
                <a:lnTo>
                  <a:pt x="142786" y="1421371"/>
                </a:lnTo>
                <a:lnTo>
                  <a:pt x="177317" y="1451673"/>
                </a:lnTo>
                <a:lnTo>
                  <a:pt x="214731" y="1478521"/>
                </a:lnTo>
                <a:lnTo>
                  <a:pt x="254762" y="1501673"/>
                </a:lnTo>
                <a:lnTo>
                  <a:pt x="297154" y="1520863"/>
                </a:lnTo>
                <a:lnTo>
                  <a:pt x="341668" y="1535849"/>
                </a:lnTo>
                <a:lnTo>
                  <a:pt x="468858" y="1973300"/>
                </a:lnTo>
                <a:lnTo>
                  <a:pt x="596036" y="1535849"/>
                </a:lnTo>
                <a:lnTo>
                  <a:pt x="640511" y="1520863"/>
                </a:lnTo>
                <a:lnTo>
                  <a:pt x="682904" y="1501673"/>
                </a:lnTo>
                <a:lnTo>
                  <a:pt x="722934" y="1478521"/>
                </a:lnTo>
                <a:lnTo>
                  <a:pt x="760349" y="1451673"/>
                </a:lnTo>
                <a:lnTo>
                  <a:pt x="794880" y="1421371"/>
                </a:lnTo>
                <a:lnTo>
                  <a:pt x="826300" y="1387868"/>
                </a:lnTo>
                <a:lnTo>
                  <a:pt x="854341" y="1351407"/>
                </a:lnTo>
                <a:lnTo>
                  <a:pt x="878751" y="1312240"/>
                </a:lnTo>
                <a:lnTo>
                  <a:pt x="899299" y="1270609"/>
                </a:lnTo>
                <a:lnTo>
                  <a:pt x="915708" y="1226794"/>
                </a:lnTo>
                <a:lnTo>
                  <a:pt x="927747" y="1181011"/>
                </a:lnTo>
                <a:lnTo>
                  <a:pt x="935151" y="1133538"/>
                </a:lnTo>
                <a:lnTo>
                  <a:pt x="937679" y="1084605"/>
                </a:lnTo>
                <a:close/>
              </a:path>
              <a:path w="1499870" h="1973580">
                <a:moveTo>
                  <a:pt x="1104011" y="371030"/>
                </a:moveTo>
                <a:lnTo>
                  <a:pt x="1087983" y="373189"/>
                </a:lnTo>
                <a:lnTo>
                  <a:pt x="1095489" y="377812"/>
                </a:lnTo>
                <a:lnTo>
                  <a:pt x="1104011" y="371030"/>
                </a:lnTo>
                <a:close/>
              </a:path>
              <a:path w="1499870" h="1973580">
                <a:moveTo>
                  <a:pt x="1271181" y="186842"/>
                </a:moveTo>
                <a:lnTo>
                  <a:pt x="1264500" y="137160"/>
                </a:lnTo>
                <a:lnTo>
                  <a:pt x="1245666" y="92532"/>
                </a:lnTo>
                <a:lnTo>
                  <a:pt x="1216456" y="54711"/>
                </a:lnTo>
                <a:lnTo>
                  <a:pt x="1178636" y="25501"/>
                </a:lnTo>
                <a:lnTo>
                  <a:pt x="1133995" y="6667"/>
                </a:lnTo>
                <a:lnTo>
                  <a:pt x="1084326" y="0"/>
                </a:lnTo>
                <a:lnTo>
                  <a:pt x="1034656" y="6667"/>
                </a:lnTo>
                <a:lnTo>
                  <a:pt x="990028" y="25501"/>
                </a:lnTo>
                <a:lnTo>
                  <a:pt x="952207" y="54711"/>
                </a:lnTo>
                <a:lnTo>
                  <a:pt x="922985" y="92532"/>
                </a:lnTo>
                <a:lnTo>
                  <a:pt x="904151" y="137160"/>
                </a:lnTo>
                <a:lnTo>
                  <a:pt x="897483" y="186842"/>
                </a:lnTo>
                <a:lnTo>
                  <a:pt x="904151" y="236512"/>
                </a:lnTo>
                <a:lnTo>
                  <a:pt x="922985" y="281139"/>
                </a:lnTo>
                <a:lnTo>
                  <a:pt x="952207" y="318960"/>
                </a:lnTo>
                <a:lnTo>
                  <a:pt x="990028" y="348170"/>
                </a:lnTo>
                <a:lnTo>
                  <a:pt x="1034656" y="367004"/>
                </a:lnTo>
                <a:lnTo>
                  <a:pt x="1084326" y="373684"/>
                </a:lnTo>
                <a:lnTo>
                  <a:pt x="1087983" y="373189"/>
                </a:lnTo>
                <a:lnTo>
                  <a:pt x="1050963" y="350418"/>
                </a:lnTo>
                <a:lnTo>
                  <a:pt x="982840" y="264515"/>
                </a:lnTo>
                <a:lnTo>
                  <a:pt x="1057046" y="282981"/>
                </a:lnTo>
                <a:lnTo>
                  <a:pt x="1103591" y="287896"/>
                </a:lnTo>
                <a:lnTo>
                  <a:pt x="1142111" y="278142"/>
                </a:lnTo>
                <a:lnTo>
                  <a:pt x="1168882" y="264515"/>
                </a:lnTo>
                <a:lnTo>
                  <a:pt x="1192250" y="252615"/>
                </a:lnTo>
                <a:lnTo>
                  <a:pt x="1136040" y="345579"/>
                </a:lnTo>
                <a:lnTo>
                  <a:pt x="1104011" y="371030"/>
                </a:lnTo>
                <a:lnTo>
                  <a:pt x="1133995" y="367004"/>
                </a:lnTo>
                <a:lnTo>
                  <a:pt x="1178636" y="348170"/>
                </a:lnTo>
                <a:lnTo>
                  <a:pt x="1216456" y="318960"/>
                </a:lnTo>
                <a:lnTo>
                  <a:pt x="1245666" y="281139"/>
                </a:lnTo>
                <a:lnTo>
                  <a:pt x="1257706" y="252615"/>
                </a:lnTo>
                <a:lnTo>
                  <a:pt x="1264500" y="236512"/>
                </a:lnTo>
                <a:lnTo>
                  <a:pt x="1271181" y="186842"/>
                </a:lnTo>
                <a:close/>
              </a:path>
              <a:path w="1499870" h="1973580">
                <a:moveTo>
                  <a:pt x="1499552" y="1010526"/>
                </a:moveTo>
                <a:lnTo>
                  <a:pt x="1499031" y="944727"/>
                </a:lnTo>
                <a:lnTo>
                  <a:pt x="1496542" y="882700"/>
                </a:lnTo>
                <a:lnTo>
                  <a:pt x="1492097" y="824458"/>
                </a:lnTo>
                <a:lnTo>
                  <a:pt x="1485696" y="770013"/>
                </a:lnTo>
                <a:lnTo>
                  <a:pt x="1477340" y="719391"/>
                </a:lnTo>
                <a:lnTo>
                  <a:pt x="1467027" y="672604"/>
                </a:lnTo>
                <a:lnTo>
                  <a:pt x="1454759" y="629653"/>
                </a:lnTo>
                <a:lnTo>
                  <a:pt x="1440548" y="590575"/>
                </a:lnTo>
                <a:lnTo>
                  <a:pt x="1424393" y="555358"/>
                </a:lnTo>
                <a:lnTo>
                  <a:pt x="1386243" y="496595"/>
                </a:lnTo>
                <a:lnTo>
                  <a:pt x="1329918" y="446608"/>
                </a:lnTo>
                <a:lnTo>
                  <a:pt x="1270279" y="423418"/>
                </a:lnTo>
                <a:lnTo>
                  <a:pt x="1246162" y="421017"/>
                </a:lnTo>
                <a:lnTo>
                  <a:pt x="945019" y="421017"/>
                </a:lnTo>
                <a:lnTo>
                  <a:pt x="917067" y="404139"/>
                </a:lnTo>
                <a:lnTo>
                  <a:pt x="878801" y="382244"/>
                </a:lnTo>
                <a:lnTo>
                  <a:pt x="832510" y="357530"/>
                </a:lnTo>
                <a:lnTo>
                  <a:pt x="780453" y="332193"/>
                </a:lnTo>
                <a:lnTo>
                  <a:pt x="719810" y="306412"/>
                </a:lnTo>
                <a:lnTo>
                  <a:pt x="664108" y="287172"/>
                </a:lnTo>
                <a:lnTo>
                  <a:pt x="613219" y="274459"/>
                </a:lnTo>
                <a:lnTo>
                  <a:pt x="567055" y="268262"/>
                </a:lnTo>
                <a:lnTo>
                  <a:pt x="525513" y="268554"/>
                </a:lnTo>
                <a:lnTo>
                  <a:pt x="455828" y="288582"/>
                </a:lnTo>
                <a:lnTo>
                  <a:pt x="404012" y="335203"/>
                </a:lnTo>
                <a:lnTo>
                  <a:pt x="384403" y="375259"/>
                </a:lnTo>
                <a:lnTo>
                  <a:pt x="373570" y="432054"/>
                </a:lnTo>
                <a:lnTo>
                  <a:pt x="373570" y="565200"/>
                </a:lnTo>
                <a:lnTo>
                  <a:pt x="381050" y="572681"/>
                </a:lnTo>
                <a:lnTo>
                  <a:pt x="399313" y="572681"/>
                </a:lnTo>
                <a:lnTo>
                  <a:pt x="406793" y="565200"/>
                </a:lnTo>
                <a:lnTo>
                  <a:pt x="406793" y="472287"/>
                </a:lnTo>
                <a:lnTo>
                  <a:pt x="438962" y="475615"/>
                </a:lnTo>
                <a:lnTo>
                  <a:pt x="471373" y="472694"/>
                </a:lnTo>
                <a:lnTo>
                  <a:pt x="496404" y="463537"/>
                </a:lnTo>
                <a:lnTo>
                  <a:pt x="506437" y="448119"/>
                </a:lnTo>
                <a:lnTo>
                  <a:pt x="506869" y="436638"/>
                </a:lnTo>
                <a:lnTo>
                  <a:pt x="508635" y="423989"/>
                </a:lnTo>
                <a:lnTo>
                  <a:pt x="512457" y="412737"/>
                </a:lnTo>
                <a:lnTo>
                  <a:pt x="519061" y="405447"/>
                </a:lnTo>
                <a:lnTo>
                  <a:pt x="541997" y="399897"/>
                </a:lnTo>
                <a:lnTo>
                  <a:pt x="574014" y="401980"/>
                </a:lnTo>
                <a:lnTo>
                  <a:pt x="613359" y="410806"/>
                </a:lnTo>
                <a:lnTo>
                  <a:pt x="658329" y="425450"/>
                </a:lnTo>
                <a:lnTo>
                  <a:pt x="707174" y="445033"/>
                </a:lnTo>
                <a:lnTo>
                  <a:pt x="758177" y="468642"/>
                </a:lnTo>
                <a:lnTo>
                  <a:pt x="809612" y="495388"/>
                </a:lnTo>
                <a:lnTo>
                  <a:pt x="859739" y="524357"/>
                </a:lnTo>
                <a:lnTo>
                  <a:pt x="859739" y="782701"/>
                </a:lnTo>
                <a:lnTo>
                  <a:pt x="885837" y="819772"/>
                </a:lnTo>
                <a:lnTo>
                  <a:pt x="908519" y="859218"/>
                </a:lnTo>
                <a:lnTo>
                  <a:pt x="927569" y="900823"/>
                </a:lnTo>
                <a:lnTo>
                  <a:pt x="942771" y="944384"/>
                </a:lnTo>
                <a:lnTo>
                  <a:pt x="953909" y="989672"/>
                </a:lnTo>
                <a:lnTo>
                  <a:pt x="960755" y="1036485"/>
                </a:lnTo>
                <a:lnTo>
                  <a:pt x="963079" y="1084592"/>
                </a:lnTo>
                <a:lnTo>
                  <a:pt x="960780" y="1132052"/>
                </a:lnTo>
                <a:lnTo>
                  <a:pt x="953998" y="1178471"/>
                </a:lnTo>
                <a:lnTo>
                  <a:pt x="942936" y="1223606"/>
                </a:lnTo>
                <a:lnTo>
                  <a:pt x="927785" y="1267193"/>
                </a:lnTo>
                <a:lnTo>
                  <a:pt x="908735" y="1308976"/>
                </a:lnTo>
                <a:lnTo>
                  <a:pt x="885990" y="1348727"/>
                </a:lnTo>
                <a:lnTo>
                  <a:pt x="859739" y="1386179"/>
                </a:lnTo>
                <a:lnTo>
                  <a:pt x="859739" y="1866976"/>
                </a:lnTo>
                <a:lnTo>
                  <a:pt x="867816" y="1906943"/>
                </a:lnTo>
                <a:lnTo>
                  <a:pt x="889812" y="1939582"/>
                </a:lnTo>
                <a:lnTo>
                  <a:pt x="922451" y="1961578"/>
                </a:lnTo>
                <a:lnTo>
                  <a:pt x="962406" y="1969643"/>
                </a:lnTo>
                <a:lnTo>
                  <a:pt x="1002372" y="1961578"/>
                </a:lnTo>
                <a:lnTo>
                  <a:pt x="1035011" y="1939582"/>
                </a:lnTo>
                <a:lnTo>
                  <a:pt x="1057021" y="1906943"/>
                </a:lnTo>
                <a:lnTo>
                  <a:pt x="1065085" y="1866976"/>
                </a:lnTo>
                <a:lnTo>
                  <a:pt x="1065085" y="1117320"/>
                </a:lnTo>
                <a:lnTo>
                  <a:pt x="1103579" y="1117320"/>
                </a:lnTo>
                <a:lnTo>
                  <a:pt x="1103579" y="1866976"/>
                </a:lnTo>
                <a:lnTo>
                  <a:pt x="1111656" y="1906943"/>
                </a:lnTo>
                <a:lnTo>
                  <a:pt x="1133652" y="1939582"/>
                </a:lnTo>
                <a:lnTo>
                  <a:pt x="1166291" y="1961578"/>
                </a:lnTo>
                <a:lnTo>
                  <a:pt x="1206246" y="1969643"/>
                </a:lnTo>
                <a:lnTo>
                  <a:pt x="1246212" y="1961578"/>
                </a:lnTo>
                <a:lnTo>
                  <a:pt x="1278851" y="1939582"/>
                </a:lnTo>
                <a:lnTo>
                  <a:pt x="1300861" y="1906943"/>
                </a:lnTo>
                <a:lnTo>
                  <a:pt x="1308938" y="1866976"/>
                </a:lnTo>
                <a:lnTo>
                  <a:pt x="1308938" y="621093"/>
                </a:lnTo>
                <a:lnTo>
                  <a:pt x="1318933" y="644131"/>
                </a:lnTo>
                <a:lnTo>
                  <a:pt x="1337475" y="702919"/>
                </a:lnTo>
                <a:lnTo>
                  <a:pt x="1352715" y="780364"/>
                </a:lnTo>
                <a:lnTo>
                  <a:pt x="1358582" y="826757"/>
                </a:lnTo>
                <a:lnTo>
                  <a:pt x="1363002" y="878586"/>
                </a:lnTo>
                <a:lnTo>
                  <a:pt x="1365758" y="936129"/>
                </a:lnTo>
                <a:lnTo>
                  <a:pt x="1366659" y="999655"/>
                </a:lnTo>
                <a:lnTo>
                  <a:pt x="1365491" y="1069403"/>
                </a:lnTo>
                <a:lnTo>
                  <a:pt x="1362049" y="1145654"/>
                </a:lnTo>
                <a:lnTo>
                  <a:pt x="1365758" y="1171765"/>
                </a:lnTo>
                <a:lnTo>
                  <a:pt x="1378737" y="1193673"/>
                </a:lnTo>
                <a:lnTo>
                  <a:pt x="1398981" y="1209116"/>
                </a:lnTo>
                <a:lnTo>
                  <a:pt x="1424495" y="1215847"/>
                </a:lnTo>
                <a:lnTo>
                  <a:pt x="1428445" y="1215961"/>
                </a:lnTo>
                <a:lnTo>
                  <a:pt x="1453235" y="1211148"/>
                </a:lnTo>
                <a:lnTo>
                  <a:pt x="1473885" y="1197914"/>
                </a:lnTo>
                <a:lnTo>
                  <a:pt x="1488389" y="1178064"/>
                </a:lnTo>
                <a:lnTo>
                  <a:pt x="1494701" y="1153401"/>
                </a:lnTo>
                <a:lnTo>
                  <a:pt x="1498117" y="1080084"/>
                </a:lnTo>
                <a:lnTo>
                  <a:pt x="1499552" y="1010526"/>
                </a:lnTo>
                <a:close/>
              </a:path>
            </a:pathLst>
          </a:custGeom>
          <a:solidFill>
            <a:srgbClr val="FFC42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60448" y="323188"/>
            <a:ext cx="5306695" cy="120650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>
              <a:lnSpc>
                <a:spcPts val="4740"/>
              </a:lnSpc>
              <a:spcBef>
                <a:spcPts val="20"/>
              </a:spcBef>
            </a:pPr>
            <a:r>
              <a:rPr sz="3800" spc="-10" dirty="0"/>
              <a:t>Documentation, </a:t>
            </a:r>
            <a:r>
              <a:rPr sz="3800" dirty="0"/>
              <a:t>Retention</a:t>
            </a:r>
            <a:r>
              <a:rPr sz="3800" spc="-40" dirty="0"/>
              <a:t> </a:t>
            </a:r>
            <a:r>
              <a:rPr sz="3800" dirty="0"/>
              <a:t>and</a:t>
            </a:r>
            <a:r>
              <a:rPr sz="3800" spc="-35" dirty="0"/>
              <a:t> </a:t>
            </a:r>
            <a:r>
              <a:rPr sz="3800" spc="-85" dirty="0"/>
              <a:t>Disposal</a:t>
            </a:r>
            <a:endParaRPr sz="3800"/>
          </a:p>
        </p:txBody>
      </p:sp>
      <p:sp>
        <p:nvSpPr>
          <p:cNvPr id="3" name="object 3"/>
          <p:cNvSpPr txBox="1"/>
          <p:nvPr/>
        </p:nvSpPr>
        <p:spPr>
          <a:xfrm>
            <a:off x="460448" y="3205598"/>
            <a:ext cx="4182745" cy="926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b="1" dirty="0">
                <a:solidFill>
                  <a:srgbClr val="00ACA1"/>
                </a:solidFill>
                <a:latin typeface="Arial"/>
                <a:cs typeface="Arial"/>
              </a:rPr>
              <a:t>Coding</a:t>
            </a:r>
            <a:r>
              <a:rPr sz="3800" b="1" spc="-170" dirty="0">
                <a:solidFill>
                  <a:srgbClr val="00ACA1"/>
                </a:solidFill>
                <a:latin typeface="Arial"/>
                <a:cs typeface="Arial"/>
              </a:rPr>
              <a:t> </a:t>
            </a:r>
            <a:r>
              <a:rPr sz="3800" b="1" dirty="0">
                <a:solidFill>
                  <a:srgbClr val="00ACA1"/>
                </a:solidFill>
                <a:latin typeface="Arial"/>
                <a:cs typeface="Arial"/>
              </a:rPr>
              <a:t>and</a:t>
            </a:r>
            <a:r>
              <a:rPr sz="3800" b="1" spc="-165" dirty="0">
                <a:solidFill>
                  <a:srgbClr val="00ACA1"/>
                </a:solidFill>
                <a:latin typeface="Arial"/>
                <a:cs typeface="Arial"/>
              </a:rPr>
              <a:t> </a:t>
            </a:r>
            <a:r>
              <a:rPr sz="3800" b="1" spc="-70" dirty="0">
                <a:solidFill>
                  <a:srgbClr val="00ACA1"/>
                </a:solidFill>
                <a:latin typeface="Arial"/>
                <a:cs typeface="Arial"/>
              </a:rPr>
              <a:t>Billing</a:t>
            </a:r>
            <a:endParaRPr sz="3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At</a:t>
            </a:r>
            <a:r>
              <a:rPr sz="1150" b="1" spc="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lang="en-US" sz="1150" b="1" spc="-10" dirty="0">
                <a:solidFill>
                  <a:srgbClr val="231F20"/>
                </a:solidFill>
                <a:latin typeface="Arial"/>
                <a:cs typeface="Arial"/>
              </a:rPr>
              <a:t>Destiny Springs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1150" b="1" spc="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we</a:t>
            </a:r>
            <a:r>
              <a:rPr sz="1150" b="1" spc="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follow</a:t>
            </a:r>
            <a:r>
              <a:rPr sz="1150" b="1" spc="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our</a:t>
            </a:r>
            <a:r>
              <a:rPr sz="1150" b="1" spc="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coding</a:t>
            </a:r>
            <a:endParaRPr sz="115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0448" y="5406742"/>
            <a:ext cx="501205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b="1" dirty="0">
                <a:solidFill>
                  <a:srgbClr val="00ACA1"/>
                </a:solidFill>
                <a:latin typeface="Arial"/>
                <a:cs typeface="Arial"/>
              </a:rPr>
              <a:t>Organizational</a:t>
            </a:r>
            <a:r>
              <a:rPr sz="3800" b="1" spc="-200" dirty="0">
                <a:solidFill>
                  <a:srgbClr val="00ACA1"/>
                </a:solidFill>
                <a:latin typeface="Arial"/>
                <a:cs typeface="Arial"/>
              </a:rPr>
              <a:t> </a:t>
            </a:r>
            <a:r>
              <a:rPr sz="3800" b="1" spc="-70" dirty="0">
                <a:solidFill>
                  <a:srgbClr val="00ACA1"/>
                </a:solidFill>
                <a:latin typeface="Arial"/>
                <a:cs typeface="Arial"/>
              </a:rPr>
              <a:t>Assets</a:t>
            </a:r>
            <a:endParaRPr sz="3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0448" y="1578279"/>
            <a:ext cx="2987040" cy="1897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At</a:t>
            </a:r>
            <a:r>
              <a:rPr sz="1150" b="1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lang="en-US" sz="1150" b="1" spc="-55" dirty="0">
                <a:solidFill>
                  <a:srgbClr val="231F20"/>
                </a:solidFill>
                <a:latin typeface="Arial"/>
                <a:cs typeface="Arial"/>
              </a:rPr>
              <a:t>Destiny Springs</a:t>
            </a:r>
            <a:r>
              <a:rPr sz="1150" b="1" spc="-20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 we </a:t>
            </a:r>
            <a:r>
              <a:rPr sz="1150" b="1" spc="-45" dirty="0">
                <a:solidFill>
                  <a:srgbClr val="231F20"/>
                </a:solidFill>
                <a:latin typeface="Arial"/>
                <a:cs typeface="Arial"/>
              </a:rPr>
              <a:t>maintain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45" dirty="0">
                <a:solidFill>
                  <a:srgbClr val="231F20"/>
                </a:solidFill>
                <a:latin typeface="Arial"/>
                <a:cs typeface="Arial"/>
              </a:rPr>
              <a:t>accurate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25" dirty="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endParaRPr sz="115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0448" y="1684957"/>
            <a:ext cx="3014345" cy="145796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150" b="1" spc="-30" dirty="0">
                <a:solidFill>
                  <a:srgbClr val="231F20"/>
                </a:solidFill>
                <a:latin typeface="Arial"/>
                <a:cs typeface="Arial"/>
              </a:rPr>
              <a:t>complete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60" dirty="0">
                <a:solidFill>
                  <a:srgbClr val="231F20"/>
                </a:solidFill>
                <a:latin typeface="Arial"/>
                <a:cs typeface="Arial"/>
              </a:rPr>
              <a:t>medical</a:t>
            </a:r>
            <a:r>
              <a:rPr sz="1150" b="1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35" dirty="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sz="1150" b="1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80" dirty="0">
                <a:solidFill>
                  <a:srgbClr val="231F20"/>
                </a:solidFill>
                <a:latin typeface="Arial"/>
                <a:cs typeface="Arial"/>
              </a:rPr>
              <a:t>business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 records.</a:t>
            </a:r>
            <a:endParaRPr sz="115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40"/>
              </a:spcBef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depend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on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accurate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reliable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information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make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responsible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business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and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clinical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decisions.</a:t>
            </a:r>
            <a:endParaRPr sz="1150" dirty="0">
              <a:latin typeface="Avenir Book"/>
              <a:cs typeface="Avenir Book"/>
            </a:endParaRPr>
          </a:p>
          <a:p>
            <a:pPr marL="12700" marR="6985">
              <a:lnSpc>
                <a:spcPct val="100000"/>
              </a:lnSpc>
              <a:spcBef>
                <a:spcPts val="540"/>
              </a:spcBef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Medical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business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documents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are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retained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destroyed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accordance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with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law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and </a:t>
            </a:r>
            <a:r>
              <a:rPr lang="en-US" sz="1150" dirty="0">
                <a:solidFill>
                  <a:srgbClr val="231F20"/>
                </a:solidFill>
                <a:latin typeface="Avenir Book"/>
                <a:cs typeface="Avenir Book"/>
              </a:rPr>
              <a:t>Destiny Springs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’s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policies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procedures.</a:t>
            </a:r>
            <a:endParaRPr sz="1150" dirty="0">
              <a:latin typeface="Avenir Book"/>
              <a:cs typeface="Avenir Boo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0448" y="4106290"/>
            <a:ext cx="2973705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billing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procedures</a:t>
            </a:r>
            <a:r>
              <a:rPr sz="115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in order to</a:t>
            </a:r>
            <a:r>
              <a:rPr sz="115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ensure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that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our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20" dirty="0">
                <a:solidFill>
                  <a:srgbClr val="231F20"/>
                </a:solidFill>
                <a:latin typeface="Arial"/>
                <a:cs typeface="Arial"/>
              </a:rPr>
              <a:t>bills</a:t>
            </a:r>
            <a:r>
              <a:rPr sz="1150" b="1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are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 accurate</a:t>
            </a:r>
            <a:r>
              <a:rPr sz="1150" b="1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 comply</a:t>
            </a:r>
            <a:r>
              <a:rPr sz="1150" b="1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20" dirty="0">
                <a:solidFill>
                  <a:srgbClr val="231F20"/>
                </a:solidFill>
                <a:latin typeface="Arial"/>
                <a:cs typeface="Arial"/>
              </a:rPr>
              <a:t>with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all</a:t>
            </a:r>
            <a:r>
              <a:rPr sz="115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applicable</a:t>
            </a:r>
            <a:r>
              <a:rPr sz="115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local,</a:t>
            </a:r>
            <a:r>
              <a:rPr sz="115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state</a:t>
            </a:r>
            <a:r>
              <a:rPr sz="115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sz="115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federal</a:t>
            </a:r>
            <a:r>
              <a:rPr sz="115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laws.</a:t>
            </a:r>
            <a:endParaRPr sz="11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0448" y="6069507"/>
            <a:ext cx="2889250" cy="795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At</a:t>
            </a:r>
            <a:r>
              <a:rPr sz="1150" b="1" spc="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lang="en-US" sz="1150" b="1" spc="-10" dirty="0">
                <a:solidFill>
                  <a:srgbClr val="231F20"/>
                </a:solidFill>
                <a:latin typeface="Arial"/>
                <a:cs typeface="Arial"/>
              </a:rPr>
              <a:t>Destiny Springs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1150" b="1" spc="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we</a:t>
            </a:r>
            <a:r>
              <a:rPr sz="1150" b="1" spc="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20" dirty="0">
                <a:solidFill>
                  <a:srgbClr val="231F20"/>
                </a:solidFill>
                <a:latin typeface="Arial"/>
                <a:cs typeface="Arial"/>
              </a:rPr>
              <a:t>use</a:t>
            </a:r>
            <a:r>
              <a:rPr sz="1150" b="1" spc="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organizational </a:t>
            </a:r>
            <a:r>
              <a:rPr sz="1150" b="1" spc="-35" dirty="0">
                <a:solidFill>
                  <a:srgbClr val="231F20"/>
                </a:solidFill>
                <a:latin typeface="Arial"/>
                <a:cs typeface="Arial"/>
              </a:rPr>
              <a:t>resources</a:t>
            </a:r>
            <a:r>
              <a:rPr sz="115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responsibly.</a:t>
            </a:r>
            <a:endParaRPr sz="1150" dirty="0">
              <a:latin typeface="Arial"/>
              <a:cs typeface="Arial"/>
            </a:endParaRPr>
          </a:p>
          <a:p>
            <a:pPr marL="12700" marR="90170">
              <a:lnSpc>
                <a:spcPct val="100000"/>
              </a:lnSpc>
              <a:spcBef>
                <a:spcPts val="540"/>
              </a:spcBef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As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public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hospital,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we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have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duty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use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resources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appropriately.</a:t>
            </a:r>
            <a:endParaRPr sz="1150" dirty="0">
              <a:latin typeface="Avenir Book"/>
              <a:cs typeface="Avenir Boo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48128" y="1614932"/>
            <a:ext cx="2805430" cy="1320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286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particular,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we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rely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on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patient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medical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records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order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properly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bill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for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the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services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care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provided.</a:t>
            </a:r>
            <a:endParaRPr sz="1150">
              <a:latin typeface="Avenir Book"/>
              <a:cs typeface="Avenir Book"/>
            </a:endParaRPr>
          </a:p>
          <a:p>
            <a:pPr marL="12700" marR="5080">
              <a:lnSpc>
                <a:spcPct val="100000"/>
              </a:lnSpc>
              <a:spcBef>
                <a:spcPts val="540"/>
              </a:spcBef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Anyone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who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documents in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patient’s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medical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record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is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responsible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for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providing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accurate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timely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documentation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the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care</a:t>
            </a: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provided.</a:t>
            </a:r>
            <a:endParaRPr sz="1150">
              <a:latin typeface="Avenir Book"/>
              <a:cs typeface="Avenir Boo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48128" y="3966668"/>
            <a:ext cx="79438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This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means:</a:t>
            </a:r>
            <a:endParaRPr sz="1150">
              <a:latin typeface="Avenir Book"/>
              <a:cs typeface="Avenir Boo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48128" y="4210508"/>
            <a:ext cx="2955925" cy="1214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137160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We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are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committed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preparing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and 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submitting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accurate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complete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claims.</a:t>
            </a:r>
            <a:endParaRPr sz="1150">
              <a:latin typeface="Avenir Book"/>
              <a:cs typeface="Avenir Book"/>
            </a:endParaRPr>
          </a:p>
          <a:p>
            <a:pPr marL="241300" marR="5080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bill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only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for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services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that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are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provided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have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supporting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documentation.</a:t>
            </a:r>
            <a:endParaRPr sz="1150">
              <a:latin typeface="Avenir Book"/>
              <a:cs typeface="Avenir Book"/>
            </a:endParaRPr>
          </a:p>
          <a:p>
            <a:pPr marL="241300" marR="48260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We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report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any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behaviors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requests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that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differ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from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accepted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billing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practices.</a:t>
            </a:r>
            <a:endParaRPr sz="1150">
              <a:latin typeface="Avenir Book"/>
              <a:cs typeface="Avenir Book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48128" y="6105144"/>
            <a:ext cx="2273300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This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means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are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responsible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for:</a:t>
            </a:r>
            <a:endParaRPr sz="1150">
              <a:latin typeface="Avenir Book"/>
              <a:cs typeface="Avenir Boo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48128" y="6348983"/>
            <a:ext cx="2959100" cy="970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986790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proper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expenditure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of </a:t>
            </a:r>
            <a:r>
              <a:rPr lang="en-US" sz="1150" dirty="0">
                <a:solidFill>
                  <a:srgbClr val="231F20"/>
                </a:solidFill>
                <a:latin typeface="Avenir Book"/>
                <a:cs typeface="Avenir Book"/>
              </a:rPr>
              <a:t>Destiny Springs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’s</a:t>
            </a: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funds.</a:t>
            </a:r>
            <a:endParaRPr sz="1150" dirty="0">
              <a:latin typeface="Avenir Book"/>
              <a:cs typeface="Avenir Book"/>
            </a:endParaRPr>
          </a:p>
          <a:p>
            <a:pPr marL="241300" marR="5080" indent="-228600">
              <a:lnSpc>
                <a:spcPct val="1000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Using supplies, equipment and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property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bought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owned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by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lang="en-US" sz="1150" dirty="0">
                <a:solidFill>
                  <a:srgbClr val="231F20"/>
                </a:solidFill>
                <a:latin typeface="Avenir Book"/>
                <a:cs typeface="Avenir Book"/>
              </a:rPr>
              <a:t>Destiny Springs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for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business purposes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only.</a:t>
            </a:r>
            <a:endParaRPr sz="1150" dirty="0">
              <a:latin typeface="Avenir Book"/>
              <a:cs typeface="Avenir Book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848508" y="3066318"/>
            <a:ext cx="12700" cy="4204970"/>
            <a:chOff x="6848508" y="3066318"/>
            <a:chExt cx="12700" cy="4204970"/>
          </a:xfrm>
        </p:grpSpPr>
        <p:sp>
          <p:nvSpPr>
            <p:cNvPr id="15" name="object 15"/>
            <p:cNvSpPr/>
            <p:nvPr/>
          </p:nvSpPr>
          <p:spPr>
            <a:xfrm>
              <a:off x="6854858" y="3110781"/>
              <a:ext cx="0" cy="4135120"/>
            </a:xfrm>
            <a:custGeom>
              <a:avLst/>
              <a:gdLst/>
              <a:ahLst/>
              <a:cxnLst/>
              <a:rect l="l" t="t" r="r" b="b"/>
              <a:pathLst>
                <a:path h="4135120">
                  <a:moveTo>
                    <a:pt x="0" y="0"/>
                  </a:moveTo>
                  <a:lnTo>
                    <a:pt x="0" y="4134853"/>
                  </a:lnTo>
                </a:path>
              </a:pathLst>
            </a:custGeom>
            <a:ln w="12700">
              <a:solidFill>
                <a:srgbClr val="FFC425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48501" y="3066325"/>
              <a:ext cx="12700" cy="4204970"/>
            </a:xfrm>
            <a:custGeom>
              <a:avLst/>
              <a:gdLst/>
              <a:ahLst/>
              <a:cxnLst/>
              <a:rect l="l" t="t" r="r" b="b"/>
              <a:pathLst>
                <a:path w="12700" h="4204970">
                  <a:moveTo>
                    <a:pt x="12700" y="4198378"/>
                  </a:moveTo>
                  <a:lnTo>
                    <a:pt x="10845" y="4193883"/>
                  </a:lnTo>
                  <a:lnTo>
                    <a:pt x="6350" y="4192028"/>
                  </a:lnTo>
                  <a:lnTo>
                    <a:pt x="1866" y="4193883"/>
                  </a:lnTo>
                  <a:lnTo>
                    <a:pt x="0" y="4198378"/>
                  </a:lnTo>
                  <a:lnTo>
                    <a:pt x="1866" y="4202861"/>
                  </a:lnTo>
                  <a:lnTo>
                    <a:pt x="6350" y="4204728"/>
                  </a:lnTo>
                  <a:lnTo>
                    <a:pt x="10845" y="4202861"/>
                  </a:lnTo>
                  <a:lnTo>
                    <a:pt x="12700" y="4198378"/>
                  </a:lnTo>
                  <a:close/>
                </a:path>
                <a:path w="12700" h="4204970">
                  <a:moveTo>
                    <a:pt x="12700" y="6350"/>
                  </a:moveTo>
                  <a:lnTo>
                    <a:pt x="10845" y="1854"/>
                  </a:lnTo>
                  <a:lnTo>
                    <a:pt x="6350" y="0"/>
                  </a:lnTo>
                  <a:lnTo>
                    <a:pt x="1866" y="1854"/>
                  </a:lnTo>
                  <a:lnTo>
                    <a:pt x="0" y="6350"/>
                  </a:lnTo>
                  <a:lnTo>
                    <a:pt x="1866" y="10833"/>
                  </a:lnTo>
                  <a:lnTo>
                    <a:pt x="6350" y="12700"/>
                  </a:lnTo>
                  <a:lnTo>
                    <a:pt x="10845" y="10833"/>
                  </a:lnTo>
                  <a:lnTo>
                    <a:pt x="12700" y="6350"/>
                  </a:lnTo>
                  <a:close/>
                </a:path>
              </a:pathLst>
            </a:custGeom>
            <a:solidFill>
              <a:srgbClr val="FFC4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116476" y="3185643"/>
            <a:ext cx="2481580" cy="1921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93065">
              <a:lnSpc>
                <a:spcPct val="100000"/>
              </a:lnSpc>
              <a:spcBef>
                <a:spcPts val="100"/>
              </a:spcBef>
            </a:pPr>
            <a:r>
              <a:rPr sz="1800" i="1" spc="-114" dirty="0">
                <a:solidFill>
                  <a:srgbClr val="FFC425"/>
                </a:solidFill>
                <a:latin typeface="Arial"/>
                <a:cs typeface="Arial"/>
              </a:rPr>
              <a:t>What</a:t>
            </a:r>
            <a:r>
              <a:rPr sz="1800" i="1" spc="-5" dirty="0">
                <a:solidFill>
                  <a:srgbClr val="FFC425"/>
                </a:solidFill>
                <a:latin typeface="Arial"/>
                <a:cs typeface="Arial"/>
              </a:rPr>
              <a:t> </a:t>
            </a:r>
            <a:r>
              <a:rPr sz="1800" i="1" spc="-170" dirty="0">
                <a:solidFill>
                  <a:srgbClr val="FFC425"/>
                </a:solidFill>
                <a:latin typeface="Arial"/>
                <a:cs typeface="Arial"/>
              </a:rPr>
              <a:t>is</a:t>
            </a:r>
            <a:r>
              <a:rPr sz="1800" i="1" spc="35" dirty="0">
                <a:solidFill>
                  <a:srgbClr val="FFC425"/>
                </a:solidFill>
                <a:latin typeface="Arial"/>
                <a:cs typeface="Arial"/>
              </a:rPr>
              <a:t> </a:t>
            </a:r>
            <a:r>
              <a:rPr sz="1800" i="1" spc="-260" dirty="0">
                <a:solidFill>
                  <a:srgbClr val="FFC425"/>
                </a:solidFill>
                <a:latin typeface="Arial"/>
                <a:cs typeface="Arial"/>
              </a:rPr>
              <a:t>the</a:t>
            </a:r>
            <a:r>
              <a:rPr sz="1800" i="1" spc="35" dirty="0">
                <a:solidFill>
                  <a:srgbClr val="FFC425"/>
                </a:solidFill>
                <a:latin typeface="Arial"/>
                <a:cs typeface="Arial"/>
              </a:rPr>
              <a:t> </a:t>
            </a:r>
            <a:r>
              <a:rPr sz="1800" i="1" spc="-220" dirty="0">
                <a:solidFill>
                  <a:srgbClr val="FFC425"/>
                </a:solidFill>
                <a:latin typeface="Arial"/>
                <a:cs typeface="Arial"/>
              </a:rPr>
              <a:t>False</a:t>
            </a:r>
            <a:r>
              <a:rPr sz="1800" i="1" spc="35" dirty="0">
                <a:solidFill>
                  <a:srgbClr val="FFC425"/>
                </a:solidFill>
                <a:latin typeface="Arial"/>
                <a:cs typeface="Arial"/>
              </a:rPr>
              <a:t> </a:t>
            </a:r>
            <a:r>
              <a:rPr sz="1800" i="1" spc="-185" dirty="0">
                <a:solidFill>
                  <a:srgbClr val="FFC425"/>
                </a:solidFill>
                <a:latin typeface="Arial"/>
                <a:cs typeface="Arial"/>
              </a:rPr>
              <a:t>Claims </a:t>
            </a:r>
            <a:r>
              <a:rPr sz="1800" i="1" spc="-20" dirty="0">
                <a:solidFill>
                  <a:srgbClr val="FFC425"/>
                </a:solidFill>
                <a:latin typeface="Arial"/>
                <a:cs typeface="Arial"/>
              </a:rPr>
              <a:t>Act?</a:t>
            </a:r>
            <a:endParaRPr sz="1800">
              <a:latin typeface="Arial"/>
              <a:cs typeface="Arial"/>
            </a:endParaRPr>
          </a:p>
          <a:p>
            <a:pPr marL="12700" marR="88265">
              <a:lnSpc>
                <a:spcPct val="100000"/>
              </a:lnSpc>
              <a:spcBef>
                <a:spcPts val="409"/>
              </a:spcBef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False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Claims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Act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(FCA)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prohibits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any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person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organization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from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knowingly submitting false claims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to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federal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government,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including Medicare.</a:t>
            </a:r>
            <a:endParaRPr sz="1150">
              <a:latin typeface="Avenir Book"/>
              <a:cs typeface="Avenir Book"/>
            </a:endParaRPr>
          </a:p>
          <a:p>
            <a:pPr marL="12700" marR="5080">
              <a:lnSpc>
                <a:spcPct val="100000"/>
              </a:lnSpc>
              <a:spcBef>
                <a:spcPts val="540"/>
              </a:spcBef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Examples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possible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violations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the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FCA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include:</a:t>
            </a:r>
            <a:endParaRPr sz="1150">
              <a:latin typeface="Avenir Book"/>
              <a:cs typeface="Avenir Book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116476" y="5150333"/>
            <a:ext cx="2726055" cy="2296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3365" marR="384810" indent="-241300">
              <a:lnSpc>
                <a:spcPct val="100000"/>
              </a:lnSpc>
              <a:spcBef>
                <a:spcPts val="100"/>
              </a:spcBef>
              <a:tabLst>
                <a:tab pos="253365" algn="l"/>
              </a:tabLst>
            </a:pPr>
            <a:r>
              <a:rPr sz="1150" spc="55" dirty="0">
                <a:solidFill>
                  <a:srgbClr val="D2232A"/>
                </a:solidFill>
                <a:latin typeface="Arial"/>
                <a:cs typeface="Arial"/>
              </a:rPr>
              <a:t>X</a:t>
            </a:r>
            <a:r>
              <a:rPr sz="1150" dirty="0">
                <a:solidFill>
                  <a:srgbClr val="D2232A"/>
                </a:solidFill>
                <a:latin typeface="Arial"/>
                <a:cs typeface="Arial"/>
              </a:rPr>
              <a:t>	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Billing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for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services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that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were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not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provided.</a:t>
            </a:r>
            <a:endParaRPr sz="1150">
              <a:latin typeface="Avenir Book"/>
              <a:cs typeface="Avenir Book"/>
            </a:endParaRPr>
          </a:p>
          <a:p>
            <a:pPr marL="253365" marR="510540" indent="-241300">
              <a:lnSpc>
                <a:spcPct val="100000"/>
              </a:lnSpc>
              <a:spcBef>
                <a:spcPts val="540"/>
              </a:spcBef>
              <a:tabLst>
                <a:tab pos="253365" algn="l"/>
              </a:tabLst>
            </a:pPr>
            <a:r>
              <a:rPr sz="1150" spc="55" dirty="0">
                <a:solidFill>
                  <a:srgbClr val="D2232A"/>
                </a:solidFill>
                <a:latin typeface="Arial"/>
                <a:cs typeface="Arial"/>
              </a:rPr>
              <a:t>X</a:t>
            </a:r>
            <a:r>
              <a:rPr sz="1150" dirty="0">
                <a:solidFill>
                  <a:srgbClr val="D2232A"/>
                </a:solidFill>
                <a:latin typeface="Arial"/>
                <a:cs typeface="Arial"/>
              </a:rPr>
              <a:t>	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Recording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processing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any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information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inaccurately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(i.e.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changing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 beneficiary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name).</a:t>
            </a:r>
            <a:endParaRPr sz="1150">
              <a:latin typeface="Avenir Book"/>
              <a:cs typeface="Avenir Book"/>
            </a:endParaRPr>
          </a:p>
          <a:p>
            <a:pPr marL="253365" marR="207645" indent="-241300">
              <a:lnSpc>
                <a:spcPct val="100000"/>
              </a:lnSpc>
              <a:spcBef>
                <a:spcPts val="540"/>
              </a:spcBef>
              <a:tabLst>
                <a:tab pos="253365" algn="l"/>
              </a:tabLst>
            </a:pPr>
            <a:r>
              <a:rPr sz="1150" spc="55" dirty="0">
                <a:solidFill>
                  <a:srgbClr val="D2232A"/>
                </a:solidFill>
                <a:latin typeface="Arial"/>
                <a:cs typeface="Arial"/>
              </a:rPr>
              <a:t>X</a:t>
            </a:r>
            <a:r>
              <a:rPr sz="1150" dirty="0">
                <a:solidFill>
                  <a:srgbClr val="D2232A"/>
                </a:solidFill>
                <a:latin typeface="Arial"/>
                <a:cs typeface="Arial"/>
              </a:rPr>
              <a:t>	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Charging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for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services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that</a:t>
            </a:r>
            <a:r>
              <a:rPr sz="1150" spc="-4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were</a:t>
            </a:r>
            <a:r>
              <a:rPr sz="1150" spc="-3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not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medically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necessary.</a:t>
            </a:r>
            <a:endParaRPr sz="1150">
              <a:latin typeface="Avenir Book"/>
              <a:cs typeface="Avenir Book"/>
            </a:endParaRPr>
          </a:p>
          <a:p>
            <a:pPr marL="253365" marR="292735" indent="-241300">
              <a:lnSpc>
                <a:spcPct val="100000"/>
              </a:lnSpc>
              <a:spcBef>
                <a:spcPts val="540"/>
              </a:spcBef>
              <a:tabLst>
                <a:tab pos="253365" algn="l"/>
              </a:tabLst>
            </a:pPr>
            <a:r>
              <a:rPr sz="1150" spc="55" dirty="0">
                <a:solidFill>
                  <a:srgbClr val="D2232A"/>
                </a:solidFill>
                <a:latin typeface="Arial"/>
                <a:cs typeface="Arial"/>
              </a:rPr>
              <a:t>X</a:t>
            </a:r>
            <a:r>
              <a:rPr sz="1150" dirty="0">
                <a:solidFill>
                  <a:srgbClr val="D2232A"/>
                </a:solidFill>
                <a:latin typeface="Arial"/>
                <a:cs typeface="Arial"/>
              </a:rPr>
              <a:t>	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Coding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for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services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that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are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more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expensive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than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services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that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were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actually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provided.</a:t>
            </a:r>
            <a:endParaRPr sz="1150">
              <a:latin typeface="Avenir Book"/>
              <a:cs typeface="Avenir Book"/>
            </a:endParaRPr>
          </a:p>
          <a:p>
            <a:pPr marL="1158875">
              <a:lnSpc>
                <a:spcPct val="100000"/>
              </a:lnSpc>
              <a:spcBef>
                <a:spcPts val="1435"/>
              </a:spcBef>
            </a:pPr>
            <a:r>
              <a:rPr sz="850" i="1" spc="-45" dirty="0">
                <a:solidFill>
                  <a:srgbClr val="FFC425"/>
                </a:solidFill>
                <a:latin typeface="Arial"/>
                <a:cs typeface="Arial"/>
              </a:rPr>
              <a:t>Living</a:t>
            </a:r>
            <a:r>
              <a:rPr sz="850" i="1" spc="-15" dirty="0">
                <a:solidFill>
                  <a:srgbClr val="FFC425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FFC425"/>
                </a:solidFill>
                <a:latin typeface="Arial"/>
                <a:cs typeface="Arial"/>
              </a:rPr>
              <a:t>our</a:t>
            </a:r>
            <a:r>
              <a:rPr sz="850" i="1" spc="15" dirty="0">
                <a:solidFill>
                  <a:srgbClr val="FFC425"/>
                </a:solidFill>
                <a:latin typeface="Arial"/>
                <a:cs typeface="Arial"/>
              </a:rPr>
              <a:t> </a:t>
            </a:r>
            <a:r>
              <a:rPr sz="850" i="1" spc="-114" dirty="0">
                <a:solidFill>
                  <a:srgbClr val="FFC425"/>
                </a:solidFill>
                <a:latin typeface="Arial"/>
                <a:cs typeface="Arial"/>
              </a:rPr>
              <a:t>Values</a:t>
            </a:r>
            <a:r>
              <a:rPr sz="850" i="1" spc="60" dirty="0">
                <a:solidFill>
                  <a:srgbClr val="FFC425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47720"/>
                </a:solidFill>
                <a:latin typeface="Arial"/>
                <a:cs typeface="Arial"/>
              </a:rPr>
              <a:t>I</a:t>
            </a:r>
            <a:r>
              <a:rPr sz="850" b="1" spc="60" dirty="0">
                <a:solidFill>
                  <a:srgbClr val="F47720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00ACA1"/>
                </a:solidFill>
                <a:latin typeface="Arial"/>
                <a:cs typeface="Arial"/>
              </a:rPr>
              <a:t>INTEGRITY</a:t>
            </a:r>
            <a:r>
              <a:rPr sz="850" b="1" spc="235" dirty="0">
                <a:solidFill>
                  <a:srgbClr val="00ACA1"/>
                </a:solidFill>
                <a:latin typeface="Arial"/>
                <a:cs typeface="Arial"/>
              </a:rPr>
              <a:t> </a:t>
            </a:r>
            <a:r>
              <a:rPr sz="850" b="1" spc="-25" dirty="0">
                <a:solidFill>
                  <a:srgbClr val="008BC0"/>
                </a:solidFill>
                <a:latin typeface="Arial"/>
                <a:cs typeface="Arial"/>
              </a:rPr>
              <a:t>22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833361" y="192023"/>
            <a:ext cx="2987675" cy="7084059"/>
            <a:chOff x="6833361" y="192023"/>
            <a:chExt cx="2987675" cy="7084059"/>
          </a:xfrm>
        </p:grpSpPr>
        <p:sp>
          <p:nvSpPr>
            <p:cNvPr id="3" name="object 3"/>
            <p:cNvSpPr/>
            <p:nvPr/>
          </p:nvSpPr>
          <p:spPr>
            <a:xfrm>
              <a:off x="6833361" y="192023"/>
              <a:ext cx="2987675" cy="7084059"/>
            </a:xfrm>
            <a:custGeom>
              <a:avLst/>
              <a:gdLst/>
              <a:ahLst/>
              <a:cxnLst/>
              <a:rect l="l" t="t" r="r" b="b"/>
              <a:pathLst>
                <a:path w="2987675" h="7084059">
                  <a:moveTo>
                    <a:pt x="2987294" y="0"/>
                  </a:moveTo>
                  <a:lnTo>
                    <a:pt x="0" y="0"/>
                  </a:lnTo>
                  <a:lnTo>
                    <a:pt x="0" y="7083666"/>
                  </a:lnTo>
                  <a:lnTo>
                    <a:pt x="2987294" y="7083666"/>
                  </a:lnTo>
                  <a:lnTo>
                    <a:pt x="2987294" y="0"/>
                  </a:lnTo>
                  <a:close/>
                </a:path>
              </a:pathLst>
            </a:custGeom>
            <a:solidFill>
              <a:srgbClr val="FFC4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88313" y="5117706"/>
              <a:ext cx="1726564" cy="2158365"/>
            </a:xfrm>
            <a:custGeom>
              <a:avLst/>
              <a:gdLst/>
              <a:ahLst/>
              <a:cxnLst/>
              <a:rect l="l" t="t" r="r" b="b"/>
              <a:pathLst>
                <a:path w="1726565" h="2158365">
                  <a:moveTo>
                    <a:pt x="404012" y="1645221"/>
                  </a:moveTo>
                  <a:lnTo>
                    <a:pt x="352780" y="1644383"/>
                  </a:lnTo>
                  <a:lnTo>
                    <a:pt x="306273" y="1642554"/>
                  </a:lnTo>
                  <a:lnTo>
                    <a:pt x="264261" y="1639836"/>
                  </a:lnTo>
                  <a:lnTo>
                    <a:pt x="226542" y="1636331"/>
                  </a:lnTo>
                  <a:lnTo>
                    <a:pt x="226542" y="2058085"/>
                  </a:lnTo>
                  <a:lnTo>
                    <a:pt x="233502" y="2092629"/>
                  </a:lnTo>
                  <a:lnTo>
                    <a:pt x="252526" y="2120823"/>
                  </a:lnTo>
                  <a:lnTo>
                    <a:pt x="280720" y="2139835"/>
                  </a:lnTo>
                  <a:lnTo>
                    <a:pt x="315277" y="2146808"/>
                  </a:lnTo>
                  <a:lnTo>
                    <a:pt x="349808" y="2139835"/>
                  </a:lnTo>
                  <a:lnTo>
                    <a:pt x="378015" y="2120823"/>
                  </a:lnTo>
                  <a:lnTo>
                    <a:pt x="397027" y="2092629"/>
                  </a:lnTo>
                  <a:lnTo>
                    <a:pt x="404012" y="2058085"/>
                  </a:lnTo>
                  <a:lnTo>
                    <a:pt x="404012" y="1645221"/>
                  </a:lnTo>
                  <a:close/>
                </a:path>
                <a:path w="1726565" h="2158365">
                  <a:moveTo>
                    <a:pt x="604875" y="325043"/>
                  </a:moveTo>
                  <a:lnTo>
                    <a:pt x="591807" y="248475"/>
                  </a:lnTo>
                  <a:lnTo>
                    <a:pt x="570890" y="209753"/>
                  </a:lnTo>
                  <a:lnTo>
                    <a:pt x="541439" y="176923"/>
                  </a:lnTo>
                  <a:lnTo>
                    <a:pt x="504494" y="151663"/>
                  </a:lnTo>
                  <a:lnTo>
                    <a:pt x="461060" y="135686"/>
                  </a:lnTo>
                  <a:lnTo>
                    <a:pt x="411314" y="130937"/>
                  </a:lnTo>
                  <a:lnTo>
                    <a:pt x="363702" y="139128"/>
                  </a:lnTo>
                  <a:lnTo>
                    <a:pt x="320370" y="158953"/>
                  </a:lnTo>
                  <a:lnTo>
                    <a:pt x="283451" y="189064"/>
                  </a:lnTo>
                  <a:lnTo>
                    <a:pt x="255066" y="228155"/>
                  </a:lnTo>
                  <a:lnTo>
                    <a:pt x="237350" y="274878"/>
                  </a:lnTo>
                  <a:lnTo>
                    <a:pt x="233718" y="338010"/>
                  </a:lnTo>
                  <a:lnTo>
                    <a:pt x="244284" y="382193"/>
                  </a:lnTo>
                  <a:lnTo>
                    <a:pt x="264960" y="422148"/>
                  </a:lnTo>
                  <a:lnTo>
                    <a:pt x="294640" y="456057"/>
                  </a:lnTo>
                  <a:lnTo>
                    <a:pt x="332206" y="482130"/>
                  </a:lnTo>
                  <a:lnTo>
                    <a:pt x="376555" y="498576"/>
                  </a:lnTo>
                  <a:lnTo>
                    <a:pt x="426300" y="503326"/>
                  </a:lnTo>
                  <a:lnTo>
                    <a:pt x="473900" y="495122"/>
                  </a:lnTo>
                  <a:lnTo>
                    <a:pt x="517232" y="475297"/>
                  </a:lnTo>
                  <a:lnTo>
                    <a:pt x="554151" y="445185"/>
                  </a:lnTo>
                  <a:lnTo>
                    <a:pt x="582536" y="406095"/>
                  </a:lnTo>
                  <a:lnTo>
                    <a:pt x="600252" y="359371"/>
                  </a:lnTo>
                  <a:lnTo>
                    <a:pt x="604875" y="325043"/>
                  </a:lnTo>
                  <a:close/>
                </a:path>
                <a:path w="1726565" h="2158365">
                  <a:moveTo>
                    <a:pt x="610565" y="247662"/>
                  </a:moveTo>
                  <a:lnTo>
                    <a:pt x="606844" y="204025"/>
                  </a:lnTo>
                  <a:lnTo>
                    <a:pt x="600290" y="154178"/>
                  </a:lnTo>
                  <a:lnTo>
                    <a:pt x="590118" y="105168"/>
                  </a:lnTo>
                  <a:lnTo>
                    <a:pt x="575564" y="64020"/>
                  </a:lnTo>
                  <a:lnTo>
                    <a:pt x="512495" y="15951"/>
                  </a:lnTo>
                  <a:lnTo>
                    <a:pt x="467817" y="4724"/>
                  </a:lnTo>
                  <a:lnTo>
                    <a:pt x="418807" y="0"/>
                  </a:lnTo>
                  <a:lnTo>
                    <a:pt x="368808" y="584"/>
                  </a:lnTo>
                  <a:lnTo>
                    <a:pt x="313143" y="15951"/>
                  </a:lnTo>
                  <a:lnTo>
                    <a:pt x="281762" y="37807"/>
                  </a:lnTo>
                  <a:lnTo>
                    <a:pt x="247434" y="105283"/>
                  </a:lnTo>
                  <a:lnTo>
                    <a:pt x="237261" y="154381"/>
                  </a:lnTo>
                  <a:lnTo>
                    <a:pt x="230720" y="204279"/>
                  </a:lnTo>
                  <a:lnTo>
                    <a:pt x="227037" y="247916"/>
                  </a:lnTo>
                  <a:lnTo>
                    <a:pt x="249643" y="202996"/>
                  </a:lnTo>
                  <a:lnTo>
                    <a:pt x="281813" y="165684"/>
                  </a:lnTo>
                  <a:lnTo>
                    <a:pt x="321830" y="137337"/>
                  </a:lnTo>
                  <a:lnTo>
                    <a:pt x="368020" y="119341"/>
                  </a:lnTo>
                  <a:lnTo>
                    <a:pt x="418680" y="113042"/>
                  </a:lnTo>
                  <a:lnTo>
                    <a:pt x="430339" y="113372"/>
                  </a:lnTo>
                  <a:lnTo>
                    <a:pt x="514007" y="136613"/>
                  </a:lnTo>
                  <a:lnTo>
                    <a:pt x="555396" y="165608"/>
                  </a:lnTo>
                  <a:lnTo>
                    <a:pt x="587997" y="203301"/>
                  </a:lnTo>
                  <a:lnTo>
                    <a:pt x="610565" y="247662"/>
                  </a:lnTo>
                  <a:close/>
                </a:path>
                <a:path w="1726565" h="2158365">
                  <a:moveTo>
                    <a:pt x="611073" y="1636331"/>
                  </a:moveTo>
                  <a:lnTo>
                    <a:pt x="573328" y="1639836"/>
                  </a:lnTo>
                  <a:lnTo>
                    <a:pt x="531317" y="1642567"/>
                  </a:lnTo>
                  <a:lnTo>
                    <a:pt x="484809" y="1644396"/>
                  </a:lnTo>
                  <a:lnTo>
                    <a:pt x="433590" y="1645246"/>
                  </a:lnTo>
                  <a:lnTo>
                    <a:pt x="433590" y="2058085"/>
                  </a:lnTo>
                  <a:lnTo>
                    <a:pt x="440550" y="2092629"/>
                  </a:lnTo>
                  <a:lnTo>
                    <a:pt x="459574" y="2120823"/>
                  </a:lnTo>
                  <a:lnTo>
                    <a:pt x="487768" y="2139835"/>
                  </a:lnTo>
                  <a:lnTo>
                    <a:pt x="522325" y="2146808"/>
                  </a:lnTo>
                  <a:lnTo>
                    <a:pt x="556856" y="2139835"/>
                  </a:lnTo>
                  <a:lnTo>
                    <a:pt x="585063" y="2120823"/>
                  </a:lnTo>
                  <a:lnTo>
                    <a:pt x="604088" y="2092629"/>
                  </a:lnTo>
                  <a:lnTo>
                    <a:pt x="611073" y="2058085"/>
                  </a:lnTo>
                  <a:lnTo>
                    <a:pt x="611073" y="1636331"/>
                  </a:lnTo>
                  <a:close/>
                </a:path>
                <a:path w="1726565" h="2158365">
                  <a:moveTo>
                    <a:pt x="633818" y="615480"/>
                  </a:moveTo>
                  <a:lnTo>
                    <a:pt x="593572" y="589203"/>
                  </a:lnTo>
                  <a:lnTo>
                    <a:pt x="553008" y="569556"/>
                  </a:lnTo>
                  <a:lnTo>
                    <a:pt x="539559" y="591921"/>
                  </a:lnTo>
                  <a:lnTo>
                    <a:pt x="524167" y="615124"/>
                  </a:lnTo>
                  <a:lnTo>
                    <a:pt x="506996" y="637413"/>
                  </a:lnTo>
                  <a:lnTo>
                    <a:pt x="489966" y="654011"/>
                  </a:lnTo>
                  <a:lnTo>
                    <a:pt x="474992" y="660133"/>
                  </a:lnTo>
                  <a:lnTo>
                    <a:pt x="454825" y="652335"/>
                  </a:lnTo>
                  <a:lnTo>
                    <a:pt x="437832" y="636638"/>
                  </a:lnTo>
                  <a:lnTo>
                    <a:pt x="426123" y="621220"/>
                  </a:lnTo>
                  <a:lnTo>
                    <a:pt x="421754" y="614273"/>
                  </a:lnTo>
                  <a:lnTo>
                    <a:pt x="431685" y="606831"/>
                  </a:lnTo>
                  <a:lnTo>
                    <a:pt x="438556" y="601027"/>
                  </a:lnTo>
                  <a:lnTo>
                    <a:pt x="468820" y="566534"/>
                  </a:lnTo>
                  <a:lnTo>
                    <a:pt x="480517" y="548525"/>
                  </a:lnTo>
                  <a:lnTo>
                    <a:pt x="465429" y="546201"/>
                  </a:lnTo>
                  <a:lnTo>
                    <a:pt x="450113" y="544525"/>
                  </a:lnTo>
                  <a:lnTo>
                    <a:pt x="434568" y="543509"/>
                  </a:lnTo>
                  <a:lnTo>
                    <a:pt x="418807" y="543191"/>
                  </a:lnTo>
                  <a:lnTo>
                    <a:pt x="403390" y="543572"/>
                  </a:lnTo>
                  <a:lnTo>
                    <a:pt x="387921" y="544550"/>
                  </a:lnTo>
                  <a:lnTo>
                    <a:pt x="372402" y="546087"/>
                  </a:lnTo>
                  <a:lnTo>
                    <a:pt x="356870" y="548157"/>
                  </a:lnTo>
                  <a:lnTo>
                    <a:pt x="362534" y="557517"/>
                  </a:lnTo>
                  <a:lnTo>
                    <a:pt x="394335" y="595579"/>
                  </a:lnTo>
                  <a:lnTo>
                    <a:pt x="415836" y="614273"/>
                  </a:lnTo>
                  <a:lnTo>
                    <a:pt x="400862" y="639940"/>
                  </a:lnTo>
                  <a:lnTo>
                    <a:pt x="390321" y="653288"/>
                  </a:lnTo>
                  <a:lnTo>
                    <a:pt x="379234" y="658571"/>
                  </a:lnTo>
                  <a:lnTo>
                    <a:pt x="362597" y="660133"/>
                  </a:lnTo>
                  <a:lnTo>
                    <a:pt x="347624" y="654011"/>
                  </a:lnTo>
                  <a:lnTo>
                    <a:pt x="330606" y="637413"/>
                  </a:lnTo>
                  <a:lnTo>
                    <a:pt x="313436" y="615124"/>
                  </a:lnTo>
                  <a:lnTo>
                    <a:pt x="298030" y="591921"/>
                  </a:lnTo>
                  <a:lnTo>
                    <a:pt x="282194" y="565365"/>
                  </a:lnTo>
                  <a:lnTo>
                    <a:pt x="247065" y="577608"/>
                  </a:lnTo>
                  <a:lnTo>
                    <a:pt x="179806" y="608838"/>
                  </a:lnTo>
                  <a:lnTo>
                    <a:pt x="119227" y="647623"/>
                  </a:lnTo>
                  <a:lnTo>
                    <a:pt x="67716" y="693470"/>
                  </a:lnTo>
                  <a:lnTo>
                    <a:pt x="27482" y="747255"/>
                  </a:lnTo>
                  <a:lnTo>
                    <a:pt x="3454" y="810133"/>
                  </a:lnTo>
                  <a:lnTo>
                    <a:pt x="0" y="844689"/>
                  </a:lnTo>
                  <a:lnTo>
                    <a:pt x="2159" y="871791"/>
                  </a:lnTo>
                  <a:lnTo>
                    <a:pt x="19799" y="924839"/>
                  </a:lnTo>
                  <a:lnTo>
                    <a:pt x="45364" y="962863"/>
                  </a:lnTo>
                  <a:lnTo>
                    <a:pt x="73850" y="991920"/>
                  </a:lnTo>
                  <a:lnTo>
                    <a:pt x="114401" y="1022540"/>
                  </a:lnTo>
                  <a:lnTo>
                    <a:pt x="150342" y="1043533"/>
                  </a:lnTo>
                  <a:lnTo>
                    <a:pt x="190893" y="1063028"/>
                  </a:lnTo>
                  <a:lnTo>
                    <a:pt x="236042" y="1080871"/>
                  </a:lnTo>
                  <a:lnTo>
                    <a:pt x="286512" y="1097445"/>
                  </a:lnTo>
                  <a:lnTo>
                    <a:pt x="342557" y="1112735"/>
                  </a:lnTo>
                  <a:lnTo>
                    <a:pt x="410222" y="1127874"/>
                  </a:lnTo>
                  <a:lnTo>
                    <a:pt x="449186" y="1135265"/>
                  </a:lnTo>
                  <a:lnTo>
                    <a:pt x="486943" y="1140917"/>
                  </a:lnTo>
                  <a:lnTo>
                    <a:pt x="506857" y="1137335"/>
                  </a:lnTo>
                  <a:lnTo>
                    <a:pt x="524002" y="1127366"/>
                  </a:lnTo>
                  <a:lnTo>
                    <a:pt x="536829" y="1112088"/>
                  </a:lnTo>
                  <a:lnTo>
                    <a:pt x="543775" y="1092619"/>
                  </a:lnTo>
                  <a:lnTo>
                    <a:pt x="542937" y="1069721"/>
                  </a:lnTo>
                  <a:lnTo>
                    <a:pt x="533717" y="1049629"/>
                  </a:lnTo>
                  <a:lnTo>
                    <a:pt x="517652" y="1034453"/>
                  </a:lnTo>
                  <a:lnTo>
                    <a:pt x="496252" y="1026325"/>
                  </a:lnTo>
                  <a:lnTo>
                    <a:pt x="454685" y="1018997"/>
                  </a:lnTo>
                  <a:lnTo>
                    <a:pt x="424002" y="1012939"/>
                  </a:lnTo>
                  <a:lnTo>
                    <a:pt x="367944" y="1000150"/>
                  </a:lnTo>
                  <a:lnTo>
                    <a:pt x="318173" y="986497"/>
                  </a:lnTo>
                  <a:lnTo>
                    <a:pt x="274523" y="972134"/>
                  </a:lnTo>
                  <a:lnTo>
                    <a:pt x="236829" y="957237"/>
                  </a:lnTo>
                  <a:lnTo>
                    <a:pt x="194157" y="936155"/>
                  </a:lnTo>
                  <a:lnTo>
                    <a:pt x="162102" y="915289"/>
                  </a:lnTo>
                  <a:lnTo>
                    <a:pt x="128219" y="881608"/>
                  </a:lnTo>
                  <a:lnTo>
                    <a:pt x="115354" y="844689"/>
                  </a:lnTo>
                  <a:lnTo>
                    <a:pt x="116573" y="832662"/>
                  </a:lnTo>
                  <a:lnTo>
                    <a:pt x="138125" y="788670"/>
                  </a:lnTo>
                  <a:lnTo>
                    <a:pt x="164033" y="760349"/>
                  </a:lnTo>
                  <a:lnTo>
                    <a:pt x="198488" y="732828"/>
                  </a:lnTo>
                  <a:lnTo>
                    <a:pt x="166001" y="895743"/>
                  </a:lnTo>
                  <a:lnTo>
                    <a:pt x="179425" y="905929"/>
                  </a:lnTo>
                  <a:lnTo>
                    <a:pt x="217932" y="928789"/>
                  </a:lnTo>
                  <a:lnTo>
                    <a:pt x="282790" y="956271"/>
                  </a:lnTo>
                  <a:lnTo>
                    <a:pt x="326542" y="970521"/>
                  </a:lnTo>
                  <a:lnTo>
                    <a:pt x="375005" y="983665"/>
                  </a:lnTo>
                  <a:lnTo>
                    <a:pt x="428066" y="995680"/>
                  </a:lnTo>
                  <a:lnTo>
                    <a:pt x="445096" y="935139"/>
                  </a:lnTo>
                  <a:lnTo>
                    <a:pt x="464731" y="879576"/>
                  </a:lnTo>
                  <a:lnTo>
                    <a:pt x="486448" y="828814"/>
                  </a:lnTo>
                  <a:lnTo>
                    <a:pt x="509752" y="782701"/>
                  </a:lnTo>
                  <a:lnTo>
                    <a:pt x="534149" y="741108"/>
                  </a:lnTo>
                  <a:lnTo>
                    <a:pt x="559130" y="703884"/>
                  </a:lnTo>
                  <a:lnTo>
                    <a:pt x="586765" y="667664"/>
                  </a:lnTo>
                  <a:lnTo>
                    <a:pt x="628840" y="620483"/>
                  </a:lnTo>
                  <a:lnTo>
                    <a:pt x="633818" y="615480"/>
                  </a:lnTo>
                  <a:close/>
                </a:path>
                <a:path w="1726565" h="2158365">
                  <a:moveTo>
                    <a:pt x="756564" y="1321854"/>
                  </a:moveTo>
                  <a:lnTo>
                    <a:pt x="755624" y="1317180"/>
                  </a:lnTo>
                  <a:lnTo>
                    <a:pt x="749681" y="1287373"/>
                  </a:lnTo>
                  <a:lnTo>
                    <a:pt x="709841" y="1087539"/>
                  </a:lnTo>
                  <a:lnTo>
                    <a:pt x="709841" y="1342301"/>
                  </a:lnTo>
                  <a:lnTo>
                    <a:pt x="564337" y="1390929"/>
                  </a:lnTo>
                  <a:lnTo>
                    <a:pt x="553720" y="1353985"/>
                  </a:lnTo>
                  <a:lnTo>
                    <a:pt x="703910" y="1317180"/>
                  </a:lnTo>
                  <a:lnTo>
                    <a:pt x="709841" y="1342301"/>
                  </a:lnTo>
                  <a:lnTo>
                    <a:pt x="709841" y="1087539"/>
                  </a:lnTo>
                  <a:lnTo>
                    <a:pt x="665937" y="867308"/>
                  </a:lnTo>
                  <a:lnTo>
                    <a:pt x="645198" y="908608"/>
                  </a:lnTo>
                  <a:lnTo>
                    <a:pt x="627049" y="952220"/>
                  </a:lnTo>
                  <a:lnTo>
                    <a:pt x="611492" y="998143"/>
                  </a:lnTo>
                  <a:lnTo>
                    <a:pt x="598551" y="1046353"/>
                  </a:lnTo>
                  <a:lnTo>
                    <a:pt x="588238" y="1096810"/>
                  </a:lnTo>
                  <a:lnTo>
                    <a:pt x="580555" y="1149489"/>
                  </a:lnTo>
                  <a:lnTo>
                    <a:pt x="575513" y="1204391"/>
                  </a:lnTo>
                  <a:lnTo>
                    <a:pt x="572998" y="1220355"/>
                  </a:lnTo>
                  <a:lnTo>
                    <a:pt x="550176" y="1260665"/>
                  </a:lnTo>
                  <a:lnTo>
                    <a:pt x="505028" y="1285506"/>
                  </a:lnTo>
                  <a:lnTo>
                    <a:pt x="487019" y="1287373"/>
                  </a:lnTo>
                  <a:lnTo>
                    <a:pt x="482485" y="1287373"/>
                  </a:lnTo>
                  <a:lnTo>
                    <a:pt x="435762" y="1270965"/>
                  </a:lnTo>
                  <a:lnTo>
                    <a:pt x="404037" y="1230058"/>
                  </a:lnTo>
                  <a:lnTo>
                    <a:pt x="398424" y="1192898"/>
                  </a:lnTo>
                  <a:lnTo>
                    <a:pt x="399262" y="1180566"/>
                  </a:lnTo>
                  <a:lnTo>
                    <a:pt x="400215" y="1168374"/>
                  </a:lnTo>
                  <a:lnTo>
                    <a:pt x="401294" y="1156322"/>
                  </a:lnTo>
                  <a:lnTo>
                    <a:pt x="402475" y="1144409"/>
                  </a:lnTo>
                  <a:lnTo>
                    <a:pt x="352272" y="1133373"/>
                  </a:lnTo>
                  <a:lnTo>
                    <a:pt x="305435" y="1121384"/>
                  </a:lnTo>
                  <a:lnTo>
                    <a:pt x="283895" y="1114983"/>
                  </a:lnTo>
                  <a:lnTo>
                    <a:pt x="283895" y="1353985"/>
                  </a:lnTo>
                  <a:lnTo>
                    <a:pt x="273278" y="1390929"/>
                  </a:lnTo>
                  <a:lnTo>
                    <a:pt x="127774" y="1342301"/>
                  </a:lnTo>
                  <a:lnTo>
                    <a:pt x="133680" y="1317180"/>
                  </a:lnTo>
                  <a:lnTo>
                    <a:pt x="283895" y="1353985"/>
                  </a:lnTo>
                  <a:lnTo>
                    <a:pt x="283895" y="1114983"/>
                  </a:lnTo>
                  <a:lnTo>
                    <a:pt x="221348" y="1094397"/>
                  </a:lnTo>
                  <a:lnTo>
                    <a:pt x="183857" y="1079309"/>
                  </a:lnTo>
                  <a:lnTo>
                    <a:pt x="145973" y="1061237"/>
                  </a:lnTo>
                  <a:lnTo>
                    <a:pt x="134251" y="1054963"/>
                  </a:lnTo>
                  <a:lnTo>
                    <a:pt x="34277" y="1556435"/>
                  </a:lnTo>
                  <a:lnTo>
                    <a:pt x="72085" y="1596326"/>
                  </a:lnTo>
                  <a:lnTo>
                    <a:pt x="125717" y="1606702"/>
                  </a:lnTo>
                  <a:lnTo>
                    <a:pt x="226542" y="1618462"/>
                  </a:lnTo>
                  <a:lnTo>
                    <a:pt x="305765" y="1624736"/>
                  </a:lnTo>
                  <a:lnTo>
                    <a:pt x="352399" y="1626603"/>
                  </a:lnTo>
                  <a:lnTo>
                    <a:pt x="404012" y="1627466"/>
                  </a:lnTo>
                  <a:lnTo>
                    <a:pt x="433590" y="1627466"/>
                  </a:lnTo>
                  <a:lnTo>
                    <a:pt x="485190" y="1626603"/>
                  </a:lnTo>
                  <a:lnTo>
                    <a:pt x="531812" y="1624736"/>
                  </a:lnTo>
                  <a:lnTo>
                    <a:pt x="573697" y="1621993"/>
                  </a:lnTo>
                  <a:lnTo>
                    <a:pt x="648360" y="1613674"/>
                  </a:lnTo>
                  <a:lnTo>
                    <a:pt x="707999" y="1602295"/>
                  </a:lnTo>
                  <a:lnTo>
                    <a:pt x="735571" y="1530273"/>
                  </a:lnTo>
                  <a:lnTo>
                    <a:pt x="740473" y="1470126"/>
                  </a:lnTo>
                  <a:lnTo>
                    <a:pt x="745680" y="1415440"/>
                  </a:lnTo>
                  <a:lnTo>
                    <a:pt x="748360" y="1390929"/>
                  </a:lnTo>
                  <a:lnTo>
                    <a:pt x="751078" y="1366075"/>
                  </a:lnTo>
                  <a:lnTo>
                    <a:pt x="756564" y="1321854"/>
                  </a:lnTo>
                  <a:close/>
                </a:path>
                <a:path w="1726565" h="2158365">
                  <a:moveTo>
                    <a:pt x="775627" y="777544"/>
                  </a:moveTo>
                  <a:lnTo>
                    <a:pt x="760260" y="753364"/>
                  </a:lnTo>
                  <a:lnTo>
                    <a:pt x="754976" y="745477"/>
                  </a:lnTo>
                  <a:lnTo>
                    <a:pt x="744753" y="756196"/>
                  </a:lnTo>
                  <a:lnTo>
                    <a:pt x="727214" y="776490"/>
                  </a:lnTo>
                  <a:lnTo>
                    <a:pt x="710615" y="797674"/>
                  </a:lnTo>
                  <a:lnTo>
                    <a:pt x="694944" y="819734"/>
                  </a:lnTo>
                  <a:lnTo>
                    <a:pt x="680212" y="842657"/>
                  </a:lnTo>
                  <a:lnTo>
                    <a:pt x="692505" y="864108"/>
                  </a:lnTo>
                  <a:lnTo>
                    <a:pt x="704303" y="886371"/>
                  </a:lnTo>
                  <a:lnTo>
                    <a:pt x="726440" y="933157"/>
                  </a:lnTo>
                  <a:lnTo>
                    <a:pt x="752716" y="998715"/>
                  </a:lnTo>
                  <a:lnTo>
                    <a:pt x="775627" y="1066977"/>
                  </a:lnTo>
                  <a:lnTo>
                    <a:pt x="775627" y="777544"/>
                  </a:lnTo>
                  <a:close/>
                </a:path>
                <a:path w="1726565" h="2158365">
                  <a:moveTo>
                    <a:pt x="1726412" y="2113597"/>
                  </a:moveTo>
                  <a:lnTo>
                    <a:pt x="1726387" y="1106449"/>
                  </a:lnTo>
                  <a:lnTo>
                    <a:pt x="1719681" y="1058621"/>
                  </a:lnTo>
                  <a:lnTo>
                    <a:pt x="1700834" y="1015961"/>
                  </a:lnTo>
                  <a:lnTo>
                    <a:pt x="1671713" y="980313"/>
                  </a:lnTo>
                  <a:lnTo>
                    <a:pt x="1634197" y="953490"/>
                  </a:lnTo>
                  <a:lnTo>
                    <a:pt x="1635658" y="969962"/>
                  </a:lnTo>
                  <a:lnTo>
                    <a:pt x="1636877" y="986637"/>
                  </a:lnTo>
                  <a:lnTo>
                    <a:pt x="1637804" y="1003541"/>
                  </a:lnTo>
                  <a:lnTo>
                    <a:pt x="1638388" y="1020711"/>
                  </a:lnTo>
                  <a:lnTo>
                    <a:pt x="1637842" y="1032776"/>
                  </a:lnTo>
                  <a:lnTo>
                    <a:pt x="1635709" y="1044371"/>
                  </a:lnTo>
                  <a:lnTo>
                    <a:pt x="1632102" y="1055420"/>
                  </a:lnTo>
                  <a:lnTo>
                    <a:pt x="1627162" y="1065796"/>
                  </a:lnTo>
                  <a:lnTo>
                    <a:pt x="1631607" y="1075156"/>
                  </a:lnTo>
                  <a:lnTo>
                    <a:pt x="1634896" y="1085113"/>
                  </a:lnTo>
                  <a:lnTo>
                    <a:pt x="1636953" y="1095565"/>
                  </a:lnTo>
                  <a:lnTo>
                    <a:pt x="1637665" y="1106449"/>
                  </a:lnTo>
                  <a:lnTo>
                    <a:pt x="1637665" y="2113597"/>
                  </a:lnTo>
                  <a:lnTo>
                    <a:pt x="1641144" y="2130856"/>
                  </a:lnTo>
                  <a:lnTo>
                    <a:pt x="1650657" y="2144966"/>
                  </a:lnTo>
                  <a:lnTo>
                    <a:pt x="1664754" y="2154491"/>
                  </a:lnTo>
                  <a:lnTo>
                    <a:pt x="1682026" y="2157984"/>
                  </a:lnTo>
                  <a:lnTo>
                    <a:pt x="1699298" y="2154491"/>
                  </a:lnTo>
                  <a:lnTo>
                    <a:pt x="1713407" y="2144966"/>
                  </a:lnTo>
                  <a:lnTo>
                    <a:pt x="1722920" y="2130856"/>
                  </a:lnTo>
                  <a:lnTo>
                    <a:pt x="1726412" y="211359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68635" y="6080461"/>
              <a:ext cx="96012" cy="18804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04216" y="6865494"/>
              <a:ext cx="235677" cy="40638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104441" y="5256072"/>
              <a:ext cx="1204595" cy="2016125"/>
            </a:xfrm>
            <a:custGeom>
              <a:avLst/>
              <a:gdLst/>
              <a:ahLst/>
              <a:cxnLst/>
              <a:rect l="l" t="t" r="r" b="b"/>
              <a:pathLst>
                <a:path w="1204595" h="2016125">
                  <a:moveTo>
                    <a:pt x="836307" y="209791"/>
                  </a:moveTo>
                  <a:lnTo>
                    <a:pt x="830834" y="161201"/>
                  </a:lnTo>
                  <a:lnTo>
                    <a:pt x="814641" y="115900"/>
                  </a:lnTo>
                  <a:lnTo>
                    <a:pt x="789419" y="76733"/>
                  </a:lnTo>
                  <a:lnTo>
                    <a:pt x="756678" y="44615"/>
                  </a:lnTo>
                  <a:lnTo>
                    <a:pt x="717918" y="20497"/>
                  </a:lnTo>
                  <a:lnTo>
                    <a:pt x="674649" y="5321"/>
                  </a:lnTo>
                  <a:lnTo>
                    <a:pt x="628357" y="0"/>
                  </a:lnTo>
                  <a:lnTo>
                    <a:pt x="580555" y="5486"/>
                  </a:lnTo>
                  <a:lnTo>
                    <a:pt x="535266" y="21678"/>
                  </a:lnTo>
                  <a:lnTo>
                    <a:pt x="496087" y="46888"/>
                  </a:lnTo>
                  <a:lnTo>
                    <a:pt x="463981" y="79629"/>
                  </a:lnTo>
                  <a:lnTo>
                    <a:pt x="439864" y="118389"/>
                  </a:lnTo>
                  <a:lnTo>
                    <a:pt x="424675" y="161671"/>
                  </a:lnTo>
                  <a:lnTo>
                    <a:pt x="419354" y="207949"/>
                  </a:lnTo>
                  <a:lnTo>
                    <a:pt x="424827" y="255752"/>
                  </a:lnTo>
                  <a:lnTo>
                    <a:pt x="440880" y="300748"/>
                  </a:lnTo>
                  <a:lnTo>
                    <a:pt x="465861" y="339725"/>
                  </a:lnTo>
                  <a:lnTo>
                    <a:pt x="522897" y="388518"/>
                  </a:lnTo>
                  <a:lnTo>
                    <a:pt x="570077" y="408762"/>
                  </a:lnTo>
                  <a:lnTo>
                    <a:pt x="621512" y="416864"/>
                  </a:lnTo>
                  <a:lnTo>
                    <a:pt x="675093" y="411492"/>
                  </a:lnTo>
                  <a:lnTo>
                    <a:pt x="728954" y="390804"/>
                  </a:lnTo>
                  <a:lnTo>
                    <a:pt x="773645" y="357466"/>
                  </a:lnTo>
                  <a:lnTo>
                    <a:pt x="814743" y="300634"/>
                  </a:lnTo>
                  <a:lnTo>
                    <a:pt x="830618" y="256794"/>
                  </a:lnTo>
                  <a:lnTo>
                    <a:pt x="836307" y="209791"/>
                  </a:lnTo>
                  <a:close/>
                </a:path>
                <a:path w="1204595" h="2016125">
                  <a:moveTo>
                    <a:pt x="1204506" y="882751"/>
                  </a:moveTo>
                  <a:lnTo>
                    <a:pt x="1202778" y="843876"/>
                  </a:lnTo>
                  <a:lnTo>
                    <a:pt x="1190459" y="746010"/>
                  </a:lnTo>
                  <a:lnTo>
                    <a:pt x="1177315" y="690435"/>
                  </a:lnTo>
                  <a:lnTo>
                    <a:pt x="1160462" y="639902"/>
                  </a:lnTo>
                  <a:lnTo>
                    <a:pt x="1140256" y="594258"/>
                  </a:lnTo>
                  <a:lnTo>
                    <a:pt x="1110145" y="542594"/>
                  </a:lnTo>
                  <a:lnTo>
                    <a:pt x="1076426" y="498792"/>
                  </a:lnTo>
                  <a:lnTo>
                    <a:pt x="1040333" y="462330"/>
                  </a:lnTo>
                  <a:lnTo>
                    <a:pt x="1003134" y="432663"/>
                  </a:lnTo>
                  <a:lnTo>
                    <a:pt x="966076" y="409244"/>
                  </a:lnTo>
                  <a:lnTo>
                    <a:pt x="930414" y="391553"/>
                  </a:lnTo>
                  <a:lnTo>
                    <a:pt x="874979" y="371665"/>
                  </a:lnTo>
                  <a:lnTo>
                    <a:pt x="831951" y="362089"/>
                  </a:lnTo>
                  <a:lnTo>
                    <a:pt x="825957" y="360121"/>
                  </a:lnTo>
                  <a:lnTo>
                    <a:pt x="819772" y="358673"/>
                  </a:lnTo>
                  <a:lnTo>
                    <a:pt x="813396" y="357771"/>
                  </a:lnTo>
                  <a:lnTo>
                    <a:pt x="806843" y="357454"/>
                  </a:lnTo>
                  <a:lnTo>
                    <a:pt x="798042" y="357454"/>
                  </a:lnTo>
                  <a:lnTo>
                    <a:pt x="772972" y="382054"/>
                  </a:lnTo>
                  <a:lnTo>
                    <a:pt x="744512" y="402348"/>
                  </a:lnTo>
                  <a:lnTo>
                    <a:pt x="679119" y="428777"/>
                  </a:lnTo>
                  <a:lnTo>
                    <a:pt x="640562" y="434352"/>
                  </a:lnTo>
                  <a:lnTo>
                    <a:pt x="627634" y="434721"/>
                  </a:lnTo>
                  <a:lnTo>
                    <a:pt x="578497" y="429387"/>
                  </a:lnTo>
                  <a:lnTo>
                    <a:pt x="532930" y="414058"/>
                  </a:lnTo>
                  <a:lnTo>
                    <a:pt x="492163" y="389750"/>
                  </a:lnTo>
                  <a:lnTo>
                    <a:pt x="457441" y="357454"/>
                  </a:lnTo>
                  <a:lnTo>
                    <a:pt x="448843" y="357454"/>
                  </a:lnTo>
                  <a:lnTo>
                    <a:pt x="442175" y="357771"/>
                  </a:lnTo>
                  <a:lnTo>
                    <a:pt x="435686" y="358698"/>
                  </a:lnTo>
                  <a:lnTo>
                    <a:pt x="429399" y="360197"/>
                  </a:lnTo>
                  <a:lnTo>
                    <a:pt x="423341" y="362216"/>
                  </a:lnTo>
                  <a:lnTo>
                    <a:pt x="417461" y="362864"/>
                  </a:lnTo>
                  <a:lnTo>
                    <a:pt x="349351" y="395185"/>
                  </a:lnTo>
                  <a:lnTo>
                    <a:pt x="295211" y="432308"/>
                  </a:lnTo>
                  <a:lnTo>
                    <a:pt x="231813" y="488099"/>
                  </a:lnTo>
                  <a:lnTo>
                    <a:pt x="194462" y="528434"/>
                  </a:lnTo>
                  <a:lnTo>
                    <a:pt x="169583" y="559333"/>
                  </a:lnTo>
                  <a:lnTo>
                    <a:pt x="132092" y="613727"/>
                  </a:lnTo>
                  <a:lnTo>
                    <a:pt x="107962" y="655218"/>
                  </a:lnTo>
                  <a:lnTo>
                    <a:pt x="85267" y="700570"/>
                  </a:lnTo>
                  <a:lnTo>
                    <a:pt x="64363" y="749896"/>
                  </a:lnTo>
                  <a:lnTo>
                    <a:pt x="45618" y="803275"/>
                  </a:lnTo>
                  <a:lnTo>
                    <a:pt x="29425" y="860818"/>
                  </a:lnTo>
                  <a:lnTo>
                    <a:pt x="69265" y="868133"/>
                  </a:lnTo>
                  <a:lnTo>
                    <a:pt x="83007" y="870432"/>
                  </a:lnTo>
                  <a:lnTo>
                    <a:pt x="97396" y="874280"/>
                  </a:lnTo>
                  <a:lnTo>
                    <a:pt x="132029" y="900912"/>
                  </a:lnTo>
                  <a:lnTo>
                    <a:pt x="146138" y="942263"/>
                  </a:lnTo>
                  <a:lnTo>
                    <a:pt x="145173" y="957122"/>
                  </a:lnTo>
                  <a:lnTo>
                    <a:pt x="136207" y="982433"/>
                  </a:lnTo>
                  <a:lnTo>
                    <a:pt x="119621" y="1002423"/>
                  </a:lnTo>
                  <a:lnTo>
                    <a:pt x="97205" y="1015555"/>
                  </a:lnTo>
                  <a:lnTo>
                    <a:pt x="70815" y="1020279"/>
                  </a:lnTo>
                  <a:lnTo>
                    <a:pt x="66776" y="1020279"/>
                  </a:lnTo>
                  <a:lnTo>
                    <a:pt x="62636" y="1019962"/>
                  </a:lnTo>
                  <a:lnTo>
                    <a:pt x="17183" y="1012024"/>
                  </a:lnTo>
                  <a:lnTo>
                    <a:pt x="3835" y="1009484"/>
                  </a:lnTo>
                  <a:lnTo>
                    <a:pt x="800" y="1043940"/>
                  </a:lnTo>
                  <a:lnTo>
                    <a:pt x="8813" y="1094740"/>
                  </a:lnTo>
                  <a:lnTo>
                    <a:pt x="36423" y="1122273"/>
                  </a:lnTo>
                  <a:lnTo>
                    <a:pt x="69354" y="1131265"/>
                  </a:lnTo>
                  <a:lnTo>
                    <a:pt x="80060" y="1130668"/>
                  </a:lnTo>
                  <a:lnTo>
                    <a:pt x="119341" y="1112012"/>
                  </a:lnTo>
                  <a:lnTo>
                    <a:pt x="141668" y="1064869"/>
                  </a:lnTo>
                  <a:lnTo>
                    <a:pt x="147129" y="1006157"/>
                  </a:lnTo>
                  <a:lnTo>
                    <a:pt x="155257" y="951585"/>
                  </a:lnTo>
                  <a:lnTo>
                    <a:pt x="165773" y="901001"/>
                  </a:lnTo>
                  <a:lnTo>
                    <a:pt x="178396" y="854227"/>
                  </a:lnTo>
                  <a:lnTo>
                    <a:pt x="192862" y="811123"/>
                  </a:lnTo>
                  <a:lnTo>
                    <a:pt x="208876" y="771512"/>
                  </a:lnTo>
                  <a:lnTo>
                    <a:pt x="226174" y="735253"/>
                  </a:lnTo>
                  <a:lnTo>
                    <a:pt x="253619" y="687311"/>
                  </a:lnTo>
                  <a:lnTo>
                    <a:pt x="284378" y="643153"/>
                  </a:lnTo>
                  <a:lnTo>
                    <a:pt x="319887" y="601052"/>
                  </a:lnTo>
                  <a:lnTo>
                    <a:pt x="353529" y="568325"/>
                  </a:lnTo>
                  <a:lnTo>
                    <a:pt x="377240" y="548373"/>
                  </a:lnTo>
                  <a:lnTo>
                    <a:pt x="377291" y="1063955"/>
                  </a:lnTo>
                  <a:lnTo>
                    <a:pt x="372846" y="1088085"/>
                  </a:lnTo>
                  <a:lnTo>
                    <a:pt x="368173" y="1115860"/>
                  </a:lnTo>
                  <a:lnTo>
                    <a:pt x="354914" y="1209814"/>
                  </a:lnTo>
                  <a:lnTo>
                    <a:pt x="346506" y="1285214"/>
                  </a:lnTo>
                  <a:lnTo>
                    <a:pt x="341731" y="1336065"/>
                  </a:lnTo>
                  <a:lnTo>
                    <a:pt x="337223" y="1391526"/>
                  </a:lnTo>
                  <a:lnTo>
                    <a:pt x="331889" y="1471002"/>
                  </a:lnTo>
                  <a:lnTo>
                    <a:pt x="329374" y="1516176"/>
                  </a:lnTo>
                  <a:lnTo>
                    <a:pt x="327113" y="1563700"/>
                  </a:lnTo>
                  <a:lnTo>
                    <a:pt x="325132" y="1613611"/>
                  </a:lnTo>
                  <a:lnTo>
                    <a:pt x="323430" y="1665947"/>
                  </a:lnTo>
                  <a:lnTo>
                    <a:pt x="322072" y="1720748"/>
                  </a:lnTo>
                  <a:lnTo>
                    <a:pt x="321056" y="1778076"/>
                  </a:lnTo>
                  <a:lnTo>
                    <a:pt x="320421" y="1837956"/>
                  </a:lnTo>
                  <a:lnTo>
                    <a:pt x="320205" y="1900440"/>
                  </a:lnTo>
                  <a:lnTo>
                    <a:pt x="329272" y="1945347"/>
                  </a:lnTo>
                  <a:lnTo>
                    <a:pt x="353987" y="1982012"/>
                  </a:lnTo>
                  <a:lnTo>
                    <a:pt x="390664" y="2006739"/>
                  </a:lnTo>
                  <a:lnTo>
                    <a:pt x="435584" y="2015807"/>
                  </a:lnTo>
                  <a:lnTo>
                    <a:pt x="480479" y="2006739"/>
                  </a:lnTo>
                  <a:lnTo>
                    <a:pt x="517131" y="1982012"/>
                  </a:lnTo>
                  <a:lnTo>
                    <a:pt x="541845" y="1945347"/>
                  </a:lnTo>
                  <a:lnTo>
                    <a:pt x="550913" y="1900440"/>
                  </a:lnTo>
                  <a:lnTo>
                    <a:pt x="551205" y="1828025"/>
                  </a:lnTo>
                  <a:lnTo>
                    <a:pt x="552069" y="1759343"/>
                  </a:lnTo>
                  <a:lnTo>
                    <a:pt x="553440" y="1694332"/>
                  </a:lnTo>
                  <a:lnTo>
                    <a:pt x="555282" y="1632915"/>
                  </a:lnTo>
                  <a:lnTo>
                    <a:pt x="557530" y="1575028"/>
                  </a:lnTo>
                  <a:lnTo>
                    <a:pt x="560158" y="1520609"/>
                  </a:lnTo>
                  <a:lnTo>
                    <a:pt x="563092" y="1469580"/>
                  </a:lnTo>
                  <a:lnTo>
                    <a:pt x="566318" y="1421892"/>
                  </a:lnTo>
                  <a:lnTo>
                    <a:pt x="569747" y="1377454"/>
                  </a:lnTo>
                  <a:lnTo>
                    <a:pt x="573366" y="1336217"/>
                  </a:lnTo>
                  <a:lnTo>
                    <a:pt x="577113" y="1298117"/>
                  </a:lnTo>
                  <a:lnTo>
                    <a:pt x="584784" y="1231011"/>
                  </a:lnTo>
                  <a:lnTo>
                    <a:pt x="592099" y="1177518"/>
                  </a:lnTo>
                  <a:lnTo>
                    <a:pt x="599008" y="1134389"/>
                  </a:lnTo>
                  <a:lnTo>
                    <a:pt x="656691" y="1134389"/>
                  </a:lnTo>
                  <a:lnTo>
                    <a:pt x="666457" y="1197559"/>
                  </a:lnTo>
                  <a:lnTo>
                    <a:pt x="671601" y="1236764"/>
                  </a:lnTo>
                  <a:lnTo>
                    <a:pt x="676770" y="1281277"/>
                  </a:lnTo>
                  <a:lnTo>
                    <a:pt x="681837" y="1331264"/>
                  </a:lnTo>
                  <a:lnTo>
                    <a:pt x="686689" y="1386890"/>
                  </a:lnTo>
                  <a:lnTo>
                    <a:pt x="691197" y="1448308"/>
                  </a:lnTo>
                  <a:lnTo>
                    <a:pt x="695248" y="1515681"/>
                  </a:lnTo>
                  <a:lnTo>
                    <a:pt x="698741" y="1589189"/>
                  </a:lnTo>
                  <a:lnTo>
                    <a:pt x="929335" y="1582661"/>
                  </a:lnTo>
                  <a:lnTo>
                    <a:pt x="925677" y="1504873"/>
                  </a:lnTo>
                  <a:lnTo>
                    <a:pt x="921397" y="1433309"/>
                  </a:lnTo>
                  <a:lnTo>
                    <a:pt x="916584" y="1367802"/>
                  </a:lnTo>
                  <a:lnTo>
                    <a:pt x="911390" y="1308163"/>
                  </a:lnTo>
                  <a:lnTo>
                    <a:pt x="905903" y="1254226"/>
                  </a:lnTo>
                  <a:lnTo>
                    <a:pt x="900252" y="1205826"/>
                  </a:lnTo>
                  <a:lnTo>
                    <a:pt x="894562" y="1162773"/>
                  </a:lnTo>
                  <a:lnTo>
                    <a:pt x="888936" y="1124902"/>
                  </a:lnTo>
                  <a:lnTo>
                    <a:pt x="878433" y="1062799"/>
                  </a:lnTo>
                  <a:lnTo>
                    <a:pt x="878433" y="523887"/>
                  </a:lnTo>
                  <a:lnTo>
                    <a:pt x="914984" y="544283"/>
                  </a:lnTo>
                  <a:lnTo>
                    <a:pt x="950950" y="572947"/>
                  </a:lnTo>
                  <a:lnTo>
                    <a:pt x="995794" y="627164"/>
                  </a:lnTo>
                  <a:lnTo>
                    <a:pt x="1015885" y="663041"/>
                  </a:lnTo>
                  <a:lnTo>
                    <a:pt x="1040866" y="729602"/>
                  </a:lnTo>
                  <a:lnTo>
                    <a:pt x="1050442" y="769632"/>
                  </a:lnTo>
                  <a:lnTo>
                    <a:pt x="1057554" y="814578"/>
                  </a:lnTo>
                  <a:lnTo>
                    <a:pt x="1061897" y="867194"/>
                  </a:lnTo>
                  <a:lnTo>
                    <a:pt x="1062558" y="886066"/>
                  </a:lnTo>
                  <a:lnTo>
                    <a:pt x="1063231" y="894270"/>
                  </a:lnTo>
                  <a:lnTo>
                    <a:pt x="1081443" y="932548"/>
                  </a:lnTo>
                  <a:lnTo>
                    <a:pt x="1135189" y="955382"/>
                  </a:lnTo>
                  <a:lnTo>
                    <a:pt x="1156030" y="951763"/>
                  </a:lnTo>
                  <a:lnTo>
                    <a:pt x="1188999" y="928712"/>
                  </a:lnTo>
                  <a:lnTo>
                    <a:pt x="1204290" y="890219"/>
                  </a:lnTo>
                  <a:lnTo>
                    <a:pt x="1204506" y="8827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444500" y="212444"/>
            <a:ext cx="435229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spc="-140" dirty="0"/>
              <a:t>Physician</a:t>
            </a:r>
            <a:r>
              <a:rPr sz="3800" spc="-95" dirty="0"/>
              <a:t> </a:t>
            </a:r>
            <a:r>
              <a:rPr sz="3800" spc="-55" dirty="0"/>
              <a:t>Relations</a:t>
            </a:r>
            <a:endParaRPr sz="3800"/>
          </a:p>
        </p:txBody>
      </p:sp>
      <p:sp>
        <p:nvSpPr>
          <p:cNvPr id="9" name="object 9"/>
          <p:cNvSpPr txBox="1"/>
          <p:nvPr/>
        </p:nvSpPr>
        <p:spPr>
          <a:xfrm>
            <a:off x="444500" y="5792316"/>
            <a:ext cx="534225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b="1" spc="60" dirty="0">
                <a:solidFill>
                  <a:srgbClr val="00ACA1"/>
                </a:solidFill>
                <a:latin typeface="Arial"/>
                <a:cs typeface="Arial"/>
              </a:rPr>
              <a:t>Media</a:t>
            </a:r>
            <a:r>
              <a:rPr sz="3800" b="1" spc="85" dirty="0">
                <a:solidFill>
                  <a:srgbClr val="00ACA1"/>
                </a:solidFill>
                <a:latin typeface="Arial"/>
                <a:cs typeface="Arial"/>
              </a:rPr>
              <a:t> </a:t>
            </a:r>
            <a:r>
              <a:rPr sz="3800" b="1" spc="-85" dirty="0">
                <a:solidFill>
                  <a:srgbClr val="00ACA1"/>
                </a:solidFill>
                <a:latin typeface="Arial"/>
                <a:cs typeface="Arial"/>
              </a:rPr>
              <a:t>Communications</a:t>
            </a:r>
            <a:endParaRPr sz="3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4500" y="2754081"/>
            <a:ext cx="5306060" cy="1415415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40"/>
              </a:spcBef>
            </a:pPr>
            <a:r>
              <a:rPr sz="3800" b="1" spc="-10" dirty="0">
                <a:solidFill>
                  <a:srgbClr val="00ACA1"/>
                </a:solidFill>
                <a:latin typeface="Arial"/>
                <a:cs typeface="Arial"/>
              </a:rPr>
              <a:t>Customer</a:t>
            </a:r>
            <a:r>
              <a:rPr sz="3800" b="1" spc="-175" dirty="0">
                <a:solidFill>
                  <a:srgbClr val="00ACA1"/>
                </a:solidFill>
                <a:latin typeface="Arial"/>
                <a:cs typeface="Arial"/>
              </a:rPr>
              <a:t> </a:t>
            </a:r>
            <a:r>
              <a:rPr sz="3800" b="1" dirty="0">
                <a:solidFill>
                  <a:srgbClr val="00ACA1"/>
                </a:solidFill>
                <a:latin typeface="Arial"/>
                <a:cs typeface="Arial"/>
              </a:rPr>
              <a:t>and</a:t>
            </a:r>
            <a:r>
              <a:rPr sz="3800" b="1" spc="-175" dirty="0">
                <a:solidFill>
                  <a:srgbClr val="00ACA1"/>
                </a:solidFill>
                <a:latin typeface="Arial"/>
                <a:cs typeface="Arial"/>
              </a:rPr>
              <a:t> </a:t>
            </a:r>
            <a:r>
              <a:rPr sz="3800" b="1" spc="-200" dirty="0">
                <a:solidFill>
                  <a:srgbClr val="00ACA1"/>
                </a:solidFill>
                <a:latin typeface="Arial"/>
                <a:cs typeface="Arial"/>
              </a:rPr>
              <a:t>Business </a:t>
            </a:r>
            <a:r>
              <a:rPr sz="3800" b="1" spc="-50" dirty="0">
                <a:solidFill>
                  <a:srgbClr val="00ACA1"/>
                </a:solidFill>
                <a:latin typeface="Arial"/>
                <a:cs typeface="Arial"/>
              </a:rPr>
              <a:t>Associate</a:t>
            </a:r>
            <a:r>
              <a:rPr sz="3800" b="1" spc="-204" dirty="0">
                <a:solidFill>
                  <a:srgbClr val="00ACA1"/>
                </a:solidFill>
                <a:latin typeface="Arial"/>
                <a:cs typeface="Arial"/>
              </a:rPr>
              <a:t> </a:t>
            </a:r>
            <a:r>
              <a:rPr sz="3800" b="1" spc="-10" dirty="0">
                <a:solidFill>
                  <a:srgbClr val="00ACA1"/>
                </a:solidFill>
                <a:latin typeface="Arial"/>
                <a:cs typeface="Arial"/>
              </a:rPr>
              <a:t>Relations</a:t>
            </a:r>
            <a:endParaRPr sz="3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At</a:t>
            </a:r>
            <a:r>
              <a:rPr sz="1150" b="1" spc="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lang="en-US" sz="1150" b="1" spc="-10" dirty="0">
                <a:solidFill>
                  <a:srgbClr val="231F20"/>
                </a:solidFill>
                <a:latin typeface="Arial"/>
                <a:cs typeface="Arial"/>
              </a:rPr>
              <a:t>Destiny Springs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1150" b="1" spc="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we</a:t>
            </a:r>
            <a:r>
              <a:rPr sz="1150" b="1" spc="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expect</a:t>
            </a:r>
            <a:r>
              <a:rPr sz="1150" b="1" spc="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consultants,</a:t>
            </a:r>
            <a:endParaRPr sz="115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4500" y="1037303"/>
            <a:ext cx="2724785" cy="1897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At</a:t>
            </a:r>
            <a:r>
              <a:rPr sz="1150" b="1" spc="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lang="en-US" sz="1150" b="1" spc="-10" dirty="0">
                <a:solidFill>
                  <a:srgbClr val="231F20"/>
                </a:solidFill>
                <a:latin typeface="Arial"/>
                <a:cs typeface="Arial"/>
              </a:rPr>
              <a:t>Destiny Springs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1150" b="1" spc="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we</a:t>
            </a:r>
            <a:r>
              <a:rPr sz="1150" b="1" spc="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carefully</a:t>
            </a:r>
            <a:r>
              <a:rPr sz="1150" b="1" spc="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review</a:t>
            </a:r>
            <a:endParaRPr sz="115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4500" y="1212562"/>
            <a:ext cx="2708910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50" b="1" spc="-20" dirty="0">
                <a:solidFill>
                  <a:srgbClr val="231F20"/>
                </a:solidFill>
                <a:latin typeface="Arial"/>
                <a:cs typeface="Arial"/>
              </a:rPr>
              <a:t>relationships</a:t>
            </a:r>
            <a:r>
              <a:rPr sz="1150" b="1" spc="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with</a:t>
            </a:r>
            <a:r>
              <a:rPr sz="1150" b="1" spc="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45" dirty="0">
                <a:solidFill>
                  <a:srgbClr val="231F20"/>
                </a:solidFill>
                <a:latin typeface="Arial"/>
                <a:cs typeface="Arial"/>
              </a:rPr>
              <a:t>physicians</a:t>
            </a:r>
            <a:r>
              <a:rPr sz="1150" b="1" spc="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sz="1150" b="1" spc="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other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health</a:t>
            </a:r>
            <a:r>
              <a:rPr sz="1150" b="1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care</a:t>
            </a:r>
            <a:r>
              <a:rPr sz="1150" b="1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providers</a:t>
            </a:r>
            <a:r>
              <a:rPr sz="1150" b="1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for</a:t>
            </a:r>
            <a:r>
              <a:rPr sz="1150" b="1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compliance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with</a:t>
            </a:r>
            <a:r>
              <a:rPr sz="115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45" dirty="0">
                <a:solidFill>
                  <a:srgbClr val="231F20"/>
                </a:solidFill>
                <a:latin typeface="Arial"/>
                <a:cs typeface="Arial"/>
              </a:rPr>
              <a:t>Physician</a:t>
            </a:r>
            <a:r>
              <a:rPr sz="115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Self-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Referral</a:t>
            </a:r>
            <a:r>
              <a:rPr sz="115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25" dirty="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50" b="1" spc="-25" dirty="0">
                <a:solidFill>
                  <a:srgbClr val="231F20"/>
                </a:solidFill>
                <a:latin typeface="Arial"/>
                <a:cs typeface="Arial"/>
              </a:rPr>
              <a:t>Anti-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Kickback</a:t>
            </a:r>
            <a:r>
              <a:rPr sz="1150" b="1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laws.</a:t>
            </a:r>
            <a:endParaRPr sz="11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4500" y="4143783"/>
            <a:ext cx="2849245" cy="1076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contractors,</a:t>
            </a:r>
            <a:r>
              <a:rPr sz="1150" b="1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vendors</a:t>
            </a:r>
            <a:r>
              <a:rPr sz="1150" b="1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sz="1150" b="1" spc="-25" dirty="0">
                <a:solidFill>
                  <a:srgbClr val="231F20"/>
                </a:solidFill>
                <a:latin typeface="Arial"/>
                <a:cs typeface="Arial"/>
              </a:rPr>
              <a:t> suppliers</a:t>
            </a:r>
            <a:r>
              <a:rPr sz="1150" b="1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25" dirty="0">
                <a:solidFill>
                  <a:srgbClr val="231F20"/>
                </a:solidFill>
                <a:latin typeface="Arial"/>
                <a:cs typeface="Arial"/>
              </a:rPr>
              <a:t>who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work in a </a:t>
            </a:r>
            <a:r>
              <a:rPr lang="en-US" sz="1150" b="1" spc="-10" dirty="0">
                <a:solidFill>
                  <a:srgbClr val="231F20"/>
                </a:solidFill>
                <a:latin typeface="Arial"/>
                <a:cs typeface="Arial"/>
              </a:rPr>
              <a:t>Destiny Springs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 facility or </a:t>
            </a:r>
            <a:r>
              <a:rPr sz="1150" b="1" spc="-25" dirty="0">
                <a:solidFill>
                  <a:srgbClr val="231F20"/>
                </a:solidFill>
                <a:latin typeface="Arial"/>
                <a:cs typeface="Arial"/>
              </a:rPr>
              <a:t>on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behalf</a:t>
            </a:r>
            <a:r>
              <a:rPr sz="1150" b="1" spc="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sz="1150" b="1" spc="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sz="1150" b="1" spc="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organization</a:t>
            </a:r>
            <a:r>
              <a:rPr sz="1150" b="1" spc="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sz="1150" b="1" spc="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honor</a:t>
            </a:r>
            <a:r>
              <a:rPr sz="1150" b="1" spc="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25" dirty="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abide</a:t>
            </a:r>
            <a:r>
              <a:rPr sz="1150" b="1" spc="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by</a:t>
            </a:r>
            <a:r>
              <a:rPr sz="1150" b="1" spc="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sz="1150" b="1" spc="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20" dirty="0">
                <a:solidFill>
                  <a:srgbClr val="231F20"/>
                </a:solidFill>
                <a:latin typeface="Arial"/>
                <a:cs typeface="Arial"/>
              </a:rPr>
              <a:t>organization’s</a:t>
            </a:r>
            <a:r>
              <a:rPr sz="1150" b="1" spc="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policies, procedures</a:t>
            </a:r>
            <a:r>
              <a:rPr sz="1150" b="1" spc="-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sz="1150" b="1" spc="-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all</a:t>
            </a:r>
            <a:r>
              <a:rPr sz="1150" b="1" spc="-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applicable</a:t>
            </a:r>
            <a:r>
              <a:rPr sz="1150" b="1" spc="-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portions</a:t>
            </a:r>
            <a:r>
              <a:rPr sz="1150" b="1" spc="-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25" dirty="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sz="1150" b="1" spc="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Code</a:t>
            </a:r>
            <a:r>
              <a:rPr sz="1150" b="1" spc="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sz="1150" b="1" spc="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Conduct.</a:t>
            </a:r>
            <a:endParaRPr sz="115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2787" y="6562267"/>
            <a:ext cx="270065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Any</a:t>
            </a:r>
            <a:r>
              <a:rPr sz="1150" b="1" spc="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employee</a:t>
            </a:r>
            <a:r>
              <a:rPr sz="1150" b="1" spc="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contacted</a:t>
            </a:r>
            <a:r>
              <a:rPr sz="1150" b="1" spc="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by</a:t>
            </a:r>
            <a:r>
              <a:rPr sz="1150" b="1" spc="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sz="1150" b="1" spc="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media </a:t>
            </a:r>
            <a:r>
              <a:rPr sz="1150" b="1" spc="-20" dirty="0">
                <a:solidFill>
                  <a:srgbClr val="231F20"/>
                </a:solidFill>
                <a:latin typeface="Arial"/>
                <a:cs typeface="Arial"/>
              </a:rPr>
              <a:t>should</a:t>
            </a:r>
            <a:r>
              <a:rPr sz="1150" b="1" spc="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refer</a:t>
            </a:r>
            <a:r>
              <a:rPr sz="1150" b="1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that</a:t>
            </a:r>
            <a:r>
              <a:rPr sz="1150" b="1" spc="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individual</a:t>
            </a:r>
            <a:r>
              <a:rPr sz="1150" b="1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25" dirty="0">
                <a:solidFill>
                  <a:srgbClr val="231F20"/>
                </a:solidFill>
                <a:latin typeface="Arial"/>
                <a:cs typeface="Arial"/>
              </a:rPr>
              <a:t>to:</a:t>
            </a:r>
            <a:endParaRPr sz="11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71747" y="1078483"/>
            <a:ext cx="3014345" cy="1602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All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decisions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regarding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patient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care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should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be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made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based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on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what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is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best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for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patient.</a:t>
            </a:r>
            <a:endParaRPr sz="1150" dirty="0">
              <a:latin typeface="Avenir Book"/>
              <a:cs typeface="Avenir Book"/>
            </a:endParaRPr>
          </a:p>
          <a:p>
            <a:pPr marL="12700" marR="218440">
              <a:lnSpc>
                <a:spcPct val="100000"/>
              </a:lnSpc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Any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payments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other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benefits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provided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physicians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are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not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based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on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volume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value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(either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directly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indirectly)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any</a:t>
            </a:r>
            <a:endParaRPr sz="1150" dirty="0">
              <a:latin typeface="Avenir Book"/>
              <a:cs typeface="Avenir Book"/>
            </a:endParaRPr>
          </a:p>
          <a:p>
            <a:pPr marL="12700" marR="57150">
              <a:lnSpc>
                <a:spcPct val="100000"/>
              </a:lnSpc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referrals.</a:t>
            </a:r>
            <a:r>
              <a:rPr sz="1150" spc="-5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lang="en-US" sz="1150" dirty="0">
                <a:solidFill>
                  <a:srgbClr val="231F20"/>
                </a:solidFill>
                <a:latin typeface="Avenir Book"/>
                <a:cs typeface="Avenir Book"/>
              </a:rPr>
              <a:t>Destiny Springs</a:t>
            </a:r>
            <a:r>
              <a:rPr sz="1150" spc="-4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prohibits</a:t>
            </a:r>
            <a:r>
              <a:rPr sz="1150" spc="-5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accepting,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offering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giving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anything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value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in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exchange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for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referral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patients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or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any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patient-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related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services.</a:t>
            </a:r>
            <a:endParaRPr sz="1150" dirty="0">
              <a:latin typeface="Avenir Book"/>
              <a:cs typeface="Avenir Book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71747" y="4004161"/>
            <a:ext cx="3033395" cy="1778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Our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relationships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with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consultants,</a:t>
            </a:r>
            <a:r>
              <a:rPr sz="1150" spc="50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contractors,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vendors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suppliers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are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managed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manner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that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is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free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from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conflicts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interest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consistent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with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applicable laws and ethical business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practices.</a:t>
            </a:r>
            <a:endParaRPr sz="1150" dirty="0">
              <a:latin typeface="Avenir Book"/>
              <a:cs typeface="Avenir Book"/>
            </a:endParaRPr>
          </a:p>
          <a:p>
            <a:pPr marL="12700" marR="253365">
              <a:lnSpc>
                <a:spcPct val="100000"/>
              </a:lnSpc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Anyone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negotiating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agreements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on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behalf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lang="en-US" sz="1150" dirty="0">
                <a:solidFill>
                  <a:srgbClr val="231F20"/>
                </a:solidFill>
                <a:latin typeface="Avenir Book"/>
                <a:cs typeface="Avenir Book"/>
              </a:rPr>
              <a:t>Destiny Springs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has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responsibility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to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hold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the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organization’s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interests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above</a:t>
            </a:r>
            <a:endParaRPr sz="1150" dirty="0">
              <a:latin typeface="Avenir Book"/>
              <a:cs typeface="Avenir Book"/>
            </a:endParaRPr>
          </a:p>
          <a:p>
            <a:pPr marL="12700" marR="156210">
              <a:lnSpc>
                <a:spcPct val="100000"/>
              </a:lnSpc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all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other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entities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3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report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any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efforts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to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inappropriately</a:t>
            </a:r>
            <a:r>
              <a:rPr sz="1150" spc="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influence</a:t>
            </a:r>
            <a:r>
              <a:rPr sz="1150" spc="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business</a:t>
            </a:r>
            <a:r>
              <a:rPr sz="1150" spc="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activities.</a:t>
            </a:r>
            <a:endParaRPr sz="1150" dirty="0">
              <a:latin typeface="Avenir Book"/>
              <a:cs typeface="Avenir Book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25973" y="6596380"/>
            <a:ext cx="2225040" cy="541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360"/>
              </a:lnSpc>
              <a:spcBef>
                <a:spcPts val="100"/>
              </a:spcBef>
            </a:pPr>
            <a:r>
              <a:rPr lang="en-US" sz="1150" b="1" spc="-40" dirty="0">
                <a:solidFill>
                  <a:srgbClr val="231F20"/>
                </a:solidFill>
                <a:latin typeface="Arial"/>
                <a:cs typeface="Arial"/>
              </a:rPr>
              <a:t>Connie Cooper</a:t>
            </a:r>
            <a:endParaRPr sz="1150" dirty="0">
              <a:latin typeface="Arial"/>
              <a:cs typeface="Arial"/>
            </a:endParaRPr>
          </a:p>
          <a:p>
            <a:pPr algn="ctr">
              <a:lnSpc>
                <a:spcPts val="1340"/>
              </a:lnSpc>
            </a:pPr>
            <a:r>
              <a:rPr lang="en-US" sz="1150" dirty="0">
                <a:solidFill>
                  <a:srgbClr val="231F20"/>
                </a:solidFill>
                <a:latin typeface="Avenir"/>
                <a:cs typeface="Avenir"/>
              </a:rPr>
              <a:t>Director of Risk Management</a:t>
            </a:r>
            <a:endParaRPr sz="1150" dirty="0">
              <a:latin typeface="Avenir"/>
              <a:cs typeface="Avenir"/>
            </a:endParaRPr>
          </a:p>
          <a:p>
            <a:pPr algn="ctr">
              <a:lnSpc>
                <a:spcPts val="1360"/>
              </a:lnSpc>
            </a:pPr>
            <a:r>
              <a:rPr lang="en-US" sz="1150" spc="-10" dirty="0" err="1">
                <a:solidFill>
                  <a:srgbClr val="231F20"/>
                </a:solidFill>
                <a:latin typeface="Avenir Book"/>
                <a:cs typeface="Avenir Book"/>
              </a:rPr>
              <a:t>ccooper@destinysprings.com</a:t>
            </a:r>
            <a:endParaRPr sz="1150" dirty="0">
              <a:latin typeface="Avenir Book"/>
              <a:cs typeface="Avenir Book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33361" y="192023"/>
            <a:ext cx="2987675" cy="70840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95"/>
              </a:spcBef>
            </a:pPr>
            <a:endParaRPr sz="1800">
              <a:latin typeface="Times New Roman"/>
              <a:cs typeface="Times New Roman"/>
            </a:endParaRPr>
          </a:p>
          <a:p>
            <a:pPr marL="196215">
              <a:lnSpc>
                <a:spcPct val="100000"/>
              </a:lnSpc>
            </a:pPr>
            <a:r>
              <a:rPr sz="1800" i="1" spc="-10" dirty="0">
                <a:solidFill>
                  <a:srgbClr val="00ACA1"/>
                </a:solidFill>
                <a:latin typeface="Arial"/>
                <a:cs typeface="Arial"/>
              </a:rPr>
              <a:t>Did</a:t>
            </a:r>
            <a:r>
              <a:rPr sz="1800" i="1" spc="-85" dirty="0">
                <a:solidFill>
                  <a:srgbClr val="00ACA1"/>
                </a:solidFill>
                <a:latin typeface="Arial"/>
                <a:cs typeface="Arial"/>
              </a:rPr>
              <a:t> </a:t>
            </a:r>
            <a:r>
              <a:rPr sz="1800" i="1" spc="-240" dirty="0">
                <a:solidFill>
                  <a:srgbClr val="00ACA1"/>
                </a:solidFill>
                <a:latin typeface="Arial"/>
                <a:cs typeface="Arial"/>
              </a:rPr>
              <a:t>You</a:t>
            </a:r>
            <a:r>
              <a:rPr sz="1800" i="1" spc="35" dirty="0">
                <a:solidFill>
                  <a:srgbClr val="00ACA1"/>
                </a:solidFill>
                <a:latin typeface="Arial"/>
                <a:cs typeface="Arial"/>
              </a:rPr>
              <a:t> </a:t>
            </a:r>
            <a:r>
              <a:rPr sz="1800" i="1" spc="-35" dirty="0">
                <a:solidFill>
                  <a:srgbClr val="00ACA1"/>
                </a:solidFill>
                <a:latin typeface="Arial"/>
                <a:cs typeface="Arial"/>
              </a:rPr>
              <a:t>Know?</a:t>
            </a:r>
            <a:endParaRPr sz="1800">
              <a:latin typeface="Arial"/>
              <a:cs typeface="Arial"/>
            </a:endParaRPr>
          </a:p>
          <a:p>
            <a:pPr marL="196215">
              <a:lnSpc>
                <a:spcPct val="100000"/>
              </a:lnSpc>
              <a:spcBef>
                <a:spcPts val="409"/>
              </a:spcBef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Physician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Self-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Referral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endParaRPr sz="1150">
              <a:latin typeface="Avenir Book"/>
              <a:cs typeface="Avenir Book"/>
            </a:endParaRPr>
          </a:p>
          <a:p>
            <a:pPr marL="196215" marR="614045">
              <a:lnSpc>
                <a:spcPct val="100000"/>
              </a:lnSpc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Anti-Kickback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laws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were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created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to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prevent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inappropriate financial</a:t>
            </a:r>
            <a:endParaRPr sz="1150">
              <a:latin typeface="Avenir Book"/>
              <a:cs typeface="Avenir Book"/>
            </a:endParaRPr>
          </a:p>
          <a:p>
            <a:pPr marL="196215" marR="488950">
              <a:lnSpc>
                <a:spcPct val="100000"/>
              </a:lnSpc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incentives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from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influencing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medical decisions.</a:t>
            </a:r>
            <a:endParaRPr sz="1150">
              <a:latin typeface="Avenir Book"/>
              <a:cs typeface="Avenir Book"/>
            </a:endParaRPr>
          </a:p>
          <a:p>
            <a:pPr marL="196215" marR="245745">
              <a:lnSpc>
                <a:spcPct val="100000"/>
              </a:lnSpc>
              <a:spcBef>
                <a:spcPts val="540"/>
              </a:spcBef>
            </a:pP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Criminal,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civil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and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monetary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penalties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can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be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imposed on</a:t>
            </a:r>
            <a:r>
              <a:rPr sz="1150" spc="-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individuals </a:t>
            </a:r>
            <a:r>
              <a:rPr sz="1150" spc="-25" dirty="0">
                <a:solidFill>
                  <a:srgbClr val="231F20"/>
                </a:solidFill>
                <a:latin typeface="Avenir Book"/>
                <a:cs typeface="Avenir Book"/>
              </a:rPr>
              <a:t>or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organizations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that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offer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kickbacks (money,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gifts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etc.),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well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as</a:t>
            </a:r>
            <a:r>
              <a:rPr sz="1150" spc="-15" dirty="0">
                <a:solidFill>
                  <a:srgbClr val="231F20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those</a:t>
            </a:r>
            <a:r>
              <a:rPr sz="1150" spc="-20" dirty="0">
                <a:solidFill>
                  <a:srgbClr val="231F20"/>
                </a:solidFill>
                <a:latin typeface="Avenir Book"/>
                <a:cs typeface="Avenir Book"/>
              </a:rPr>
              <a:t> that </a:t>
            </a:r>
            <a:r>
              <a:rPr sz="1150" dirty="0">
                <a:solidFill>
                  <a:srgbClr val="231F20"/>
                </a:solidFill>
                <a:latin typeface="Avenir Book"/>
                <a:cs typeface="Avenir Book"/>
              </a:rPr>
              <a:t>accept </a:t>
            </a:r>
            <a:r>
              <a:rPr sz="1150" spc="-10" dirty="0">
                <a:solidFill>
                  <a:srgbClr val="231F20"/>
                </a:solidFill>
                <a:latin typeface="Avenir Book"/>
                <a:cs typeface="Avenir Book"/>
              </a:rPr>
              <a:t>them.</a:t>
            </a:r>
            <a:endParaRPr sz="1150">
              <a:latin typeface="Avenir Book"/>
              <a:cs typeface="Avenir Book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303645" y="7289692"/>
            <a:ext cx="1529715" cy="1436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25" dirty="0">
                <a:solidFill>
                  <a:srgbClr val="00ACA1"/>
                </a:solidFill>
                <a:latin typeface="Arial"/>
                <a:cs typeface="Arial"/>
              </a:rPr>
              <a:t>VALUES</a:t>
            </a:r>
            <a:r>
              <a:rPr sz="850" b="1" spc="-5" dirty="0">
                <a:solidFill>
                  <a:srgbClr val="00ACA1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00ACA1"/>
                </a:solidFill>
                <a:latin typeface="Arial"/>
                <a:cs typeface="Arial"/>
              </a:rPr>
              <a:t>LINE</a:t>
            </a:r>
            <a:r>
              <a:rPr sz="850" b="1" spc="-5" dirty="0">
                <a:solidFill>
                  <a:srgbClr val="00ACA1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47720"/>
                </a:solidFill>
                <a:latin typeface="Arial"/>
                <a:cs typeface="Arial"/>
              </a:rPr>
              <a:t>I</a:t>
            </a:r>
            <a:r>
              <a:rPr sz="850" b="1" spc="-5" dirty="0">
                <a:solidFill>
                  <a:srgbClr val="F47720"/>
                </a:solidFill>
                <a:latin typeface="Arial"/>
                <a:cs typeface="Arial"/>
              </a:rPr>
              <a:t> </a:t>
            </a:r>
            <a:r>
              <a:rPr sz="850" i="1" spc="-95" dirty="0">
                <a:solidFill>
                  <a:srgbClr val="FFC425"/>
                </a:solidFill>
                <a:latin typeface="Arial"/>
                <a:cs typeface="Arial"/>
              </a:rPr>
              <a:t>8</a:t>
            </a:r>
            <a:r>
              <a:rPr lang="en-US" sz="850" i="1" spc="-95" dirty="0">
                <a:solidFill>
                  <a:srgbClr val="FFC425"/>
                </a:solidFill>
                <a:latin typeface="Arial"/>
                <a:cs typeface="Arial"/>
              </a:rPr>
              <a:t>88.290.0001</a:t>
            </a:r>
            <a:r>
              <a:rPr sz="850" i="1" spc="290" dirty="0">
                <a:solidFill>
                  <a:srgbClr val="FFC425"/>
                </a:solidFill>
                <a:latin typeface="Arial"/>
                <a:cs typeface="Arial"/>
              </a:rPr>
              <a:t> </a:t>
            </a:r>
            <a:r>
              <a:rPr sz="850" b="1" spc="-25" dirty="0">
                <a:solidFill>
                  <a:srgbClr val="008BC0"/>
                </a:solidFill>
                <a:latin typeface="Arial"/>
                <a:cs typeface="Arial"/>
              </a:rPr>
              <a:t>23</a:t>
            </a:r>
            <a:endParaRPr sz="8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4818" y="192023"/>
            <a:ext cx="9635490" cy="7388859"/>
          </a:xfrm>
          <a:custGeom>
            <a:avLst/>
            <a:gdLst/>
            <a:ahLst/>
            <a:cxnLst/>
            <a:rect l="l" t="t" r="r" b="b"/>
            <a:pathLst>
              <a:path w="9635490" h="7388859">
                <a:moveTo>
                  <a:pt x="9634982" y="0"/>
                </a:moveTo>
                <a:lnTo>
                  <a:pt x="0" y="0"/>
                </a:lnTo>
                <a:lnTo>
                  <a:pt x="0" y="7388352"/>
                </a:lnTo>
                <a:lnTo>
                  <a:pt x="9634982" y="7388352"/>
                </a:lnTo>
                <a:lnTo>
                  <a:pt x="9634982" y="0"/>
                </a:lnTo>
                <a:close/>
              </a:path>
            </a:pathLst>
          </a:custGeom>
          <a:solidFill>
            <a:srgbClr val="008DC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8838" y="1293585"/>
            <a:ext cx="6427792" cy="550178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69095" y="5207666"/>
            <a:ext cx="1127760" cy="718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80035">
              <a:lnSpc>
                <a:spcPct val="101000"/>
              </a:lnSpc>
              <a:spcBef>
                <a:spcPts val="95"/>
              </a:spcBef>
            </a:pPr>
            <a:r>
              <a:rPr sz="2250" i="1" spc="-20" dirty="0">
                <a:solidFill>
                  <a:srgbClr val="FFFFFF"/>
                </a:solidFill>
                <a:latin typeface="Arial"/>
                <a:cs typeface="Arial"/>
              </a:rPr>
              <a:t>Have </a:t>
            </a:r>
            <a:r>
              <a:rPr sz="2250" i="1" spc="-290" dirty="0">
                <a:solidFill>
                  <a:srgbClr val="FFFFFF"/>
                </a:solidFill>
                <a:latin typeface="Arial"/>
                <a:cs typeface="Arial"/>
              </a:rPr>
              <a:t>Questions?</a:t>
            </a:r>
            <a:endParaRPr sz="2250">
              <a:latin typeface="Arial"/>
              <a:cs typeface="Arial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7788398" y="2085549"/>
            <a:ext cx="1069975" cy="3562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150" b="0" i="1" spc="-310" dirty="0">
                <a:solidFill>
                  <a:srgbClr val="FFFFFF"/>
                </a:solidFill>
                <a:latin typeface="Arial"/>
                <a:cs typeface="Arial"/>
              </a:rPr>
              <a:t>Speak</a:t>
            </a:r>
            <a:r>
              <a:rPr sz="2150" b="0" i="1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50" b="0" i="1" spc="-110" dirty="0">
                <a:solidFill>
                  <a:srgbClr val="FFFFFF"/>
                </a:solidFill>
                <a:latin typeface="Arial"/>
                <a:cs typeface="Arial"/>
              </a:rPr>
              <a:t>Up!</a:t>
            </a:r>
            <a:endParaRPr sz="21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11358" y="6067290"/>
            <a:ext cx="1550035" cy="1062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800"/>
              </a:lnSpc>
              <a:spcBef>
                <a:spcPts val="100"/>
              </a:spcBef>
            </a:pPr>
            <a:r>
              <a:rPr sz="2250" i="1" spc="-310" dirty="0">
                <a:solidFill>
                  <a:srgbClr val="FFFFFF"/>
                </a:solidFill>
                <a:latin typeface="Arial"/>
                <a:cs typeface="Arial"/>
              </a:rPr>
              <a:t>Scan</a:t>
            </a:r>
            <a:r>
              <a:rPr sz="2250" i="1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i="1" spc="-275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250" i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75" i="1" spc="-127" baseline="1234" dirty="0">
                <a:solidFill>
                  <a:srgbClr val="FFFFFF"/>
                </a:solidFill>
                <a:latin typeface="Arial"/>
                <a:cs typeface="Arial"/>
              </a:rPr>
              <a:t>report </a:t>
            </a:r>
            <a:r>
              <a:rPr sz="2250" i="1" spc="-295" dirty="0">
                <a:solidFill>
                  <a:srgbClr val="FFFFFF"/>
                </a:solidFill>
                <a:latin typeface="Arial"/>
                <a:cs typeface="Arial"/>
              </a:rPr>
              <a:t>concerns</a:t>
            </a:r>
            <a:r>
              <a:rPr sz="2250" i="1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75" i="1" spc="-37" baseline="1234" dirty="0">
                <a:solidFill>
                  <a:srgbClr val="FFFFFF"/>
                </a:solidFill>
                <a:latin typeface="Arial"/>
                <a:cs typeface="Arial"/>
              </a:rPr>
              <a:t>or </a:t>
            </a:r>
            <a:r>
              <a:rPr sz="2250" i="1" spc="-285" dirty="0">
                <a:solidFill>
                  <a:srgbClr val="FFFFFF"/>
                </a:solidFill>
                <a:latin typeface="Arial"/>
                <a:cs typeface="Arial"/>
              </a:rPr>
              <a:t>issues!</a:t>
            </a:r>
            <a:endParaRPr sz="22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87463" y="1691402"/>
            <a:ext cx="1223010" cy="641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715" algn="ctr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C425"/>
                </a:solidFill>
                <a:latin typeface="Arial"/>
                <a:cs typeface="Arial"/>
              </a:rPr>
              <a:t>CALL</a:t>
            </a:r>
            <a:r>
              <a:rPr sz="1400" b="1" spc="-40" dirty="0">
                <a:solidFill>
                  <a:srgbClr val="FFC425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FFC425"/>
                </a:solidFill>
                <a:latin typeface="Arial"/>
                <a:cs typeface="Arial"/>
              </a:rPr>
              <a:t>THE </a:t>
            </a:r>
            <a:r>
              <a:rPr sz="1400" b="1" spc="-50" dirty="0">
                <a:solidFill>
                  <a:srgbClr val="FFC425"/>
                </a:solidFill>
                <a:latin typeface="Arial"/>
                <a:cs typeface="Arial"/>
              </a:rPr>
              <a:t>VALUES</a:t>
            </a:r>
            <a:r>
              <a:rPr sz="1400" b="1" spc="-5" dirty="0">
                <a:solidFill>
                  <a:srgbClr val="FFC425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C425"/>
                </a:solidFill>
                <a:latin typeface="Arial"/>
                <a:cs typeface="Arial"/>
              </a:rPr>
              <a:t>LINE:</a:t>
            </a:r>
            <a:endParaRPr sz="14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90"/>
              </a:spcBef>
            </a:pPr>
            <a:r>
              <a:rPr lang="en-US" sz="1000" b="1" spc="-10" dirty="0">
                <a:solidFill>
                  <a:srgbClr val="FFFFFF"/>
                </a:solidFill>
                <a:latin typeface="Arial"/>
                <a:cs typeface="Arial"/>
              </a:rPr>
              <a:t>833.290.0001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98856" y="2338314"/>
            <a:ext cx="5178383" cy="1154868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3148330" algn="ctr">
              <a:lnSpc>
                <a:spcPct val="100000"/>
              </a:lnSpc>
              <a:spcBef>
                <a:spcPts val="475"/>
              </a:spcBef>
            </a:pPr>
            <a:r>
              <a:rPr sz="1000" b="1" spc="-40" dirty="0">
                <a:solidFill>
                  <a:srgbClr val="FFC425"/>
                </a:solidFill>
                <a:latin typeface="Arial"/>
                <a:cs typeface="Arial"/>
              </a:rPr>
              <a:t>REPORT</a:t>
            </a:r>
            <a:r>
              <a:rPr sz="1000" b="1" spc="-30" dirty="0">
                <a:solidFill>
                  <a:srgbClr val="FFC425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C425"/>
                </a:solidFill>
                <a:latin typeface="Arial"/>
                <a:cs typeface="Arial"/>
              </a:rPr>
              <a:t>ONLINE:</a:t>
            </a:r>
            <a:endParaRPr lang="en-US" sz="1000" b="1" spc="-10" dirty="0">
              <a:solidFill>
                <a:srgbClr val="FFC425"/>
              </a:solidFill>
              <a:latin typeface="Arial"/>
              <a:cs typeface="Arial"/>
            </a:endParaRPr>
          </a:p>
          <a:p>
            <a:pPr marL="3148330" algn="ctr">
              <a:lnSpc>
                <a:spcPct val="100000"/>
              </a:lnSpc>
              <a:spcBef>
                <a:spcPts val="475"/>
              </a:spcBef>
            </a:pPr>
            <a:r>
              <a:rPr lang="en-US" sz="1000" b="1" spc="-20" dirty="0" err="1">
                <a:solidFill>
                  <a:srgbClr val="FFFFFF"/>
                </a:solidFill>
                <a:latin typeface="Arial"/>
                <a:cs typeface="Arial"/>
              </a:rPr>
              <a:t>Report.syntrio.com</a:t>
            </a:r>
            <a:r>
              <a:rPr lang="en-US" sz="1000" b="1" spc="-2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lang="en-US" sz="1000" b="1" spc="-20" dirty="0" err="1">
                <a:solidFill>
                  <a:srgbClr val="FFFFFF"/>
                </a:solidFill>
                <a:latin typeface="Arial"/>
                <a:cs typeface="Arial"/>
              </a:rPr>
              <a:t>destinysprings</a:t>
            </a:r>
            <a:endParaRPr sz="1000" dirty="0">
              <a:latin typeface="Arial"/>
              <a:cs typeface="Arial"/>
            </a:endParaRPr>
          </a:p>
          <a:p>
            <a:pPr marL="593725" marR="2638425" algn="ctr">
              <a:lnSpc>
                <a:spcPct val="100000"/>
              </a:lnSpc>
              <a:spcBef>
                <a:spcPts val="110"/>
              </a:spcBef>
            </a:pP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Contact</a:t>
            </a:r>
            <a:r>
              <a:rPr sz="1150" spc="-3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the</a:t>
            </a:r>
            <a:r>
              <a:rPr sz="1150" spc="-3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Compliance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Department</a:t>
            </a:r>
            <a:r>
              <a:rPr sz="1150" spc="-4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via</a:t>
            </a:r>
            <a:r>
              <a:rPr sz="1150" spc="-4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email</a:t>
            </a:r>
            <a:r>
              <a:rPr sz="1150" spc="-4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25" dirty="0">
                <a:solidFill>
                  <a:srgbClr val="FFFFFF"/>
                </a:solidFill>
                <a:latin typeface="Avenir Book"/>
                <a:cs typeface="Avenir Book"/>
              </a:rPr>
              <a:t>at</a:t>
            </a:r>
            <a:endParaRPr sz="1150" dirty="0">
              <a:latin typeface="Avenir Book"/>
              <a:cs typeface="Avenir Book"/>
            </a:endParaRPr>
          </a:p>
          <a:p>
            <a:pPr marR="2057400" algn="ctr">
              <a:lnSpc>
                <a:spcPts val="1370"/>
              </a:lnSpc>
            </a:pPr>
            <a:r>
              <a:rPr sz="1150" b="1" spc="-10" dirty="0">
                <a:solidFill>
                  <a:srgbClr val="FFFFFF"/>
                </a:solidFill>
                <a:latin typeface="Arial"/>
                <a:cs typeface="Arial"/>
                <a:hlinkClick r:id="rId3"/>
              </a:rPr>
              <a:t>Compliance@</a:t>
            </a:r>
            <a:r>
              <a:rPr lang="en-US" sz="1150" b="1" spc="-10" dirty="0">
                <a:solidFill>
                  <a:srgbClr val="FFFFFF"/>
                </a:solidFill>
                <a:latin typeface="Arial"/>
                <a:cs typeface="Arial"/>
                <a:hlinkClick r:id="rId3"/>
              </a:rPr>
              <a:t>destinysprings.com</a:t>
            </a:r>
            <a:endParaRPr sz="1150" dirty="0">
              <a:latin typeface="Arial"/>
              <a:cs typeface="Arial"/>
            </a:endParaRPr>
          </a:p>
          <a:p>
            <a:pPr marR="2044700" algn="ctr">
              <a:lnSpc>
                <a:spcPts val="1380"/>
              </a:lnSpc>
            </a:pP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or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by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calling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lang="en-US" sz="1150" b="1" spc="-10" dirty="0">
                <a:solidFill>
                  <a:srgbClr val="FFFFFF"/>
                </a:solidFill>
                <a:latin typeface="Arial"/>
                <a:cs typeface="Arial"/>
              </a:rPr>
              <a:t>480.719.6305</a:t>
            </a:r>
            <a:r>
              <a:rPr sz="1150" b="1" spc="-1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sz="1150" dirty="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4500" y="6268955"/>
            <a:ext cx="5113020" cy="105283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400" b="1" spc="-10" dirty="0">
                <a:solidFill>
                  <a:srgbClr val="FFC425"/>
                </a:solidFill>
                <a:latin typeface="Arial"/>
                <a:cs typeface="Arial"/>
              </a:rPr>
              <a:t>CERTIFICATION</a:t>
            </a:r>
            <a:endParaRPr sz="14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490"/>
              </a:spcBef>
            </a:pP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All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employees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must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acknowledge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they</a:t>
            </a:r>
            <a:r>
              <a:rPr sz="1150" spc="-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have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received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this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Code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of</a:t>
            </a:r>
            <a:r>
              <a:rPr sz="1150" spc="-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Conduct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and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agree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to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follow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its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standards</a:t>
            </a:r>
            <a:r>
              <a:rPr sz="1150" spc="-15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and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lang="en-US" sz="1150" dirty="0">
                <a:solidFill>
                  <a:srgbClr val="FFFFFF"/>
                </a:solidFill>
                <a:latin typeface="Avenir Book"/>
                <a:cs typeface="Avenir Book"/>
              </a:rPr>
              <a:t>Destiny Springs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policies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dirty="0">
                <a:solidFill>
                  <a:srgbClr val="FFFFFF"/>
                </a:solidFill>
                <a:latin typeface="Avenir Book"/>
                <a:cs typeface="Avenir Book"/>
              </a:rPr>
              <a:t>and</a:t>
            </a:r>
            <a:r>
              <a:rPr sz="1150" spc="-20" dirty="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Avenir Book"/>
                <a:cs typeface="Avenir Book"/>
              </a:rPr>
              <a:t>procedures.</a:t>
            </a:r>
            <a:endParaRPr sz="1150" dirty="0">
              <a:latin typeface="Avenir Book"/>
              <a:cs typeface="Avenir Book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1100" b="1" spc="-10" dirty="0">
                <a:solidFill>
                  <a:srgbClr val="FFFFFF"/>
                </a:solidFill>
                <a:latin typeface="Arial"/>
                <a:cs typeface="Arial"/>
              </a:rPr>
              <a:t>Board</a:t>
            </a:r>
            <a:r>
              <a:rPr sz="110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10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Director</a:t>
            </a:r>
            <a:r>
              <a:rPr sz="11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Approved</a:t>
            </a:r>
            <a:r>
              <a:rPr sz="110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Arial"/>
                <a:cs typeface="Arial"/>
              </a:rPr>
              <a:t>3.13.202</a:t>
            </a:r>
            <a:r>
              <a:rPr lang="en-US" sz="1100" b="1" spc="-1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7D83CE5-C4A2-A372-2314-37CD05CA72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463" y="4540888"/>
            <a:ext cx="857932" cy="85793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1AD8220-EFD2-ADBA-834A-ED3B2DC2B7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720" y="405885"/>
            <a:ext cx="3848100" cy="10890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</TotalTime>
  <Words>5308</Words>
  <Application>Microsoft Macintosh PowerPoint</Application>
  <PresentationFormat>Custom</PresentationFormat>
  <Paragraphs>508</Paragraphs>
  <Slides>24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Aptos</vt:lpstr>
      <vt:lpstr>Arial</vt:lpstr>
      <vt:lpstr>Avenir</vt:lpstr>
      <vt:lpstr>Avenir Book</vt:lpstr>
      <vt:lpstr>Bell MT</vt:lpstr>
      <vt:lpstr>Times New Roman</vt:lpstr>
      <vt:lpstr>Office Theme</vt:lpstr>
      <vt:lpstr>LIVING OUR VALUES</vt:lpstr>
      <vt:lpstr>Message from the  CEO</vt:lpstr>
      <vt:lpstr>Navigating the Code of Conduct</vt:lpstr>
      <vt:lpstr>What is the Code of Conduct?</vt:lpstr>
      <vt:lpstr>Ethical Self-Assessment</vt:lpstr>
      <vt:lpstr>EXCELLENCE</vt:lpstr>
      <vt:lpstr>Providing Safe, Extraordinary Care</vt:lpstr>
      <vt:lpstr>TEAMWORK Working together toward shared goals</vt:lpstr>
      <vt:lpstr>PowerPoint Presentation</vt:lpstr>
      <vt:lpstr>Reporting Compliance Issues</vt:lpstr>
      <vt:lpstr>Investigation and Resolution</vt:lpstr>
      <vt:lpstr>SERVICE Serving others and our community</vt:lpstr>
      <vt:lpstr>Safety, Health and the Environment</vt:lpstr>
      <vt:lpstr>COMPASSION Providing comfort and care</vt:lpstr>
      <vt:lpstr>Patient Rights</vt:lpstr>
      <vt:lpstr>TRUST Delivering on promises</vt:lpstr>
      <vt:lpstr>Quality of Care</vt:lpstr>
      <vt:lpstr>Confidentiality and Privacy</vt:lpstr>
      <vt:lpstr>INTEGRITY Doing the right thing for the right reason</vt:lpstr>
      <vt:lpstr>Conflicts of Interest</vt:lpstr>
      <vt:lpstr>Gifts and Entertainment</vt:lpstr>
      <vt:lpstr>Documentation, Retention and Disposal</vt:lpstr>
      <vt:lpstr>Physician Relations</vt:lpstr>
      <vt:lpstr>Speak Up!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David Carnahan</cp:lastModifiedBy>
  <cp:revision>3</cp:revision>
  <dcterms:created xsi:type="dcterms:W3CDTF">2026-02-19T20:46:29Z</dcterms:created>
  <dcterms:modified xsi:type="dcterms:W3CDTF">2026-02-19T22:44:18Z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2023-03-22T00:00:00Z</vt:filetime>
  </property>
  <property fmtid="{D5CDD505-2E9C-101B-9397-08002B2CF9AE}" pid="3" name="Creator">
    <vt:lpwstr>Adobe InDesign 18.1 (Macintosh)</vt:lpwstr>
  </property>
  <property fmtid="{D5CDD505-2E9C-101B-9397-08002B2CF9AE}" pid="4" name="LastSaved">
    <vt:filetime>2026-02-19T00:00:00Z</vt:filetime>
  </property>
  <property fmtid="{D5CDD505-2E9C-101B-9397-08002B2CF9AE}" pid="5" name="Producer">
    <vt:lpwstr>Adobe PDF Library 17.0</vt:lpwstr>
  </property>
</Properties>
</file>